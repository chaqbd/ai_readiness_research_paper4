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42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30818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kern="0" spc="2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SBEL CONFERENCE PAPER PRESENTATION  •  June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1247120" cy="2286000"/>
          </a:xfrm>
          <a:prstGeom prst="roundRect">
            <a:avLst>
              <a:gd name="adj" fmla="val 5600"/>
            </a:avLst>
          </a:prstGeom>
          <a:solidFill>
            <a:srgbClr val="03081A">
              <a:alpha val="62000"/>
            </a:srgbClr>
          </a:solidFill>
          <a:ln w="10160">
            <a:solidFill>
              <a:srgbClr val="6DAEDB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822960" y="1115568"/>
            <a:ext cx="18288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1143000"/>
            <a:ext cx="108813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and Supply Chain Performance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10881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Cross-National Pilot Study Using Structural Equation Modelling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3127248"/>
            <a:ext cx="105156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1887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887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1887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033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7033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7033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2179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SEM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2179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325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7325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IBM SPSS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7325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983480"/>
            <a:ext cx="11247120" cy="502920"/>
          </a:xfrm>
          <a:prstGeom prst="roundRect">
            <a:avLst>
              <a:gd name="adj" fmla="val 25455"/>
            </a:avLst>
          </a:prstGeom>
          <a:solidFill>
            <a:srgbClr val="03081A">
              <a:alpha val="55000"/>
            </a:srgbClr>
          </a:solidFill>
          <a:ln w="3810">
            <a:solidFill>
              <a:srgbClr val="B8C8D8">
                <a:alpha val="2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457200" y="4992624"/>
            <a:ext cx="11247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Tewogbade Shakir Adeyemi  |  DBA Researcher  |  Student ID: 2573172317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5669280"/>
            <a:ext cx="12161520" cy="1188720"/>
          </a:xfrm>
          <a:prstGeom prst="rect">
            <a:avLst/>
          </a:prstGeom>
          <a:solidFill>
            <a:srgbClr val="02061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5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9144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Problem: A Critical Gap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3749040" cy="3977640"/>
          </a:xfrm>
          <a:prstGeom prst="roundRect">
            <a:avLst>
              <a:gd name="adj" fmla="val 3415"/>
            </a:avLst>
          </a:prstGeom>
          <a:solidFill>
            <a:srgbClr val="040C18">
              <a:alpha val="58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30352" y="1261872"/>
            <a:ext cx="0" cy="3977640"/>
          </a:xfrm>
          <a:prstGeom prst="line">
            <a:avLst/>
          </a:prstGeom>
          <a:noFill/>
          <a:ln w="381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13232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is Transforming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Global Supply Chains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13232" y="2304288"/>
            <a:ext cx="32004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13232" y="2423160"/>
            <a:ext cx="3310128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Predictive analytics, ML, and intelligent automation are reshaping logistics. Yet the benefits are not automatic — returns depend on context (Brynjolfsson &amp; Syverson, 2021)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97680" y="1261872"/>
            <a:ext cx="3749040" cy="3977640"/>
          </a:xfrm>
          <a:prstGeom prst="roundRect">
            <a:avLst>
              <a:gd name="adj" fmla="val 3415"/>
            </a:avLst>
          </a:prstGeom>
          <a:solidFill>
            <a:srgbClr val="040C18">
              <a:alpha val="58000"/>
            </a:srgbClr>
          </a:solidFill>
          <a:ln w="10160">
            <a:solidFill>
              <a:srgbClr val="4ECDC4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462272" y="1261872"/>
            <a:ext cx="0" cy="397764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645152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Empirical Gap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Is Real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645152" y="2304288"/>
            <a:ext cx="32004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645152" y="2423160"/>
            <a:ext cx="3310128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Most research is firm-level or sector-specific. Cross-national macro-level evidence on AI → SC performance remains scarce (Queiroz et al., 2022)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0" y="1261872"/>
            <a:ext cx="3749040" cy="3977640"/>
          </a:xfrm>
          <a:prstGeom prst="roundRect">
            <a:avLst>
              <a:gd name="adj" fmla="val 3415"/>
            </a:avLst>
          </a:prstGeom>
          <a:solidFill>
            <a:srgbClr val="040C18">
              <a:alpha val="58000"/>
            </a:srgbClr>
          </a:solidFill>
          <a:ln w="10160">
            <a:solidFill>
              <a:srgbClr val="F0C040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8394192" y="1261872"/>
            <a:ext cx="0" cy="3977640"/>
          </a:xfrm>
          <a:prstGeom prst="line">
            <a:avLst/>
          </a:prstGeom>
          <a:noFill/>
          <a:ln w="381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577072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Matter —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But How?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577072" y="2304288"/>
            <a:ext cx="32004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577072" y="2423160"/>
            <a:ext cx="3310128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quality shapes technology diffusion. The conditioning role of institutions is theorised but rarely tested quantitatively at this scale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65760" y="5394960"/>
            <a:ext cx="11430000" cy="1005840"/>
          </a:xfrm>
          <a:prstGeom prst="roundRect">
            <a:avLst>
              <a:gd name="adj" fmla="val 12727"/>
            </a:avLst>
          </a:prstGeom>
          <a:solidFill>
            <a:srgbClr val="03080E">
              <a:alpha val="60000"/>
            </a:srgbClr>
          </a:solidFill>
          <a:ln w="15240">
            <a:solidFill>
              <a:srgbClr val="F0C040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48640" y="5413248"/>
            <a:ext cx="1106424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❝  Does AI readiness inherently improve supply chain performance — or are its effects conditional on institutional quality?  ❞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8288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RESEARCH AIM &amp; QUESTIONS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does the research set to answer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11430000" cy="868680"/>
          </a:xfrm>
          <a:prstGeom prst="roundRect">
            <a:avLst>
              <a:gd name="adj" fmla="val 14737"/>
            </a:avLst>
          </a:prstGeom>
          <a:solidFill>
            <a:srgbClr val="1A0530">
              <a:alpha val="58000"/>
            </a:srgbClr>
          </a:solidFill>
          <a:ln w="10160">
            <a:solidFill>
              <a:srgbClr val="C9A0E8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48640" y="1298448"/>
            <a:ext cx="8229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17320" y="1463040"/>
            <a:ext cx="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463040" y="1280160"/>
            <a:ext cx="0" cy="777240"/>
          </a:xfrm>
          <a:prstGeom prst="line">
            <a:avLst/>
          </a:prstGeom>
          <a:noFill/>
          <a:ln w="12700">
            <a:solidFill>
              <a:srgbClr val="C9A0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600200" y="1280160"/>
            <a:ext cx="9966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 examine the effect of government AI readiness on supply chain logistics performance and assess whether supply chain performance mediates the relationship between AI readiness and economic outcomes.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331720"/>
            <a:ext cx="11430000" cy="1207008"/>
          </a:xfrm>
          <a:prstGeom prst="roundRect">
            <a:avLst>
              <a:gd name="adj" fmla="val 10606"/>
            </a:avLst>
          </a:prstGeom>
          <a:solidFill>
            <a:srgbClr val="0E0520">
              <a:alpha val="55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65760" y="2331720"/>
            <a:ext cx="1051560" cy="1207008"/>
          </a:xfrm>
          <a:prstGeom prst="roundRect">
            <a:avLst>
              <a:gd name="adj" fmla="val 10435"/>
            </a:avLst>
          </a:prstGeom>
          <a:solidFill>
            <a:srgbClr val="6DAEDB">
              <a:alpha val="70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65760" y="2679192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RQ1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554480" y="2532888"/>
            <a:ext cx="100126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 what extent does government AI readiness influence national supply chain logistics performance?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703320"/>
            <a:ext cx="11430000" cy="1207008"/>
          </a:xfrm>
          <a:prstGeom prst="roundRect">
            <a:avLst>
              <a:gd name="adj" fmla="val 10606"/>
            </a:avLst>
          </a:prstGeom>
          <a:solidFill>
            <a:srgbClr val="0E0520">
              <a:alpha val="55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65760" y="3703320"/>
            <a:ext cx="1051560" cy="1207008"/>
          </a:xfrm>
          <a:prstGeom prst="roundRect">
            <a:avLst>
              <a:gd name="adj" fmla="val 10435"/>
            </a:avLst>
          </a:prstGeom>
          <a:solidFill>
            <a:srgbClr val="56D68A">
              <a:alpha val="70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65760" y="4050792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RQ2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554480" y="3904488"/>
            <a:ext cx="100126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Does supply chain performance mediate the relationship between AI readiness and economic outcomes?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5074920"/>
            <a:ext cx="11430000" cy="1207008"/>
          </a:xfrm>
          <a:prstGeom prst="roundRect">
            <a:avLst>
              <a:gd name="adj" fmla="val 10606"/>
            </a:avLst>
          </a:prstGeom>
          <a:solidFill>
            <a:srgbClr val="0E0520">
              <a:alpha val="55000"/>
            </a:srgbClr>
          </a:solidFill>
          <a:ln w="10160">
            <a:solidFill>
              <a:srgbClr val="C9A0E8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365760" y="5074920"/>
            <a:ext cx="1051560" cy="1207008"/>
          </a:xfrm>
          <a:prstGeom prst="roundRect">
            <a:avLst>
              <a:gd name="adj" fmla="val 10435"/>
            </a:avLst>
          </a:prstGeom>
          <a:solidFill>
            <a:srgbClr val="C9A0E8">
              <a:alpha val="70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65760" y="5422392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RQ3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554480" y="5276088"/>
            <a:ext cx="100126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role does institutional quality play in driving supply chain performance alongside AI readiness?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THEORETICAL FRAMEWORK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Theoretical Framework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3749040" cy="5166360"/>
          </a:xfrm>
          <a:prstGeom prst="roundRect">
            <a:avLst>
              <a:gd name="adj" fmla="val 3415"/>
            </a:avLst>
          </a:prstGeom>
          <a:solidFill>
            <a:srgbClr val="040E08">
              <a:alpha val="58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6DAEDB">
              <a:alpha val="35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7"/>
          <p:cNvSpPr/>
          <p:nvPr/>
        </p:nvSpPr>
        <p:spPr>
          <a:xfrm>
            <a:off x="530352" y="1298448"/>
            <a:ext cx="3429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Technology, Organisation and Environment (TOE) Theory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0352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TOE Framework – Tornatzky &amp; Fleischer (1990)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" y="2542032"/>
            <a:ext cx="34015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30352" y="2633472"/>
            <a:ext cx="34290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is a primary macro-level driver of supply chain performance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0352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0352" y="4224528"/>
            <a:ext cx="34015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30352" y="4315968"/>
            <a:ext cx="3429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H1a: ξ₁ → η₁</a:t>
            </a:r>
            <a:endParaRPr lang="en-US" sz="1150" dirty="0"/>
          </a:p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(AI Readiness → SC Performance)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97680" y="1261872"/>
            <a:ext cx="3749040" cy="5166360"/>
          </a:xfrm>
          <a:prstGeom prst="roundRect">
            <a:avLst>
              <a:gd name="adj" fmla="val 3415"/>
            </a:avLst>
          </a:prstGeom>
          <a:solidFill>
            <a:srgbClr val="040E08">
              <a:alpha val="58000"/>
            </a:srgbClr>
          </a:solidFill>
          <a:ln w="10160">
            <a:solidFill>
              <a:srgbClr val="C9A0E8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297680" y="1261872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C9A0E8">
              <a:alpha val="35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462272" y="1298448"/>
            <a:ext cx="3429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Institutional Theory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462272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kern="0" spc="1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Moderation + Direct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62272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62272" y="2542032"/>
            <a:ext cx="34015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4462272" y="2633472"/>
            <a:ext cx="34290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quality shapes SC efficiency AND moderates the AI–SC relationship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462272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462272" y="4224528"/>
            <a:ext cx="34015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462272" y="4315968"/>
            <a:ext cx="3429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H1b: ξ₂ → η₁</a:t>
            </a:r>
            <a:endParaRPr lang="en-US" sz="1150" dirty="0"/>
          </a:p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H1c: ξ₁×ξ₂ → η₁ (moderation)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206740" y="1247410"/>
            <a:ext cx="3749040" cy="5166360"/>
          </a:xfrm>
          <a:prstGeom prst="roundRect">
            <a:avLst>
              <a:gd name="adj" fmla="val 3415"/>
            </a:avLst>
          </a:prstGeom>
          <a:solidFill>
            <a:srgbClr val="040E08">
              <a:alpha val="58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9" name="Shape 26"/>
          <p:cNvSpPr/>
          <p:nvPr/>
        </p:nvSpPr>
        <p:spPr>
          <a:xfrm>
            <a:off x="8229600" y="1261872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56D68A">
              <a:alpha val="35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8394192" y="1298448"/>
            <a:ext cx="3429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Measurement Framework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394192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kern="0" spc="1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66760" y="2853208"/>
            <a:ext cx="3429000" cy="4057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444484" y="3471268"/>
            <a:ext cx="3259836" cy="23984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8444484" y="3629696"/>
            <a:ext cx="3429000" cy="81158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performance is the transmission mechanism linking AI readiness to economic outcomes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362188" y="424654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229600" y="4754880"/>
            <a:ext cx="3566160" cy="14835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8444484" y="5059337"/>
            <a:ext cx="3429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H2a: η₁ mediates ξ₁ → η₂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CONCEPTUAL MODEL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Structural Equation Model — Path Diagram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 flipV="1">
            <a:off x="3246120" y="1545336"/>
            <a:ext cx="274320" cy="512064"/>
          </a:xfrm>
          <a:prstGeom prst="line">
            <a:avLst/>
          </a:prstGeom>
          <a:noFill/>
          <a:ln w="15240">
            <a:solidFill>
              <a:srgbClr val="C9A0E8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 flipV="1">
            <a:off x="3246120" y="1901952"/>
            <a:ext cx="274320" cy="2167128"/>
          </a:xfrm>
          <a:prstGeom prst="line">
            <a:avLst/>
          </a:prstGeom>
          <a:noFill/>
          <a:ln w="15240">
            <a:solidFill>
              <a:srgbClr val="C9A0E8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246120" y="2331720"/>
            <a:ext cx="1600200" cy="777240"/>
          </a:xfrm>
          <a:prstGeom prst="line">
            <a:avLst/>
          </a:prstGeom>
          <a:noFill/>
          <a:ln w="30480">
            <a:solidFill>
              <a:srgbClr val="6DAEDB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 flipV="1">
            <a:off x="3246120" y="3657600"/>
            <a:ext cx="1600200" cy="868680"/>
          </a:xfrm>
          <a:prstGeom prst="line">
            <a:avLst/>
          </a:prstGeom>
          <a:noFill/>
          <a:ln w="30480">
            <a:solidFill>
              <a:srgbClr val="C9A0E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462272" y="1901952"/>
            <a:ext cx="1298448" cy="978408"/>
          </a:xfrm>
          <a:prstGeom prst="line">
            <a:avLst/>
          </a:prstGeom>
          <a:noFill/>
          <a:ln w="22860">
            <a:solidFill>
              <a:srgbClr val="C9A0E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7315200" y="3401568"/>
            <a:ext cx="1600200" cy="18288"/>
          </a:xfrm>
          <a:prstGeom prst="line">
            <a:avLst/>
          </a:prstGeom>
          <a:noFill/>
          <a:ln w="27940">
            <a:solidFill>
              <a:srgbClr val="F47A7A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246120" y="2852928"/>
            <a:ext cx="5641848" cy="891540"/>
          </a:xfrm>
          <a:prstGeom prst="line">
            <a:avLst/>
          </a:prstGeom>
          <a:noFill/>
          <a:ln w="22860">
            <a:solidFill>
              <a:srgbClr val="6DAEDB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777240" y="180594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6DAEDB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68680" y="1851660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8680" y="2310689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2584094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77238" y="3959558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C9A0E8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68680" y="4046220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68680" y="4505249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Institutional Quality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4778654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 / Moderator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846320" y="2875788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56D68A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4937760" y="2921508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937760" y="3380537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Performance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3653942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 / Mediator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915400" y="2875788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FFB347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9006840" y="2921508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006840" y="3380537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Economic Perf.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006840" y="3653942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520440" y="118872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A0A30">
              <a:alpha val="60000"/>
            </a:srgbClr>
          </a:solidFill>
          <a:ln w="15240">
            <a:solidFill>
              <a:srgbClr val="C9A0E8">
                <a:alpha val="7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3520440" y="1207008"/>
            <a:ext cx="1143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ξ₁×ξ₂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520440" y="1554480"/>
            <a:ext cx="1143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Interaction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74319" y="5276088"/>
            <a:ext cx="3246120" cy="1499616"/>
          </a:xfrm>
          <a:prstGeom prst="roundRect">
            <a:avLst>
              <a:gd name="adj" fmla="val 4255"/>
            </a:avLst>
          </a:prstGeom>
          <a:solidFill>
            <a:srgbClr val="020810">
              <a:alpha val="62000"/>
            </a:srgbClr>
          </a:solidFill>
          <a:ln w="11430">
            <a:solidFill>
              <a:srgbClr val="4ECDC4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45" name="Shape 42"/>
          <p:cNvSpPr/>
          <p:nvPr/>
        </p:nvSpPr>
        <p:spPr>
          <a:xfrm flipH="1">
            <a:off x="274318" y="5230368"/>
            <a:ext cx="2" cy="1499616"/>
          </a:xfrm>
          <a:prstGeom prst="line">
            <a:avLst/>
          </a:prstGeom>
          <a:noFill/>
          <a:ln w="444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502920" y="5303520"/>
            <a:ext cx="29260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LATENT CONSTRUCTS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02920" y="5614416"/>
            <a:ext cx="2697480" cy="0"/>
          </a:xfrm>
          <a:prstGeom prst="line">
            <a:avLst/>
          </a:prstGeom>
          <a:noFill/>
          <a:ln w="8890">
            <a:solidFill>
              <a:srgbClr val="4ECD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530352" y="57058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AI Readiness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30352" y="596086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</a:t>
            </a: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Institutional Quality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02920" y="627278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SC Performance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75488" y="652424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Economic Performance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8641079" y="4644686"/>
            <a:ext cx="3075433" cy="2121874"/>
          </a:xfrm>
          <a:prstGeom prst="roundRect">
            <a:avLst>
              <a:gd name="adj" fmla="val 4255"/>
            </a:avLst>
          </a:prstGeom>
          <a:solidFill>
            <a:srgbClr val="020810">
              <a:alpha val="62000"/>
            </a:srgbClr>
          </a:solidFill>
          <a:ln w="11430">
            <a:solidFill>
              <a:srgbClr val="F0C040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3" name="Shape 50"/>
          <p:cNvSpPr/>
          <p:nvPr/>
        </p:nvSpPr>
        <p:spPr>
          <a:xfrm>
            <a:off x="8613649" y="4718304"/>
            <a:ext cx="27428" cy="2011680"/>
          </a:xfrm>
          <a:prstGeom prst="line">
            <a:avLst/>
          </a:prstGeom>
          <a:noFill/>
          <a:ln w="444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8851392" y="4799686"/>
            <a:ext cx="29260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STRUCTURAL PATHS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 flipV="1">
            <a:off x="8851391" y="5220310"/>
            <a:ext cx="2625259" cy="10058"/>
          </a:xfrm>
          <a:prstGeom prst="line">
            <a:avLst/>
          </a:prstGeom>
          <a:noFill/>
          <a:ln w="8890">
            <a:solidFill>
              <a:srgbClr val="F0C0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6" name="Text 53"/>
          <p:cNvSpPr/>
          <p:nvPr/>
        </p:nvSpPr>
        <p:spPr>
          <a:xfrm>
            <a:off x="8851392" y="5258779"/>
            <a:ext cx="2907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η₁  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→ SC Performance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851392" y="5582467"/>
            <a:ext cx="2907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 → η₁  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→ SC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869680" y="5835466"/>
            <a:ext cx="2907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ξ₁×ξ₂→η₁  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Interaction → SC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8887966" y="6100277"/>
            <a:ext cx="2907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 → η₂  </a:t>
            </a:r>
            <a:r>
              <a:rPr lang="en-US" sz="8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→ Economy  (ns)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8887968" y="6364224"/>
            <a:ext cx="2907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η₂  </a:t>
            </a:r>
            <a:r>
              <a:rPr lang="en-US" sz="10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→ Economy  (direct)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164592" y="8042148"/>
            <a:ext cx="11612880" cy="411480"/>
          </a:xfrm>
          <a:prstGeom prst="roundRect">
            <a:avLst>
              <a:gd name="adj" fmla="val 31111"/>
            </a:avLst>
          </a:prstGeom>
          <a:solidFill>
            <a:srgbClr val="030818">
              <a:alpha val="55000"/>
            </a:srgbClr>
          </a:solidFill>
          <a:ln w="3810">
            <a:solidFill>
              <a:srgbClr val="B8C8D8">
                <a:alpha val="1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2" name="Text 59"/>
          <p:cNvSpPr/>
          <p:nvPr/>
        </p:nvSpPr>
        <p:spPr>
          <a:xfrm>
            <a:off x="365760" y="7863840"/>
            <a:ext cx="11430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constructs z-score standardised  |  n = 164 countries  |  OLS hierarchical regression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Research Design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98448"/>
            <a:ext cx="7086600" cy="2121408"/>
          </a:xfrm>
          <a:prstGeom prst="roundRect">
            <a:avLst>
              <a:gd name="adj" fmla="val 6034"/>
            </a:avLst>
          </a:prstGeom>
          <a:solidFill>
            <a:srgbClr val="040C1A">
              <a:alpha val="62000"/>
            </a:srgbClr>
          </a:solidFill>
          <a:ln w="10160">
            <a:solidFill>
              <a:srgbClr val="6DAEDB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0" cy="2121408"/>
          </a:xfrm>
          <a:prstGeom prst="line">
            <a:avLst/>
          </a:prstGeom>
          <a:noFill/>
          <a:ln w="508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21792" y="1408176"/>
            <a:ext cx="6675120" cy="18836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cross-national post-positivist pilot study drawing on secondary macro-level data from five open-access databases. Constructs are operationalised as z-standardised composites across 164 countries, estimated via OLS hierarchical regression — a deliberate pilot approximation of full latent-variable SEM — to validate structural relationships prior to full-scale Amos estimation.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62672" y="1316736"/>
            <a:ext cx="2121408" cy="950976"/>
          </a:xfrm>
          <a:prstGeom prst="roundRect">
            <a:avLst>
              <a:gd name="adj" fmla="val 11538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4ECDC4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790688" y="1371600"/>
            <a:ext cx="1883664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 Countries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90688" y="1828800"/>
            <a:ext cx="188366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Cross-national scope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912096" y="1316736"/>
            <a:ext cx="2121408" cy="950976"/>
          </a:xfrm>
          <a:prstGeom prst="roundRect">
            <a:avLst>
              <a:gd name="adj" fmla="val 11538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0040112" y="1371600"/>
            <a:ext cx="1883664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 Databases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040112" y="1828800"/>
            <a:ext cx="188366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8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Oxford · WB-LPI· ITU ·WB-WDI  WB-WGI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662672" y="2414016"/>
            <a:ext cx="2121408" cy="950976"/>
          </a:xfrm>
          <a:prstGeom prst="roundRect">
            <a:avLst>
              <a:gd name="adj" fmla="val 11538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F0C040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7790688" y="2468880"/>
            <a:ext cx="1883664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2022 – 23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790688" y="2926080"/>
            <a:ext cx="188366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Cross-sectional horizon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912096" y="2414016"/>
            <a:ext cx="2121408" cy="950976"/>
          </a:xfrm>
          <a:prstGeom prst="roundRect">
            <a:avLst>
              <a:gd name="adj" fmla="val 11538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FFB347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0040112" y="2468880"/>
            <a:ext cx="1883664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IBM SPSS v29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0040112" y="2926080"/>
            <a:ext cx="188366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+ Python pipeline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5760" y="3639312"/>
            <a:ext cx="2834640" cy="2423160"/>
          </a:xfrm>
          <a:prstGeom prst="roundRect">
            <a:avLst>
              <a:gd name="adj" fmla="val 4528"/>
            </a:avLst>
          </a:prstGeom>
          <a:solidFill>
            <a:srgbClr val="040810">
              <a:alpha val="58000"/>
            </a:srgbClr>
          </a:solidFill>
          <a:ln w="7620">
            <a:solidFill>
              <a:srgbClr val="6DAEDB">
                <a:alpha val="5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365760" y="3639312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6DAEDB">
              <a:alpha val="35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02920" y="3694176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PHILOSOPHY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Post-Positivist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502920" y="4791456"/>
            <a:ext cx="256032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02920" y="4901184"/>
            <a:ext cx="25603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Objective reality · latent constructs · proxy variables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310128" y="3639312"/>
            <a:ext cx="2834640" cy="2423160"/>
          </a:xfrm>
          <a:prstGeom prst="roundRect">
            <a:avLst>
              <a:gd name="adj" fmla="val 4528"/>
            </a:avLst>
          </a:prstGeom>
          <a:solidFill>
            <a:srgbClr val="040810">
              <a:alpha val="58000"/>
            </a:srgbClr>
          </a:solidFill>
          <a:ln w="7620">
            <a:solidFill>
              <a:srgbClr val="4ECDC4">
                <a:alpha val="5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3310128" y="3639312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4ECDC4">
              <a:alpha val="35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3447288" y="3694176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APPROACH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447288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Deductive</a:t>
            </a:r>
            <a:endParaRPr lang="en-US" sz="1550" dirty="0"/>
          </a:p>
        </p:txBody>
      </p:sp>
      <p:sp>
        <p:nvSpPr>
          <p:cNvPr id="33" name="Shape 30"/>
          <p:cNvSpPr/>
          <p:nvPr/>
        </p:nvSpPr>
        <p:spPr>
          <a:xfrm>
            <a:off x="3447288" y="4791456"/>
            <a:ext cx="256032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3447288" y="4901184"/>
            <a:ext cx="25603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Theory → Hypotheses → Empirical test → Revision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254496" y="3639312"/>
            <a:ext cx="2834640" cy="2423160"/>
          </a:xfrm>
          <a:prstGeom prst="roundRect">
            <a:avLst>
              <a:gd name="adj" fmla="val 4528"/>
            </a:avLst>
          </a:prstGeom>
          <a:solidFill>
            <a:srgbClr val="040810">
              <a:alpha val="58000"/>
            </a:srgbClr>
          </a:solidFill>
          <a:ln w="7620">
            <a:solidFill>
              <a:srgbClr val="56D68A">
                <a:alpha val="5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6254496" y="3639312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56D68A">
              <a:alpha val="35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6391656" y="3694176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STRATEGY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391656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Comparative SEM</a:t>
            </a:r>
            <a:endParaRPr lang="en-US" sz="1550" dirty="0"/>
          </a:p>
        </p:txBody>
      </p:sp>
      <p:sp>
        <p:nvSpPr>
          <p:cNvPr id="39" name="Shape 36"/>
          <p:cNvSpPr/>
          <p:nvPr/>
        </p:nvSpPr>
        <p:spPr>
          <a:xfrm>
            <a:off x="6391656" y="4791456"/>
            <a:ext cx="256032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391656" y="4901184"/>
            <a:ext cx="25603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Structural paths across heterogeneous national contexts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198864" y="3639312"/>
            <a:ext cx="2834640" cy="2423160"/>
          </a:xfrm>
          <a:prstGeom prst="roundRect">
            <a:avLst>
              <a:gd name="adj" fmla="val 4528"/>
            </a:avLst>
          </a:prstGeom>
          <a:solidFill>
            <a:srgbClr val="040810">
              <a:alpha val="58000"/>
            </a:srgbClr>
          </a:solidFill>
          <a:ln w="7620">
            <a:solidFill>
              <a:srgbClr val="F0C040">
                <a:alpha val="5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9198864" y="3639312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F0C040">
              <a:alpha val="3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9336024" y="3694176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336024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Secondary Macro</a:t>
            </a:r>
            <a:endParaRPr lang="en-US" sz="1550" dirty="0"/>
          </a:p>
        </p:txBody>
      </p:sp>
      <p:sp>
        <p:nvSpPr>
          <p:cNvPr id="45" name="Shape 42"/>
          <p:cNvSpPr/>
          <p:nvPr/>
        </p:nvSpPr>
        <p:spPr>
          <a:xfrm>
            <a:off x="9336024" y="4791456"/>
            <a:ext cx="256032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9336024" y="4901184"/>
            <a:ext cx="25603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Open-access · 48 variables · Harmonised composites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SOURCES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Sources &amp; Latent Constructs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6DAEDB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6DAEDB">
              <a:alpha val="40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280160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30352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30352" y="2468880"/>
            <a:ext cx="24871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30352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Oxford Insights AI Index + ITU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0352" y="3456432"/>
            <a:ext cx="24871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30352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Index Score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Internet Penetration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R&amp;D Expenditure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10128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310128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56D68A">
              <a:alpha val="40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401568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224528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Performance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224528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 / Mediator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474720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474720" y="2468880"/>
            <a:ext cx="2487168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3474720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Bank LPI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74720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474720" y="3456432"/>
            <a:ext cx="2487168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3474720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Infrastructure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Customs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Timeliness, Tracking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Intl. Shipments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54496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FFB347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6254496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FFB347">
              <a:alpha val="40000"/>
            </a:srgbClr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345936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7168896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Economic Perf.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168896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419088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419088" y="2468880"/>
            <a:ext cx="2487168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6419088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Bank WDI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419088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419088" y="3456432"/>
            <a:ext cx="2487168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419088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GDP per Capita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Exports % GDP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Trade Openness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198864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C9A0E8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9198864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C9A0E8">
              <a:alpha val="40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9290304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10113264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Institutional Quality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0113264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 / Moderator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9363456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363456" y="2468880"/>
            <a:ext cx="24871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9363456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Bank WGI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63456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363456" y="3456432"/>
            <a:ext cx="24871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9363456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Govt. Effectiveness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Rule of Law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Regulatory Quality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Corruption Control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65760" y="6473952"/>
            <a:ext cx="11430000" cy="329184"/>
          </a:xfrm>
          <a:prstGeom prst="roundRect">
            <a:avLst>
              <a:gd name="adj" fmla="val 38889"/>
            </a:avLst>
          </a:prstGeom>
          <a:solidFill>
            <a:srgbClr val="030810">
              <a:alpha val="55000"/>
            </a:srgbClr>
          </a:solidFill>
          <a:ln w="3810">
            <a:solidFill>
              <a:srgbClr val="B8C8D8">
                <a:alpha val="1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457200" y="6483096"/>
            <a:ext cx="112471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variables z-score standardised prior to SEM  |  Final harmonised dataset: 164 countries × 48 variables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DESCRIPTIVE STATS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1430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Descriptive Statistics — Latent Constructs (n = 164)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20040" y="1234440"/>
            <a:ext cx="7955280" cy="457200"/>
          </a:xfrm>
          <a:prstGeom prst="roundRect">
            <a:avLst>
              <a:gd name="adj" fmla="val 28000"/>
            </a:avLst>
          </a:prstGeom>
          <a:solidFill>
            <a:srgbClr val="051830">
              <a:alpha val="60000"/>
            </a:srgbClr>
          </a:solidFill>
          <a:ln w="6350">
            <a:solidFill>
              <a:srgbClr val="6DAEDB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65760" y="1252728"/>
            <a:ext cx="22860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Construct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51760" y="1252728"/>
            <a:ext cx="64008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9184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6908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1252728"/>
            <a:ext cx="9144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Skewness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1252728"/>
            <a:ext cx="9144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Kurtosis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755648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40C18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20040" y="1755648"/>
            <a:ext cx="54864" cy="475488"/>
          </a:xfrm>
          <a:prstGeom prst="line">
            <a:avLst/>
          </a:prstGeom>
          <a:noFill/>
          <a:ln w="508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1801368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 AI Readiness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51760" y="1801368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9184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0.042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06908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0.975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−2.159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2356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1.624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1801368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−0.361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0" y="1801368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−0.982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0040" y="2286000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60E22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320040" y="2286000"/>
            <a:ext cx="54864" cy="475488"/>
          </a:xfrm>
          <a:prstGeom prst="line">
            <a:avLst/>
          </a:prstGeom>
          <a:noFill/>
          <a:ln w="508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5720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  SC Performance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651760" y="2331720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9184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0.072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06908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1.018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4632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−1.704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62356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2.526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0800" y="2331720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0.562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315200" y="2331720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−0.671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20040" y="2816352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40C18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320040" y="2816352"/>
            <a:ext cx="54864" cy="475488"/>
          </a:xfrm>
          <a:prstGeom prst="line">
            <a:avLst/>
          </a:prstGeom>
          <a:noFill/>
          <a:ln w="508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457200" y="2862072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 Economic Perf.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651760" y="2862072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29184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0.013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06908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0.867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84632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−1.158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62356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4.908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400800" y="2862072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2.368 ⚠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315200" y="2862072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8.157 ⚠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20040" y="3346704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60E22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20040" y="3346704"/>
            <a:ext cx="54864" cy="475488"/>
          </a:xfrm>
          <a:prstGeom prst="line">
            <a:avLst/>
          </a:prstGeom>
          <a:noFill/>
          <a:ln w="508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457200" y="3392424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  Institutions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2651760" y="3392424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329184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−0.023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06908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0.949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484632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−1.683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62356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2.137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400800" y="3392424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0.439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7315200" y="3392424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−0.661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65760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56D68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548640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Three Constructs ~Normal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48640" y="4590288"/>
            <a:ext cx="246888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548640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ξ₁, η₁, ξ₂ — skewness ∈ [−0.36, 0.56]. Safe for SEM estimation (Kline, 2023)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310128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FFB347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3493008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Outlier-Driven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3493008" y="4590288"/>
            <a:ext cx="246888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3493008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Skew = 2.368, Kurt = 8.157. Singapore &amp; Luxembourg pull the right tail. HC3 robust SE applied.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254496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6DAEDB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6437376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Means ≈ 0, SD ≈ 1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437376" y="4590288"/>
            <a:ext cx="246888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6437376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z-score standardisation by design — not a data error. Ensures cross-scale comparability.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198864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4ECDC4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9381744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r Significant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9381744" y="4590288"/>
            <a:ext cx="246888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9381744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6 pairwise correlations: p &lt; .001. Strong empirical foundations for structural model.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CORRELATIONS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Pearson Correlation Matrix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5943600" cy="4754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1298448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C9A0E8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6656832" y="1353312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 ↔ η₁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83880" y="1353312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0.844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56832" y="1737360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Strongest link — institutions dominate SC performance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92240" y="2267712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6DAEDB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6656832" y="2322576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↔ ξ₂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83880" y="2322576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0.799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56832" y="2706624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&amp; institutions highly co-evolved globally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92240" y="3236976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4ECDC4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6656832" y="3291840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↔ η₁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83880" y="3291840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0.786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56832" y="3675888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Strong AI readiness → SC relationship confirmed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92240" y="4206240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F0C040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6656832" y="4261104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↔ η₂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183880" y="4261104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0.550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56832" y="4645152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Moderate — suggests direct AI → Economy route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92240" y="5175504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56D68A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6656832" y="5230368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 ↔ η₂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183880" y="5230368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0.562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56832" y="5614416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Moderate — partial, not full mediation signal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92240" y="6172200"/>
            <a:ext cx="5486400" cy="384048"/>
          </a:xfrm>
          <a:prstGeom prst="roundRect">
            <a:avLst>
              <a:gd name="adj" fmla="val 33333"/>
            </a:avLst>
          </a:prstGeom>
          <a:solidFill>
            <a:srgbClr val="030C10">
              <a:alpha val="52000"/>
            </a:srgbClr>
          </a:solidFill>
          <a:ln w="3810">
            <a:solidFill>
              <a:srgbClr val="B8C8D8">
                <a:alpha val="1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6"/>
          <p:cNvSpPr/>
          <p:nvPr/>
        </p:nvSpPr>
        <p:spPr>
          <a:xfrm>
            <a:off x="6565392" y="6181344"/>
            <a:ext cx="5349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6 pairwise correlations significant at p &lt; .001 (two-tailed). N = 164 listwise.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MEASUREMENT MODEL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1430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Measurement Model — Reliability &amp; Validity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68096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83880" y="1298448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8321040" y="1371600"/>
            <a:ext cx="5029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8869680" y="1389888"/>
            <a:ext cx="0" cy="1234440"/>
          </a:xfrm>
          <a:prstGeom prst="line">
            <a:avLst/>
          </a:prstGeom>
          <a:noFill/>
          <a:ln w="10160">
            <a:solidFill>
              <a:srgbClr val="56D6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8979408" y="1389888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Internal Consistency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979408" y="1773936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α ≥ 0.819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979408" y="2157984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 = 0.982 (exceptional)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83880" y="2871216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F0C040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8321040" y="2944368"/>
            <a:ext cx="5029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869680" y="2962656"/>
            <a:ext cx="0" cy="1234440"/>
          </a:xfrm>
          <a:prstGeom prst="line">
            <a:avLst/>
          </a:prstGeom>
          <a:noFill/>
          <a:ln w="10160">
            <a:solidFill>
              <a:srgbClr val="F0C04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8979408" y="2962656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Convergent Validity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979408" y="3346704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AVE ≥ 0.501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979408" y="3730752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borderline — passes threshold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83880" y="4443984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4ECDC4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8321040" y="4517136"/>
            <a:ext cx="5029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8869680" y="4535424"/>
            <a:ext cx="0" cy="1234440"/>
          </a:xfrm>
          <a:prstGeom prst="line">
            <a:avLst/>
          </a:prstGeom>
          <a:noFill/>
          <a:ln w="1016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8979408" y="4535424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Discriminant Validity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979408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√AVE &gt; all r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979408" y="5303520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Fornell-Larcker fully satisfied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82880" y="5999397"/>
            <a:ext cx="11521440" cy="475488"/>
          </a:xfrm>
          <a:prstGeom prst="roundRect">
            <a:avLst>
              <a:gd name="adj" fmla="val 26923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C9A0E8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4"/>
          <p:cNvSpPr/>
          <p:nvPr/>
        </p:nvSpPr>
        <p:spPr>
          <a:xfrm>
            <a:off x="365760" y="5951718"/>
            <a:ext cx="11247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Measurement validity confirmed across all four constructs — structural estimation proceeds.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EQUATION 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Structural Paths — SC Performance (η₁)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223760" cy="3749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1298448"/>
            <a:ext cx="4251960" cy="1874520"/>
          </a:xfrm>
          <a:prstGeom prst="roundRect">
            <a:avLst>
              <a:gd name="adj" fmla="val 6829"/>
            </a:avLst>
          </a:prstGeom>
          <a:solidFill>
            <a:srgbClr val="041508">
              <a:alpha val="60000"/>
            </a:srgbClr>
          </a:solidFill>
          <a:ln w="1143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7909560" y="1389888"/>
            <a:ext cx="3886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  SUPPORTED ✓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09560" y="1847088"/>
            <a:ext cx="384048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7909560" y="1920240"/>
            <a:ext cx="388620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→ SC Performance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0.462  |  t = 5.60  |  p &lt; .001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Largest individual effect in Eq. 1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26680" y="3310128"/>
            <a:ext cx="4251960" cy="1874520"/>
          </a:xfrm>
          <a:prstGeom prst="roundRect">
            <a:avLst>
              <a:gd name="adj" fmla="val 6829"/>
            </a:avLst>
          </a:prstGeom>
          <a:solidFill>
            <a:srgbClr val="041508">
              <a:alpha val="60000"/>
            </a:srgbClr>
          </a:solidFill>
          <a:ln w="1143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7909560" y="3401568"/>
            <a:ext cx="3886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H1b  SUPPORTED ✓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909560" y="3858768"/>
            <a:ext cx="384048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7909560" y="3931920"/>
            <a:ext cx="388620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→ SC Performance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0.408  |  t = 4.90  |  p &lt; .001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rivals AI in impact magnitude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0040" y="5257800"/>
            <a:ext cx="11612880" cy="822960"/>
          </a:xfrm>
          <a:prstGeom prst="roundRect">
            <a:avLst>
              <a:gd name="adj" fmla="val 15556"/>
            </a:avLst>
          </a:prstGeom>
          <a:solidFill>
            <a:srgbClr val="04100A">
              <a:alpha val="60000"/>
            </a:srgbClr>
          </a:solidFill>
          <a:ln w="12700">
            <a:solidFill>
              <a:srgbClr val="F0C040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457200" y="5285232"/>
            <a:ext cx="11430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Equation 1 explains 78.0% of variance in SC Performance  |  R² = 0.780  |  Adj R² = 0.776  |  F(3,160) = 189.16  |  p &lt; .001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MODERATION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Moderation Analysis — H1c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223760" cy="4069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1298448"/>
            <a:ext cx="4251960" cy="2148840"/>
          </a:xfrm>
          <a:prstGeom prst="roundRect">
            <a:avLst>
              <a:gd name="adj" fmla="val 5957"/>
            </a:avLst>
          </a:prstGeom>
          <a:solidFill>
            <a:srgbClr val="0E0830">
              <a:alpha val="60000"/>
            </a:srgbClr>
          </a:solidFill>
          <a:ln w="11430">
            <a:solidFill>
              <a:srgbClr val="C9A0E8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7909560" y="1389888"/>
            <a:ext cx="3886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  SUPPORTED ✓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09560" y="1847088"/>
            <a:ext cx="384048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7909560" y="1920240"/>
            <a:ext cx="388620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Interaction β = −0.211  |  p = .038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ΔR² = +0.033  |  F-change = 23.98***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Block 1 R² = 0.780 → Block 2 R² = 0.813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26680" y="3584448"/>
            <a:ext cx="4251960" cy="1755648"/>
          </a:xfrm>
          <a:prstGeom prst="roundRect">
            <a:avLst>
              <a:gd name="adj" fmla="val 7292"/>
            </a:avLst>
          </a:prstGeom>
          <a:solidFill>
            <a:srgbClr val="1A0A3A">
              <a:alpha val="60000"/>
            </a:srgbClr>
          </a:solidFill>
          <a:ln w="12700">
            <a:solidFill>
              <a:srgbClr val="F0C040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790956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09560" y="4041648"/>
            <a:ext cx="384048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7909560" y="4114800"/>
            <a:ext cx="38862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Negative interaction = substitutive moderation. Strong governance reduces AI's marginal contribution to SC performance. Context-dependent, not universally amplifying.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MEDIATION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1430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Mediation Analysis — H2a  (Baron &amp; Kenny, 1986)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11887200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5047488"/>
            <a:ext cx="11612880" cy="438912"/>
          </a:xfrm>
          <a:prstGeom prst="roundRect">
            <a:avLst>
              <a:gd name="adj" fmla="val 29167"/>
            </a:avLst>
          </a:prstGeom>
          <a:solidFill>
            <a:srgbClr val="0A0520">
              <a:alpha val="62000"/>
            </a:srgbClr>
          </a:solidFill>
          <a:ln w="6350">
            <a:solidFill>
              <a:srgbClr val="C9A0E8">
                <a:alpha val="4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365760" y="5065776"/>
            <a:ext cx="2834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91840" y="5065776"/>
            <a:ext cx="2834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Path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5065776"/>
            <a:ext cx="14630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772400" y="5065776"/>
            <a:ext cx="1280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144000" y="5065776"/>
            <a:ext cx="1280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515600" y="5065776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Decision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5559552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80318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365760" y="5586984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 1  (c path)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91840" y="5586984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η₂ (total)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7920" y="55869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0.489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772400" y="5586984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&lt; .001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0515600" y="5586984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 Confirmed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65760" y="5907024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C0825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365760" y="5934456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 2  (a path)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291840" y="5934456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η₁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17920" y="593445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0.437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772400" y="5934456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&lt; .001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0515600" y="5934456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 Confirmed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65760" y="6254496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80318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/>
          <p:nvPr/>
        </p:nvSpPr>
        <p:spPr>
          <a:xfrm>
            <a:off x="365760" y="6281928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 3  (b path)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291840" y="6281928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 → η₂ | ξ₁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217920" y="628192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−0.018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772400" y="6281928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.743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0515600" y="6281928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✗ FAILED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65760" y="6601968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C0825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365760" y="6629400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Direct  (c′ path)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3291840" y="6629400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η₂ | η₁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217920" y="662940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0.289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7772400" y="6629400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.001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10515600" y="6629400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→ Remains sig.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MODEL FIT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Variance Explained — Both Equations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772400" cy="3749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0" y="1353312"/>
            <a:ext cx="3749040" cy="1463040"/>
          </a:xfrm>
          <a:prstGeom prst="roundRect">
            <a:avLst>
              <a:gd name="adj" fmla="val 8750"/>
            </a:avLst>
          </a:prstGeom>
          <a:solidFill>
            <a:srgbClr val="06080E">
              <a:alpha val="60000"/>
            </a:srgbClr>
          </a:solidFill>
          <a:ln w="1270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8394192" y="1444752"/>
            <a:ext cx="34015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Equation 1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94192" y="1792224"/>
            <a:ext cx="3401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R² = 0.780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394192" y="2377440"/>
            <a:ext cx="34015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Adj R² = 0.776  |  F(3,160) = 189.16***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229600" y="2980944"/>
            <a:ext cx="3749040" cy="1463040"/>
          </a:xfrm>
          <a:prstGeom prst="roundRect">
            <a:avLst>
              <a:gd name="adj" fmla="val 8750"/>
            </a:avLst>
          </a:prstGeom>
          <a:solidFill>
            <a:srgbClr val="06080E">
              <a:alpha val="60000"/>
            </a:srgbClr>
          </a:solidFill>
          <a:ln w="12700">
            <a:solidFill>
              <a:srgbClr val="C9A0E8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8394192" y="3072384"/>
            <a:ext cx="34015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Interaction ΔR²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394192" y="3419856"/>
            <a:ext cx="3401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+0.033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8394192" y="4005072"/>
            <a:ext cx="34015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F-change = 23.98***  |  Block 2 R² = 0.813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229600" y="4608576"/>
            <a:ext cx="3749040" cy="1463040"/>
          </a:xfrm>
          <a:prstGeom prst="roundRect">
            <a:avLst>
              <a:gd name="adj" fmla="val 8750"/>
            </a:avLst>
          </a:prstGeom>
          <a:solidFill>
            <a:srgbClr val="06080E">
              <a:alpha val="60000"/>
            </a:srgbClr>
          </a:solidFill>
          <a:ln w="12700">
            <a:solidFill>
              <a:srgbClr val="FFB347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8394192" y="4700016"/>
            <a:ext cx="34015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Equation 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394192" y="5047488"/>
            <a:ext cx="3401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R² = 0.347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8394192" y="5632704"/>
            <a:ext cx="34015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Adj R² = 0.339  |  F(2,161) = 42.74***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FINDINGS SUMMARY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 Outcomes at a Glance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8046720" cy="4846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03920" y="1298448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56D68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6"/>
          <p:cNvSpPr/>
          <p:nvPr/>
        </p:nvSpPr>
        <p:spPr>
          <a:xfrm>
            <a:off x="8503920" y="1298448"/>
            <a:ext cx="0" cy="868680"/>
          </a:xfrm>
          <a:prstGeom prst="line">
            <a:avLst/>
          </a:prstGeom>
          <a:noFill/>
          <a:ln w="444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8705088" y="1362456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528048" y="1362456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705088" y="1773936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0.462  |  p &lt; .001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503920" y="2286000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56D68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8503920" y="2286000"/>
            <a:ext cx="0" cy="868680"/>
          </a:xfrm>
          <a:prstGeom prst="line">
            <a:avLst/>
          </a:prstGeom>
          <a:noFill/>
          <a:ln w="444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8705088" y="2350008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H1b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528048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705088" y="2761488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0.408  |  p &lt; .001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503920" y="3273552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C9A0E8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8503920" y="3273552"/>
            <a:ext cx="0" cy="868680"/>
          </a:xfrm>
          <a:prstGeom prst="line">
            <a:avLst/>
          </a:prstGeom>
          <a:noFill/>
          <a:ln w="444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8705088" y="3337560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528048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SUPPORTED (−)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705088" y="3749040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−0.102  |  p = .029  |  substitutive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503920" y="4261104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F47A7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1"/>
          <p:cNvSpPr/>
          <p:nvPr/>
        </p:nvSpPr>
        <p:spPr>
          <a:xfrm>
            <a:off x="8503920" y="4261104"/>
            <a:ext cx="0" cy="868680"/>
          </a:xfrm>
          <a:prstGeom prst="line">
            <a:avLst/>
          </a:prstGeom>
          <a:noFill/>
          <a:ln w="44450">
            <a:solidFill>
              <a:srgbClr val="F47A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8705088" y="4325112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9528048" y="4325112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NOT SUPPORTED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8705088" y="4736592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b-path collapsed  |  p = .743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8503920" y="5248656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4ECDC4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6"/>
          <p:cNvSpPr/>
          <p:nvPr/>
        </p:nvSpPr>
        <p:spPr>
          <a:xfrm>
            <a:off x="8503920" y="5248656"/>
            <a:ext cx="0" cy="868680"/>
          </a:xfrm>
          <a:prstGeom prst="line">
            <a:avLst/>
          </a:prstGeom>
          <a:noFill/>
          <a:ln w="444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8705088" y="5312664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Direct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9528048" y="5312664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SIGNIFICANT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8705088" y="5724144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ξ₁→η₂  β = 0.340  |  p = .001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DISCUSSION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Do the Results Really Tell Us?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30352" y="1353312"/>
            <a:ext cx="0" cy="2331720"/>
          </a:xfrm>
          <a:prstGeom prst="line">
            <a:avLst/>
          </a:prstGeom>
          <a:noFill/>
          <a:ln w="381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49808" y="1371600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is a Macro-Level SC Driver  (RQ1)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" y="1828800"/>
            <a:ext cx="5102352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49808" y="1947672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0.462 confirms TOE framework at national scale. AI readiness shapes entire logistics ecosystems, not just firm-level processes (Ivanov, 2023; Maroufkhani et al., 2020).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1261872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C9A0E8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473952" y="1353312"/>
            <a:ext cx="0" cy="2331720"/>
          </a:xfrm>
          <a:prstGeom prst="line">
            <a:avLst/>
          </a:prstGeom>
          <a:noFill/>
          <a:ln w="381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693408" y="1371600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Substitute, Not Amplify  (RQ3)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93408" y="1828800"/>
            <a:ext cx="5102352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693408" y="1947672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Negative moderation (β = −0.102) contradicts complementarity assumptions. Strong governance reduces urgency of AI investment in SC — a novel finding challenging dominant narratives.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65760" y="3931920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30352" y="4023360"/>
            <a:ext cx="0" cy="2331720"/>
          </a:xfrm>
          <a:prstGeom prst="line">
            <a:avLst/>
          </a:prstGeom>
          <a:noFill/>
          <a:ln w="381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49808" y="4041648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Mediation Fails — Direct AI Effect Dominates  (RQ2)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" y="4498848"/>
            <a:ext cx="5102352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49808" y="4617720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 not supported. AI readiness drives economic performance directly (β = 0.340), bypassing SC. AI's economic value is broader than the logistics channel alone.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09360" y="3931920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F0C040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6473952" y="4023360"/>
            <a:ext cx="0" cy="2331720"/>
          </a:xfrm>
          <a:prstGeom prst="line">
            <a:avLst/>
          </a:prstGeom>
          <a:noFill/>
          <a:ln w="381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693408" y="4041648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Theoretical Refinement Needed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93408" y="4498848"/>
            <a:ext cx="5102352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693408" y="4617720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substitutive pattern calls for boundary conditions theory. When does governance complement vs. substitute AI? Full-panel longitudinal analysis is the necessary next step.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LIMITATIONS &amp; FUTURE RESEARCH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Limitations, Implications &amp; Next Steps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5669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Study Limitations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719072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30352" y="1810512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1792224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115568" y="1828800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Cross-sectional design — temporal precedence cannot be fully established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6060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30352" y="2697480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05840" y="2679192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115568" y="2715768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Composite index bias — aggregation may mask within-indicator variation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493008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30352" y="3584448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05840" y="3566160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115568" y="3602736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Endogeneity risk — AI readiness &amp; GDP are co-evolving; reverse causality possible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379976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30352" y="4471416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05840" y="4453128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115568" y="4489704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non-normality — Singapore/Luxembourg outliers inflate kurtosis to 8.157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5266944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30352" y="5358384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05840" y="5340096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1115568" y="5376672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 = 164 (SPSS) vs N = 149 (CSV) — composite aggregation difference noted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09360" y="1261872"/>
            <a:ext cx="5577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Future Research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63640" y="1719072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6446520" y="1792224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Panel Regression (2010–2025)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446520" y="2157984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Exploit temporal variation; IV estimation for causal inference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63640" y="26060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6446520" y="2679192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Full Amos CFA-SEM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46520" y="3044952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Proper latent variable modelling with fit indices (CFI, RMSEA)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263640" y="3493008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6446520" y="3566160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Regional Heterogeneity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446520" y="3931920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Separate models for high/low-income groups; multi-group SEM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263640" y="4379976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446520" y="4453128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Policy Implication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446520" y="4818888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investment alone insufficient — governance co-investment critical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263640" y="5266944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6446520" y="5340096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Bayesian SEM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446520" y="5705856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Account for uncertainty in small-N cross-national settings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005840"/>
          </a:xfrm>
          <a:prstGeom prst="roundRect">
            <a:avLst>
              <a:gd name="adj" fmla="val 12727"/>
            </a:avLst>
          </a:prstGeom>
          <a:solidFill>
            <a:srgbClr val="020306">
              <a:alpha val="6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987552"/>
            <a:ext cx="1216152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201168"/>
            <a:ext cx="11430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kern="0" spc="3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078992"/>
            <a:ext cx="11430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Three Takeaways for the Room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0" y="1783080"/>
            <a:ext cx="758952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965960"/>
            <a:ext cx="3749040" cy="4434840"/>
          </a:xfrm>
          <a:prstGeom prst="roundRect">
            <a:avLst>
              <a:gd name="adj" fmla="val 3415"/>
            </a:avLst>
          </a:prstGeom>
          <a:solidFill>
            <a:srgbClr val="04060E">
              <a:alpha val="65000"/>
            </a:srgbClr>
          </a:solidFill>
          <a:ln w="15240">
            <a:solidFill>
              <a:srgbClr val="6DAEDB">
                <a:alpha val="7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30352" y="2084832"/>
            <a:ext cx="749808" cy="640080"/>
          </a:xfrm>
          <a:prstGeom prst="roundRect">
            <a:avLst>
              <a:gd name="adj" fmla="val 11429"/>
            </a:avLst>
          </a:prstGeom>
          <a:solidFill>
            <a:srgbClr val="6DAEDB">
              <a:alpha val="55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30352" y="2084832"/>
            <a:ext cx="7498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66928" y="2834640"/>
            <a:ext cx="336499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is a genuine macro-level SC driver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456432"/>
            <a:ext cx="333756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6928" y="3584448"/>
            <a:ext cx="3364992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 (β = 0.462) and H1b (β = 0.408) both strongly confirmed. AI capability and governance quality jointly explain 78% of cross-national SC performance variation — robust and policy-relevant.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965960"/>
            <a:ext cx="3749040" cy="4434840"/>
          </a:xfrm>
          <a:prstGeom prst="roundRect">
            <a:avLst>
              <a:gd name="adj" fmla="val 3415"/>
            </a:avLst>
          </a:prstGeom>
          <a:solidFill>
            <a:srgbClr val="04060E">
              <a:alpha val="65000"/>
            </a:srgbClr>
          </a:solidFill>
          <a:ln w="15240">
            <a:solidFill>
              <a:srgbClr val="C9A0E8">
                <a:alpha val="7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462272" y="2084832"/>
            <a:ext cx="749808" cy="640080"/>
          </a:xfrm>
          <a:prstGeom prst="roundRect">
            <a:avLst>
              <a:gd name="adj" fmla="val 11429"/>
            </a:avLst>
          </a:prstGeom>
          <a:solidFill>
            <a:srgbClr val="C9A0E8">
              <a:alpha val="55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462272" y="2084832"/>
            <a:ext cx="7498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98848" y="2834640"/>
            <a:ext cx="336499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substitute, not amplify, AI effects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98848" y="3456432"/>
            <a:ext cx="333756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498848" y="3584448"/>
            <a:ext cx="3364992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 reveals negative moderation. The complementarity assumption in most policy frameworks is not empirically warranted. This is a provocation for theory and AI investment strategy.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229600" y="1965960"/>
            <a:ext cx="3749040" cy="4434840"/>
          </a:xfrm>
          <a:prstGeom prst="roundRect">
            <a:avLst>
              <a:gd name="adj" fmla="val 3415"/>
            </a:avLst>
          </a:prstGeom>
          <a:solidFill>
            <a:srgbClr val="04060E">
              <a:alpha val="65000"/>
            </a:srgbClr>
          </a:solidFill>
          <a:ln w="15240">
            <a:solidFill>
              <a:srgbClr val="56D68A">
                <a:alpha val="7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8394192" y="2084832"/>
            <a:ext cx="749808" cy="640080"/>
          </a:xfrm>
          <a:prstGeom prst="roundRect">
            <a:avLst>
              <a:gd name="adj" fmla="val 11429"/>
            </a:avLst>
          </a:prstGeom>
          <a:solidFill>
            <a:srgbClr val="56D68A">
              <a:alpha val="55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394192" y="2084832"/>
            <a:ext cx="7498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430768" y="2834640"/>
            <a:ext cx="336499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drives economies directly — not through supply chains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430768" y="3456432"/>
            <a:ext cx="333756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8430768" y="3584448"/>
            <a:ext cx="3364992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 fails but the direct ξ₁→η₂ path (β = 0.340) is robust. AI readiness has broader economic value bypassing logistics. Full-scale panel study needed to confirm causal mechanism.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65760" y="6473952"/>
            <a:ext cx="11430000" cy="365760"/>
          </a:xfrm>
          <a:prstGeom prst="roundRect">
            <a:avLst>
              <a:gd name="adj" fmla="val 35000"/>
            </a:avLst>
          </a:prstGeom>
          <a:solidFill>
            <a:srgbClr val="020408">
              <a:alpha val="60000"/>
            </a:srgbClr>
          </a:solidFill>
          <a:ln w="3810">
            <a:solidFill>
              <a:srgbClr val="B8C8D8">
                <a:alpha val="1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Tewogbade Shakir Adeyemi  |  DBA Researcher  |  2573172317  |  Thank you —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1906</Words>
  <Application>Microsoft Office PowerPoint</Application>
  <PresentationFormat>Widescreen</PresentationFormat>
  <Paragraphs>386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 &amp; Supply Chain Performance</dc:title>
  <dc:subject>PptxGenJS Presentation</dc:subject>
  <dc:creator>Tewogbade Shakir Adeyemi</dc:creator>
  <cp:lastModifiedBy>shakir tewogbade</cp:lastModifiedBy>
  <cp:revision>2</cp:revision>
  <dcterms:created xsi:type="dcterms:W3CDTF">2026-06-27T14:02:17Z</dcterms:created>
  <dcterms:modified xsi:type="dcterms:W3CDTF">2026-06-27T21:10:42Z</dcterms:modified>
</cp:coreProperties>
</file>