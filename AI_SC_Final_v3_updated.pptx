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72" r:id="rId14"/>
    <p:sldId id="273" r:id="rId15"/>
    <p:sldId id="274"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kir tewogbade" userId="563c60ebfdccf071" providerId="LiveId" clId="{E6248412-F361-47D3-9889-1B43A23B8F8C}"/>
    <pc:docChg chg="modSld">
      <pc:chgData name="shakir tewogbade" userId="563c60ebfdccf071" providerId="LiveId" clId="{E6248412-F361-47D3-9889-1B43A23B8F8C}" dt="2026-06-27T22:55:02.807" v="80" actId="20577"/>
      <pc:docMkLst>
        <pc:docMk/>
      </pc:docMkLst>
      <pc:sldChg chg="modSp mod">
        <pc:chgData name="shakir tewogbade" userId="563c60ebfdccf071" providerId="LiveId" clId="{E6248412-F361-47D3-9889-1B43A23B8F8C}" dt="2026-06-27T22:52:07.343" v="74" actId="20577"/>
        <pc:sldMkLst>
          <pc:docMk/>
          <pc:sldMk cId="0" sldId="265"/>
        </pc:sldMkLst>
        <pc:spChg chg="mod">
          <ac:chgData name="shakir tewogbade" userId="563c60ebfdccf071" providerId="LiveId" clId="{E6248412-F361-47D3-9889-1B43A23B8F8C}" dt="2026-06-27T22:52:07.343" v="74" actId="20577"/>
          <ac:spMkLst>
            <pc:docMk/>
            <pc:sldMk cId="0" sldId="265"/>
            <ac:spMk id="19" creationId="{00000000-0000-0000-0000-000000000000}"/>
          </ac:spMkLst>
        </pc:spChg>
      </pc:sldChg>
      <pc:sldChg chg="modSp mod">
        <pc:chgData name="shakir tewogbade" userId="563c60ebfdccf071" providerId="LiveId" clId="{E6248412-F361-47D3-9889-1B43A23B8F8C}" dt="2026-06-27T22:54:42.686" v="76" actId="20577"/>
        <pc:sldMkLst>
          <pc:docMk/>
          <pc:sldMk cId="0" sldId="270"/>
        </pc:sldMkLst>
        <pc:spChg chg="mod">
          <ac:chgData name="shakir tewogbade" userId="563c60ebfdccf071" providerId="LiveId" clId="{E6248412-F361-47D3-9889-1B43A23B8F8C}" dt="2026-06-27T22:54:42.686" v="76" actId="20577"/>
          <ac:spMkLst>
            <pc:docMk/>
            <pc:sldMk cId="0" sldId="270"/>
            <ac:spMk id="34" creationId="{00000000-0000-0000-0000-000000000000}"/>
          </ac:spMkLst>
        </pc:spChg>
      </pc:sldChg>
      <pc:sldChg chg="modSp mod">
        <pc:chgData name="shakir tewogbade" userId="563c60ebfdccf071" providerId="LiveId" clId="{E6248412-F361-47D3-9889-1B43A23B8F8C}" dt="2026-06-27T22:54:50.900" v="78" actId="20577"/>
        <pc:sldMkLst>
          <pc:docMk/>
          <pc:sldMk cId="0" sldId="271"/>
        </pc:sldMkLst>
        <pc:spChg chg="mod">
          <ac:chgData name="shakir tewogbade" userId="563c60ebfdccf071" providerId="LiveId" clId="{E6248412-F361-47D3-9889-1B43A23B8F8C}" dt="2026-06-27T22:54:50.900" v="78" actId="20577"/>
          <ac:spMkLst>
            <pc:docMk/>
            <pc:sldMk cId="0" sldId="271"/>
            <ac:spMk id="28" creationId="{00000000-0000-0000-0000-000000000000}"/>
          </ac:spMkLst>
        </pc:spChg>
      </pc:sldChg>
      <pc:sldChg chg="modSp mod">
        <pc:chgData name="shakir tewogbade" userId="563c60ebfdccf071" providerId="LiveId" clId="{E6248412-F361-47D3-9889-1B43A23B8F8C}" dt="2026-06-27T22:55:02.807" v="80" actId="20577"/>
        <pc:sldMkLst>
          <pc:docMk/>
          <pc:sldMk cId="0" sldId="272"/>
        </pc:sldMkLst>
        <pc:spChg chg="mod">
          <ac:chgData name="shakir tewogbade" userId="563c60ebfdccf071" providerId="LiveId" clId="{E6248412-F361-47D3-9889-1B43A23B8F8C}" dt="2026-06-27T22:12:00.478" v="34" actId="20577"/>
          <ac:spMkLst>
            <pc:docMk/>
            <pc:sldMk cId="0" sldId="272"/>
            <ac:spMk id="34" creationId="{00000000-0000-0000-0000-000000000000}"/>
          </ac:spMkLst>
        </pc:spChg>
        <pc:spChg chg="mod">
          <ac:chgData name="shakir tewogbade" userId="563c60ebfdccf071" providerId="LiveId" clId="{E6248412-F361-47D3-9889-1B43A23B8F8C}" dt="2026-06-27T22:12:10.105" v="43" actId="20577"/>
          <ac:spMkLst>
            <pc:docMk/>
            <pc:sldMk cId="0" sldId="272"/>
            <ac:spMk id="35" creationId="{00000000-0000-0000-0000-000000000000}"/>
          </ac:spMkLst>
        </pc:spChg>
        <pc:spChg chg="mod">
          <ac:chgData name="shakir tewogbade" userId="563c60ebfdccf071" providerId="LiveId" clId="{E6248412-F361-47D3-9889-1B43A23B8F8C}" dt="2026-06-27T22:55:02.807" v="80" actId="20577"/>
          <ac:spMkLst>
            <pc:docMk/>
            <pc:sldMk cId="0" sldId="272"/>
            <ac:spMk id="4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5045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777240"/>
          </a:xfrm>
          <a:prstGeom prst="rect">
            <a:avLst/>
          </a:prstGeom>
          <a:solidFill>
            <a:srgbClr val="030818">
              <a:alpha val="70000"/>
            </a:srgbClr>
          </a:solidFill>
          <a:ln w="12700">
            <a:solidFill>
              <a:srgbClr val="FFFFFF">
                <a:alpha val="0"/>
              </a:srgbClr>
            </a:solidFill>
            <a:prstDash val="solid"/>
          </a:ln>
        </p:spPr>
        <p:txBody>
          <a:bodyPr/>
          <a:lstStyle/>
          <a:p>
            <a:endParaRPr lang="en-GB"/>
          </a:p>
        </p:txBody>
      </p:sp>
      <p:sp>
        <p:nvSpPr>
          <p:cNvPr id="4" name="Text 1"/>
          <p:cNvSpPr/>
          <p:nvPr/>
        </p:nvSpPr>
        <p:spPr>
          <a:xfrm>
            <a:off x="365760" y="73152"/>
            <a:ext cx="11430000" cy="594360"/>
          </a:xfrm>
          <a:prstGeom prst="rect">
            <a:avLst/>
          </a:prstGeom>
          <a:noFill/>
          <a:ln/>
        </p:spPr>
        <p:txBody>
          <a:bodyPr wrap="square" lIns="50800" tIns="50800" rIns="50800" bIns="50800" rtlCol="0" anchor="ctr"/>
          <a:lstStyle/>
          <a:p>
            <a:pPr marL="0" indent="0" algn="ctr">
              <a:buNone/>
            </a:pPr>
            <a:r>
              <a:rPr lang="en-US" sz="1000" kern="0" spc="250" dirty="0">
                <a:solidFill>
                  <a:srgbClr val="B8C8D8"/>
                </a:solidFill>
                <a:latin typeface="Gill Sans MT" pitchFamily="34" charset="0"/>
                <a:ea typeface="Gill Sans MT" pitchFamily="34" charset="-122"/>
                <a:cs typeface="Gill Sans MT" pitchFamily="34" charset="-120"/>
              </a:rPr>
              <a:t>SBEL CONFERENCE PAPER PRESENTATION  •  June 2026</a:t>
            </a:r>
            <a:endParaRPr lang="en-US" sz="1000" dirty="0"/>
          </a:p>
        </p:txBody>
      </p:sp>
      <p:sp>
        <p:nvSpPr>
          <p:cNvPr id="5" name="Shape 2"/>
          <p:cNvSpPr/>
          <p:nvPr/>
        </p:nvSpPr>
        <p:spPr>
          <a:xfrm>
            <a:off x="457200" y="1005840"/>
            <a:ext cx="11247120" cy="2286000"/>
          </a:xfrm>
          <a:prstGeom prst="roundRect">
            <a:avLst>
              <a:gd name="adj" fmla="val 5600"/>
            </a:avLst>
          </a:prstGeom>
          <a:solidFill>
            <a:srgbClr val="03081A">
              <a:alpha val="62000"/>
            </a:srgbClr>
          </a:solidFill>
          <a:ln w="10160">
            <a:solidFill>
              <a:srgbClr val="6DAEDB">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6" name="Shape 3"/>
          <p:cNvSpPr/>
          <p:nvPr/>
        </p:nvSpPr>
        <p:spPr>
          <a:xfrm>
            <a:off x="822960" y="1115568"/>
            <a:ext cx="1828800" cy="0"/>
          </a:xfrm>
          <a:prstGeom prst="line">
            <a:avLst/>
          </a:prstGeom>
          <a:noFill/>
          <a:ln w="19050">
            <a:solidFill>
              <a:srgbClr val="F0C040"/>
            </a:solidFill>
            <a:prstDash val="solid"/>
          </a:ln>
        </p:spPr>
        <p:txBody>
          <a:bodyPr/>
          <a:lstStyle/>
          <a:p>
            <a:endParaRPr lang="en-GB"/>
          </a:p>
        </p:txBody>
      </p:sp>
      <p:sp>
        <p:nvSpPr>
          <p:cNvPr id="7" name="Text 4"/>
          <p:cNvSpPr/>
          <p:nvPr/>
        </p:nvSpPr>
        <p:spPr>
          <a:xfrm>
            <a:off x="640080" y="1143000"/>
            <a:ext cx="10881360" cy="1280160"/>
          </a:xfrm>
          <a:prstGeom prst="rect">
            <a:avLst/>
          </a:prstGeom>
          <a:noFill/>
          <a:ln/>
        </p:spPr>
        <p:txBody>
          <a:bodyPr wrap="square" lIns="50800" tIns="50800" rIns="50800" bIns="50800" rtlCol="0" anchor="ctr"/>
          <a:lstStyle/>
          <a:p>
            <a:pPr marL="0" indent="0" algn="ctr">
              <a:buNone/>
            </a:pPr>
            <a:r>
              <a:rPr lang="en-US" sz="3800" b="1" dirty="0">
                <a:solidFill>
                  <a:srgbClr val="FFFFFF"/>
                </a:solidFill>
                <a:latin typeface="Gill Sans MT" pitchFamily="34" charset="0"/>
                <a:ea typeface="Gill Sans MT" pitchFamily="34" charset="-122"/>
                <a:cs typeface="Gill Sans MT" pitchFamily="34" charset="-120"/>
              </a:rPr>
              <a:t>AI Readiness and Supply Chain Performance</a:t>
            </a:r>
            <a:endParaRPr lang="en-US" sz="3800" dirty="0"/>
          </a:p>
        </p:txBody>
      </p:sp>
      <p:sp>
        <p:nvSpPr>
          <p:cNvPr id="8" name="Text 5"/>
          <p:cNvSpPr/>
          <p:nvPr/>
        </p:nvSpPr>
        <p:spPr>
          <a:xfrm>
            <a:off x="640080" y="2331720"/>
            <a:ext cx="10881360" cy="685800"/>
          </a:xfrm>
          <a:prstGeom prst="rect">
            <a:avLst/>
          </a:prstGeom>
          <a:noFill/>
          <a:ln/>
        </p:spPr>
        <p:txBody>
          <a:bodyPr wrap="square" lIns="50800" tIns="50800" rIns="50800" bIns="50800" rtlCol="0" anchor="ctr"/>
          <a:lstStyle/>
          <a:p>
            <a:pPr marL="0" indent="0" algn="ctr">
              <a:buNone/>
            </a:pPr>
            <a:r>
              <a:rPr lang="en-US" sz="1900" i="1" dirty="0">
                <a:solidFill>
                  <a:srgbClr val="F0C040"/>
                </a:solidFill>
                <a:latin typeface="Gill Sans MT" pitchFamily="34" charset="0"/>
                <a:ea typeface="Gill Sans MT" pitchFamily="34" charset="-122"/>
                <a:cs typeface="Gill Sans MT" pitchFamily="34" charset="-120"/>
              </a:rPr>
              <a:t>A Cross-National Pilot Study Using Structural Equation Modelling</a:t>
            </a:r>
            <a:endParaRPr lang="en-US" sz="1900" dirty="0"/>
          </a:p>
        </p:txBody>
      </p:sp>
      <p:sp>
        <p:nvSpPr>
          <p:cNvPr id="9" name="Shape 6"/>
          <p:cNvSpPr/>
          <p:nvPr/>
        </p:nvSpPr>
        <p:spPr>
          <a:xfrm>
            <a:off x="822960" y="3127248"/>
            <a:ext cx="10515600" cy="0"/>
          </a:xfrm>
          <a:prstGeom prst="line">
            <a:avLst/>
          </a:prstGeom>
          <a:noFill/>
          <a:ln w="19050">
            <a:solidFill>
              <a:srgbClr val="6DAEDB"/>
            </a:solidFill>
            <a:prstDash val="solid"/>
          </a:ln>
        </p:spPr>
        <p:txBody>
          <a:bodyPr/>
          <a:lstStyle/>
          <a:p>
            <a:endParaRPr lang="en-GB"/>
          </a:p>
        </p:txBody>
      </p:sp>
      <p:sp>
        <p:nvSpPr>
          <p:cNvPr id="10" name="Shape 7"/>
          <p:cNvSpPr/>
          <p:nvPr/>
        </p:nvSpPr>
        <p:spPr>
          <a:xfrm>
            <a:off x="11887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1" name="Text 8"/>
          <p:cNvSpPr/>
          <p:nvPr/>
        </p:nvSpPr>
        <p:spPr>
          <a:xfrm>
            <a:off x="11887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164</a:t>
            </a:r>
            <a:endParaRPr lang="en-US" sz="2800" dirty="0"/>
          </a:p>
        </p:txBody>
      </p:sp>
      <p:sp>
        <p:nvSpPr>
          <p:cNvPr id="12" name="Text 9"/>
          <p:cNvSpPr/>
          <p:nvPr/>
        </p:nvSpPr>
        <p:spPr>
          <a:xfrm>
            <a:off x="11887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Countries</a:t>
            </a:r>
            <a:endParaRPr lang="en-US" sz="1100" dirty="0"/>
          </a:p>
        </p:txBody>
      </p:sp>
      <p:sp>
        <p:nvSpPr>
          <p:cNvPr id="13" name="Shape 10"/>
          <p:cNvSpPr/>
          <p:nvPr/>
        </p:nvSpPr>
        <p:spPr>
          <a:xfrm>
            <a:off x="37033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Text 11"/>
          <p:cNvSpPr/>
          <p:nvPr/>
        </p:nvSpPr>
        <p:spPr>
          <a:xfrm>
            <a:off x="37033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5</a:t>
            </a:r>
            <a:endParaRPr lang="en-US" sz="2800" dirty="0"/>
          </a:p>
        </p:txBody>
      </p:sp>
      <p:sp>
        <p:nvSpPr>
          <p:cNvPr id="15" name="Text 12"/>
          <p:cNvSpPr/>
          <p:nvPr/>
        </p:nvSpPr>
        <p:spPr>
          <a:xfrm>
            <a:off x="37033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Data Sources</a:t>
            </a:r>
            <a:endParaRPr lang="en-US" sz="1100" dirty="0"/>
          </a:p>
        </p:txBody>
      </p:sp>
      <p:sp>
        <p:nvSpPr>
          <p:cNvPr id="16" name="Shape 13"/>
          <p:cNvSpPr/>
          <p:nvPr/>
        </p:nvSpPr>
        <p:spPr>
          <a:xfrm>
            <a:off x="62179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7" name="Text 14"/>
          <p:cNvSpPr/>
          <p:nvPr/>
        </p:nvSpPr>
        <p:spPr>
          <a:xfrm>
            <a:off x="62179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SEM</a:t>
            </a:r>
            <a:endParaRPr lang="en-US" sz="2800" dirty="0"/>
          </a:p>
        </p:txBody>
      </p:sp>
      <p:sp>
        <p:nvSpPr>
          <p:cNvPr id="18" name="Text 15"/>
          <p:cNvSpPr/>
          <p:nvPr/>
        </p:nvSpPr>
        <p:spPr>
          <a:xfrm>
            <a:off x="62179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Framework</a:t>
            </a:r>
            <a:endParaRPr lang="en-US" sz="1100" dirty="0"/>
          </a:p>
        </p:txBody>
      </p:sp>
      <p:sp>
        <p:nvSpPr>
          <p:cNvPr id="19" name="Shape 16"/>
          <p:cNvSpPr/>
          <p:nvPr/>
        </p:nvSpPr>
        <p:spPr>
          <a:xfrm>
            <a:off x="87325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Text 17"/>
          <p:cNvSpPr/>
          <p:nvPr/>
        </p:nvSpPr>
        <p:spPr>
          <a:xfrm>
            <a:off x="87325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IBM SPSS</a:t>
            </a:r>
            <a:endParaRPr lang="en-US" sz="2800" dirty="0"/>
          </a:p>
        </p:txBody>
      </p:sp>
      <p:sp>
        <p:nvSpPr>
          <p:cNvPr id="21" name="Text 18"/>
          <p:cNvSpPr/>
          <p:nvPr/>
        </p:nvSpPr>
        <p:spPr>
          <a:xfrm>
            <a:off x="87325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Analysis</a:t>
            </a:r>
            <a:endParaRPr lang="en-US" sz="1100" dirty="0"/>
          </a:p>
        </p:txBody>
      </p:sp>
      <p:sp>
        <p:nvSpPr>
          <p:cNvPr id="22" name="Shape 19"/>
          <p:cNvSpPr/>
          <p:nvPr/>
        </p:nvSpPr>
        <p:spPr>
          <a:xfrm>
            <a:off x="457200" y="4983480"/>
            <a:ext cx="11247120" cy="502920"/>
          </a:xfrm>
          <a:prstGeom prst="roundRect">
            <a:avLst>
              <a:gd name="adj" fmla="val 25455"/>
            </a:avLst>
          </a:prstGeom>
          <a:solidFill>
            <a:srgbClr val="03081A">
              <a:alpha val="55000"/>
            </a:srgbClr>
          </a:solidFill>
          <a:ln w="3810">
            <a:solidFill>
              <a:srgbClr val="B8C8D8">
                <a:alpha val="2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3" name="Text 20"/>
          <p:cNvSpPr/>
          <p:nvPr/>
        </p:nvSpPr>
        <p:spPr>
          <a:xfrm>
            <a:off x="457200" y="4992624"/>
            <a:ext cx="11247120" cy="502920"/>
          </a:xfrm>
          <a:prstGeom prst="rect">
            <a:avLst/>
          </a:prstGeom>
          <a:noFill/>
          <a:ln/>
        </p:spPr>
        <p:txBody>
          <a:bodyPr wrap="square" lIns="50800" tIns="50800" rIns="50800" bIns="50800" rtlCol="0" anchor="ctr"/>
          <a:lstStyle/>
          <a:p>
            <a:pPr marL="0" indent="0" algn="ctr">
              <a:buNone/>
            </a:pPr>
            <a:r>
              <a:rPr lang="en-US" sz="1100" dirty="0">
                <a:solidFill>
                  <a:srgbClr val="B8C8D8"/>
                </a:solidFill>
                <a:latin typeface="Gill Sans MT" pitchFamily="34" charset="0"/>
                <a:ea typeface="Gill Sans MT" pitchFamily="34" charset="-122"/>
                <a:cs typeface="Gill Sans MT" pitchFamily="34" charset="-120"/>
              </a:rPr>
              <a:t>Tewogbade Shakir Adeyemi  |  DBA Researcher  |  Student ID: 2573172317</a:t>
            </a:r>
            <a:endParaRPr lang="en-US" sz="1100" dirty="0"/>
          </a:p>
        </p:txBody>
      </p:sp>
      <p:sp>
        <p:nvSpPr>
          <p:cNvPr id="24" name="Shape 21"/>
          <p:cNvSpPr/>
          <p:nvPr/>
        </p:nvSpPr>
        <p:spPr>
          <a:xfrm>
            <a:off x="0" y="5669280"/>
            <a:ext cx="12161520" cy="1188720"/>
          </a:xfrm>
          <a:prstGeom prst="rect">
            <a:avLst/>
          </a:prstGeom>
          <a:solidFill>
            <a:srgbClr val="020610">
              <a:alpha val="70000"/>
            </a:srgbClr>
          </a:solidFill>
          <a:ln w="12700">
            <a:solidFill>
              <a:srgbClr val="FFFFFF">
                <a:alpha val="0"/>
              </a:srgbClr>
            </a:solidFill>
            <a:prstDash val="solid"/>
          </a:ln>
        </p:spPr>
        <p:txBody>
          <a:bodyPr/>
          <a:lstStyle/>
          <a:p>
            <a:endParaRPr lang="en-GB"/>
          </a:p>
        </p:txBody>
      </p:sp>
      <p:sp>
        <p:nvSpPr>
          <p:cNvPr id="25" name="Text 22"/>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5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4ECDC4"/>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4ECDC4"/>
                </a:solidFill>
                <a:latin typeface="Gill Sans MT" pitchFamily="34" charset="0"/>
                <a:ea typeface="Gill Sans MT" pitchFamily="34" charset="-122"/>
                <a:cs typeface="Gill Sans MT" pitchFamily="34" charset="-120"/>
              </a:rPr>
              <a:t>MOTIVATION</a:t>
            </a:r>
            <a:endParaRPr lang="en-US" sz="850" dirty="0"/>
          </a:p>
        </p:txBody>
      </p:sp>
      <p:sp>
        <p:nvSpPr>
          <p:cNvPr id="6" name="Text 3"/>
          <p:cNvSpPr/>
          <p:nvPr/>
        </p:nvSpPr>
        <p:spPr>
          <a:xfrm>
            <a:off x="365760" y="347472"/>
            <a:ext cx="91440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The Problem: A Critical Gap</a:t>
            </a:r>
            <a:endParaRPr lang="en-US" sz="2800" dirty="0"/>
          </a:p>
        </p:txBody>
      </p:sp>
      <p:sp>
        <p:nvSpPr>
          <p:cNvPr id="7" name="Shape 4"/>
          <p:cNvSpPr/>
          <p:nvPr/>
        </p:nvSpPr>
        <p:spPr>
          <a:xfrm>
            <a:off x="365760" y="1115568"/>
            <a:ext cx="11430000" cy="0"/>
          </a:xfrm>
          <a:prstGeom prst="line">
            <a:avLst/>
          </a:prstGeom>
          <a:noFill/>
          <a:ln w="19050">
            <a:solidFill>
              <a:srgbClr val="4ECDC4"/>
            </a:solidFill>
            <a:prstDash val="solid"/>
          </a:ln>
        </p:spPr>
        <p:txBody>
          <a:bodyPr/>
          <a:lstStyle/>
          <a:p>
            <a:endParaRPr lang="en-GB"/>
          </a:p>
        </p:txBody>
      </p:sp>
      <p:sp>
        <p:nvSpPr>
          <p:cNvPr id="8" name="Shape 5"/>
          <p:cNvSpPr/>
          <p:nvPr/>
        </p:nvSpPr>
        <p:spPr>
          <a:xfrm>
            <a:off x="365760" y="1261872"/>
            <a:ext cx="3749040" cy="3977640"/>
          </a:xfrm>
          <a:prstGeom prst="roundRect">
            <a:avLst>
              <a:gd name="adj" fmla="val 3415"/>
            </a:avLst>
          </a:prstGeom>
          <a:solidFill>
            <a:srgbClr val="040C18">
              <a:alpha val="58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30352" y="1261872"/>
            <a:ext cx="0" cy="3977640"/>
          </a:xfrm>
          <a:prstGeom prst="line">
            <a:avLst/>
          </a:prstGeom>
          <a:noFill/>
          <a:ln w="38100">
            <a:solidFill>
              <a:srgbClr val="6DAEDB"/>
            </a:solidFill>
            <a:prstDash val="solid"/>
          </a:ln>
        </p:spPr>
        <p:txBody>
          <a:bodyPr/>
          <a:lstStyle/>
          <a:p>
            <a:endParaRPr lang="en-GB"/>
          </a:p>
        </p:txBody>
      </p:sp>
      <p:sp>
        <p:nvSpPr>
          <p:cNvPr id="10" name="Text 7"/>
          <p:cNvSpPr/>
          <p:nvPr/>
        </p:nvSpPr>
        <p:spPr>
          <a:xfrm>
            <a:off x="713232" y="1417320"/>
            <a:ext cx="3291840" cy="822960"/>
          </a:xfrm>
          <a:prstGeom prst="rect">
            <a:avLst/>
          </a:prstGeom>
          <a:noFill/>
          <a:ln/>
        </p:spPr>
        <p:txBody>
          <a:bodyPr wrap="square" lIns="50800" tIns="50800" rIns="50800" bIns="50800" rtlCol="0" anchor="ctr"/>
          <a:lstStyle/>
          <a:p>
            <a:pPr marL="0" indent="0" algn="l">
              <a:buNone/>
            </a:pPr>
            <a:r>
              <a:rPr lang="en-US" sz="1450" b="1" dirty="0">
                <a:solidFill>
                  <a:srgbClr val="6DAEDB"/>
                </a:solidFill>
                <a:latin typeface="Gill Sans MT" pitchFamily="34" charset="0"/>
                <a:ea typeface="Gill Sans MT" pitchFamily="34" charset="-122"/>
                <a:cs typeface="Gill Sans MT" pitchFamily="34" charset="-120"/>
              </a:rPr>
              <a:t>AI is Transforming</a:t>
            </a:r>
            <a:endParaRPr lang="en-US" sz="1450" dirty="0"/>
          </a:p>
          <a:p>
            <a:pPr marL="0" indent="0" algn="l">
              <a:buNone/>
            </a:pPr>
            <a:r>
              <a:rPr lang="en-US" sz="1450" b="1" dirty="0">
                <a:solidFill>
                  <a:srgbClr val="6DAEDB"/>
                </a:solidFill>
                <a:latin typeface="Gill Sans MT" pitchFamily="34" charset="0"/>
                <a:ea typeface="Gill Sans MT" pitchFamily="34" charset="-122"/>
                <a:cs typeface="Gill Sans MT" pitchFamily="34" charset="-120"/>
              </a:rPr>
              <a:t>Global Supply Chains</a:t>
            </a:r>
            <a:endParaRPr lang="en-US" sz="1450" dirty="0"/>
          </a:p>
        </p:txBody>
      </p:sp>
      <p:sp>
        <p:nvSpPr>
          <p:cNvPr id="11" name="Shape 8"/>
          <p:cNvSpPr/>
          <p:nvPr/>
        </p:nvSpPr>
        <p:spPr>
          <a:xfrm>
            <a:off x="713232" y="2304288"/>
            <a:ext cx="3200400" cy="0"/>
          </a:xfrm>
          <a:prstGeom prst="line">
            <a:avLst/>
          </a:prstGeom>
          <a:noFill/>
          <a:ln w="19050">
            <a:solidFill>
              <a:srgbClr val="6DAEDB"/>
            </a:solidFill>
            <a:prstDash val="solid"/>
          </a:ln>
        </p:spPr>
        <p:txBody>
          <a:bodyPr/>
          <a:lstStyle/>
          <a:p>
            <a:endParaRPr lang="en-GB"/>
          </a:p>
        </p:txBody>
      </p:sp>
      <p:sp>
        <p:nvSpPr>
          <p:cNvPr id="12" name="Text 9"/>
          <p:cNvSpPr/>
          <p:nvPr/>
        </p:nvSpPr>
        <p:spPr>
          <a:xfrm>
            <a:off x="713232" y="2423160"/>
            <a:ext cx="3310128" cy="265176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Predictive analytics, ML, and intelligent automation are reshaping logistics. Yet the benefits are not automatic — returns depend on context (Brynjolfsson &amp; Syverson, 2021)</a:t>
            </a:r>
            <a:endParaRPr lang="en-US" sz="1150" dirty="0"/>
          </a:p>
        </p:txBody>
      </p:sp>
      <p:sp>
        <p:nvSpPr>
          <p:cNvPr id="13" name="Shape 10"/>
          <p:cNvSpPr/>
          <p:nvPr/>
        </p:nvSpPr>
        <p:spPr>
          <a:xfrm>
            <a:off x="4297680" y="1261872"/>
            <a:ext cx="3749040" cy="3977640"/>
          </a:xfrm>
          <a:prstGeom prst="roundRect">
            <a:avLst>
              <a:gd name="adj" fmla="val 3415"/>
            </a:avLst>
          </a:prstGeom>
          <a:solidFill>
            <a:srgbClr val="040C18">
              <a:alpha val="58000"/>
            </a:srgbClr>
          </a:solidFill>
          <a:ln w="10160">
            <a:solidFill>
              <a:srgbClr val="4ECDC4">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Shape 11"/>
          <p:cNvSpPr/>
          <p:nvPr/>
        </p:nvSpPr>
        <p:spPr>
          <a:xfrm>
            <a:off x="4462272" y="1261872"/>
            <a:ext cx="0" cy="3977640"/>
          </a:xfrm>
          <a:prstGeom prst="line">
            <a:avLst/>
          </a:prstGeom>
          <a:noFill/>
          <a:ln w="38100">
            <a:solidFill>
              <a:srgbClr val="4ECDC4"/>
            </a:solidFill>
            <a:prstDash val="solid"/>
          </a:ln>
        </p:spPr>
        <p:txBody>
          <a:bodyPr/>
          <a:lstStyle/>
          <a:p>
            <a:endParaRPr lang="en-GB"/>
          </a:p>
        </p:txBody>
      </p:sp>
      <p:sp>
        <p:nvSpPr>
          <p:cNvPr id="15" name="Text 12"/>
          <p:cNvSpPr/>
          <p:nvPr/>
        </p:nvSpPr>
        <p:spPr>
          <a:xfrm>
            <a:off x="4645152" y="1417320"/>
            <a:ext cx="3291840" cy="822960"/>
          </a:xfrm>
          <a:prstGeom prst="rect">
            <a:avLst/>
          </a:prstGeom>
          <a:noFill/>
          <a:ln/>
        </p:spPr>
        <p:txBody>
          <a:bodyPr wrap="square" lIns="50800" tIns="50800" rIns="50800" bIns="50800" rtlCol="0" anchor="ctr"/>
          <a:lstStyle/>
          <a:p>
            <a:pPr marL="0" indent="0" algn="l">
              <a:buNone/>
            </a:pPr>
            <a:r>
              <a:rPr lang="en-US" sz="1450" b="1" dirty="0">
                <a:solidFill>
                  <a:srgbClr val="4ECDC4"/>
                </a:solidFill>
                <a:latin typeface="Gill Sans MT" pitchFamily="34" charset="0"/>
                <a:ea typeface="Gill Sans MT" pitchFamily="34" charset="-122"/>
                <a:cs typeface="Gill Sans MT" pitchFamily="34" charset="-120"/>
              </a:rPr>
              <a:t>The Empirical Gap</a:t>
            </a:r>
            <a:endParaRPr lang="en-US" sz="1450" dirty="0"/>
          </a:p>
          <a:p>
            <a:pPr marL="0" indent="0" algn="l">
              <a:buNone/>
            </a:pPr>
            <a:r>
              <a:rPr lang="en-US" sz="1450" b="1" dirty="0">
                <a:solidFill>
                  <a:srgbClr val="4ECDC4"/>
                </a:solidFill>
                <a:latin typeface="Gill Sans MT" pitchFamily="34" charset="0"/>
                <a:ea typeface="Gill Sans MT" pitchFamily="34" charset="-122"/>
                <a:cs typeface="Gill Sans MT" pitchFamily="34" charset="-120"/>
              </a:rPr>
              <a:t>Is Real</a:t>
            </a:r>
            <a:endParaRPr lang="en-US" sz="1450" dirty="0"/>
          </a:p>
        </p:txBody>
      </p:sp>
      <p:sp>
        <p:nvSpPr>
          <p:cNvPr id="16" name="Shape 13"/>
          <p:cNvSpPr/>
          <p:nvPr/>
        </p:nvSpPr>
        <p:spPr>
          <a:xfrm>
            <a:off x="4645152" y="2304288"/>
            <a:ext cx="3200400" cy="0"/>
          </a:xfrm>
          <a:prstGeom prst="line">
            <a:avLst/>
          </a:prstGeom>
          <a:noFill/>
          <a:ln w="19050">
            <a:solidFill>
              <a:srgbClr val="4ECDC4"/>
            </a:solidFill>
            <a:prstDash val="solid"/>
          </a:ln>
        </p:spPr>
        <p:txBody>
          <a:bodyPr/>
          <a:lstStyle/>
          <a:p>
            <a:endParaRPr lang="en-GB"/>
          </a:p>
        </p:txBody>
      </p:sp>
      <p:sp>
        <p:nvSpPr>
          <p:cNvPr id="17" name="Text 14"/>
          <p:cNvSpPr/>
          <p:nvPr/>
        </p:nvSpPr>
        <p:spPr>
          <a:xfrm>
            <a:off x="4645152" y="2423160"/>
            <a:ext cx="3310128" cy="265176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Most research is firm-level or sector-specific. Cross-national macro-level evidence on AI → SC performance remains scarce (Queiroz et al., 2022)</a:t>
            </a:r>
            <a:endParaRPr lang="en-US" sz="1150" dirty="0"/>
          </a:p>
        </p:txBody>
      </p:sp>
      <p:sp>
        <p:nvSpPr>
          <p:cNvPr id="18" name="Shape 15"/>
          <p:cNvSpPr/>
          <p:nvPr/>
        </p:nvSpPr>
        <p:spPr>
          <a:xfrm>
            <a:off x="8229600" y="1261872"/>
            <a:ext cx="3749040" cy="3977640"/>
          </a:xfrm>
          <a:prstGeom prst="roundRect">
            <a:avLst>
              <a:gd name="adj" fmla="val 3415"/>
            </a:avLst>
          </a:prstGeom>
          <a:solidFill>
            <a:srgbClr val="040C18">
              <a:alpha val="58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9" name="Shape 16"/>
          <p:cNvSpPr/>
          <p:nvPr/>
        </p:nvSpPr>
        <p:spPr>
          <a:xfrm>
            <a:off x="8394192" y="1261872"/>
            <a:ext cx="0" cy="3977640"/>
          </a:xfrm>
          <a:prstGeom prst="line">
            <a:avLst/>
          </a:prstGeom>
          <a:noFill/>
          <a:ln w="38100">
            <a:solidFill>
              <a:srgbClr val="F0C040"/>
            </a:solidFill>
            <a:prstDash val="solid"/>
          </a:ln>
        </p:spPr>
        <p:txBody>
          <a:bodyPr/>
          <a:lstStyle/>
          <a:p>
            <a:endParaRPr lang="en-GB"/>
          </a:p>
        </p:txBody>
      </p:sp>
      <p:sp>
        <p:nvSpPr>
          <p:cNvPr id="20" name="Text 17"/>
          <p:cNvSpPr/>
          <p:nvPr/>
        </p:nvSpPr>
        <p:spPr>
          <a:xfrm>
            <a:off x="8577072" y="1417320"/>
            <a:ext cx="3291840" cy="822960"/>
          </a:xfrm>
          <a:prstGeom prst="rect">
            <a:avLst/>
          </a:prstGeom>
          <a:noFill/>
          <a:ln/>
        </p:spPr>
        <p:txBody>
          <a:bodyPr wrap="square" lIns="50800" tIns="50800" rIns="50800" bIns="50800" rtlCol="0" anchor="ctr"/>
          <a:lstStyle/>
          <a:p>
            <a:pPr marL="0" indent="0" algn="l">
              <a:buNone/>
            </a:pPr>
            <a:r>
              <a:rPr lang="en-US" sz="1450" b="1" dirty="0">
                <a:solidFill>
                  <a:srgbClr val="F0C040"/>
                </a:solidFill>
                <a:latin typeface="Gill Sans MT" pitchFamily="34" charset="0"/>
                <a:ea typeface="Gill Sans MT" pitchFamily="34" charset="-122"/>
                <a:cs typeface="Gill Sans MT" pitchFamily="34" charset="-120"/>
              </a:rPr>
              <a:t>Institutions Matter —</a:t>
            </a:r>
            <a:endParaRPr lang="en-US" sz="1450" dirty="0"/>
          </a:p>
          <a:p>
            <a:pPr marL="0" indent="0" algn="l">
              <a:buNone/>
            </a:pPr>
            <a:r>
              <a:rPr lang="en-US" sz="1450" b="1" dirty="0">
                <a:solidFill>
                  <a:srgbClr val="F0C040"/>
                </a:solidFill>
                <a:latin typeface="Gill Sans MT" pitchFamily="34" charset="0"/>
                <a:ea typeface="Gill Sans MT" pitchFamily="34" charset="-122"/>
                <a:cs typeface="Gill Sans MT" pitchFamily="34" charset="-120"/>
              </a:rPr>
              <a:t>But How?</a:t>
            </a:r>
            <a:endParaRPr lang="en-US" sz="1450" dirty="0"/>
          </a:p>
        </p:txBody>
      </p:sp>
      <p:sp>
        <p:nvSpPr>
          <p:cNvPr id="21" name="Shape 18"/>
          <p:cNvSpPr/>
          <p:nvPr/>
        </p:nvSpPr>
        <p:spPr>
          <a:xfrm>
            <a:off x="8577072" y="2304288"/>
            <a:ext cx="3200400" cy="0"/>
          </a:xfrm>
          <a:prstGeom prst="line">
            <a:avLst/>
          </a:prstGeom>
          <a:noFill/>
          <a:ln w="19050">
            <a:solidFill>
              <a:srgbClr val="F0C040"/>
            </a:solidFill>
            <a:prstDash val="solid"/>
          </a:ln>
        </p:spPr>
        <p:txBody>
          <a:bodyPr/>
          <a:lstStyle/>
          <a:p>
            <a:endParaRPr lang="en-GB"/>
          </a:p>
        </p:txBody>
      </p:sp>
      <p:sp>
        <p:nvSpPr>
          <p:cNvPr id="22" name="Text 19"/>
          <p:cNvSpPr/>
          <p:nvPr/>
        </p:nvSpPr>
        <p:spPr>
          <a:xfrm>
            <a:off x="8577072" y="2423160"/>
            <a:ext cx="3310128" cy="265176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Governance quality shapes technology diffusion. The conditioning role of institutions is theorised but rarely tested quantitatively at this scale</a:t>
            </a:r>
            <a:endParaRPr lang="en-US" sz="1150" dirty="0"/>
          </a:p>
        </p:txBody>
      </p:sp>
      <p:sp>
        <p:nvSpPr>
          <p:cNvPr id="23" name="Shape 20"/>
          <p:cNvSpPr/>
          <p:nvPr/>
        </p:nvSpPr>
        <p:spPr>
          <a:xfrm>
            <a:off x="365760" y="5394960"/>
            <a:ext cx="11430000" cy="1005840"/>
          </a:xfrm>
          <a:prstGeom prst="roundRect">
            <a:avLst>
              <a:gd name="adj" fmla="val 12727"/>
            </a:avLst>
          </a:prstGeom>
          <a:solidFill>
            <a:srgbClr val="03080E">
              <a:alpha val="60000"/>
            </a:srgbClr>
          </a:solidFill>
          <a:ln w="15240">
            <a:solidFill>
              <a:srgbClr val="F0C040">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Text 21"/>
          <p:cNvSpPr/>
          <p:nvPr/>
        </p:nvSpPr>
        <p:spPr>
          <a:xfrm>
            <a:off x="548640" y="5413248"/>
            <a:ext cx="11064240" cy="969264"/>
          </a:xfrm>
          <a:prstGeom prst="rect">
            <a:avLst/>
          </a:prstGeom>
          <a:noFill/>
          <a:ln/>
        </p:spPr>
        <p:txBody>
          <a:bodyPr wrap="square" lIns="50800" tIns="50800" rIns="50800" bIns="50800" rtlCol="0" anchor="ctr"/>
          <a:lstStyle/>
          <a:p>
            <a:pPr marL="0" indent="0" algn="ctr">
              <a:buNone/>
            </a:pPr>
            <a:r>
              <a:rPr lang="en-US" sz="1350" i="1" dirty="0">
                <a:solidFill>
                  <a:srgbClr val="F0C040"/>
                </a:solidFill>
                <a:latin typeface="Gill Sans MT" pitchFamily="34" charset="0"/>
                <a:ea typeface="Gill Sans MT" pitchFamily="34" charset="-122"/>
                <a:cs typeface="Gill Sans MT" pitchFamily="34" charset="-120"/>
              </a:rPr>
              <a:t>❝  Does AI readiness inherently improve supply chain performance — or are its effects conditional on institutional quality?  ❞</a:t>
            </a:r>
            <a:endParaRPr lang="en-US" sz="1350" dirty="0"/>
          </a:p>
        </p:txBody>
      </p:sp>
      <p:sp>
        <p:nvSpPr>
          <p:cNvPr id="25" name="Text 22"/>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C9A0E8"/>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C9A0E8"/>
                </a:solidFill>
                <a:latin typeface="Gill Sans MT" pitchFamily="34" charset="0"/>
                <a:ea typeface="Gill Sans MT" pitchFamily="34" charset="-122"/>
                <a:cs typeface="Gill Sans MT" pitchFamily="34" charset="-120"/>
              </a:rPr>
              <a:t>RESEARCH AIM &amp; QUESTIONS</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What We Set Out to Answer</a:t>
            </a:r>
            <a:endParaRPr lang="en-US" sz="2800" dirty="0"/>
          </a:p>
        </p:txBody>
      </p:sp>
      <p:sp>
        <p:nvSpPr>
          <p:cNvPr id="7" name="Shape 4"/>
          <p:cNvSpPr/>
          <p:nvPr/>
        </p:nvSpPr>
        <p:spPr>
          <a:xfrm>
            <a:off x="365760" y="1115568"/>
            <a:ext cx="11430000" cy="0"/>
          </a:xfrm>
          <a:prstGeom prst="line">
            <a:avLst/>
          </a:prstGeom>
          <a:noFill/>
          <a:ln w="19050">
            <a:solidFill>
              <a:srgbClr val="C9A0E8"/>
            </a:solidFill>
            <a:prstDash val="solid"/>
          </a:ln>
        </p:spPr>
        <p:txBody>
          <a:bodyPr/>
          <a:lstStyle/>
          <a:p>
            <a:endParaRPr lang="en-GB"/>
          </a:p>
        </p:txBody>
      </p:sp>
      <p:sp>
        <p:nvSpPr>
          <p:cNvPr id="8" name="Shape 5"/>
          <p:cNvSpPr/>
          <p:nvPr/>
        </p:nvSpPr>
        <p:spPr>
          <a:xfrm>
            <a:off x="365760" y="1261872"/>
            <a:ext cx="11430000" cy="868680"/>
          </a:xfrm>
          <a:prstGeom prst="roundRect">
            <a:avLst>
              <a:gd name="adj" fmla="val 14737"/>
            </a:avLst>
          </a:prstGeom>
          <a:solidFill>
            <a:srgbClr val="1A0530">
              <a:alpha val="58000"/>
            </a:srgbClr>
          </a:solidFill>
          <a:ln w="10160">
            <a:solidFill>
              <a:srgbClr val="C9A0E8">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Text 6"/>
          <p:cNvSpPr/>
          <p:nvPr/>
        </p:nvSpPr>
        <p:spPr>
          <a:xfrm>
            <a:off x="548640" y="1298448"/>
            <a:ext cx="822960" cy="777240"/>
          </a:xfrm>
          <a:prstGeom prst="rect">
            <a:avLst/>
          </a:prstGeom>
          <a:noFill/>
          <a:ln/>
        </p:spPr>
        <p:txBody>
          <a:bodyPr wrap="square" lIns="50800" tIns="50800" rIns="50800" bIns="50800" rtlCol="0" anchor="ctr"/>
          <a:lstStyle/>
          <a:p>
            <a:pPr marL="0" indent="0" algn="l">
              <a:buNone/>
            </a:pPr>
            <a:r>
              <a:rPr lang="en-US" sz="1100" b="1" kern="0" spc="200" dirty="0">
                <a:solidFill>
                  <a:srgbClr val="C9A0E8"/>
                </a:solidFill>
                <a:latin typeface="Gill Sans MT" pitchFamily="34" charset="0"/>
                <a:ea typeface="Gill Sans MT" pitchFamily="34" charset="-122"/>
                <a:cs typeface="Gill Sans MT" pitchFamily="34" charset="-120"/>
              </a:rPr>
              <a:t>AIM</a:t>
            </a:r>
            <a:endParaRPr lang="en-US" sz="1100" dirty="0"/>
          </a:p>
        </p:txBody>
      </p:sp>
      <p:sp>
        <p:nvSpPr>
          <p:cNvPr id="10" name="Shape 7"/>
          <p:cNvSpPr/>
          <p:nvPr/>
        </p:nvSpPr>
        <p:spPr>
          <a:xfrm>
            <a:off x="1417320" y="1463040"/>
            <a:ext cx="0" cy="0"/>
          </a:xfrm>
          <a:prstGeom prst="line">
            <a:avLst/>
          </a:prstGeom>
          <a:noFill/>
          <a:ln w="19050">
            <a:solidFill>
              <a:srgbClr val="C9A0E8"/>
            </a:solidFill>
            <a:prstDash val="solid"/>
          </a:ln>
        </p:spPr>
        <p:txBody>
          <a:bodyPr/>
          <a:lstStyle/>
          <a:p>
            <a:endParaRPr lang="en-GB"/>
          </a:p>
        </p:txBody>
      </p:sp>
      <p:sp>
        <p:nvSpPr>
          <p:cNvPr id="11" name="Shape 8"/>
          <p:cNvSpPr/>
          <p:nvPr/>
        </p:nvSpPr>
        <p:spPr>
          <a:xfrm>
            <a:off x="1463040" y="1280160"/>
            <a:ext cx="0" cy="777240"/>
          </a:xfrm>
          <a:prstGeom prst="line">
            <a:avLst/>
          </a:prstGeom>
          <a:noFill/>
          <a:ln w="12700">
            <a:solidFill>
              <a:srgbClr val="C9A0E8">
                <a:alpha val="50000"/>
              </a:srgbClr>
            </a:solidFill>
            <a:prstDash val="solid"/>
          </a:ln>
        </p:spPr>
        <p:txBody>
          <a:bodyPr/>
          <a:lstStyle/>
          <a:p>
            <a:endParaRPr lang="en-GB"/>
          </a:p>
        </p:txBody>
      </p:sp>
      <p:sp>
        <p:nvSpPr>
          <p:cNvPr id="12" name="Text 9"/>
          <p:cNvSpPr/>
          <p:nvPr/>
        </p:nvSpPr>
        <p:spPr>
          <a:xfrm>
            <a:off x="1600200" y="1280160"/>
            <a:ext cx="9966960" cy="822960"/>
          </a:xfrm>
          <a:prstGeom prst="rect">
            <a:avLst/>
          </a:prstGeom>
          <a:noFill/>
          <a:ln/>
        </p:spPr>
        <p:txBody>
          <a:bodyPr wrap="square" lIns="50800" tIns="50800" rIns="50800" bIns="50800" rtlCol="0" anchor="ctr"/>
          <a:lstStyle/>
          <a:p>
            <a:pPr marL="0" indent="0" algn="l">
              <a:buNone/>
            </a:pPr>
            <a:r>
              <a:rPr lang="en-US" sz="1200" dirty="0">
                <a:solidFill>
                  <a:srgbClr val="F5F5F0"/>
                </a:solidFill>
                <a:latin typeface="Gill Sans MT" pitchFamily="34" charset="0"/>
                <a:ea typeface="Gill Sans MT" pitchFamily="34" charset="-122"/>
                <a:cs typeface="Gill Sans MT" pitchFamily="34" charset="-120"/>
              </a:rPr>
              <a:t>To examine the effect of government AI readiness on supply chain logistics performance and assess whether supply chain performance mediates the relationship between AI readiness and economic outcomes.</a:t>
            </a:r>
            <a:endParaRPr lang="en-US" sz="1200" dirty="0"/>
          </a:p>
        </p:txBody>
      </p:sp>
      <p:sp>
        <p:nvSpPr>
          <p:cNvPr id="13" name="Shape 10"/>
          <p:cNvSpPr/>
          <p:nvPr/>
        </p:nvSpPr>
        <p:spPr>
          <a:xfrm>
            <a:off x="365760" y="2331720"/>
            <a:ext cx="11430000" cy="1207008"/>
          </a:xfrm>
          <a:prstGeom prst="roundRect">
            <a:avLst>
              <a:gd name="adj" fmla="val 10606"/>
            </a:avLst>
          </a:prstGeom>
          <a:solidFill>
            <a:srgbClr val="0E0520">
              <a:alpha val="55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Shape 11"/>
          <p:cNvSpPr/>
          <p:nvPr/>
        </p:nvSpPr>
        <p:spPr>
          <a:xfrm>
            <a:off x="365760" y="2331720"/>
            <a:ext cx="1051560" cy="1207008"/>
          </a:xfrm>
          <a:prstGeom prst="roundRect">
            <a:avLst>
              <a:gd name="adj" fmla="val 10435"/>
            </a:avLst>
          </a:prstGeom>
          <a:solidFill>
            <a:srgbClr val="6DAEDB">
              <a:alpha val="70000"/>
            </a:srgbClr>
          </a:solidFill>
          <a:ln w="12700">
            <a:solidFill>
              <a:srgbClr val="6DAEDB"/>
            </a:solidFill>
            <a:prstDash val="solid"/>
          </a:ln>
        </p:spPr>
        <p:txBody>
          <a:bodyPr/>
          <a:lstStyle/>
          <a:p>
            <a:endParaRPr lang="en-GB"/>
          </a:p>
        </p:txBody>
      </p:sp>
      <p:sp>
        <p:nvSpPr>
          <p:cNvPr id="15" name="Text 12"/>
          <p:cNvSpPr/>
          <p:nvPr/>
        </p:nvSpPr>
        <p:spPr>
          <a:xfrm>
            <a:off x="365760" y="2679192"/>
            <a:ext cx="1051560" cy="502920"/>
          </a:xfrm>
          <a:prstGeom prst="rect">
            <a:avLst/>
          </a:prstGeom>
          <a:noFill/>
          <a:ln/>
        </p:spPr>
        <p:txBody>
          <a:bodyPr wrap="square" lIns="50800" tIns="50800" rIns="50800" bIns="50800" rtlCol="0" anchor="ctr"/>
          <a:lstStyle/>
          <a:p>
            <a:pPr marL="0" indent="0" algn="ctr">
              <a:buNone/>
            </a:pPr>
            <a:r>
              <a:rPr lang="en-US" sz="1700" b="1" dirty="0">
                <a:solidFill>
                  <a:srgbClr val="FFFFFF"/>
                </a:solidFill>
                <a:latin typeface="Gill Sans MT" pitchFamily="34" charset="0"/>
                <a:ea typeface="Gill Sans MT" pitchFamily="34" charset="-122"/>
                <a:cs typeface="Gill Sans MT" pitchFamily="34" charset="-120"/>
              </a:rPr>
              <a:t>RQ1</a:t>
            </a:r>
            <a:endParaRPr lang="en-US" sz="1700" dirty="0"/>
          </a:p>
        </p:txBody>
      </p:sp>
      <p:sp>
        <p:nvSpPr>
          <p:cNvPr id="16" name="Text 13"/>
          <p:cNvSpPr/>
          <p:nvPr/>
        </p:nvSpPr>
        <p:spPr>
          <a:xfrm>
            <a:off x="1554480" y="2532888"/>
            <a:ext cx="10012680" cy="804672"/>
          </a:xfrm>
          <a:prstGeom prst="rect">
            <a:avLst/>
          </a:prstGeom>
          <a:noFill/>
          <a:ln/>
        </p:spPr>
        <p:txBody>
          <a:bodyPr wrap="square" lIns="50800" tIns="50800" rIns="50800" bIns="50800" rtlCol="0" anchor="ctr"/>
          <a:lstStyle/>
          <a:p>
            <a:pPr marL="0" indent="0" algn="l">
              <a:buNone/>
            </a:pPr>
            <a:r>
              <a:rPr lang="en-US" sz="1300" dirty="0">
                <a:solidFill>
                  <a:srgbClr val="F5F5F0"/>
                </a:solidFill>
                <a:latin typeface="Gill Sans MT" pitchFamily="34" charset="0"/>
                <a:ea typeface="Gill Sans MT" pitchFamily="34" charset="-122"/>
                <a:cs typeface="Gill Sans MT" pitchFamily="34" charset="-120"/>
              </a:rPr>
              <a:t>To what extent does government AI readiness influence national supply chain logistics performance?</a:t>
            </a:r>
            <a:endParaRPr lang="en-US" sz="1300" dirty="0"/>
          </a:p>
        </p:txBody>
      </p:sp>
      <p:sp>
        <p:nvSpPr>
          <p:cNvPr id="17" name="Shape 14"/>
          <p:cNvSpPr/>
          <p:nvPr/>
        </p:nvSpPr>
        <p:spPr>
          <a:xfrm>
            <a:off x="365760" y="3703320"/>
            <a:ext cx="11430000" cy="1207008"/>
          </a:xfrm>
          <a:prstGeom prst="roundRect">
            <a:avLst>
              <a:gd name="adj" fmla="val 10606"/>
            </a:avLst>
          </a:prstGeom>
          <a:solidFill>
            <a:srgbClr val="0E0520">
              <a:alpha val="55000"/>
            </a:srgbClr>
          </a:solidFill>
          <a:ln w="10160">
            <a:solidFill>
              <a:srgbClr val="56D68A">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Shape 15"/>
          <p:cNvSpPr/>
          <p:nvPr/>
        </p:nvSpPr>
        <p:spPr>
          <a:xfrm>
            <a:off x="365760" y="3703320"/>
            <a:ext cx="1051560" cy="1207008"/>
          </a:xfrm>
          <a:prstGeom prst="roundRect">
            <a:avLst>
              <a:gd name="adj" fmla="val 10435"/>
            </a:avLst>
          </a:prstGeom>
          <a:solidFill>
            <a:srgbClr val="56D68A">
              <a:alpha val="70000"/>
            </a:srgbClr>
          </a:solidFill>
          <a:ln w="12700">
            <a:solidFill>
              <a:srgbClr val="56D68A"/>
            </a:solidFill>
            <a:prstDash val="solid"/>
          </a:ln>
        </p:spPr>
        <p:txBody>
          <a:bodyPr/>
          <a:lstStyle/>
          <a:p>
            <a:endParaRPr lang="en-GB"/>
          </a:p>
        </p:txBody>
      </p:sp>
      <p:sp>
        <p:nvSpPr>
          <p:cNvPr id="19" name="Text 16"/>
          <p:cNvSpPr/>
          <p:nvPr/>
        </p:nvSpPr>
        <p:spPr>
          <a:xfrm>
            <a:off x="365760" y="4050792"/>
            <a:ext cx="1051560" cy="502920"/>
          </a:xfrm>
          <a:prstGeom prst="rect">
            <a:avLst/>
          </a:prstGeom>
          <a:noFill/>
          <a:ln/>
        </p:spPr>
        <p:txBody>
          <a:bodyPr wrap="square" lIns="50800" tIns="50800" rIns="50800" bIns="50800" rtlCol="0" anchor="ctr"/>
          <a:lstStyle/>
          <a:p>
            <a:pPr marL="0" indent="0" algn="ctr">
              <a:buNone/>
            </a:pPr>
            <a:r>
              <a:rPr lang="en-US" sz="1700" b="1" dirty="0">
                <a:solidFill>
                  <a:srgbClr val="FFFFFF"/>
                </a:solidFill>
                <a:latin typeface="Gill Sans MT" pitchFamily="34" charset="0"/>
                <a:ea typeface="Gill Sans MT" pitchFamily="34" charset="-122"/>
                <a:cs typeface="Gill Sans MT" pitchFamily="34" charset="-120"/>
              </a:rPr>
              <a:t>RQ2</a:t>
            </a:r>
            <a:endParaRPr lang="en-US" sz="1700" dirty="0"/>
          </a:p>
        </p:txBody>
      </p:sp>
      <p:sp>
        <p:nvSpPr>
          <p:cNvPr id="20" name="Text 17"/>
          <p:cNvSpPr/>
          <p:nvPr/>
        </p:nvSpPr>
        <p:spPr>
          <a:xfrm>
            <a:off x="1554480" y="3904488"/>
            <a:ext cx="10012680" cy="804672"/>
          </a:xfrm>
          <a:prstGeom prst="rect">
            <a:avLst/>
          </a:prstGeom>
          <a:noFill/>
          <a:ln/>
        </p:spPr>
        <p:txBody>
          <a:bodyPr wrap="square" lIns="50800" tIns="50800" rIns="50800" bIns="50800" rtlCol="0" anchor="ctr"/>
          <a:lstStyle/>
          <a:p>
            <a:pPr marL="0" indent="0" algn="l">
              <a:buNone/>
            </a:pPr>
            <a:r>
              <a:rPr lang="en-US" sz="1300" dirty="0">
                <a:solidFill>
                  <a:srgbClr val="F5F5F0"/>
                </a:solidFill>
                <a:latin typeface="Gill Sans MT" pitchFamily="34" charset="0"/>
                <a:ea typeface="Gill Sans MT" pitchFamily="34" charset="-122"/>
                <a:cs typeface="Gill Sans MT" pitchFamily="34" charset="-120"/>
              </a:rPr>
              <a:t>Does supply chain performance mediate the relationship between AI readiness and economic outcomes?</a:t>
            </a:r>
            <a:endParaRPr lang="en-US" sz="1300" dirty="0"/>
          </a:p>
        </p:txBody>
      </p:sp>
      <p:sp>
        <p:nvSpPr>
          <p:cNvPr id="21" name="Shape 18"/>
          <p:cNvSpPr/>
          <p:nvPr/>
        </p:nvSpPr>
        <p:spPr>
          <a:xfrm>
            <a:off x="365760" y="5074920"/>
            <a:ext cx="11430000" cy="1207008"/>
          </a:xfrm>
          <a:prstGeom prst="roundRect">
            <a:avLst>
              <a:gd name="adj" fmla="val 10606"/>
            </a:avLst>
          </a:prstGeom>
          <a:solidFill>
            <a:srgbClr val="0E0520">
              <a:alpha val="55000"/>
            </a:srgbClr>
          </a:solidFill>
          <a:ln w="10160">
            <a:solidFill>
              <a:srgbClr val="C9A0E8">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Shape 19"/>
          <p:cNvSpPr/>
          <p:nvPr/>
        </p:nvSpPr>
        <p:spPr>
          <a:xfrm>
            <a:off x="365760" y="5074920"/>
            <a:ext cx="1051560" cy="1207008"/>
          </a:xfrm>
          <a:prstGeom prst="roundRect">
            <a:avLst>
              <a:gd name="adj" fmla="val 10435"/>
            </a:avLst>
          </a:prstGeom>
          <a:solidFill>
            <a:srgbClr val="C9A0E8">
              <a:alpha val="70000"/>
            </a:srgbClr>
          </a:solidFill>
          <a:ln w="12700">
            <a:solidFill>
              <a:srgbClr val="C9A0E8"/>
            </a:solidFill>
            <a:prstDash val="solid"/>
          </a:ln>
        </p:spPr>
        <p:txBody>
          <a:bodyPr/>
          <a:lstStyle/>
          <a:p>
            <a:endParaRPr lang="en-GB"/>
          </a:p>
        </p:txBody>
      </p:sp>
      <p:sp>
        <p:nvSpPr>
          <p:cNvPr id="23" name="Text 20"/>
          <p:cNvSpPr/>
          <p:nvPr/>
        </p:nvSpPr>
        <p:spPr>
          <a:xfrm>
            <a:off x="365760" y="5422392"/>
            <a:ext cx="1051560" cy="502920"/>
          </a:xfrm>
          <a:prstGeom prst="rect">
            <a:avLst/>
          </a:prstGeom>
          <a:noFill/>
          <a:ln/>
        </p:spPr>
        <p:txBody>
          <a:bodyPr wrap="square" lIns="50800" tIns="50800" rIns="50800" bIns="50800" rtlCol="0" anchor="ctr"/>
          <a:lstStyle/>
          <a:p>
            <a:pPr marL="0" indent="0" algn="ctr">
              <a:buNone/>
            </a:pPr>
            <a:r>
              <a:rPr lang="en-US" sz="1700" b="1" dirty="0">
                <a:solidFill>
                  <a:srgbClr val="FFFFFF"/>
                </a:solidFill>
                <a:latin typeface="Gill Sans MT" pitchFamily="34" charset="0"/>
                <a:ea typeface="Gill Sans MT" pitchFamily="34" charset="-122"/>
                <a:cs typeface="Gill Sans MT" pitchFamily="34" charset="-120"/>
              </a:rPr>
              <a:t>RQ3</a:t>
            </a:r>
            <a:endParaRPr lang="en-US" sz="1700" dirty="0"/>
          </a:p>
        </p:txBody>
      </p:sp>
      <p:sp>
        <p:nvSpPr>
          <p:cNvPr id="24" name="Text 21"/>
          <p:cNvSpPr/>
          <p:nvPr/>
        </p:nvSpPr>
        <p:spPr>
          <a:xfrm>
            <a:off x="1554480" y="5276088"/>
            <a:ext cx="10012680" cy="804672"/>
          </a:xfrm>
          <a:prstGeom prst="rect">
            <a:avLst/>
          </a:prstGeom>
          <a:noFill/>
          <a:ln/>
        </p:spPr>
        <p:txBody>
          <a:bodyPr wrap="square" lIns="50800" tIns="50800" rIns="50800" bIns="50800" rtlCol="0" anchor="ctr"/>
          <a:lstStyle/>
          <a:p>
            <a:pPr marL="0" indent="0" algn="l">
              <a:buNone/>
            </a:pPr>
            <a:r>
              <a:rPr lang="en-US" sz="1300" dirty="0">
                <a:solidFill>
                  <a:srgbClr val="F5F5F0"/>
                </a:solidFill>
                <a:latin typeface="Gill Sans MT" pitchFamily="34" charset="0"/>
                <a:ea typeface="Gill Sans MT" pitchFamily="34" charset="-122"/>
                <a:cs typeface="Gill Sans MT" pitchFamily="34" charset="-120"/>
              </a:rPr>
              <a:t>What role does institutional quality play in driving supply chain performance alongside AI readiness?</a:t>
            </a:r>
            <a:endParaRPr lang="en-US" sz="1300" dirty="0"/>
          </a:p>
        </p:txBody>
      </p:sp>
      <p:sp>
        <p:nvSpPr>
          <p:cNvPr id="25" name="Text 22"/>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56D68A"/>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56D68A"/>
                </a:solidFill>
                <a:latin typeface="Gill Sans MT" pitchFamily="34" charset="0"/>
                <a:ea typeface="Gill Sans MT" pitchFamily="34" charset="-122"/>
                <a:cs typeface="Gill Sans MT" pitchFamily="34" charset="-120"/>
              </a:rPr>
              <a:t>THEORETICAL FRAMEWORK</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Theoretical Framework</a:t>
            </a:r>
            <a:endParaRPr lang="en-US" sz="2800" dirty="0"/>
          </a:p>
        </p:txBody>
      </p:sp>
      <p:sp>
        <p:nvSpPr>
          <p:cNvPr id="7" name="Shape 4"/>
          <p:cNvSpPr/>
          <p:nvPr/>
        </p:nvSpPr>
        <p:spPr>
          <a:xfrm>
            <a:off x="365760" y="1115568"/>
            <a:ext cx="11430000" cy="0"/>
          </a:xfrm>
          <a:prstGeom prst="line">
            <a:avLst/>
          </a:prstGeom>
          <a:noFill/>
          <a:ln w="19050">
            <a:solidFill>
              <a:srgbClr val="56D68A"/>
            </a:solidFill>
            <a:prstDash val="solid"/>
          </a:ln>
        </p:spPr>
        <p:txBody>
          <a:bodyPr/>
          <a:lstStyle/>
          <a:p>
            <a:endParaRPr lang="en-GB"/>
          </a:p>
        </p:txBody>
      </p:sp>
      <p:sp>
        <p:nvSpPr>
          <p:cNvPr id="8" name="Shape 5"/>
          <p:cNvSpPr/>
          <p:nvPr/>
        </p:nvSpPr>
        <p:spPr>
          <a:xfrm>
            <a:off x="365760" y="1261872"/>
            <a:ext cx="3749040" cy="5440680"/>
          </a:xfrm>
          <a:prstGeom prst="roundRect">
            <a:avLst>
              <a:gd name="adj" fmla="val 3415"/>
            </a:avLst>
          </a:prstGeom>
          <a:solidFill>
            <a:srgbClr val="040E08">
              <a:alpha val="60000"/>
            </a:srgbClr>
          </a:solidFill>
          <a:ln w="10160">
            <a:solidFill>
              <a:srgbClr val="6DAEDB">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365760" y="1261872"/>
            <a:ext cx="3749040" cy="777240"/>
          </a:xfrm>
          <a:prstGeom prst="roundRect">
            <a:avLst>
              <a:gd name="adj" fmla="val 14118"/>
            </a:avLst>
          </a:prstGeom>
          <a:solidFill>
            <a:srgbClr val="6DAEDB">
              <a:alpha val="38000"/>
            </a:srgbClr>
          </a:solidFill>
          <a:ln w="12700">
            <a:solidFill>
              <a:srgbClr val="6DAEDB"/>
            </a:solidFill>
            <a:prstDash val="solid"/>
          </a:ln>
        </p:spPr>
        <p:txBody>
          <a:bodyPr/>
          <a:lstStyle/>
          <a:p>
            <a:endParaRPr lang="en-GB"/>
          </a:p>
        </p:txBody>
      </p:sp>
      <p:sp>
        <p:nvSpPr>
          <p:cNvPr id="10" name="Text 7"/>
          <p:cNvSpPr/>
          <p:nvPr/>
        </p:nvSpPr>
        <p:spPr>
          <a:xfrm>
            <a:off x="530352" y="1289304"/>
            <a:ext cx="3429000" cy="438912"/>
          </a:xfrm>
          <a:prstGeom prst="rect">
            <a:avLst/>
          </a:prstGeom>
          <a:noFill/>
          <a:ln/>
        </p:spPr>
        <p:txBody>
          <a:bodyPr wrap="square" lIns="50800" tIns="50800" rIns="50800" bIns="50800" rtlCol="0" anchor="ctr"/>
          <a:lstStyle/>
          <a:p>
            <a:pPr marL="0" indent="0" algn="l">
              <a:buNone/>
            </a:pPr>
            <a:r>
              <a:rPr lang="en-US" sz="1300" b="1" dirty="0">
                <a:solidFill>
                  <a:srgbClr val="FFFFFF"/>
                </a:solidFill>
                <a:latin typeface="Gill Sans MT" pitchFamily="34" charset="0"/>
                <a:ea typeface="Gill Sans MT" pitchFamily="34" charset="-122"/>
                <a:cs typeface="Gill Sans MT" pitchFamily="34" charset="-120"/>
              </a:rPr>
              <a:t>Technology Adoption Theory</a:t>
            </a:r>
            <a:endParaRPr lang="en-US" sz="1300" dirty="0"/>
          </a:p>
        </p:txBody>
      </p:sp>
      <p:sp>
        <p:nvSpPr>
          <p:cNvPr id="11" name="Text 8"/>
          <p:cNvSpPr/>
          <p:nvPr/>
        </p:nvSpPr>
        <p:spPr>
          <a:xfrm>
            <a:off x="530352" y="1709928"/>
            <a:ext cx="3429000" cy="274320"/>
          </a:xfrm>
          <a:prstGeom prst="rect">
            <a:avLst/>
          </a:prstGeom>
          <a:noFill/>
          <a:ln/>
        </p:spPr>
        <p:txBody>
          <a:bodyPr wrap="square" lIns="50800" tIns="50800" rIns="50800" bIns="50800" rtlCol="0" anchor="ctr"/>
          <a:lstStyle/>
          <a:p>
            <a:pPr marL="0" indent="0" algn="l">
              <a:buNone/>
            </a:pPr>
            <a:r>
              <a:rPr lang="en-US" sz="850" i="1" kern="0" spc="50" dirty="0">
                <a:solidFill>
                  <a:srgbClr val="6DAEDB"/>
                </a:solidFill>
                <a:latin typeface="Gill Sans MT" pitchFamily="34" charset="0"/>
                <a:ea typeface="Gill Sans MT" pitchFamily="34" charset="-122"/>
                <a:cs typeface="Gill Sans MT" pitchFamily="34" charset="-120"/>
              </a:rPr>
              <a:t>TOE Framework • Tornatzky &amp; Fleischer, 1990; Baker, 2012</a:t>
            </a:r>
            <a:endParaRPr lang="en-US" sz="850" dirty="0"/>
          </a:p>
        </p:txBody>
      </p:sp>
      <p:sp>
        <p:nvSpPr>
          <p:cNvPr id="12" name="Text 9"/>
          <p:cNvSpPr/>
          <p:nvPr/>
        </p:nvSpPr>
        <p:spPr>
          <a:xfrm>
            <a:off x="530352" y="2066544"/>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6DAEDB"/>
                </a:solidFill>
                <a:latin typeface="Gill Sans MT" pitchFamily="34" charset="0"/>
                <a:ea typeface="Gill Sans MT" pitchFamily="34" charset="-122"/>
                <a:cs typeface="Gill Sans MT" pitchFamily="34" charset="-120"/>
              </a:rPr>
              <a:t>THEORY SAYS</a:t>
            </a:r>
            <a:endParaRPr lang="en-US" sz="800" dirty="0"/>
          </a:p>
        </p:txBody>
      </p:sp>
      <p:sp>
        <p:nvSpPr>
          <p:cNvPr id="13" name="Shape 10"/>
          <p:cNvSpPr/>
          <p:nvPr/>
        </p:nvSpPr>
        <p:spPr>
          <a:xfrm>
            <a:off x="530352" y="2304288"/>
            <a:ext cx="3401568" cy="0"/>
          </a:xfrm>
          <a:prstGeom prst="line">
            <a:avLst/>
          </a:prstGeom>
          <a:noFill/>
          <a:ln w="19050">
            <a:solidFill>
              <a:srgbClr val="6DAEDB"/>
            </a:solidFill>
            <a:prstDash val="solid"/>
          </a:ln>
        </p:spPr>
        <p:txBody>
          <a:bodyPr/>
          <a:lstStyle/>
          <a:p>
            <a:endParaRPr lang="en-GB"/>
          </a:p>
        </p:txBody>
      </p:sp>
      <p:sp>
        <p:nvSpPr>
          <p:cNvPr id="14" name="Text 11"/>
          <p:cNvSpPr/>
          <p:nvPr/>
        </p:nvSpPr>
        <p:spPr>
          <a:xfrm>
            <a:off x="530352" y="2359152"/>
            <a:ext cx="3429000" cy="1261872"/>
          </a:xfrm>
          <a:prstGeom prst="rect">
            <a:avLst/>
          </a:prstGeom>
          <a:noFill/>
          <a:ln/>
        </p:spPr>
        <p:txBody>
          <a:bodyPr wrap="square" lIns="50800" tIns="50800" rIns="50800" bIns="50800" rtlCol="0" anchor="t"/>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Technology adoption and performance are shaped by three contexts: technological capability, organisational readiness, and the external environment. Government AI readiness represents national technological capability, while the institutional and policy environment determines whether that capability translates into better supply chain performance.</a:t>
            </a:r>
            <a:endParaRPr lang="en-US" sz="1000" dirty="0"/>
          </a:p>
        </p:txBody>
      </p:sp>
      <p:sp>
        <p:nvSpPr>
          <p:cNvPr id="15" name="Text 12"/>
          <p:cNvSpPr/>
          <p:nvPr/>
        </p:nvSpPr>
        <p:spPr>
          <a:xfrm>
            <a:off x="530352" y="369417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6DAEDB"/>
                </a:solidFill>
                <a:latin typeface="Gill Sans MT" pitchFamily="34" charset="0"/>
                <a:ea typeface="Gill Sans MT" pitchFamily="34" charset="-122"/>
                <a:cs typeface="Gill Sans MT" pitchFamily="34" charset="-120"/>
              </a:rPr>
              <a:t>PROPOSITION</a:t>
            </a:r>
            <a:endParaRPr lang="en-US" sz="800" dirty="0"/>
          </a:p>
        </p:txBody>
      </p:sp>
      <p:sp>
        <p:nvSpPr>
          <p:cNvPr id="16" name="Shape 13"/>
          <p:cNvSpPr/>
          <p:nvPr/>
        </p:nvSpPr>
        <p:spPr>
          <a:xfrm>
            <a:off x="530352" y="3931920"/>
            <a:ext cx="3401568" cy="0"/>
          </a:xfrm>
          <a:prstGeom prst="line">
            <a:avLst/>
          </a:prstGeom>
          <a:noFill/>
          <a:ln w="19050">
            <a:solidFill>
              <a:srgbClr val="6DAEDB"/>
            </a:solidFill>
            <a:prstDash val="solid"/>
          </a:ln>
        </p:spPr>
        <p:txBody>
          <a:bodyPr/>
          <a:lstStyle/>
          <a:p>
            <a:endParaRPr lang="en-GB"/>
          </a:p>
        </p:txBody>
      </p:sp>
      <p:sp>
        <p:nvSpPr>
          <p:cNvPr id="17" name="Text 14"/>
          <p:cNvSpPr/>
          <p:nvPr/>
        </p:nvSpPr>
        <p:spPr>
          <a:xfrm>
            <a:off x="530352" y="3986784"/>
            <a:ext cx="3429000" cy="640080"/>
          </a:xfrm>
          <a:prstGeom prst="rect">
            <a:avLst/>
          </a:prstGeom>
          <a:noFill/>
          <a:ln/>
        </p:spPr>
        <p:txBody>
          <a:bodyPr wrap="square" lIns="50800" tIns="50800" rIns="50800" bIns="50800" rtlCol="0" anchor="t"/>
          <a:lstStyle/>
          <a:p>
            <a:pPr marL="0" indent="0" algn="l">
              <a:buNone/>
            </a:pPr>
            <a:r>
              <a:rPr lang="en-US" sz="1050" dirty="0">
                <a:solidFill>
                  <a:srgbClr val="F5F5F0"/>
                </a:solidFill>
                <a:latin typeface="Gill Sans MT" pitchFamily="34" charset="0"/>
                <a:ea typeface="Gill Sans MT" pitchFamily="34" charset="-122"/>
                <a:cs typeface="Gill Sans MT" pitchFamily="34" charset="-120"/>
              </a:rPr>
              <a:t>AI readiness is a primary macro-level driver of supply chain performance</a:t>
            </a:r>
            <a:endParaRPr lang="en-US" sz="1050" dirty="0"/>
          </a:p>
        </p:txBody>
      </p:sp>
      <p:sp>
        <p:nvSpPr>
          <p:cNvPr id="18" name="Text 15"/>
          <p:cNvSpPr/>
          <p:nvPr/>
        </p:nvSpPr>
        <p:spPr>
          <a:xfrm>
            <a:off x="530352" y="470001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6DAEDB"/>
                </a:solidFill>
                <a:latin typeface="Gill Sans MT" pitchFamily="34" charset="0"/>
                <a:ea typeface="Gill Sans MT" pitchFamily="34" charset="-122"/>
                <a:cs typeface="Gill Sans MT" pitchFamily="34" charset="-120"/>
              </a:rPr>
              <a:t>HYPOTHESIS</a:t>
            </a:r>
            <a:endParaRPr lang="en-US" sz="800" dirty="0"/>
          </a:p>
        </p:txBody>
      </p:sp>
      <p:sp>
        <p:nvSpPr>
          <p:cNvPr id="19" name="Shape 16"/>
          <p:cNvSpPr/>
          <p:nvPr/>
        </p:nvSpPr>
        <p:spPr>
          <a:xfrm>
            <a:off x="530352" y="4937760"/>
            <a:ext cx="3401568" cy="0"/>
          </a:xfrm>
          <a:prstGeom prst="line">
            <a:avLst/>
          </a:prstGeom>
          <a:noFill/>
          <a:ln w="19050">
            <a:solidFill>
              <a:srgbClr val="6DAEDB"/>
            </a:solidFill>
            <a:prstDash val="solid"/>
          </a:ln>
        </p:spPr>
        <p:txBody>
          <a:bodyPr/>
          <a:lstStyle/>
          <a:p>
            <a:endParaRPr lang="en-GB"/>
          </a:p>
        </p:txBody>
      </p:sp>
      <p:sp>
        <p:nvSpPr>
          <p:cNvPr id="20" name="Text 17"/>
          <p:cNvSpPr/>
          <p:nvPr/>
        </p:nvSpPr>
        <p:spPr>
          <a:xfrm>
            <a:off x="530352" y="4992624"/>
            <a:ext cx="3429000" cy="713232"/>
          </a:xfrm>
          <a:prstGeom prst="rect">
            <a:avLst/>
          </a:prstGeom>
          <a:noFill/>
          <a:ln/>
        </p:spPr>
        <p:txBody>
          <a:bodyPr wrap="square" lIns="50800" tIns="50800" rIns="50800" bIns="50800" rtlCol="0" anchor="t"/>
          <a:lstStyle/>
          <a:p>
            <a:pPr marL="0" indent="0" algn="l">
              <a:buNone/>
            </a:pPr>
            <a:r>
              <a:rPr lang="en-US" sz="1100" i="1" dirty="0">
                <a:solidFill>
                  <a:srgbClr val="F0C040"/>
                </a:solidFill>
                <a:latin typeface="Gill Sans MT" pitchFamily="34" charset="0"/>
                <a:ea typeface="Gill Sans MT" pitchFamily="34" charset="-122"/>
                <a:cs typeface="Gill Sans MT" pitchFamily="34" charset="-120"/>
              </a:rPr>
              <a:t>H1a: ξ₁ → η₁  (AI Readiness → SC Performance)</a:t>
            </a:r>
            <a:endParaRPr lang="en-US" sz="1100" dirty="0"/>
          </a:p>
        </p:txBody>
      </p:sp>
      <p:sp>
        <p:nvSpPr>
          <p:cNvPr id="21" name="Shape 18"/>
          <p:cNvSpPr/>
          <p:nvPr/>
        </p:nvSpPr>
        <p:spPr>
          <a:xfrm>
            <a:off x="4297680" y="1261872"/>
            <a:ext cx="3749040" cy="5440680"/>
          </a:xfrm>
          <a:prstGeom prst="roundRect">
            <a:avLst>
              <a:gd name="adj" fmla="val 3415"/>
            </a:avLst>
          </a:prstGeom>
          <a:solidFill>
            <a:srgbClr val="040E08">
              <a:alpha val="60000"/>
            </a:srgbClr>
          </a:solidFill>
          <a:ln w="10160">
            <a:solidFill>
              <a:srgbClr val="C9A0E8">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Shape 19"/>
          <p:cNvSpPr/>
          <p:nvPr/>
        </p:nvSpPr>
        <p:spPr>
          <a:xfrm>
            <a:off x="4297680" y="1261872"/>
            <a:ext cx="3749040" cy="777240"/>
          </a:xfrm>
          <a:prstGeom prst="roundRect">
            <a:avLst>
              <a:gd name="adj" fmla="val 14118"/>
            </a:avLst>
          </a:prstGeom>
          <a:solidFill>
            <a:srgbClr val="C9A0E8">
              <a:alpha val="38000"/>
            </a:srgbClr>
          </a:solidFill>
          <a:ln w="12700">
            <a:solidFill>
              <a:srgbClr val="C9A0E8"/>
            </a:solidFill>
            <a:prstDash val="solid"/>
          </a:ln>
        </p:spPr>
        <p:txBody>
          <a:bodyPr/>
          <a:lstStyle/>
          <a:p>
            <a:endParaRPr lang="en-GB"/>
          </a:p>
        </p:txBody>
      </p:sp>
      <p:sp>
        <p:nvSpPr>
          <p:cNvPr id="23" name="Text 20"/>
          <p:cNvSpPr/>
          <p:nvPr/>
        </p:nvSpPr>
        <p:spPr>
          <a:xfrm>
            <a:off x="4462272" y="1289304"/>
            <a:ext cx="3429000" cy="438912"/>
          </a:xfrm>
          <a:prstGeom prst="rect">
            <a:avLst/>
          </a:prstGeom>
          <a:noFill/>
          <a:ln/>
        </p:spPr>
        <p:txBody>
          <a:bodyPr wrap="square" lIns="50800" tIns="50800" rIns="50800" bIns="50800" rtlCol="0" anchor="ctr"/>
          <a:lstStyle/>
          <a:p>
            <a:pPr marL="0" indent="0" algn="l">
              <a:buNone/>
            </a:pPr>
            <a:r>
              <a:rPr lang="en-US" sz="1300" b="1" dirty="0">
                <a:solidFill>
                  <a:srgbClr val="FFFFFF"/>
                </a:solidFill>
                <a:latin typeface="Gill Sans MT" pitchFamily="34" charset="0"/>
                <a:ea typeface="Gill Sans MT" pitchFamily="34" charset="-122"/>
                <a:cs typeface="Gill Sans MT" pitchFamily="34" charset="-120"/>
              </a:rPr>
              <a:t>Institutional Theory</a:t>
            </a:r>
            <a:endParaRPr lang="en-US" sz="1300" dirty="0"/>
          </a:p>
        </p:txBody>
      </p:sp>
      <p:sp>
        <p:nvSpPr>
          <p:cNvPr id="24" name="Text 21"/>
          <p:cNvSpPr/>
          <p:nvPr/>
        </p:nvSpPr>
        <p:spPr>
          <a:xfrm>
            <a:off x="4462272" y="1709928"/>
            <a:ext cx="3429000" cy="274320"/>
          </a:xfrm>
          <a:prstGeom prst="rect">
            <a:avLst/>
          </a:prstGeom>
          <a:noFill/>
          <a:ln/>
        </p:spPr>
        <p:txBody>
          <a:bodyPr wrap="square" lIns="50800" tIns="50800" rIns="50800" bIns="50800" rtlCol="0" anchor="ctr"/>
          <a:lstStyle/>
          <a:p>
            <a:pPr marL="0" indent="0" algn="l">
              <a:buNone/>
            </a:pPr>
            <a:r>
              <a:rPr lang="en-US" sz="850" i="1" kern="0" spc="50" dirty="0">
                <a:solidFill>
                  <a:srgbClr val="C9A0E8"/>
                </a:solidFill>
                <a:latin typeface="Gill Sans MT" pitchFamily="34" charset="0"/>
                <a:ea typeface="Gill Sans MT" pitchFamily="34" charset="-122"/>
                <a:cs typeface="Gill Sans MT" pitchFamily="34" charset="-120"/>
              </a:rPr>
              <a:t>Scott, 2014; North, 1990</a:t>
            </a:r>
            <a:endParaRPr lang="en-US" sz="850" dirty="0"/>
          </a:p>
        </p:txBody>
      </p:sp>
      <p:sp>
        <p:nvSpPr>
          <p:cNvPr id="25" name="Text 22"/>
          <p:cNvSpPr/>
          <p:nvPr/>
        </p:nvSpPr>
        <p:spPr>
          <a:xfrm>
            <a:off x="4462272" y="2066544"/>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C9A0E8"/>
                </a:solidFill>
                <a:latin typeface="Gill Sans MT" pitchFamily="34" charset="0"/>
                <a:ea typeface="Gill Sans MT" pitchFamily="34" charset="-122"/>
                <a:cs typeface="Gill Sans MT" pitchFamily="34" charset="-120"/>
              </a:rPr>
              <a:t>THEORY SAYS</a:t>
            </a:r>
            <a:endParaRPr lang="en-US" sz="800" dirty="0"/>
          </a:p>
        </p:txBody>
      </p:sp>
      <p:sp>
        <p:nvSpPr>
          <p:cNvPr id="26" name="Shape 23"/>
          <p:cNvSpPr/>
          <p:nvPr/>
        </p:nvSpPr>
        <p:spPr>
          <a:xfrm>
            <a:off x="4462272" y="2304288"/>
            <a:ext cx="3401568" cy="0"/>
          </a:xfrm>
          <a:prstGeom prst="line">
            <a:avLst/>
          </a:prstGeom>
          <a:noFill/>
          <a:ln w="19050">
            <a:solidFill>
              <a:srgbClr val="C9A0E8"/>
            </a:solidFill>
            <a:prstDash val="solid"/>
          </a:ln>
        </p:spPr>
        <p:txBody>
          <a:bodyPr/>
          <a:lstStyle/>
          <a:p>
            <a:endParaRPr lang="en-GB"/>
          </a:p>
        </p:txBody>
      </p:sp>
      <p:sp>
        <p:nvSpPr>
          <p:cNvPr id="27" name="Text 24"/>
          <p:cNvSpPr/>
          <p:nvPr/>
        </p:nvSpPr>
        <p:spPr>
          <a:xfrm>
            <a:off x="4462272" y="2359152"/>
            <a:ext cx="3429000" cy="1261872"/>
          </a:xfrm>
          <a:prstGeom prst="rect">
            <a:avLst/>
          </a:prstGeom>
          <a:noFill/>
          <a:ln/>
        </p:spPr>
        <p:txBody>
          <a:bodyPr wrap="square" lIns="50800" tIns="50800" rIns="50800" bIns="50800" rtlCol="0" anchor="t"/>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Organisational and national performance are shaped not only by internal resources or technology, but also by the wider institutional environment — rules, regulations, governance quality, norms, and enforcement systems.</a:t>
            </a:r>
            <a:endParaRPr lang="en-US" sz="1000" dirty="0"/>
          </a:p>
        </p:txBody>
      </p:sp>
      <p:sp>
        <p:nvSpPr>
          <p:cNvPr id="28" name="Text 25"/>
          <p:cNvSpPr/>
          <p:nvPr/>
        </p:nvSpPr>
        <p:spPr>
          <a:xfrm>
            <a:off x="4462272" y="369417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C9A0E8"/>
                </a:solidFill>
                <a:latin typeface="Gill Sans MT" pitchFamily="34" charset="0"/>
                <a:ea typeface="Gill Sans MT" pitchFamily="34" charset="-122"/>
                <a:cs typeface="Gill Sans MT" pitchFamily="34" charset="-120"/>
              </a:rPr>
              <a:t>PROPOSITION</a:t>
            </a:r>
            <a:endParaRPr lang="en-US" sz="800" dirty="0"/>
          </a:p>
        </p:txBody>
      </p:sp>
      <p:sp>
        <p:nvSpPr>
          <p:cNvPr id="29" name="Shape 26"/>
          <p:cNvSpPr/>
          <p:nvPr/>
        </p:nvSpPr>
        <p:spPr>
          <a:xfrm>
            <a:off x="4462272" y="3931920"/>
            <a:ext cx="3401568" cy="0"/>
          </a:xfrm>
          <a:prstGeom prst="line">
            <a:avLst/>
          </a:prstGeom>
          <a:noFill/>
          <a:ln w="19050">
            <a:solidFill>
              <a:srgbClr val="C9A0E8"/>
            </a:solidFill>
            <a:prstDash val="solid"/>
          </a:ln>
        </p:spPr>
        <p:txBody>
          <a:bodyPr/>
          <a:lstStyle/>
          <a:p>
            <a:endParaRPr lang="en-GB"/>
          </a:p>
        </p:txBody>
      </p:sp>
      <p:sp>
        <p:nvSpPr>
          <p:cNvPr id="30" name="Text 27"/>
          <p:cNvSpPr/>
          <p:nvPr/>
        </p:nvSpPr>
        <p:spPr>
          <a:xfrm>
            <a:off x="4462272" y="3986784"/>
            <a:ext cx="3429000" cy="640080"/>
          </a:xfrm>
          <a:prstGeom prst="rect">
            <a:avLst/>
          </a:prstGeom>
          <a:noFill/>
          <a:ln/>
        </p:spPr>
        <p:txBody>
          <a:bodyPr wrap="square" lIns="50800" tIns="50800" rIns="50800" bIns="50800" rtlCol="0" anchor="t"/>
          <a:lstStyle/>
          <a:p>
            <a:pPr marL="0" indent="0" algn="l">
              <a:buNone/>
            </a:pPr>
            <a:r>
              <a:rPr lang="en-US" sz="1050" dirty="0">
                <a:solidFill>
                  <a:srgbClr val="F5F5F0"/>
                </a:solidFill>
                <a:latin typeface="Gill Sans MT" pitchFamily="34" charset="0"/>
                <a:ea typeface="Gill Sans MT" pitchFamily="34" charset="-122"/>
                <a:cs typeface="Gill Sans MT" pitchFamily="34" charset="-120"/>
              </a:rPr>
              <a:t>Governance quality shapes SC efficiency AND moderates the AI–SC relationship</a:t>
            </a:r>
            <a:endParaRPr lang="en-US" sz="1050" dirty="0"/>
          </a:p>
        </p:txBody>
      </p:sp>
      <p:sp>
        <p:nvSpPr>
          <p:cNvPr id="31" name="Text 28"/>
          <p:cNvSpPr/>
          <p:nvPr/>
        </p:nvSpPr>
        <p:spPr>
          <a:xfrm>
            <a:off x="4462272" y="470001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C9A0E8"/>
                </a:solidFill>
                <a:latin typeface="Gill Sans MT" pitchFamily="34" charset="0"/>
                <a:ea typeface="Gill Sans MT" pitchFamily="34" charset="-122"/>
                <a:cs typeface="Gill Sans MT" pitchFamily="34" charset="-120"/>
              </a:rPr>
              <a:t>HYPOTHESIS</a:t>
            </a:r>
            <a:endParaRPr lang="en-US" sz="800" dirty="0"/>
          </a:p>
        </p:txBody>
      </p:sp>
      <p:sp>
        <p:nvSpPr>
          <p:cNvPr id="32" name="Shape 29"/>
          <p:cNvSpPr/>
          <p:nvPr/>
        </p:nvSpPr>
        <p:spPr>
          <a:xfrm>
            <a:off x="4462272" y="4937760"/>
            <a:ext cx="3401568" cy="0"/>
          </a:xfrm>
          <a:prstGeom prst="line">
            <a:avLst/>
          </a:prstGeom>
          <a:noFill/>
          <a:ln w="19050">
            <a:solidFill>
              <a:srgbClr val="C9A0E8"/>
            </a:solidFill>
            <a:prstDash val="solid"/>
          </a:ln>
        </p:spPr>
        <p:txBody>
          <a:bodyPr/>
          <a:lstStyle/>
          <a:p>
            <a:endParaRPr lang="en-GB"/>
          </a:p>
        </p:txBody>
      </p:sp>
      <p:sp>
        <p:nvSpPr>
          <p:cNvPr id="33" name="Text 30"/>
          <p:cNvSpPr/>
          <p:nvPr/>
        </p:nvSpPr>
        <p:spPr>
          <a:xfrm>
            <a:off x="4462272" y="4992624"/>
            <a:ext cx="3429000" cy="713232"/>
          </a:xfrm>
          <a:prstGeom prst="rect">
            <a:avLst/>
          </a:prstGeom>
          <a:noFill/>
          <a:ln/>
        </p:spPr>
        <p:txBody>
          <a:bodyPr wrap="square" lIns="50800" tIns="50800" rIns="50800" bIns="50800" rtlCol="0" anchor="t"/>
          <a:lstStyle/>
          <a:p>
            <a:pPr marL="0" indent="0" algn="l">
              <a:buNone/>
            </a:pPr>
            <a:r>
              <a:rPr lang="en-US" sz="1100" i="1" dirty="0">
                <a:solidFill>
                  <a:srgbClr val="F0C040"/>
                </a:solidFill>
                <a:latin typeface="Gill Sans MT" pitchFamily="34" charset="0"/>
                <a:ea typeface="Gill Sans MT" pitchFamily="34" charset="-122"/>
                <a:cs typeface="Gill Sans MT" pitchFamily="34" charset="-120"/>
              </a:rPr>
              <a:t>H1b: ξ₂ → η₁  | H1c: ξ₁×ξ₂ → η₁ (moderation)</a:t>
            </a:r>
            <a:endParaRPr lang="en-US" sz="1100" dirty="0"/>
          </a:p>
        </p:txBody>
      </p:sp>
      <p:sp>
        <p:nvSpPr>
          <p:cNvPr id="34" name="Shape 31"/>
          <p:cNvSpPr/>
          <p:nvPr/>
        </p:nvSpPr>
        <p:spPr>
          <a:xfrm>
            <a:off x="8229600" y="1261872"/>
            <a:ext cx="3749040" cy="5440680"/>
          </a:xfrm>
          <a:prstGeom prst="roundRect">
            <a:avLst>
              <a:gd name="adj" fmla="val 3415"/>
            </a:avLst>
          </a:prstGeom>
          <a:solidFill>
            <a:srgbClr val="040E08">
              <a:alpha val="60000"/>
            </a:srgbClr>
          </a:solidFill>
          <a:ln w="10160">
            <a:solidFill>
              <a:srgbClr val="56D68A">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5" name="Shape 32"/>
          <p:cNvSpPr/>
          <p:nvPr/>
        </p:nvSpPr>
        <p:spPr>
          <a:xfrm>
            <a:off x="8229600" y="1261872"/>
            <a:ext cx="3749040" cy="777240"/>
          </a:xfrm>
          <a:prstGeom prst="roundRect">
            <a:avLst>
              <a:gd name="adj" fmla="val 14118"/>
            </a:avLst>
          </a:prstGeom>
          <a:solidFill>
            <a:srgbClr val="56D68A">
              <a:alpha val="38000"/>
            </a:srgbClr>
          </a:solidFill>
          <a:ln w="12700">
            <a:solidFill>
              <a:srgbClr val="56D68A"/>
            </a:solidFill>
            <a:prstDash val="solid"/>
          </a:ln>
        </p:spPr>
        <p:txBody>
          <a:bodyPr/>
          <a:lstStyle/>
          <a:p>
            <a:endParaRPr lang="en-GB"/>
          </a:p>
        </p:txBody>
      </p:sp>
      <p:sp>
        <p:nvSpPr>
          <p:cNvPr id="36" name="Text 33"/>
          <p:cNvSpPr/>
          <p:nvPr/>
        </p:nvSpPr>
        <p:spPr>
          <a:xfrm>
            <a:off x="8394192" y="1289304"/>
            <a:ext cx="3429000" cy="438912"/>
          </a:xfrm>
          <a:prstGeom prst="rect">
            <a:avLst/>
          </a:prstGeom>
          <a:noFill/>
          <a:ln/>
        </p:spPr>
        <p:txBody>
          <a:bodyPr wrap="square" lIns="50800" tIns="50800" rIns="50800" bIns="50800" rtlCol="0" anchor="ctr"/>
          <a:lstStyle/>
          <a:p>
            <a:pPr marL="0" indent="0" algn="l">
              <a:buNone/>
            </a:pPr>
            <a:r>
              <a:rPr lang="en-US" sz="1300" b="1" dirty="0">
                <a:solidFill>
                  <a:srgbClr val="FFFFFF"/>
                </a:solidFill>
                <a:latin typeface="Gill Sans MT" pitchFamily="34" charset="0"/>
                <a:ea typeface="Gill Sans MT" pitchFamily="34" charset="-122"/>
                <a:cs typeface="Gill Sans MT" pitchFamily="34" charset="-120"/>
              </a:rPr>
              <a:t>SC Performance Framework</a:t>
            </a:r>
            <a:endParaRPr lang="en-US" sz="1300" dirty="0"/>
          </a:p>
        </p:txBody>
      </p:sp>
      <p:sp>
        <p:nvSpPr>
          <p:cNvPr id="37" name="Text 34"/>
          <p:cNvSpPr/>
          <p:nvPr/>
        </p:nvSpPr>
        <p:spPr>
          <a:xfrm>
            <a:off x="8394192" y="1709928"/>
            <a:ext cx="3429000" cy="274320"/>
          </a:xfrm>
          <a:prstGeom prst="rect">
            <a:avLst/>
          </a:prstGeom>
          <a:noFill/>
          <a:ln/>
        </p:spPr>
        <p:txBody>
          <a:bodyPr wrap="square" lIns="50800" tIns="50800" rIns="50800" bIns="50800" rtlCol="0" anchor="ctr"/>
          <a:lstStyle/>
          <a:p>
            <a:pPr marL="0" indent="0" algn="l">
              <a:buNone/>
            </a:pPr>
            <a:r>
              <a:rPr lang="en-US" sz="850" i="1" kern="0" spc="50" dirty="0">
                <a:solidFill>
                  <a:srgbClr val="56D68A"/>
                </a:solidFill>
                <a:latin typeface="Gill Sans MT" pitchFamily="34" charset="0"/>
                <a:ea typeface="Gill Sans MT" pitchFamily="34" charset="-122"/>
                <a:cs typeface="Gill Sans MT" pitchFamily="34" charset="-120"/>
              </a:rPr>
              <a:t>Gunasekaran et al., 2004; Chan &amp; Qi, 2003; Beamon, 1999</a:t>
            </a:r>
            <a:endParaRPr lang="en-US" sz="850" dirty="0"/>
          </a:p>
        </p:txBody>
      </p:sp>
      <p:sp>
        <p:nvSpPr>
          <p:cNvPr id="38" name="Text 35"/>
          <p:cNvSpPr/>
          <p:nvPr/>
        </p:nvSpPr>
        <p:spPr>
          <a:xfrm>
            <a:off x="8394192" y="2066544"/>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56D68A"/>
                </a:solidFill>
                <a:latin typeface="Gill Sans MT" pitchFamily="34" charset="0"/>
                <a:ea typeface="Gill Sans MT" pitchFamily="34" charset="-122"/>
                <a:cs typeface="Gill Sans MT" pitchFamily="34" charset="-120"/>
              </a:rPr>
              <a:t>THEORY SAYS</a:t>
            </a:r>
            <a:endParaRPr lang="en-US" sz="800" dirty="0"/>
          </a:p>
        </p:txBody>
      </p:sp>
      <p:sp>
        <p:nvSpPr>
          <p:cNvPr id="39" name="Shape 36"/>
          <p:cNvSpPr/>
          <p:nvPr/>
        </p:nvSpPr>
        <p:spPr>
          <a:xfrm>
            <a:off x="8394192" y="2304288"/>
            <a:ext cx="3401568" cy="0"/>
          </a:xfrm>
          <a:prstGeom prst="line">
            <a:avLst/>
          </a:prstGeom>
          <a:noFill/>
          <a:ln w="19050">
            <a:solidFill>
              <a:srgbClr val="56D68A"/>
            </a:solidFill>
            <a:prstDash val="solid"/>
          </a:ln>
        </p:spPr>
        <p:txBody>
          <a:bodyPr/>
          <a:lstStyle/>
          <a:p>
            <a:endParaRPr lang="en-GB"/>
          </a:p>
        </p:txBody>
      </p:sp>
      <p:sp>
        <p:nvSpPr>
          <p:cNvPr id="40" name="Text 37"/>
          <p:cNvSpPr/>
          <p:nvPr/>
        </p:nvSpPr>
        <p:spPr>
          <a:xfrm>
            <a:off x="8394192" y="2359152"/>
            <a:ext cx="3429000" cy="1261872"/>
          </a:xfrm>
          <a:prstGeom prst="rect">
            <a:avLst/>
          </a:prstGeom>
          <a:noFill/>
          <a:ln/>
        </p:spPr>
        <p:txBody>
          <a:bodyPr wrap="square" lIns="50800" tIns="50800" rIns="50800" bIns="50800" rtlCol="0" anchor="t"/>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Effective supply chain performance is a multidimensional construct measured through logistics capabilities, efficiency, responsiveness, and reliability. Improvements in these dimensions contribute to superior organisational and economic outcomes.</a:t>
            </a:r>
            <a:endParaRPr lang="en-US" sz="1000" dirty="0"/>
          </a:p>
        </p:txBody>
      </p:sp>
      <p:sp>
        <p:nvSpPr>
          <p:cNvPr id="41" name="Text 38"/>
          <p:cNvSpPr/>
          <p:nvPr/>
        </p:nvSpPr>
        <p:spPr>
          <a:xfrm>
            <a:off x="8394192" y="369417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56D68A"/>
                </a:solidFill>
                <a:latin typeface="Gill Sans MT" pitchFamily="34" charset="0"/>
                <a:ea typeface="Gill Sans MT" pitchFamily="34" charset="-122"/>
                <a:cs typeface="Gill Sans MT" pitchFamily="34" charset="-120"/>
              </a:rPr>
              <a:t>PROPOSITION</a:t>
            </a:r>
            <a:endParaRPr lang="en-US" sz="800" dirty="0"/>
          </a:p>
        </p:txBody>
      </p:sp>
      <p:sp>
        <p:nvSpPr>
          <p:cNvPr id="42" name="Shape 39"/>
          <p:cNvSpPr/>
          <p:nvPr/>
        </p:nvSpPr>
        <p:spPr>
          <a:xfrm>
            <a:off x="8394192" y="3931920"/>
            <a:ext cx="3401568" cy="0"/>
          </a:xfrm>
          <a:prstGeom prst="line">
            <a:avLst/>
          </a:prstGeom>
          <a:noFill/>
          <a:ln w="19050">
            <a:solidFill>
              <a:srgbClr val="56D68A"/>
            </a:solidFill>
            <a:prstDash val="solid"/>
          </a:ln>
        </p:spPr>
        <p:txBody>
          <a:bodyPr/>
          <a:lstStyle/>
          <a:p>
            <a:endParaRPr lang="en-GB"/>
          </a:p>
        </p:txBody>
      </p:sp>
      <p:sp>
        <p:nvSpPr>
          <p:cNvPr id="43" name="Text 40"/>
          <p:cNvSpPr/>
          <p:nvPr/>
        </p:nvSpPr>
        <p:spPr>
          <a:xfrm>
            <a:off x="8394192" y="3986784"/>
            <a:ext cx="3429000" cy="640080"/>
          </a:xfrm>
          <a:prstGeom prst="rect">
            <a:avLst/>
          </a:prstGeom>
          <a:noFill/>
          <a:ln/>
        </p:spPr>
        <p:txBody>
          <a:bodyPr wrap="square" lIns="50800" tIns="50800" rIns="50800" bIns="50800" rtlCol="0" anchor="t"/>
          <a:lstStyle/>
          <a:p>
            <a:pPr marL="0" indent="0" algn="l">
              <a:buNone/>
            </a:pPr>
            <a:r>
              <a:rPr lang="en-US" sz="1050" dirty="0">
                <a:solidFill>
                  <a:srgbClr val="F5F5F0"/>
                </a:solidFill>
                <a:latin typeface="Gill Sans MT" pitchFamily="34" charset="0"/>
                <a:ea typeface="Gill Sans MT" pitchFamily="34" charset="-122"/>
                <a:cs typeface="Gill Sans MT" pitchFamily="34" charset="-120"/>
              </a:rPr>
              <a:t>SC performance is the transmission mechanism linking AI readiness to economic outcomes</a:t>
            </a:r>
            <a:endParaRPr lang="en-US" sz="1050" dirty="0"/>
          </a:p>
        </p:txBody>
      </p:sp>
      <p:sp>
        <p:nvSpPr>
          <p:cNvPr id="44" name="Text 41"/>
          <p:cNvSpPr/>
          <p:nvPr/>
        </p:nvSpPr>
        <p:spPr>
          <a:xfrm>
            <a:off x="8394192" y="470001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56D68A"/>
                </a:solidFill>
                <a:latin typeface="Gill Sans MT" pitchFamily="34" charset="0"/>
                <a:ea typeface="Gill Sans MT" pitchFamily="34" charset="-122"/>
                <a:cs typeface="Gill Sans MT" pitchFamily="34" charset="-120"/>
              </a:rPr>
              <a:t>HYPOTHESIS</a:t>
            </a:r>
            <a:endParaRPr lang="en-US" sz="800" dirty="0"/>
          </a:p>
        </p:txBody>
      </p:sp>
      <p:sp>
        <p:nvSpPr>
          <p:cNvPr id="45" name="Shape 42"/>
          <p:cNvSpPr/>
          <p:nvPr/>
        </p:nvSpPr>
        <p:spPr>
          <a:xfrm>
            <a:off x="8394192" y="4937760"/>
            <a:ext cx="3401568" cy="0"/>
          </a:xfrm>
          <a:prstGeom prst="line">
            <a:avLst/>
          </a:prstGeom>
          <a:noFill/>
          <a:ln w="19050">
            <a:solidFill>
              <a:srgbClr val="56D68A"/>
            </a:solidFill>
            <a:prstDash val="solid"/>
          </a:ln>
        </p:spPr>
        <p:txBody>
          <a:bodyPr/>
          <a:lstStyle/>
          <a:p>
            <a:endParaRPr lang="en-GB"/>
          </a:p>
        </p:txBody>
      </p:sp>
      <p:sp>
        <p:nvSpPr>
          <p:cNvPr id="46" name="Text 43"/>
          <p:cNvSpPr/>
          <p:nvPr/>
        </p:nvSpPr>
        <p:spPr>
          <a:xfrm>
            <a:off x="8394192" y="4992624"/>
            <a:ext cx="3429000" cy="713232"/>
          </a:xfrm>
          <a:prstGeom prst="rect">
            <a:avLst/>
          </a:prstGeom>
          <a:noFill/>
          <a:ln/>
        </p:spPr>
        <p:txBody>
          <a:bodyPr wrap="square" lIns="50800" tIns="50800" rIns="50800" bIns="50800" rtlCol="0" anchor="t"/>
          <a:lstStyle/>
          <a:p>
            <a:pPr marL="0" indent="0" algn="l">
              <a:buNone/>
            </a:pPr>
            <a:r>
              <a:rPr lang="en-US" sz="1100" i="1" dirty="0">
                <a:solidFill>
                  <a:srgbClr val="F0C040"/>
                </a:solidFill>
                <a:latin typeface="Gill Sans MT" pitchFamily="34" charset="0"/>
                <a:ea typeface="Gill Sans MT" pitchFamily="34" charset="-122"/>
                <a:cs typeface="Gill Sans MT" pitchFamily="34" charset="-120"/>
              </a:rPr>
              <a:t>H2a: η₁ mediates ξ₁ → η₂</a:t>
            </a:r>
            <a:endParaRPr lang="en-US" sz="1100" dirty="0"/>
          </a:p>
        </p:txBody>
      </p:sp>
      <p:sp>
        <p:nvSpPr>
          <p:cNvPr id="47" name="Text 44"/>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4ECDC4"/>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4ECDC4"/>
                </a:solidFill>
                <a:latin typeface="Gill Sans MT" pitchFamily="34" charset="0"/>
                <a:ea typeface="Gill Sans MT" pitchFamily="34" charset="-122"/>
                <a:cs typeface="Gill Sans MT" pitchFamily="34" charset="-120"/>
              </a:rPr>
              <a:t>CONCEPTUAL MODEL</a:t>
            </a:r>
            <a:endParaRPr lang="en-US" sz="850" dirty="0"/>
          </a:p>
        </p:txBody>
      </p:sp>
      <p:sp>
        <p:nvSpPr>
          <p:cNvPr id="6" name="Text 3"/>
          <p:cNvSpPr/>
          <p:nvPr/>
        </p:nvSpPr>
        <p:spPr>
          <a:xfrm>
            <a:off x="365760" y="347472"/>
            <a:ext cx="10972800" cy="685800"/>
          </a:xfrm>
          <a:prstGeom prst="rect">
            <a:avLst/>
          </a:prstGeom>
          <a:noFill/>
          <a:ln/>
        </p:spPr>
        <p:txBody>
          <a:bodyPr wrap="square" lIns="50800" tIns="50800" rIns="50800" bIns="50800" rtlCol="0" anchor="ctr"/>
          <a:lstStyle/>
          <a:p>
            <a:pPr marL="0" indent="0" algn="l">
              <a:buNone/>
            </a:pPr>
            <a:r>
              <a:rPr lang="en-US" sz="2600" b="1" dirty="0">
                <a:solidFill>
                  <a:srgbClr val="FFFFFF"/>
                </a:solidFill>
                <a:latin typeface="Gill Sans MT" pitchFamily="34" charset="0"/>
                <a:ea typeface="Gill Sans MT" pitchFamily="34" charset="-122"/>
                <a:cs typeface="Gill Sans MT" pitchFamily="34" charset="-120"/>
              </a:rPr>
              <a:t>Structural Equation Model — Path Diagram</a:t>
            </a:r>
            <a:endParaRPr lang="en-US" sz="2600" dirty="0"/>
          </a:p>
        </p:txBody>
      </p:sp>
      <p:sp>
        <p:nvSpPr>
          <p:cNvPr id="7" name="Shape 4"/>
          <p:cNvSpPr/>
          <p:nvPr/>
        </p:nvSpPr>
        <p:spPr>
          <a:xfrm>
            <a:off x="365760" y="1115568"/>
            <a:ext cx="11430000" cy="0"/>
          </a:xfrm>
          <a:prstGeom prst="line">
            <a:avLst/>
          </a:prstGeom>
          <a:noFill/>
          <a:ln w="19050">
            <a:solidFill>
              <a:srgbClr val="4ECDC4"/>
            </a:solidFill>
            <a:prstDash val="solid"/>
          </a:ln>
        </p:spPr>
        <p:txBody>
          <a:bodyPr/>
          <a:lstStyle/>
          <a:p>
            <a:endParaRPr lang="en-GB"/>
          </a:p>
        </p:txBody>
      </p:sp>
      <p:sp>
        <p:nvSpPr>
          <p:cNvPr id="8" name="Shape 5"/>
          <p:cNvSpPr/>
          <p:nvPr/>
        </p:nvSpPr>
        <p:spPr>
          <a:xfrm flipV="1">
            <a:off x="3246120" y="1545336"/>
            <a:ext cx="274320" cy="512064"/>
          </a:xfrm>
          <a:prstGeom prst="line">
            <a:avLst/>
          </a:prstGeom>
          <a:noFill/>
          <a:ln w="15240">
            <a:solidFill>
              <a:srgbClr val="C9A0E8"/>
            </a:solidFill>
            <a:prstDash val="dash"/>
            <a:tailEnd type="arrow"/>
          </a:ln>
        </p:spPr>
        <p:txBody>
          <a:bodyPr/>
          <a:lstStyle/>
          <a:p>
            <a:endParaRPr lang="en-GB"/>
          </a:p>
        </p:txBody>
      </p:sp>
      <p:sp>
        <p:nvSpPr>
          <p:cNvPr id="9" name="Shape 6"/>
          <p:cNvSpPr/>
          <p:nvPr/>
        </p:nvSpPr>
        <p:spPr>
          <a:xfrm flipV="1">
            <a:off x="3246120" y="1901952"/>
            <a:ext cx="274320" cy="2167128"/>
          </a:xfrm>
          <a:prstGeom prst="line">
            <a:avLst/>
          </a:prstGeom>
          <a:noFill/>
          <a:ln w="15240">
            <a:solidFill>
              <a:srgbClr val="C9A0E8"/>
            </a:solidFill>
            <a:prstDash val="dash"/>
            <a:tailEnd type="arrow"/>
          </a:ln>
        </p:spPr>
        <p:txBody>
          <a:bodyPr/>
          <a:lstStyle/>
          <a:p>
            <a:endParaRPr lang="en-GB"/>
          </a:p>
        </p:txBody>
      </p:sp>
      <p:sp>
        <p:nvSpPr>
          <p:cNvPr id="10" name="Shape 7"/>
          <p:cNvSpPr/>
          <p:nvPr/>
        </p:nvSpPr>
        <p:spPr>
          <a:xfrm>
            <a:off x="3246120" y="2331720"/>
            <a:ext cx="1600200" cy="777240"/>
          </a:xfrm>
          <a:prstGeom prst="line">
            <a:avLst/>
          </a:prstGeom>
          <a:noFill/>
          <a:ln w="30480">
            <a:solidFill>
              <a:srgbClr val="6DAEDB"/>
            </a:solidFill>
            <a:prstDash val="solid"/>
            <a:tailEnd type="arrow"/>
          </a:ln>
        </p:spPr>
        <p:txBody>
          <a:bodyPr/>
          <a:lstStyle/>
          <a:p>
            <a:endParaRPr lang="en-GB"/>
          </a:p>
        </p:txBody>
      </p:sp>
      <p:sp>
        <p:nvSpPr>
          <p:cNvPr id="11" name="Shape 8"/>
          <p:cNvSpPr/>
          <p:nvPr/>
        </p:nvSpPr>
        <p:spPr>
          <a:xfrm flipV="1">
            <a:off x="3246120" y="3657600"/>
            <a:ext cx="1600200" cy="868680"/>
          </a:xfrm>
          <a:prstGeom prst="line">
            <a:avLst/>
          </a:prstGeom>
          <a:noFill/>
          <a:ln w="30480">
            <a:solidFill>
              <a:srgbClr val="C9A0E8"/>
            </a:solidFill>
            <a:prstDash val="solid"/>
            <a:tailEnd type="arrow"/>
          </a:ln>
        </p:spPr>
        <p:txBody>
          <a:bodyPr/>
          <a:lstStyle/>
          <a:p>
            <a:endParaRPr lang="en-GB"/>
          </a:p>
        </p:txBody>
      </p:sp>
      <p:sp>
        <p:nvSpPr>
          <p:cNvPr id="12" name="Shape 9"/>
          <p:cNvSpPr/>
          <p:nvPr/>
        </p:nvSpPr>
        <p:spPr>
          <a:xfrm>
            <a:off x="4462272" y="1901952"/>
            <a:ext cx="1298448" cy="978408"/>
          </a:xfrm>
          <a:prstGeom prst="line">
            <a:avLst/>
          </a:prstGeom>
          <a:noFill/>
          <a:ln w="22860">
            <a:solidFill>
              <a:srgbClr val="C9A0E8"/>
            </a:solidFill>
            <a:prstDash val="solid"/>
            <a:tailEnd type="arrow"/>
          </a:ln>
        </p:spPr>
        <p:txBody>
          <a:bodyPr/>
          <a:lstStyle/>
          <a:p>
            <a:endParaRPr lang="en-GB"/>
          </a:p>
        </p:txBody>
      </p:sp>
      <p:sp>
        <p:nvSpPr>
          <p:cNvPr id="13" name="Shape 10"/>
          <p:cNvSpPr/>
          <p:nvPr/>
        </p:nvSpPr>
        <p:spPr>
          <a:xfrm>
            <a:off x="7315200" y="3401568"/>
            <a:ext cx="1600200" cy="18288"/>
          </a:xfrm>
          <a:prstGeom prst="line">
            <a:avLst/>
          </a:prstGeom>
          <a:noFill/>
          <a:ln w="27940">
            <a:solidFill>
              <a:srgbClr val="F47A7A"/>
            </a:solidFill>
            <a:prstDash val="dash"/>
            <a:tailEnd type="arrow"/>
          </a:ln>
        </p:spPr>
        <p:txBody>
          <a:bodyPr/>
          <a:lstStyle/>
          <a:p>
            <a:endParaRPr lang="en-GB"/>
          </a:p>
        </p:txBody>
      </p:sp>
      <p:sp>
        <p:nvSpPr>
          <p:cNvPr id="14" name="Shape 11"/>
          <p:cNvSpPr/>
          <p:nvPr/>
        </p:nvSpPr>
        <p:spPr>
          <a:xfrm>
            <a:off x="3246120" y="2852928"/>
            <a:ext cx="5669280" cy="1078992"/>
          </a:xfrm>
          <a:prstGeom prst="line">
            <a:avLst/>
          </a:prstGeom>
          <a:noFill/>
          <a:ln w="22860">
            <a:solidFill>
              <a:srgbClr val="6DAEDB"/>
            </a:solidFill>
            <a:prstDash val="solid"/>
            <a:tailEnd type="arrow"/>
          </a:ln>
        </p:spPr>
        <p:txBody>
          <a:bodyPr/>
          <a:lstStyle/>
          <a:p>
            <a:endParaRPr lang="en-GB"/>
          </a:p>
        </p:txBody>
      </p:sp>
      <p:sp>
        <p:nvSpPr>
          <p:cNvPr id="15" name="Shape 12"/>
          <p:cNvSpPr/>
          <p:nvPr/>
        </p:nvSpPr>
        <p:spPr>
          <a:xfrm>
            <a:off x="777240" y="1805940"/>
            <a:ext cx="2468880" cy="1051560"/>
          </a:xfrm>
          <a:prstGeom prst="roundRect">
            <a:avLst>
              <a:gd name="adj" fmla="val 12174"/>
            </a:avLst>
          </a:prstGeom>
          <a:solidFill>
            <a:srgbClr val="030C18">
              <a:alpha val="65000"/>
            </a:srgbClr>
          </a:solidFill>
          <a:ln w="19050">
            <a:solidFill>
              <a:srgbClr val="6DAEDB">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6" name="Text 13"/>
          <p:cNvSpPr/>
          <p:nvPr/>
        </p:nvSpPr>
        <p:spPr>
          <a:xfrm>
            <a:off x="868680" y="1851660"/>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6DAEDB"/>
                </a:solidFill>
                <a:latin typeface="Gill Sans MT" pitchFamily="34" charset="0"/>
                <a:ea typeface="Gill Sans MT" pitchFamily="34" charset="-122"/>
                <a:cs typeface="Gill Sans MT" pitchFamily="34" charset="-120"/>
              </a:rPr>
              <a:t>ξ₁</a:t>
            </a:r>
            <a:endParaRPr lang="en-US" sz="1800" dirty="0"/>
          </a:p>
        </p:txBody>
      </p:sp>
      <p:sp>
        <p:nvSpPr>
          <p:cNvPr id="17" name="Text 14"/>
          <p:cNvSpPr/>
          <p:nvPr/>
        </p:nvSpPr>
        <p:spPr>
          <a:xfrm>
            <a:off x="868680" y="2310689"/>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AI Readiness</a:t>
            </a:r>
            <a:endParaRPr lang="en-US" sz="1100" dirty="0"/>
          </a:p>
        </p:txBody>
      </p:sp>
      <p:sp>
        <p:nvSpPr>
          <p:cNvPr id="18" name="Text 15"/>
          <p:cNvSpPr/>
          <p:nvPr/>
        </p:nvSpPr>
        <p:spPr>
          <a:xfrm>
            <a:off x="868680" y="2584094"/>
            <a:ext cx="2286000" cy="252374"/>
          </a:xfrm>
          <a:prstGeom prst="rect">
            <a:avLst/>
          </a:prstGeom>
          <a:noFill/>
          <a:ln/>
        </p:spPr>
        <p:txBody>
          <a:bodyPr wrap="square" lIns="50800" tIns="50800" rIns="50800" bIns="50800" rtlCol="0" anchor="ctr"/>
          <a:lstStyle/>
          <a:p>
            <a:pPr marL="0" indent="0" algn="ctr">
              <a:buNone/>
            </a:pPr>
            <a:r>
              <a:rPr lang="en-US" sz="850" i="1" dirty="0">
                <a:solidFill>
                  <a:srgbClr val="6DAEDB"/>
                </a:solidFill>
                <a:latin typeface="Gill Sans MT" pitchFamily="34" charset="0"/>
                <a:ea typeface="Gill Sans MT" pitchFamily="34" charset="-122"/>
                <a:cs typeface="Gill Sans MT" pitchFamily="34" charset="-120"/>
              </a:rPr>
              <a:t>Exogenous</a:t>
            </a:r>
            <a:endParaRPr lang="en-US" sz="850" dirty="0"/>
          </a:p>
        </p:txBody>
      </p:sp>
      <p:sp>
        <p:nvSpPr>
          <p:cNvPr id="19" name="Shape 16"/>
          <p:cNvSpPr/>
          <p:nvPr/>
        </p:nvSpPr>
        <p:spPr>
          <a:xfrm>
            <a:off x="777240" y="4000500"/>
            <a:ext cx="2468880" cy="1051560"/>
          </a:xfrm>
          <a:prstGeom prst="roundRect">
            <a:avLst>
              <a:gd name="adj" fmla="val 12174"/>
            </a:avLst>
          </a:prstGeom>
          <a:solidFill>
            <a:srgbClr val="030C18">
              <a:alpha val="65000"/>
            </a:srgbClr>
          </a:solidFill>
          <a:ln w="19050">
            <a:solidFill>
              <a:srgbClr val="C9A0E8">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Text 17"/>
          <p:cNvSpPr/>
          <p:nvPr/>
        </p:nvSpPr>
        <p:spPr>
          <a:xfrm>
            <a:off x="868680" y="4046220"/>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C9A0E8"/>
                </a:solidFill>
                <a:latin typeface="Gill Sans MT" pitchFamily="34" charset="0"/>
                <a:ea typeface="Gill Sans MT" pitchFamily="34" charset="-122"/>
                <a:cs typeface="Gill Sans MT" pitchFamily="34" charset="-120"/>
              </a:rPr>
              <a:t>ξ₂</a:t>
            </a:r>
            <a:endParaRPr lang="en-US" sz="1800" dirty="0"/>
          </a:p>
        </p:txBody>
      </p:sp>
      <p:sp>
        <p:nvSpPr>
          <p:cNvPr id="21" name="Text 18"/>
          <p:cNvSpPr/>
          <p:nvPr/>
        </p:nvSpPr>
        <p:spPr>
          <a:xfrm>
            <a:off x="868680" y="4505249"/>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Institutional Quality</a:t>
            </a:r>
            <a:endParaRPr lang="en-US" sz="1100" dirty="0"/>
          </a:p>
        </p:txBody>
      </p:sp>
      <p:sp>
        <p:nvSpPr>
          <p:cNvPr id="22" name="Text 19"/>
          <p:cNvSpPr/>
          <p:nvPr/>
        </p:nvSpPr>
        <p:spPr>
          <a:xfrm>
            <a:off x="868680" y="4778654"/>
            <a:ext cx="2286000" cy="252374"/>
          </a:xfrm>
          <a:prstGeom prst="rect">
            <a:avLst/>
          </a:prstGeom>
          <a:noFill/>
          <a:ln/>
        </p:spPr>
        <p:txBody>
          <a:bodyPr wrap="square" lIns="50800" tIns="50800" rIns="50800" bIns="50800" rtlCol="0" anchor="ctr"/>
          <a:lstStyle/>
          <a:p>
            <a:pPr marL="0" indent="0" algn="ctr">
              <a:buNone/>
            </a:pPr>
            <a:r>
              <a:rPr lang="en-US" sz="850" i="1" dirty="0">
                <a:solidFill>
                  <a:srgbClr val="C9A0E8"/>
                </a:solidFill>
                <a:latin typeface="Gill Sans MT" pitchFamily="34" charset="0"/>
                <a:ea typeface="Gill Sans MT" pitchFamily="34" charset="-122"/>
                <a:cs typeface="Gill Sans MT" pitchFamily="34" charset="-120"/>
              </a:rPr>
              <a:t>Exogenous / Moderator</a:t>
            </a:r>
            <a:endParaRPr lang="en-US" sz="850" dirty="0"/>
          </a:p>
        </p:txBody>
      </p:sp>
      <p:sp>
        <p:nvSpPr>
          <p:cNvPr id="23" name="Shape 20"/>
          <p:cNvSpPr/>
          <p:nvPr/>
        </p:nvSpPr>
        <p:spPr>
          <a:xfrm>
            <a:off x="4846320" y="2875788"/>
            <a:ext cx="2468880" cy="1051560"/>
          </a:xfrm>
          <a:prstGeom prst="roundRect">
            <a:avLst>
              <a:gd name="adj" fmla="val 12174"/>
            </a:avLst>
          </a:prstGeom>
          <a:solidFill>
            <a:srgbClr val="030C18">
              <a:alpha val="65000"/>
            </a:srgbClr>
          </a:solidFill>
          <a:ln w="19050">
            <a:solidFill>
              <a:srgbClr val="56D68A">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Text 21"/>
          <p:cNvSpPr/>
          <p:nvPr/>
        </p:nvSpPr>
        <p:spPr>
          <a:xfrm>
            <a:off x="4937760" y="2921508"/>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56D68A"/>
                </a:solidFill>
                <a:latin typeface="Gill Sans MT" pitchFamily="34" charset="0"/>
                <a:ea typeface="Gill Sans MT" pitchFamily="34" charset="-122"/>
                <a:cs typeface="Gill Sans MT" pitchFamily="34" charset="-120"/>
              </a:rPr>
              <a:t>η₁</a:t>
            </a:r>
            <a:endParaRPr lang="en-US" sz="1800" dirty="0"/>
          </a:p>
        </p:txBody>
      </p:sp>
      <p:sp>
        <p:nvSpPr>
          <p:cNvPr id="25" name="Text 22"/>
          <p:cNvSpPr/>
          <p:nvPr/>
        </p:nvSpPr>
        <p:spPr>
          <a:xfrm>
            <a:off x="4937760" y="3380537"/>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SC Performance</a:t>
            </a:r>
            <a:endParaRPr lang="en-US" sz="1100" dirty="0"/>
          </a:p>
        </p:txBody>
      </p:sp>
      <p:sp>
        <p:nvSpPr>
          <p:cNvPr id="26" name="Text 23"/>
          <p:cNvSpPr/>
          <p:nvPr/>
        </p:nvSpPr>
        <p:spPr>
          <a:xfrm>
            <a:off x="4937760" y="3653942"/>
            <a:ext cx="2286000" cy="252374"/>
          </a:xfrm>
          <a:prstGeom prst="rect">
            <a:avLst/>
          </a:prstGeom>
          <a:noFill/>
          <a:ln/>
        </p:spPr>
        <p:txBody>
          <a:bodyPr wrap="square" lIns="50800" tIns="50800" rIns="50800" bIns="50800" rtlCol="0" anchor="ctr"/>
          <a:lstStyle/>
          <a:p>
            <a:pPr marL="0" indent="0" algn="ctr">
              <a:buNone/>
            </a:pPr>
            <a:r>
              <a:rPr lang="en-US" sz="850" i="1" dirty="0">
                <a:solidFill>
                  <a:srgbClr val="56D68A"/>
                </a:solidFill>
                <a:latin typeface="Gill Sans MT" pitchFamily="34" charset="0"/>
                <a:ea typeface="Gill Sans MT" pitchFamily="34" charset="-122"/>
                <a:cs typeface="Gill Sans MT" pitchFamily="34" charset="-120"/>
              </a:rPr>
              <a:t>Endogenous / Mediator</a:t>
            </a:r>
            <a:endParaRPr lang="en-US" sz="850" dirty="0"/>
          </a:p>
        </p:txBody>
      </p:sp>
      <p:sp>
        <p:nvSpPr>
          <p:cNvPr id="27" name="Shape 24"/>
          <p:cNvSpPr/>
          <p:nvPr/>
        </p:nvSpPr>
        <p:spPr>
          <a:xfrm>
            <a:off x="8915400" y="2875788"/>
            <a:ext cx="2468880" cy="1051560"/>
          </a:xfrm>
          <a:prstGeom prst="roundRect">
            <a:avLst>
              <a:gd name="adj" fmla="val 12174"/>
            </a:avLst>
          </a:prstGeom>
          <a:solidFill>
            <a:srgbClr val="030C18">
              <a:alpha val="65000"/>
            </a:srgbClr>
          </a:solidFill>
          <a:ln w="19050">
            <a:solidFill>
              <a:srgbClr val="FFB347">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8" name="Text 25"/>
          <p:cNvSpPr/>
          <p:nvPr/>
        </p:nvSpPr>
        <p:spPr>
          <a:xfrm>
            <a:off x="9006840" y="2921508"/>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FFB347"/>
                </a:solidFill>
                <a:latin typeface="Gill Sans MT" pitchFamily="34" charset="0"/>
                <a:ea typeface="Gill Sans MT" pitchFamily="34" charset="-122"/>
                <a:cs typeface="Gill Sans MT" pitchFamily="34" charset="-120"/>
              </a:rPr>
              <a:t>η₂</a:t>
            </a:r>
            <a:endParaRPr lang="en-US" sz="1800" dirty="0"/>
          </a:p>
        </p:txBody>
      </p:sp>
      <p:sp>
        <p:nvSpPr>
          <p:cNvPr id="29" name="Text 26"/>
          <p:cNvSpPr/>
          <p:nvPr/>
        </p:nvSpPr>
        <p:spPr>
          <a:xfrm>
            <a:off x="9006840" y="3380537"/>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Economic Perf.</a:t>
            </a:r>
            <a:endParaRPr lang="en-US" sz="1100" dirty="0"/>
          </a:p>
        </p:txBody>
      </p:sp>
      <p:sp>
        <p:nvSpPr>
          <p:cNvPr id="30" name="Text 27"/>
          <p:cNvSpPr/>
          <p:nvPr/>
        </p:nvSpPr>
        <p:spPr>
          <a:xfrm>
            <a:off x="9006840" y="3653942"/>
            <a:ext cx="2286000" cy="252374"/>
          </a:xfrm>
          <a:prstGeom prst="rect">
            <a:avLst/>
          </a:prstGeom>
          <a:noFill/>
          <a:ln/>
        </p:spPr>
        <p:txBody>
          <a:bodyPr wrap="square" lIns="50800" tIns="50800" rIns="50800" bIns="50800" rtlCol="0" anchor="ctr"/>
          <a:lstStyle/>
          <a:p>
            <a:pPr marL="0" indent="0" algn="ctr">
              <a:buNone/>
            </a:pPr>
            <a:r>
              <a:rPr lang="en-US" sz="850" i="1" dirty="0">
                <a:solidFill>
                  <a:srgbClr val="FFB347"/>
                </a:solidFill>
                <a:latin typeface="Gill Sans MT" pitchFamily="34" charset="0"/>
                <a:ea typeface="Gill Sans MT" pitchFamily="34" charset="-122"/>
                <a:cs typeface="Gill Sans MT" pitchFamily="34" charset="-120"/>
              </a:rPr>
              <a:t>Endogenous</a:t>
            </a:r>
            <a:endParaRPr lang="en-US" sz="850" dirty="0"/>
          </a:p>
        </p:txBody>
      </p:sp>
      <p:sp>
        <p:nvSpPr>
          <p:cNvPr id="31" name="Shape 28"/>
          <p:cNvSpPr/>
          <p:nvPr/>
        </p:nvSpPr>
        <p:spPr>
          <a:xfrm>
            <a:off x="3520440" y="1188720"/>
            <a:ext cx="1143000" cy="713232"/>
          </a:xfrm>
          <a:prstGeom prst="roundRect">
            <a:avLst>
              <a:gd name="adj" fmla="val 7692"/>
            </a:avLst>
          </a:prstGeom>
          <a:solidFill>
            <a:srgbClr val="1A0A30">
              <a:alpha val="60000"/>
            </a:srgbClr>
          </a:solidFill>
          <a:ln w="15240">
            <a:solidFill>
              <a:srgbClr val="C9A0E8">
                <a:alpha val="7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2" name="Text 29"/>
          <p:cNvSpPr/>
          <p:nvPr/>
        </p:nvSpPr>
        <p:spPr>
          <a:xfrm>
            <a:off x="3520440" y="1207008"/>
            <a:ext cx="1143000" cy="347472"/>
          </a:xfrm>
          <a:prstGeom prst="rect">
            <a:avLst/>
          </a:prstGeom>
          <a:noFill/>
          <a:ln/>
        </p:spPr>
        <p:txBody>
          <a:bodyPr wrap="square" lIns="50800" tIns="50800" rIns="50800" bIns="50800" rtlCol="0" anchor="ctr"/>
          <a:lstStyle/>
          <a:p>
            <a:pPr marL="0" indent="0" algn="ctr">
              <a:buNone/>
            </a:pPr>
            <a:r>
              <a:rPr lang="en-US" sz="1100" b="1" dirty="0">
                <a:solidFill>
                  <a:srgbClr val="C9A0E8"/>
                </a:solidFill>
                <a:latin typeface="Gill Sans MT" pitchFamily="34" charset="0"/>
                <a:ea typeface="Gill Sans MT" pitchFamily="34" charset="-122"/>
                <a:cs typeface="Gill Sans MT" pitchFamily="34" charset="-120"/>
              </a:rPr>
              <a:t>ξ₁×ξ₂</a:t>
            </a:r>
            <a:endParaRPr lang="en-US" sz="1100" dirty="0"/>
          </a:p>
        </p:txBody>
      </p:sp>
      <p:sp>
        <p:nvSpPr>
          <p:cNvPr id="33" name="Text 30"/>
          <p:cNvSpPr/>
          <p:nvPr/>
        </p:nvSpPr>
        <p:spPr>
          <a:xfrm>
            <a:off x="3520440" y="1554480"/>
            <a:ext cx="1143000" cy="274320"/>
          </a:xfrm>
          <a:prstGeom prst="rect">
            <a:avLst/>
          </a:prstGeom>
          <a:noFill/>
          <a:ln/>
        </p:spPr>
        <p:txBody>
          <a:bodyPr wrap="square" lIns="50800" tIns="50800" rIns="50800" bIns="50800" rtlCol="0" anchor="ctr"/>
          <a:lstStyle/>
          <a:p>
            <a:pPr marL="0" indent="0" algn="ctr">
              <a:buNone/>
            </a:pPr>
            <a:r>
              <a:rPr lang="en-US" sz="800" i="1" dirty="0">
                <a:solidFill>
                  <a:srgbClr val="B8C8D8"/>
                </a:solidFill>
                <a:latin typeface="Gill Sans MT" pitchFamily="34" charset="0"/>
                <a:ea typeface="Gill Sans MT" pitchFamily="34" charset="-122"/>
                <a:cs typeface="Gill Sans MT" pitchFamily="34" charset="-120"/>
              </a:rPr>
              <a:t>Interaction</a:t>
            </a:r>
            <a:endParaRPr lang="en-US" sz="800" dirty="0"/>
          </a:p>
        </p:txBody>
      </p:sp>
      <p:sp>
        <p:nvSpPr>
          <p:cNvPr id="44" name="Shape 41"/>
          <p:cNvSpPr/>
          <p:nvPr/>
        </p:nvSpPr>
        <p:spPr>
          <a:xfrm>
            <a:off x="237744" y="5221224"/>
            <a:ext cx="3246120" cy="1545336"/>
          </a:xfrm>
          <a:prstGeom prst="roundRect">
            <a:avLst>
              <a:gd name="adj" fmla="val 4255"/>
            </a:avLst>
          </a:prstGeom>
          <a:solidFill>
            <a:srgbClr val="020810">
              <a:alpha val="62000"/>
            </a:srgbClr>
          </a:solidFill>
          <a:ln w="11430">
            <a:solidFill>
              <a:srgbClr val="4ECDC4">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5" name="Shape 42"/>
          <p:cNvSpPr/>
          <p:nvPr/>
        </p:nvSpPr>
        <p:spPr>
          <a:xfrm>
            <a:off x="274320" y="5230368"/>
            <a:ext cx="0" cy="1481328"/>
          </a:xfrm>
          <a:prstGeom prst="line">
            <a:avLst/>
          </a:prstGeom>
          <a:noFill/>
          <a:ln w="44450">
            <a:solidFill>
              <a:srgbClr val="4ECDC4"/>
            </a:solidFill>
            <a:prstDash val="solid"/>
          </a:ln>
        </p:spPr>
        <p:txBody>
          <a:bodyPr/>
          <a:lstStyle/>
          <a:p>
            <a:endParaRPr lang="en-GB"/>
          </a:p>
        </p:txBody>
      </p:sp>
      <p:sp>
        <p:nvSpPr>
          <p:cNvPr id="46" name="Text 43"/>
          <p:cNvSpPr/>
          <p:nvPr/>
        </p:nvSpPr>
        <p:spPr>
          <a:xfrm>
            <a:off x="502920" y="5303520"/>
            <a:ext cx="2926080" cy="292608"/>
          </a:xfrm>
          <a:prstGeom prst="rect">
            <a:avLst/>
          </a:prstGeom>
          <a:noFill/>
          <a:ln/>
        </p:spPr>
        <p:txBody>
          <a:bodyPr wrap="square" lIns="50800" tIns="50800" rIns="50800" bIns="50800" rtlCol="0" anchor="ctr"/>
          <a:lstStyle/>
          <a:p>
            <a:pPr marL="0" indent="0" algn="l">
              <a:buNone/>
            </a:pPr>
            <a:r>
              <a:rPr lang="en-US" sz="800" b="1" kern="0" spc="200" dirty="0">
                <a:solidFill>
                  <a:srgbClr val="4ECDC4"/>
                </a:solidFill>
                <a:latin typeface="Gill Sans MT" pitchFamily="34" charset="0"/>
                <a:ea typeface="Gill Sans MT" pitchFamily="34" charset="-122"/>
                <a:cs typeface="Gill Sans MT" pitchFamily="34" charset="-120"/>
              </a:rPr>
              <a:t>LATENT CONSTRUCTS</a:t>
            </a:r>
            <a:endParaRPr lang="en-US" sz="800" dirty="0"/>
          </a:p>
        </p:txBody>
      </p:sp>
      <p:sp>
        <p:nvSpPr>
          <p:cNvPr id="47" name="Shape 44"/>
          <p:cNvSpPr/>
          <p:nvPr/>
        </p:nvSpPr>
        <p:spPr>
          <a:xfrm>
            <a:off x="502920" y="5614416"/>
            <a:ext cx="2697480" cy="0"/>
          </a:xfrm>
          <a:prstGeom prst="line">
            <a:avLst/>
          </a:prstGeom>
          <a:noFill/>
          <a:ln w="8890">
            <a:solidFill>
              <a:srgbClr val="4ECDC4">
                <a:alpha val="50000"/>
              </a:srgbClr>
            </a:solidFill>
            <a:prstDash val="solid"/>
          </a:ln>
        </p:spPr>
        <p:txBody>
          <a:bodyPr/>
          <a:lstStyle/>
          <a:p>
            <a:endParaRPr lang="en-GB"/>
          </a:p>
        </p:txBody>
      </p:sp>
      <p:sp>
        <p:nvSpPr>
          <p:cNvPr id="48" name="Text 45"/>
          <p:cNvSpPr/>
          <p:nvPr/>
        </p:nvSpPr>
        <p:spPr>
          <a:xfrm>
            <a:off x="530352" y="5630239"/>
            <a:ext cx="2834640" cy="402336"/>
          </a:xfrm>
          <a:prstGeom prst="rect">
            <a:avLst/>
          </a:prstGeom>
          <a:noFill/>
          <a:ln/>
        </p:spPr>
        <p:txBody>
          <a:bodyPr wrap="square" rtlCol="0" anchor="ctr"/>
          <a:lstStyle/>
          <a:p>
            <a:pPr marL="0" indent="0">
              <a:buNone/>
            </a:pPr>
            <a:r>
              <a:rPr lang="en-US" sz="800" b="1" dirty="0">
                <a:solidFill>
                  <a:srgbClr val="6DAEDB"/>
                </a:solidFill>
                <a:latin typeface="Gill Sans MT" pitchFamily="34" charset="0"/>
                <a:ea typeface="Gill Sans MT" pitchFamily="34" charset="-122"/>
                <a:cs typeface="Gill Sans MT" pitchFamily="34" charset="-120"/>
              </a:rPr>
              <a:t>ξ₁</a:t>
            </a:r>
            <a:r>
              <a:rPr lang="en-US" sz="800" dirty="0">
                <a:solidFill>
                  <a:srgbClr val="F5F5F0"/>
                </a:solidFill>
                <a:latin typeface="Gill Sans MT" pitchFamily="34" charset="0"/>
                <a:ea typeface="Gill Sans MT" pitchFamily="34" charset="-122"/>
                <a:cs typeface="Gill Sans MT" pitchFamily="34" charset="-120"/>
              </a:rPr>
              <a:t> AI Readiness</a:t>
            </a:r>
            <a:endParaRPr lang="en-US" sz="800" dirty="0"/>
          </a:p>
        </p:txBody>
      </p:sp>
      <p:sp>
        <p:nvSpPr>
          <p:cNvPr id="49" name="Text 46"/>
          <p:cNvSpPr/>
          <p:nvPr/>
        </p:nvSpPr>
        <p:spPr>
          <a:xfrm>
            <a:off x="530352" y="5865409"/>
            <a:ext cx="2834640" cy="402336"/>
          </a:xfrm>
          <a:prstGeom prst="rect">
            <a:avLst/>
          </a:prstGeom>
          <a:noFill/>
          <a:ln/>
        </p:spPr>
        <p:txBody>
          <a:bodyPr wrap="square" rtlCol="0" anchor="ctr"/>
          <a:lstStyle/>
          <a:p>
            <a:pPr marL="0" indent="0">
              <a:buNone/>
            </a:pPr>
            <a:r>
              <a:rPr lang="en-US" sz="800" b="1" dirty="0">
                <a:solidFill>
                  <a:srgbClr val="C9A0E8"/>
                </a:solidFill>
                <a:latin typeface="Gill Sans MT" pitchFamily="34" charset="0"/>
                <a:ea typeface="Gill Sans MT" pitchFamily="34" charset="-122"/>
                <a:cs typeface="Gill Sans MT" pitchFamily="34" charset="-120"/>
              </a:rPr>
              <a:t>ξ₂</a:t>
            </a:r>
            <a:r>
              <a:rPr lang="en-US" sz="800" dirty="0">
                <a:solidFill>
                  <a:srgbClr val="F5F5F0"/>
                </a:solidFill>
                <a:latin typeface="Gill Sans MT" pitchFamily="34" charset="0"/>
                <a:ea typeface="Gill Sans MT" pitchFamily="34" charset="-122"/>
                <a:cs typeface="Gill Sans MT" pitchFamily="34" charset="-120"/>
              </a:rPr>
              <a:t> Institutional Quality</a:t>
            </a:r>
            <a:endParaRPr lang="en-US" sz="800" dirty="0"/>
          </a:p>
        </p:txBody>
      </p:sp>
      <p:sp>
        <p:nvSpPr>
          <p:cNvPr id="50" name="Text 47"/>
          <p:cNvSpPr/>
          <p:nvPr/>
        </p:nvSpPr>
        <p:spPr>
          <a:xfrm>
            <a:off x="512065" y="6135157"/>
            <a:ext cx="2834640" cy="402336"/>
          </a:xfrm>
          <a:prstGeom prst="rect">
            <a:avLst/>
          </a:prstGeom>
          <a:noFill/>
          <a:ln/>
        </p:spPr>
        <p:txBody>
          <a:bodyPr wrap="square" rtlCol="0" anchor="ctr"/>
          <a:lstStyle/>
          <a:p>
            <a:pPr marL="0" indent="0">
              <a:buNone/>
            </a:pPr>
            <a:r>
              <a:rPr lang="en-US" sz="800" b="1" dirty="0">
                <a:solidFill>
                  <a:srgbClr val="56D68A"/>
                </a:solidFill>
                <a:latin typeface="Gill Sans MT" pitchFamily="34" charset="0"/>
                <a:ea typeface="Gill Sans MT" pitchFamily="34" charset="-122"/>
                <a:cs typeface="Gill Sans MT" pitchFamily="34" charset="-120"/>
              </a:rPr>
              <a:t>η₁</a:t>
            </a:r>
            <a:r>
              <a:rPr lang="en-US" sz="800" dirty="0">
                <a:solidFill>
                  <a:srgbClr val="F5F5F0"/>
                </a:solidFill>
                <a:latin typeface="Gill Sans MT" pitchFamily="34" charset="0"/>
                <a:ea typeface="Gill Sans MT" pitchFamily="34" charset="-122"/>
                <a:cs typeface="Gill Sans MT" pitchFamily="34" charset="-120"/>
              </a:rPr>
              <a:t> SC Performance</a:t>
            </a:r>
            <a:endParaRPr lang="en-US" sz="800" dirty="0"/>
          </a:p>
        </p:txBody>
      </p:sp>
      <p:sp>
        <p:nvSpPr>
          <p:cNvPr id="51" name="Text 48"/>
          <p:cNvSpPr/>
          <p:nvPr/>
        </p:nvSpPr>
        <p:spPr>
          <a:xfrm>
            <a:off x="493778" y="6393336"/>
            <a:ext cx="2834640" cy="402336"/>
          </a:xfrm>
          <a:prstGeom prst="rect">
            <a:avLst/>
          </a:prstGeom>
          <a:noFill/>
          <a:ln/>
        </p:spPr>
        <p:txBody>
          <a:bodyPr wrap="square" rtlCol="0" anchor="ctr"/>
          <a:lstStyle/>
          <a:p>
            <a:pPr marL="0" indent="0">
              <a:buNone/>
            </a:pPr>
            <a:r>
              <a:rPr lang="en-US" sz="800" b="1" dirty="0">
                <a:solidFill>
                  <a:srgbClr val="FFB347"/>
                </a:solidFill>
                <a:latin typeface="Gill Sans MT" pitchFamily="34" charset="0"/>
                <a:ea typeface="Gill Sans MT" pitchFamily="34" charset="-122"/>
                <a:cs typeface="Gill Sans MT" pitchFamily="34" charset="-120"/>
              </a:rPr>
              <a:t>η₂</a:t>
            </a:r>
            <a:r>
              <a:rPr lang="en-US" sz="800" dirty="0">
                <a:solidFill>
                  <a:srgbClr val="F5F5F0"/>
                </a:solidFill>
                <a:latin typeface="Gill Sans MT" pitchFamily="34" charset="0"/>
                <a:ea typeface="Gill Sans MT" pitchFamily="34" charset="-122"/>
                <a:cs typeface="Gill Sans MT" pitchFamily="34" charset="-120"/>
              </a:rPr>
              <a:t> Economic Performance</a:t>
            </a:r>
            <a:endParaRPr lang="en-US" sz="800" dirty="0"/>
          </a:p>
        </p:txBody>
      </p:sp>
      <p:sp>
        <p:nvSpPr>
          <p:cNvPr id="52" name="Shape 49"/>
          <p:cNvSpPr/>
          <p:nvPr/>
        </p:nvSpPr>
        <p:spPr>
          <a:xfrm>
            <a:off x="8691372" y="4361688"/>
            <a:ext cx="3067812" cy="2350008"/>
          </a:xfrm>
          <a:prstGeom prst="roundRect">
            <a:avLst>
              <a:gd name="adj" fmla="val 4255"/>
            </a:avLst>
          </a:prstGeom>
          <a:solidFill>
            <a:srgbClr val="020810">
              <a:alpha val="62000"/>
            </a:srgbClr>
          </a:solidFill>
          <a:ln w="11430">
            <a:solidFill>
              <a:srgbClr val="F0C040">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3" name="Shape 50"/>
          <p:cNvSpPr/>
          <p:nvPr/>
        </p:nvSpPr>
        <p:spPr>
          <a:xfrm>
            <a:off x="8691372" y="4379976"/>
            <a:ext cx="0" cy="2331720"/>
          </a:xfrm>
          <a:prstGeom prst="line">
            <a:avLst/>
          </a:prstGeom>
          <a:noFill/>
          <a:ln w="44450">
            <a:solidFill>
              <a:srgbClr val="F0C040"/>
            </a:solidFill>
            <a:prstDash val="solid"/>
          </a:ln>
        </p:spPr>
        <p:txBody>
          <a:bodyPr/>
          <a:lstStyle/>
          <a:p>
            <a:endParaRPr lang="en-GB" dirty="0"/>
          </a:p>
        </p:txBody>
      </p:sp>
      <p:sp>
        <p:nvSpPr>
          <p:cNvPr id="54" name="Text 51"/>
          <p:cNvSpPr/>
          <p:nvPr/>
        </p:nvSpPr>
        <p:spPr>
          <a:xfrm>
            <a:off x="8934901" y="4491532"/>
            <a:ext cx="2926080" cy="292608"/>
          </a:xfrm>
          <a:prstGeom prst="rect">
            <a:avLst/>
          </a:prstGeom>
          <a:noFill/>
          <a:ln/>
        </p:spPr>
        <p:txBody>
          <a:bodyPr wrap="square" lIns="50800" tIns="50800" rIns="50800" bIns="50800" rtlCol="0" anchor="ctr"/>
          <a:lstStyle/>
          <a:p>
            <a:pPr marL="0" indent="0" algn="l">
              <a:buNone/>
            </a:pPr>
            <a:r>
              <a:rPr lang="en-US" sz="800" b="1" kern="0" spc="200" dirty="0">
                <a:solidFill>
                  <a:srgbClr val="F0C040"/>
                </a:solidFill>
                <a:latin typeface="Gill Sans MT" pitchFamily="34" charset="0"/>
                <a:ea typeface="Gill Sans MT" pitchFamily="34" charset="-122"/>
                <a:cs typeface="Gill Sans MT" pitchFamily="34" charset="-120"/>
              </a:rPr>
              <a:t>STRUCTURAL PATHS</a:t>
            </a:r>
            <a:endParaRPr lang="en-US" sz="800" dirty="0"/>
          </a:p>
        </p:txBody>
      </p:sp>
      <p:sp>
        <p:nvSpPr>
          <p:cNvPr id="55" name="Shape 52"/>
          <p:cNvSpPr/>
          <p:nvPr/>
        </p:nvSpPr>
        <p:spPr>
          <a:xfrm flipV="1">
            <a:off x="8851392" y="4754880"/>
            <a:ext cx="2697480" cy="23774"/>
          </a:xfrm>
          <a:prstGeom prst="line">
            <a:avLst/>
          </a:prstGeom>
          <a:noFill/>
          <a:ln w="8890">
            <a:solidFill>
              <a:srgbClr val="F0C040">
                <a:alpha val="50000"/>
              </a:srgbClr>
            </a:solidFill>
            <a:prstDash val="solid"/>
          </a:ln>
        </p:spPr>
        <p:txBody>
          <a:bodyPr/>
          <a:lstStyle/>
          <a:p>
            <a:endParaRPr lang="en-GB"/>
          </a:p>
        </p:txBody>
      </p:sp>
      <p:sp>
        <p:nvSpPr>
          <p:cNvPr id="56" name="Text 53"/>
          <p:cNvSpPr/>
          <p:nvPr/>
        </p:nvSpPr>
        <p:spPr>
          <a:xfrm>
            <a:off x="8887968" y="4857292"/>
            <a:ext cx="2907792" cy="402336"/>
          </a:xfrm>
          <a:prstGeom prst="rect">
            <a:avLst/>
          </a:prstGeom>
          <a:noFill/>
          <a:ln/>
        </p:spPr>
        <p:txBody>
          <a:bodyPr wrap="square" rtlCol="0" anchor="ctr"/>
          <a:lstStyle/>
          <a:p>
            <a:pPr marL="0" indent="0">
              <a:buNone/>
            </a:pPr>
            <a:r>
              <a:rPr lang="en-US" sz="800" b="1" dirty="0">
                <a:solidFill>
                  <a:srgbClr val="6DAEDB"/>
                </a:solidFill>
                <a:latin typeface="Gill Sans MT" pitchFamily="34" charset="0"/>
                <a:ea typeface="Gill Sans MT" pitchFamily="34" charset="-122"/>
                <a:cs typeface="Gill Sans MT" pitchFamily="34" charset="-120"/>
              </a:rPr>
              <a:t>ξ₁ → η₁  </a:t>
            </a:r>
            <a:r>
              <a:rPr lang="en-US" sz="800" dirty="0">
                <a:solidFill>
                  <a:srgbClr val="F5F5F0"/>
                </a:solidFill>
                <a:latin typeface="Gill Sans MT" pitchFamily="34" charset="0"/>
                <a:ea typeface="Gill Sans MT" pitchFamily="34" charset="-122"/>
                <a:cs typeface="Gill Sans MT" pitchFamily="34" charset="-120"/>
              </a:rPr>
              <a:t>AI → SC Performance</a:t>
            </a:r>
            <a:endParaRPr lang="en-US" sz="800" dirty="0"/>
          </a:p>
        </p:txBody>
      </p:sp>
      <p:sp>
        <p:nvSpPr>
          <p:cNvPr id="57" name="Text 54"/>
          <p:cNvSpPr/>
          <p:nvPr/>
        </p:nvSpPr>
        <p:spPr>
          <a:xfrm>
            <a:off x="8895432" y="5184648"/>
            <a:ext cx="2907792" cy="402336"/>
          </a:xfrm>
          <a:prstGeom prst="rect">
            <a:avLst/>
          </a:prstGeom>
          <a:noFill/>
          <a:ln/>
        </p:spPr>
        <p:txBody>
          <a:bodyPr wrap="square" rtlCol="0" anchor="ctr"/>
          <a:lstStyle/>
          <a:p>
            <a:pPr marL="0" indent="0">
              <a:buNone/>
            </a:pPr>
            <a:r>
              <a:rPr lang="en-US" sz="800" b="1" dirty="0">
                <a:solidFill>
                  <a:srgbClr val="C9A0E8"/>
                </a:solidFill>
                <a:latin typeface="Gill Sans MT" pitchFamily="34" charset="0"/>
                <a:ea typeface="Gill Sans MT" pitchFamily="34" charset="-122"/>
                <a:cs typeface="Gill Sans MT" pitchFamily="34" charset="-120"/>
              </a:rPr>
              <a:t>ξ₂ → η₁  </a:t>
            </a:r>
            <a:r>
              <a:rPr lang="en-US" sz="800" dirty="0">
                <a:solidFill>
                  <a:srgbClr val="F5F5F0"/>
                </a:solidFill>
                <a:latin typeface="Gill Sans MT" pitchFamily="34" charset="0"/>
                <a:ea typeface="Gill Sans MT" pitchFamily="34" charset="-122"/>
                <a:cs typeface="Gill Sans MT" pitchFamily="34" charset="-120"/>
              </a:rPr>
              <a:t>Institutions → SC</a:t>
            </a:r>
            <a:endParaRPr lang="en-US" sz="800" dirty="0"/>
          </a:p>
        </p:txBody>
      </p:sp>
      <p:sp>
        <p:nvSpPr>
          <p:cNvPr id="58" name="Text 55"/>
          <p:cNvSpPr/>
          <p:nvPr/>
        </p:nvSpPr>
        <p:spPr>
          <a:xfrm>
            <a:off x="8874252" y="5573268"/>
            <a:ext cx="2907792" cy="402336"/>
          </a:xfrm>
          <a:prstGeom prst="rect">
            <a:avLst/>
          </a:prstGeom>
          <a:noFill/>
          <a:ln/>
        </p:spPr>
        <p:txBody>
          <a:bodyPr wrap="square" rtlCol="0" anchor="ctr"/>
          <a:lstStyle/>
          <a:p>
            <a:pPr marL="0" indent="0">
              <a:buNone/>
            </a:pPr>
            <a:r>
              <a:rPr lang="en-US" sz="800" b="1" dirty="0">
                <a:solidFill>
                  <a:srgbClr val="C9A0E8"/>
                </a:solidFill>
                <a:latin typeface="Gill Sans MT" pitchFamily="34" charset="0"/>
                <a:ea typeface="Gill Sans MT" pitchFamily="34" charset="-122"/>
                <a:cs typeface="Gill Sans MT" pitchFamily="34" charset="-120"/>
              </a:rPr>
              <a:t>ξ₁×ξ₂→η₁  </a:t>
            </a:r>
            <a:r>
              <a:rPr lang="en-US" sz="800" dirty="0">
                <a:solidFill>
                  <a:srgbClr val="F5F5F0"/>
                </a:solidFill>
                <a:latin typeface="Gill Sans MT" pitchFamily="34" charset="0"/>
                <a:ea typeface="Gill Sans MT" pitchFamily="34" charset="-122"/>
                <a:cs typeface="Gill Sans MT" pitchFamily="34" charset="-120"/>
              </a:rPr>
              <a:t>Interaction → SC</a:t>
            </a:r>
            <a:endParaRPr lang="en-US" sz="800" dirty="0"/>
          </a:p>
        </p:txBody>
      </p:sp>
      <p:sp>
        <p:nvSpPr>
          <p:cNvPr id="59" name="Text 56"/>
          <p:cNvSpPr/>
          <p:nvPr/>
        </p:nvSpPr>
        <p:spPr>
          <a:xfrm>
            <a:off x="8895432" y="5879592"/>
            <a:ext cx="2907792" cy="402336"/>
          </a:xfrm>
          <a:prstGeom prst="rect">
            <a:avLst/>
          </a:prstGeom>
          <a:noFill/>
          <a:ln/>
        </p:spPr>
        <p:txBody>
          <a:bodyPr wrap="square" rtlCol="0" anchor="ctr"/>
          <a:lstStyle/>
          <a:p>
            <a:pPr marL="0" indent="0">
              <a:buNone/>
            </a:pPr>
            <a:r>
              <a:rPr lang="en-US" sz="800" b="1" dirty="0">
                <a:solidFill>
                  <a:srgbClr val="F47A7A"/>
                </a:solidFill>
                <a:latin typeface="Gill Sans MT" pitchFamily="34" charset="0"/>
                <a:ea typeface="Gill Sans MT" pitchFamily="34" charset="-122"/>
                <a:cs typeface="Gill Sans MT" pitchFamily="34" charset="-120"/>
              </a:rPr>
              <a:t>η₁ → η₂  </a:t>
            </a:r>
            <a:r>
              <a:rPr lang="en-US" sz="800" dirty="0">
                <a:solidFill>
                  <a:srgbClr val="F5F5F0"/>
                </a:solidFill>
                <a:latin typeface="Gill Sans MT" pitchFamily="34" charset="0"/>
                <a:ea typeface="Gill Sans MT" pitchFamily="34" charset="-122"/>
                <a:cs typeface="Gill Sans MT" pitchFamily="34" charset="-120"/>
              </a:rPr>
              <a:t>SC → Economy  </a:t>
            </a:r>
            <a:endParaRPr lang="en-US" sz="800" dirty="0"/>
          </a:p>
        </p:txBody>
      </p:sp>
      <p:sp>
        <p:nvSpPr>
          <p:cNvPr id="60" name="Text 57"/>
          <p:cNvSpPr/>
          <p:nvPr/>
        </p:nvSpPr>
        <p:spPr>
          <a:xfrm>
            <a:off x="8851392" y="6199632"/>
            <a:ext cx="2907792" cy="402336"/>
          </a:xfrm>
          <a:prstGeom prst="rect">
            <a:avLst/>
          </a:prstGeom>
          <a:noFill/>
          <a:ln/>
        </p:spPr>
        <p:txBody>
          <a:bodyPr wrap="square" rtlCol="0" anchor="ctr"/>
          <a:lstStyle/>
          <a:p>
            <a:pPr marL="0" indent="0">
              <a:buNone/>
            </a:pPr>
            <a:r>
              <a:rPr lang="en-US" sz="800" b="1" dirty="0">
                <a:solidFill>
                  <a:srgbClr val="6DAEDB"/>
                </a:solidFill>
                <a:latin typeface="Gill Sans MT" pitchFamily="34" charset="0"/>
                <a:ea typeface="Gill Sans MT" pitchFamily="34" charset="-122"/>
                <a:cs typeface="Gill Sans MT" pitchFamily="34" charset="-120"/>
              </a:rPr>
              <a:t>ξ₁ → η₂  </a:t>
            </a:r>
            <a:r>
              <a:rPr lang="en-US" sz="800" dirty="0">
                <a:solidFill>
                  <a:srgbClr val="F5F5F0"/>
                </a:solidFill>
                <a:latin typeface="Gill Sans MT" pitchFamily="34" charset="0"/>
                <a:ea typeface="Gill Sans MT" pitchFamily="34" charset="-122"/>
                <a:cs typeface="Gill Sans MT" pitchFamily="34" charset="-120"/>
              </a:rPr>
              <a:t>AI → Economy  (direct)</a:t>
            </a:r>
            <a:endParaRPr lang="en-US" sz="800" dirty="0"/>
          </a:p>
        </p:txBody>
      </p:sp>
      <p:sp>
        <p:nvSpPr>
          <p:cNvPr id="61" name="Shape 58"/>
          <p:cNvSpPr/>
          <p:nvPr/>
        </p:nvSpPr>
        <p:spPr>
          <a:xfrm>
            <a:off x="0" y="7088559"/>
            <a:ext cx="12070080" cy="566928"/>
          </a:xfrm>
          <a:prstGeom prst="roundRect">
            <a:avLst>
              <a:gd name="adj" fmla="val 31111"/>
            </a:avLst>
          </a:prstGeom>
          <a:solidFill>
            <a:srgbClr val="030818">
              <a:alpha val="55000"/>
            </a:srgbClr>
          </a:solidFill>
          <a:ln w="3810">
            <a:solidFill>
              <a:srgbClr val="B8C8D8">
                <a:alpha val="15000"/>
              </a:srgbClr>
            </a:solidFill>
            <a:prstDash val="solid"/>
          </a:ln>
          <a:effectLst>
            <a:outerShdw blurRad="190500" dist="63500" dir="2700000" algn="bl" rotWithShape="0">
              <a:srgbClr val="000000">
                <a:alpha val="45000"/>
              </a:srgbClr>
            </a:outerShdw>
          </a:effectLst>
        </p:spPr>
        <p:txBody>
          <a:bodyPr/>
          <a:lstStyle/>
          <a:p>
            <a:endParaRPr lang="en-GB" dirty="0"/>
          </a:p>
        </p:txBody>
      </p:sp>
      <p:sp>
        <p:nvSpPr>
          <p:cNvPr id="62" name="Text 59"/>
          <p:cNvSpPr/>
          <p:nvPr/>
        </p:nvSpPr>
        <p:spPr>
          <a:xfrm>
            <a:off x="472036" y="7209633"/>
            <a:ext cx="11430000" cy="365760"/>
          </a:xfrm>
          <a:prstGeom prst="rect">
            <a:avLst/>
          </a:prstGeom>
          <a:noFill/>
          <a:ln/>
        </p:spPr>
        <p:txBody>
          <a:bodyPr wrap="square" lIns="50800" tIns="50800" rIns="50800" bIns="50800" rtlCol="0" anchor="ctr"/>
          <a:lstStyle/>
          <a:p>
            <a:pPr marL="0" indent="0" algn="ctr">
              <a:buNone/>
            </a:pPr>
            <a:r>
              <a:rPr lang="en-US" sz="900" i="1" dirty="0">
                <a:solidFill>
                  <a:srgbClr val="B8C8D8"/>
                </a:solidFill>
                <a:latin typeface="Gill Sans MT" pitchFamily="34" charset="0"/>
                <a:ea typeface="Gill Sans MT" pitchFamily="34" charset="-122"/>
                <a:cs typeface="Gill Sans MT" pitchFamily="34" charset="-120"/>
              </a:rPr>
              <a:t>All constructs z-score standardised  |  n = 164 countries  |  OLS hierarchical regression</a:t>
            </a:r>
            <a:endParaRPr lang="en-US" sz="900" dirty="0"/>
          </a:p>
        </p:txBody>
      </p:sp>
      <p:sp>
        <p:nvSpPr>
          <p:cNvPr id="63" name="Text 60"/>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6DAEDB"/>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6DAEDB"/>
                </a:solidFill>
                <a:latin typeface="Gill Sans MT" pitchFamily="34" charset="0"/>
                <a:ea typeface="Gill Sans MT" pitchFamily="34" charset="-122"/>
                <a:cs typeface="Gill Sans MT" pitchFamily="34" charset="-120"/>
              </a:rPr>
              <a:t>METHODOLOGY</a:t>
            </a:r>
            <a:endParaRPr lang="en-US" sz="850" dirty="0"/>
          </a:p>
        </p:txBody>
      </p:sp>
      <p:sp>
        <p:nvSpPr>
          <p:cNvPr id="6" name="Text 3"/>
          <p:cNvSpPr/>
          <p:nvPr/>
        </p:nvSpPr>
        <p:spPr>
          <a:xfrm>
            <a:off x="365760" y="347472"/>
            <a:ext cx="8229600" cy="685800"/>
          </a:xfrm>
          <a:prstGeom prst="rect">
            <a:avLst/>
          </a:prstGeom>
          <a:noFill/>
          <a:ln/>
        </p:spPr>
        <p:txBody>
          <a:bodyPr wrap="square" lIns="50800" tIns="50800" rIns="50800" bIns="50800" rtlCol="0" anchor="ctr"/>
          <a:lstStyle/>
          <a:p>
            <a:pPr marL="0" indent="0" algn="l">
              <a:buNone/>
            </a:pPr>
            <a:r>
              <a:rPr lang="en-US" sz="3000" b="1" dirty="0">
                <a:solidFill>
                  <a:srgbClr val="FFFFFF"/>
                </a:solidFill>
                <a:latin typeface="Gill Sans MT" pitchFamily="34" charset="0"/>
                <a:ea typeface="Gill Sans MT" pitchFamily="34" charset="-122"/>
                <a:cs typeface="Gill Sans MT" pitchFamily="34" charset="-120"/>
              </a:rPr>
              <a:t>Research Design</a:t>
            </a:r>
            <a:endParaRPr lang="en-US" sz="3000" dirty="0"/>
          </a:p>
        </p:txBody>
      </p:sp>
      <p:sp>
        <p:nvSpPr>
          <p:cNvPr id="7" name="Shape 4"/>
          <p:cNvSpPr/>
          <p:nvPr/>
        </p:nvSpPr>
        <p:spPr>
          <a:xfrm>
            <a:off x="365760" y="1115568"/>
            <a:ext cx="11430000" cy="0"/>
          </a:xfrm>
          <a:prstGeom prst="line">
            <a:avLst/>
          </a:prstGeom>
          <a:noFill/>
          <a:ln w="19050">
            <a:solidFill>
              <a:srgbClr val="6DAEDB"/>
            </a:solidFill>
            <a:prstDash val="solid"/>
          </a:ln>
        </p:spPr>
        <p:txBody>
          <a:bodyPr/>
          <a:lstStyle/>
          <a:p>
            <a:endParaRPr lang="en-GB"/>
          </a:p>
        </p:txBody>
      </p:sp>
      <p:sp>
        <p:nvSpPr>
          <p:cNvPr id="8" name="Shape 5"/>
          <p:cNvSpPr/>
          <p:nvPr/>
        </p:nvSpPr>
        <p:spPr>
          <a:xfrm>
            <a:off x="365760" y="1298448"/>
            <a:ext cx="7086600" cy="2121408"/>
          </a:xfrm>
          <a:prstGeom prst="roundRect">
            <a:avLst>
              <a:gd name="adj" fmla="val 6034"/>
            </a:avLst>
          </a:prstGeom>
          <a:solidFill>
            <a:srgbClr val="040C1A">
              <a:alpha val="62000"/>
            </a:srgbClr>
          </a:solidFill>
          <a:ln w="10160">
            <a:solidFill>
              <a:srgbClr val="6DAEDB">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365760" y="1298448"/>
            <a:ext cx="0" cy="2121408"/>
          </a:xfrm>
          <a:prstGeom prst="line">
            <a:avLst/>
          </a:prstGeom>
          <a:noFill/>
          <a:ln w="50800">
            <a:solidFill>
              <a:srgbClr val="6DAEDB"/>
            </a:solidFill>
            <a:prstDash val="solid"/>
          </a:ln>
        </p:spPr>
        <p:txBody>
          <a:bodyPr/>
          <a:lstStyle/>
          <a:p>
            <a:endParaRPr lang="en-GB"/>
          </a:p>
        </p:txBody>
      </p:sp>
      <p:sp>
        <p:nvSpPr>
          <p:cNvPr id="10" name="Text 7"/>
          <p:cNvSpPr/>
          <p:nvPr/>
        </p:nvSpPr>
        <p:spPr>
          <a:xfrm>
            <a:off x="621792" y="1408176"/>
            <a:ext cx="6675120" cy="1883664"/>
          </a:xfrm>
          <a:prstGeom prst="rect">
            <a:avLst/>
          </a:prstGeom>
          <a:noFill/>
          <a:ln/>
        </p:spPr>
        <p:txBody>
          <a:bodyPr wrap="square" lIns="50800" tIns="50800" rIns="50800" bIns="50800" rtlCol="0" anchor="t"/>
          <a:lstStyle/>
          <a:p>
            <a:pPr marL="0" indent="0" algn="l">
              <a:buNone/>
            </a:pPr>
            <a:r>
              <a:rPr lang="en-US" sz="1250" dirty="0">
                <a:solidFill>
                  <a:srgbClr val="F5F5F0"/>
                </a:solidFill>
                <a:latin typeface="Gill Sans MT" pitchFamily="34" charset="0"/>
                <a:ea typeface="Gill Sans MT" pitchFamily="34" charset="-122"/>
                <a:cs typeface="Gill Sans MT" pitchFamily="34" charset="-120"/>
              </a:rPr>
              <a:t>A cross-national post-positivist pilot study drawing on secondary macro-level data from five open-access databases. Constructs are operationalised as z-standardised composites across 164 countries, estimated via OLS hierarchical regression — a deliberate pilot approximation of full latent-variable SEM — to validate structural relationships prior to full-scale Amos estimation.</a:t>
            </a:r>
            <a:endParaRPr lang="en-US" sz="1250" dirty="0"/>
          </a:p>
        </p:txBody>
      </p:sp>
      <p:sp>
        <p:nvSpPr>
          <p:cNvPr id="11" name="Shape 8"/>
          <p:cNvSpPr/>
          <p:nvPr/>
        </p:nvSpPr>
        <p:spPr>
          <a:xfrm>
            <a:off x="7662672" y="1316736"/>
            <a:ext cx="2121408" cy="950976"/>
          </a:xfrm>
          <a:prstGeom prst="roundRect">
            <a:avLst>
              <a:gd name="adj" fmla="val 11538"/>
            </a:avLst>
          </a:prstGeom>
          <a:solidFill>
            <a:srgbClr val="04080E">
              <a:alpha val="60000"/>
            </a:srgbClr>
          </a:solidFill>
          <a:ln w="10160">
            <a:solidFill>
              <a:srgbClr val="4ECDC4">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2" name="Text 9"/>
          <p:cNvSpPr/>
          <p:nvPr/>
        </p:nvSpPr>
        <p:spPr>
          <a:xfrm>
            <a:off x="7790688" y="1371600"/>
            <a:ext cx="1883664" cy="457200"/>
          </a:xfrm>
          <a:prstGeom prst="rect">
            <a:avLst/>
          </a:prstGeom>
          <a:noFill/>
          <a:ln/>
        </p:spPr>
        <p:txBody>
          <a:bodyPr wrap="square" lIns="50800" tIns="50800" rIns="50800" bIns="50800" rtlCol="0" anchor="ctr"/>
          <a:lstStyle/>
          <a:p>
            <a:pPr marL="0" indent="0" algn="l">
              <a:buNone/>
            </a:pPr>
            <a:r>
              <a:rPr lang="en-US" sz="1450" b="1" dirty="0">
                <a:solidFill>
                  <a:srgbClr val="4ECDC4"/>
                </a:solidFill>
                <a:latin typeface="Gill Sans MT" pitchFamily="34" charset="0"/>
                <a:ea typeface="Gill Sans MT" pitchFamily="34" charset="-122"/>
                <a:cs typeface="Gill Sans MT" pitchFamily="34" charset="-120"/>
              </a:rPr>
              <a:t>164 Countries</a:t>
            </a:r>
            <a:endParaRPr lang="en-US" sz="1450" dirty="0"/>
          </a:p>
        </p:txBody>
      </p:sp>
      <p:sp>
        <p:nvSpPr>
          <p:cNvPr id="13" name="Text 10"/>
          <p:cNvSpPr/>
          <p:nvPr/>
        </p:nvSpPr>
        <p:spPr>
          <a:xfrm>
            <a:off x="7790688" y="1828800"/>
            <a:ext cx="1883664" cy="329184"/>
          </a:xfrm>
          <a:prstGeom prst="rect">
            <a:avLst/>
          </a:prstGeom>
          <a:noFill/>
          <a:ln/>
        </p:spPr>
        <p:txBody>
          <a:bodyPr wrap="square" lIns="50800" tIns="50800" rIns="50800" bIns="50800" rtlCol="0" anchor="ctr"/>
          <a:lstStyle/>
          <a:p>
            <a:pPr marL="0" indent="0" algn="l">
              <a:buNone/>
            </a:pPr>
            <a:r>
              <a:rPr lang="en-US" sz="950" i="1" dirty="0">
                <a:solidFill>
                  <a:srgbClr val="B8C8D8"/>
                </a:solidFill>
                <a:latin typeface="Gill Sans MT" pitchFamily="34" charset="0"/>
                <a:ea typeface="Gill Sans MT" pitchFamily="34" charset="-122"/>
                <a:cs typeface="Gill Sans MT" pitchFamily="34" charset="-120"/>
              </a:rPr>
              <a:t>Cross-national scope</a:t>
            </a:r>
            <a:endParaRPr lang="en-US" sz="950" dirty="0"/>
          </a:p>
        </p:txBody>
      </p:sp>
      <p:sp>
        <p:nvSpPr>
          <p:cNvPr id="14" name="Shape 11"/>
          <p:cNvSpPr/>
          <p:nvPr/>
        </p:nvSpPr>
        <p:spPr>
          <a:xfrm>
            <a:off x="9912096" y="1316736"/>
            <a:ext cx="2121408" cy="950976"/>
          </a:xfrm>
          <a:prstGeom prst="roundRect">
            <a:avLst>
              <a:gd name="adj" fmla="val 11538"/>
            </a:avLst>
          </a:prstGeom>
          <a:solidFill>
            <a:srgbClr val="04080E">
              <a:alpha val="60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5" name="Text 12"/>
          <p:cNvSpPr/>
          <p:nvPr/>
        </p:nvSpPr>
        <p:spPr>
          <a:xfrm>
            <a:off x="10040112" y="1371600"/>
            <a:ext cx="1883664" cy="457200"/>
          </a:xfrm>
          <a:prstGeom prst="rect">
            <a:avLst/>
          </a:prstGeom>
          <a:noFill/>
          <a:ln/>
        </p:spPr>
        <p:txBody>
          <a:bodyPr wrap="square" lIns="50800" tIns="50800" rIns="50800" bIns="50800" rtlCol="0" anchor="ctr"/>
          <a:lstStyle/>
          <a:p>
            <a:pPr marL="0" indent="0" algn="l">
              <a:buNone/>
            </a:pPr>
            <a:r>
              <a:rPr lang="en-US" sz="1450" b="1" dirty="0">
                <a:solidFill>
                  <a:srgbClr val="6DAEDB"/>
                </a:solidFill>
                <a:latin typeface="Gill Sans MT" pitchFamily="34" charset="0"/>
                <a:ea typeface="Gill Sans MT" pitchFamily="34" charset="-122"/>
                <a:cs typeface="Gill Sans MT" pitchFamily="34" charset="-120"/>
              </a:rPr>
              <a:t>5 Databases</a:t>
            </a:r>
            <a:endParaRPr lang="en-US" sz="1450" dirty="0"/>
          </a:p>
        </p:txBody>
      </p:sp>
      <p:sp>
        <p:nvSpPr>
          <p:cNvPr id="16" name="Text 13"/>
          <p:cNvSpPr/>
          <p:nvPr/>
        </p:nvSpPr>
        <p:spPr>
          <a:xfrm>
            <a:off x="10040112" y="1828800"/>
            <a:ext cx="1883664" cy="329184"/>
          </a:xfrm>
          <a:prstGeom prst="rect">
            <a:avLst/>
          </a:prstGeom>
          <a:noFill/>
          <a:ln/>
        </p:spPr>
        <p:txBody>
          <a:bodyPr wrap="square" lIns="50800" tIns="50800" rIns="50800" bIns="50800" rtlCol="0" anchor="ctr"/>
          <a:lstStyle/>
          <a:p>
            <a:pPr marL="0" indent="0" algn="l">
              <a:buNone/>
            </a:pPr>
            <a:r>
              <a:rPr lang="en-US" sz="800" i="1" dirty="0">
                <a:solidFill>
                  <a:srgbClr val="B8C8D8"/>
                </a:solidFill>
                <a:latin typeface="Gill Sans MT" pitchFamily="34" charset="0"/>
                <a:ea typeface="Gill Sans MT" pitchFamily="34" charset="-122"/>
                <a:cs typeface="Gill Sans MT" pitchFamily="34" charset="-120"/>
              </a:rPr>
              <a:t>Oxford · ITU· WB-LPI · WB-WGI </a:t>
            </a:r>
            <a:r>
              <a:rPr lang="en-US" sz="800" i="1" dirty="0" err="1">
                <a:solidFill>
                  <a:srgbClr val="B8C8D8"/>
                </a:solidFill>
                <a:latin typeface="Gill Sans MT" pitchFamily="34" charset="0"/>
                <a:ea typeface="Gill Sans MT" pitchFamily="34" charset="-122"/>
                <a:cs typeface="Gill Sans MT" pitchFamily="34" charset="-120"/>
              </a:rPr>
              <a:t>WB-WGI</a:t>
            </a:r>
            <a:endParaRPr lang="en-US" sz="800" dirty="0"/>
          </a:p>
        </p:txBody>
      </p:sp>
      <p:sp>
        <p:nvSpPr>
          <p:cNvPr id="17" name="Shape 14"/>
          <p:cNvSpPr/>
          <p:nvPr/>
        </p:nvSpPr>
        <p:spPr>
          <a:xfrm>
            <a:off x="7662672" y="2414016"/>
            <a:ext cx="2121408" cy="950976"/>
          </a:xfrm>
          <a:prstGeom prst="roundRect">
            <a:avLst>
              <a:gd name="adj" fmla="val 11538"/>
            </a:avLst>
          </a:prstGeom>
          <a:solidFill>
            <a:srgbClr val="04080E">
              <a:alpha val="60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Text 15"/>
          <p:cNvSpPr/>
          <p:nvPr/>
        </p:nvSpPr>
        <p:spPr>
          <a:xfrm>
            <a:off x="7790688" y="2468880"/>
            <a:ext cx="1883664" cy="457200"/>
          </a:xfrm>
          <a:prstGeom prst="rect">
            <a:avLst/>
          </a:prstGeom>
          <a:noFill/>
          <a:ln/>
        </p:spPr>
        <p:txBody>
          <a:bodyPr wrap="square" lIns="50800" tIns="50800" rIns="50800" bIns="50800" rtlCol="0" anchor="ctr"/>
          <a:lstStyle/>
          <a:p>
            <a:pPr marL="0" indent="0" algn="l">
              <a:buNone/>
            </a:pPr>
            <a:r>
              <a:rPr lang="en-US" sz="1450" b="1" dirty="0">
                <a:solidFill>
                  <a:srgbClr val="F0C040"/>
                </a:solidFill>
                <a:latin typeface="Gill Sans MT" pitchFamily="34" charset="0"/>
                <a:ea typeface="Gill Sans MT" pitchFamily="34" charset="-122"/>
                <a:cs typeface="Gill Sans MT" pitchFamily="34" charset="-120"/>
              </a:rPr>
              <a:t>2022 – 23</a:t>
            </a:r>
            <a:endParaRPr lang="en-US" sz="1450" dirty="0"/>
          </a:p>
        </p:txBody>
      </p:sp>
      <p:sp>
        <p:nvSpPr>
          <p:cNvPr id="19" name="Text 16"/>
          <p:cNvSpPr/>
          <p:nvPr/>
        </p:nvSpPr>
        <p:spPr>
          <a:xfrm>
            <a:off x="7790688" y="2926080"/>
            <a:ext cx="1883664" cy="329184"/>
          </a:xfrm>
          <a:prstGeom prst="rect">
            <a:avLst/>
          </a:prstGeom>
          <a:noFill/>
          <a:ln/>
        </p:spPr>
        <p:txBody>
          <a:bodyPr wrap="square" lIns="50800" tIns="50800" rIns="50800" bIns="50800" rtlCol="0" anchor="ctr"/>
          <a:lstStyle/>
          <a:p>
            <a:pPr marL="0" indent="0" algn="l">
              <a:buNone/>
            </a:pPr>
            <a:r>
              <a:rPr lang="en-US" sz="950" i="1" dirty="0">
                <a:solidFill>
                  <a:srgbClr val="B8C8D8"/>
                </a:solidFill>
                <a:latin typeface="Gill Sans MT" pitchFamily="34" charset="0"/>
                <a:ea typeface="Gill Sans MT" pitchFamily="34" charset="-122"/>
                <a:cs typeface="Gill Sans MT" pitchFamily="34" charset="-120"/>
              </a:rPr>
              <a:t>Cross-sectional horizon</a:t>
            </a:r>
            <a:endParaRPr lang="en-US" sz="950" dirty="0"/>
          </a:p>
        </p:txBody>
      </p:sp>
      <p:sp>
        <p:nvSpPr>
          <p:cNvPr id="20" name="Shape 17"/>
          <p:cNvSpPr/>
          <p:nvPr/>
        </p:nvSpPr>
        <p:spPr>
          <a:xfrm>
            <a:off x="9912096" y="2414016"/>
            <a:ext cx="2121408" cy="950976"/>
          </a:xfrm>
          <a:prstGeom prst="roundRect">
            <a:avLst>
              <a:gd name="adj" fmla="val 11538"/>
            </a:avLst>
          </a:prstGeom>
          <a:solidFill>
            <a:srgbClr val="04080E">
              <a:alpha val="60000"/>
            </a:srgbClr>
          </a:solidFill>
          <a:ln w="10160">
            <a:solidFill>
              <a:srgbClr val="FFB347">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1" name="Text 18"/>
          <p:cNvSpPr/>
          <p:nvPr/>
        </p:nvSpPr>
        <p:spPr>
          <a:xfrm>
            <a:off x="10040112" y="2468880"/>
            <a:ext cx="1883664" cy="457200"/>
          </a:xfrm>
          <a:prstGeom prst="rect">
            <a:avLst/>
          </a:prstGeom>
          <a:noFill/>
          <a:ln/>
        </p:spPr>
        <p:txBody>
          <a:bodyPr wrap="square" lIns="50800" tIns="50800" rIns="50800" bIns="50800" rtlCol="0" anchor="ctr"/>
          <a:lstStyle/>
          <a:p>
            <a:pPr marL="0" indent="0" algn="l">
              <a:buNone/>
            </a:pPr>
            <a:r>
              <a:rPr lang="en-US" sz="1450" b="1" dirty="0">
                <a:solidFill>
                  <a:srgbClr val="FFB347"/>
                </a:solidFill>
                <a:latin typeface="Gill Sans MT" pitchFamily="34" charset="0"/>
                <a:ea typeface="Gill Sans MT" pitchFamily="34" charset="-122"/>
                <a:cs typeface="Gill Sans MT" pitchFamily="34" charset="-120"/>
              </a:rPr>
              <a:t>IBM SPSS v29</a:t>
            </a:r>
            <a:endParaRPr lang="en-US" sz="1450" dirty="0"/>
          </a:p>
        </p:txBody>
      </p:sp>
      <p:sp>
        <p:nvSpPr>
          <p:cNvPr id="22" name="Text 19"/>
          <p:cNvSpPr/>
          <p:nvPr/>
        </p:nvSpPr>
        <p:spPr>
          <a:xfrm>
            <a:off x="10040112" y="2926080"/>
            <a:ext cx="1883664" cy="329184"/>
          </a:xfrm>
          <a:prstGeom prst="rect">
            <a:avLst/>
          </a:prstGeom>
          <a:noFill/>
          <a:ln/>
        </p:spPr>
        <p:txBody>
          <a:bodyPr wrap="square" lIns="50800" tIns="50800" rIns="50800" bIns="50800" rtlCol="0" anchor="ctr"/>
          <a:lstStyle/>
          <a:p>
            <a:pPr marL="0" indent="0" algn="l">
              <a:buNone/>
            </a:pPr>
            <a:r>
              <a:rPr lang="en-US" sz="950" i="1" dirty="0">
                <a:solidFill>
                  <a:srgbClr val="B8C8D8"/>
                </a:solidFill>
                <a:latin typeface="Gill Sans MT" pitchFamily="34" charset="0"/>
                <a:ea typeface="Gill Sans MT" pitchFamily="34" charset="-122"/>
                <a:cs typeface="Gill Sans MT" pitchFamily="34" charset="-120"/>
              </a:rPr>
              <a:t>+ Python pipeline</a:t>
            </a:r>
            <a:endParaRPr lang="en-US" sz="950" dirty="0"/>
          </a:p>
        </p:txBody>
      </p:sp>
      <p:sp>
        <p:nvSpPr>
          <p:cNvPr id="23" name="Shape 20"/>
          <p:cNvSpPr/>
          <p:nvPr/>
        </p:nvSpPr>
        <p:spPr>
          <a:xfrm>
            <a:off x="365760" y="3639312"/>
            <a:ext cx="2834640" cy="2423160"/>
          </a:xfrm>
          <a:prstGeom prst="roundRect">
            <a:avLst>
              <a:gd name="adj" fmla="val 4528"/>
            </a:avLst>
          </a:prstGeom>
          <a:solidFill>
            <a:srgbClr val="040810">
              <a:alpha val="58000"/>
            </a:srgbClr>
          </a:solidFill>
          <a:ln w="7620">
            <a:solidFill>
              <a:srgbClr val="6DAEDB">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Shape 21"/>
          <p:cNvSpPr/>
          <p:nvPr/>
        </p:nvSpPr>
        <p:spPr>
          <a:xfrm>
            <a:off x="365760" y="3639312"/>
            <a:ext cx="2834640" cy="475488"/>
          </a:xfrm>
          <a:prstGeom prst="roundRect">
            <a:avLst>
              <a:gd name="adj" fmla="val 23077"/>
            </a:avLst>
          </a:prstGeom>
          <a:solidFill>
            <a:srgbClr val="6DAEDB">
              <a:alpha val="35000"/>
            </a:srgbClr>
          </a:solidFill>
          <a:ln w="12700">
            <a:solidFill>
              <a:srgbClr val="6DAEDB"/>
            </a:solidFill>
            <a:prstDash val="solid"/>
          </a:ln>
        </p:spPr>
        <p:txBody>
          <a:bodyPr/>
          <a:lstStyle/>
          <a:p>
            <a:endParaRPr lang="en-GB"/>
          </a:p>
        </p:txBody>
      </p:sp>
      <p:sp>
        <p:nvSpPr>
          <p:cNvPr id="25" name="Text 22"/>
          <p:cNvSpPr/>
          <p:nvPr/>
        </p:nvSpPr>
        <p:spPr>
          <a:xfrm>
            <a:off x="502920"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PHILOSOPHY</a:t>
            </a:r>
            <a:endParaRPr lang="en-US" sz="900" dirty="0"/>
          </a:p>
        </p:txBody>
      </p:sp>
      <p:sp>
        <p:nvSpPr>
          <p:cNvPr id="26" name="Text 23"/>
          <p:cNvSpPr/>
          <p:nvPr/>
        </p:nvSpPr>
        <p:spPr>
          <a:xfrm>
            <a:off x="502920"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6DAEDB"/>
                </a:solidFill>
                <a:latin typeface="Gill Sans MT" pitchFamily="34" charset="0"/>
                <a:ea typeface="Gill Sans MT" pitchFamily="34" charset="-122"/>
                <a:cs typeface="Gill Sans MT" pitchFamily="34" charset="-120"/>
              </a:rPr>
              <a:t>Post-Positivist</a:t>
            </a:r>
            <a:endParaRPr lang="en-US" sz="1550" dirty="0"/>
          </a:p>
        </p:txBody>
      </p:sp>
      <p:sp>
        <p:nvSpPr>
          <p:cNvPr id="27" name="Shape 24"/>
          <p:cNvSpPr/>
          <p:nvPr/>
        </p:nvSpPr>
        <p:spPr>
          <a:xfrm>
            <a:off x="502920" y="4791456"/>
            <a:ext cx="2560320" cy="0"/>
          </a:xfrm>
          <a:prstGeom prst="line">
            <a:avLst/>
          </a:prstGeom>
          <a:noFill/>
          <a:ln w="19050">
            <a:solidFill>
              <a:srgbClr val="6DAEDB"/>
            </a:solidFill>
            <a:prstDash val="solid"/>
          </a:ln>
        </p:spPr>
        <p:txBody>
          <a:bodyPr/>
          <a:lstStyle/>
          <a:p>
            <a:endParaRPr lang="en-GB"/>
          </a:p>
        </p:txBody>
      </p:sp>
      <p:sp>
        <p:nvSpPr>
          <p:cNvPr id="28" name="Text 25"/>
          <p:cNvSpPr/>
          <p:nvPr/>
        </p:nvSpPr>
        <p:spPr>
          <a:xfrm>
            <a:off x="502920"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Objective reality · latent constructs · proxy variables</a:t>
            </a:r>
            <a:endParaRPr lang="en-US" sz="1100" dirty="0"/>
          </a:p>
        </p:txBody>
      </p:sp>
      <p:sp>
        <p:nvSpPr>
          <p:cNvPr id="29" name="Shape 26"/>
          <p:cNvSpPr/>
          <p:nvPr/>
        </p:nvSpPr>
        <p:spPr>
          <a:xfrm>
            <a:off x="3310128" y="3639312"/>
            <a:ext cx="2834640" cy="2423160"/>
          </a:xfrm>
          <a:prstGeom prst="roundRect">
            <a:avLst>
              <a:gd name="adj" fmla="val 4528"/>
            </a:avLst>
          </a:prstGeom>
          <a:solidFill>
            <a:srgbClr val="040810">
              <a:alpha val="58000"/>
            </a:srgbClr>
          </a:solidFill>
          <a:ln w="7620">
            <a:solidFill>
              <a:srgbClr val="4ECDC4">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0" name="Shape 27"/>
          <p:cNvSpPr/>
          <p:nvPr/>
        </p:nvSpPr>
        <p:spPr>
          <a:xfrm>
            <a:off x="3310128" y="3639312"/>
            <a:ext cx="2834640" cy="475488"/>
          </a:xfrm>
          <a:prstGeom prst="roundRect">
            <a:avLst>
              <a:gd name="adj" fmla="val 23077"/>
            </a:avLst>
          </a:prstGeom>
          <a:solidFill>
            <a:srgbClr val="4ECDC4">
              <a:alpha val="35000"/>
            </a:srgbClr>
          </a:solidFill>
          <a:ln w="12700">
            <a:solidFill>
              <a:srgbClr val="4ECDC4"/>
            </a:solidFill>
            <a:prstDash val="solid"/>
          </a:ln>
        </p:spPr>
        <p:txBody>
          <a:bodyPr/>
          <a:lstStyle/>
          <a:p>
            <a:endParaRPr lang="en-GB"/>
          </a:p>
        </p:txBody>
      </p:sp>
      <p:sp>
        <p:nvSpPr>
          <p:cNvPr id="31" name="Text 28"/>
          <p:cNvSpPr/>
          <p:nvPr/>
        </p:nvSpPr>
        <p:spPr>
          <a:xfrm>
            <a:off x="3447288"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APPROACH</a:t>
            </a:r>
            <a:endParaRPr lang="en-US" sz="900" dirty="0"/>
          </a:p>
        </p:txBody>
      </p:sp>
      <p:sp>
        <p:nvSpPr>
          <p:cNvPr id="32" name="Text 29"/>
          <p:cNvSpPr/>
          <p:nvPr/>
        </p:nvSpPr>
        <p:spPr>
          <a:xfrm>
            <a:off x="3447288"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4ECDC4"/>
                </a:solidFill>
                <a:latin typeface="Gill Sans MT" pitchFamily="34" charset="0"/>
                <a:ea typeface="Gill Sans MT" pitchFamily="34" charset="-122"/>
                <a:cs typeface="Gill Sans MT" pitchFamily="34" charset="-120"/>
              </a:rPr>
              <a:t>Deductive</a:t>
            </a:r>
            <a:endParaRPr lang="en-US" sz="1550" dirty="0"/>
          </a:p>
        </p:txBody>
      </p:sp>
      <p:sp>
        <p:nvSpPr>
          <p:cNvPr id="33" name="Shape 30"/>
          <p:cNvSpPr/>
          <p:nvPr/>
        </p:nvSpPr>
        <p:spPr>
          <a:xfrm>
            <a:off x="3447288" y="4791456"/>
            <a:ext cx="2560320" cy="0"/>
          </a:xfrm>
          <a:prstGeom prst="line">
            <a:avLst/>
          </a:prstGeom>
          <a:noFill/>
          <a:ln w="19050">
            <a:solidFill>
              <a:srgbClr val="4ECDC4"/>
            </a:solidFill>
            <a:prstDash val="solid"/>
          </a:ln>
        </p:spPr>
        <p:txBody>
          <a:bodyPr/>
          <a:lstStyle/>
          <a:p>
            <a:endParaRPr lang="en-GB"/>
          </a:p>
        </p:txBody>
      </p:sp>
      <p:sp>
        <p:nvSpPr>
          <p:cNvPr id="34" name="Text 31"/>
          <p:cNvSpPr/>
          <p:nvPr/>
        </p:nvSpPr>
        <p:spPr>
          <a:xfrm>
            <a:off x="3447288"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Theory → Hypotheses → Empirical test → Revision</a:t>
            </a:r>
            <a:endParaRPr lang="en-US" sz="1100" dirty="0"/>
          </a:p>
        </p:txBody>
      </p:sp>
      <p:sp>
        <p:nvSpPr>
          <p:cNvPr id="35" name="Shape 32"/>
          <p:cNvSpPr/>
          <p:nvPr/>
        </p:nvSpPr>
        <p:spPr>
          <a:xfrm>
            <a:off x="6254496" y="3639312"/>
            <a:ext cx="2834640" cy="2423160"/>
          </a:xfrm>
          <a:prstGeom prst="roundRect">
            <a:avLst>
              <a:gd name="adj" fmla="val 4528"/>
            </a:avLst>
          </a:prstGeom>
          <a:solidFill>
            <a:srgbClr val="040810">
              <a:alpha val="58000"/>
            </a:srgbClr>
          </a:solidFill>
          <a:ln w="7620">
            <a:solidFill>
              <a:srgbClr val="56D68A">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6" name="Shape 33"/>
          <p:cNvSpPr/>
          <p:nvPr/>
        </p:nvSpPr>
        <p:spPr>
          <a:xfrm>
            <a:off x="6254496" y="3639312"/>
            <a:ext cx="2834640" cy="475488"/>
          </a:xfrm>
          <a:prstGeom prst="roundRect">
            <a:avLst>
              <a:gd name="adj" fmla="val 23077"/>
            </a:avLst>
          </a:prstGeom>
          <a:solidFill>
            <a:srgbClr val="56D68A">
              <a:alpha val="35000"/>
            </a:srgbClr>
          </a:solidFill>
          <a:ln w="12700">
            <a:solidFill>
              <a:srgbClr val="56D68A"/>
            </a:solidFill>
            <a:prstDash val="solid"/>
          </a:ln>
        </p:spPr>
        <p:txBody>
          <a:bodyPr/>
          <a:lstStyle/>
          <a:p>
            <a:endParaRPr lang="en-GB"/>
          </a:p>
        </p:txBody>
      </p:sp>
      <p:sp>
        <p:nvSpPr>
          <p:cNvPr id="37" name="Text 34"/>
          <p:cNvSpPr/>
          <p:nvPr/>
        </p:nvSpPr>
        <p:spPr>
          <a:xfrm>
            <a:off x="6391656"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STRATEGY</a:t>
            </a:r>
            <a:endParaRPr lang="en-US" sz="900" dirty="0"/>
          </a:p>
        </p:txBody>
      </p:sp>
      <p:sp>
        <p:nvSpPr>
          <p:cNvPr id="38" name="Text 35"/>
          <p:cNvSpPr/>
          <p:nvPr/>
        </p:nvSpPr>
        <p:spPr>
          <a:xfrm>
            <a:off x="6391656"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56D68A"/>
                </a:solidFill>
                <a:latin typeface="Gill Sans MT" pitchFamily="34" charset="0"/>
                <a:ea typeface="Gill Sans MT" pitchFamily="34" charset="-122"/>
                <a:cs typeface="Gill Sans MT" pitchFamily="34" charset="-120"/>
              </a:rPr>
              <a:t>Comparative SEM</a:t>
            </a:r>
            <a:endParaRPr lang="en-US" sz="1550" dirty="0"/>
          </a:p>
        </p:txBody>
      </p:sp>
      <p:sp>
        <p:nvSpPr>
          <p:cNvPr id="39" name="Shape 36"/>
          <p:cNvSpPr/>
          <p:nvPr/>
        </p:nvSpPr>
        <p:spPr>
          <a:xfrm>
            <a:off x="6391656" y="4791456"/>
            <a:ext cx="2560320" cy="0"/>
          </a:xfrm>
          <a:prstGeom prst="line">
            <a:avLst/>
          </a:prstGeom>
          <a:noFill/>
          <a:ln w="19050">
            <a:solidFill>
              <a:srgbClr val="56D68A"/>
            </a:solidFill>
            <a:prstDash val="solid"/>
          </a:ln>
        </p:spPr>
        <p:txBody>
          <a:bodyPr/>
          <a:lstStyle/>
          <a:p>
            <a:endParaRPr lang="en-GB"/>
          </a:p>
        </p:txBody>
      </p:sp>
      <p:sp>
        <p:nvSpPr>
          <p:cNvPr id="40" name="Text 37"/>
          <p:cNvSpPr/>
          <p:nvPr/>
        </p:nvSpPr>
        <p:spPr>
          <a:xfrm>
            <a:off x="6391656"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Structural paths across heterogeneous national contexts</a:t>
            </a:r>
            <a:endParaRPr lang="en-US" sz="1100" dirty="0"/>
          </a:p>
        </p:txBody>
      </p:sp>
      <p:sp>
        <p:nvSpPr>
          <p:cNvPr id="41" name="Shape 38"/>
          <p:cNvSpPr/>
          <p:nvPr/>
        </p:nvSpPr>
        <p:spPr>
          <a:xfrm>
            <a:off x="9198864" y="3639312"/>
            <a:ext cx="2834640" cy="2423160"/>
          </a:xfrm>
          <a:prstGeom prst="roundRect">
            <a:avLst>
              <a:gd name="adj" fmla="val 4528"/>
            </a:avLst>
          </a:prstGeom>
          <a:solidFill>
            <a:srgbClr val="040810">
              <a:alpha val="58000"/>
            </a:srgbClr>
          </a:solidFill>
          <a:ln w="7620">
            <a:solidFill>
              <a:srgbClr val="F0C040">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2" name="Shape 39"/>
          <p:cNvSpPr/>
          <p:nvPr/>
        </p:nvSpPr>
        <p:spPr>
          <a:xfrm>
            <a:off x="9198864" y="3639312"/>
            <a:ext cx="2834640" cy="475488"/>
          </a:xfrm>
          <a:prstGeom prst="roundRect">
            <a:avLst>
              <a:gd name="adj" fmla="val 23077"/>
            </a:avLst>
          </a:prstGeom>
          <a:solidFill>
            <a:srgbClr val="F0C040">
              <a:alpha val="35000"/>
            </a:srgbClr>
          </a:solidFill>
          <a:ln w="12700">
            <a:solidFill>
              <a:srgbClr val="F0C040"/>
            </a:solidFill>
            <a:prstDash val="solid"/>
          </a:ln>
        </p:spPr>
        <p:txBody>
          <a:bodyPr/>
          <a:lstStyle/>
          <a:p>
            <a:endParaRPr lang="en-GB"/>
          </a:p>
        </p:txBody>
      </p:sp>
      <p:sp>
        <p:nvSpPr>
          <p:cNvPr id="43" name="Text 40"/>
          <p:cNvSpPr/>
          <p:nvPr/>
        </p:nvSpPr>
        <p:spPr>
          <a:xfrm>
            <a:off x="9336024"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DATA</a:t>
            </a:r>
            <a:endParaRPr lang="en-US" sz="900" dirty="0"/>
          </a:p>
        </p:txBody>
      </p:sp>
      <p:sp>
        <p:nvSpPr>
          <p:cNvPr id="44" name="Text 41"/>
          <p:cNvSpPr/>
          <p:nvPr/>
        </p:nvSpPr>
        <p:spPr>
          <a:xfrm>
            <a:off x="9336024"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F0C040"/>
                </a:solidFill>
                <a:latin typeface="Gill Sans MT" pitchFamily="34" charset="0"/>
                <a:ea typeface="Gill Sans MT" pitchFamily="34" charset="-122"/>
                <a:cs typeface="Gill Sans MT" pitchFamily="34" charset="-120"/>
              </a:rPr>
              <a:t>Secondary Macro</a:t>
            </a:r>
            <a:endParaRPr lang="en-US" sz="1550" dirty="0"/>
          </a:p>
        </p:txBody>
      </p:sp>
      <p:sp>
        <p:nvSpPr>
          <p:cNvPr id="45" name="Shape 42"/>
          <p:cNvSpPr/>
          <p:nvPr/>
        </p:nvSpPr>
        <p:spPr>
          <a:xfrm>
            <a:off x="9336024" y="4791456"/>
            <a:ext cx="2560320" cy="0"/>
          </a:xfrm>
          <a:prstGeom prst="line">
            <a:avLst/>
          </a:prstGeom>
          <a:noFill/>
          <a:ln w="19050">
            <a:solidFill>
              <a:srgbClr val="F0C040"/>
            </a:solidFill>
            <a:prstDash val="solid"/>
          </a:ln>
        </p:spPr>
        <p:txBody>
          <a:bodyPr/>
          <a:lstStyle/>
          <a:p>
            <a:endParaRPr lang="en-GB"/>
          </a:p>
        </p:txBody>
      </p:sp>
      <p:sp>
        <p:nvSpPr>
          <p:cNvPr id="46" name="Text 43"/>
          <p:cNvSpPr/>
          <p:nvPr/>
        </p:nvSpPr>
        <p:spPr>
          <a:xfrm>
            <a:off x="9336024"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Open-access · 48 variables · Harmonised composites</a:t>
            </a:r>
            <a:endParaRPr lang="en-US" sz="1100" dirty="0"/>
          </a:p>
        </p:txBody>
      </p:sp>
      <p:sp>
        <p:nvSpPr>
          <p:cNvPr id="47" name="Text 44"/>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FFB347"/>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FFB347"/>
                </a:solidFill>
                <a:latin typeface="Gill Sans MT" pitchFamily="34" charset="0"/>
                <a:ea typeface="Gill Sans MT" pitchFamily="34" charset="-122"/>
                <a:cs typeface="Gill Sans MT" pitchFamily="34" charset="-120"/>
              </a:rPr>
              <a:t>DATA SOURCES</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Data Sources &amp; Latent Constructs</a:t>
            </a:r>
            <a:endParaRPr lang="en-US" sz="2800" dirty="0"/>
          </a:p>
        </p:txBody>
      </p:sp>
      <p:sp>
        <p:nvSpPr>
          <p:cNvPr id="7" name="Shape 4"/>
          <p:cNvSpPr/>
          <p:nvPr/>
        </p:nvSpPr>
        <p:spPr>
          <a:xfrm>
            <a:off x="365760" y="1115568"/>
            <a:ext cx="11430000" cy="0"/>
          </a:xfrm>
          <a:prstGeom prst="line">
            <a:avLst/>
          </a:prstGeom>
          <a:noFill/>
          <a:ln w="19050">
            <a:solidFill>
              <a:srgbClr val="FFB347"/>
            </a:solidFill>
            <a:prstDash val="solid"/>
          </a:ln>
        </p:spPr>
        <p:txBody>
          <a:bodyPr/>
          <a:lstStyle/>
          <a:p>
            <a:endParaRPr lang="en-GB"/>
          </a:p>
        </p:txBody>
      </p:sp>
      <p:sp>
        <p:nvSpPr>
          <p:cNvPr id="8" name="Shape 5"/>
          <p:cNvSpPr/>
          <p:nvPr/>
        </p:nvSpPr>
        <p:spPr>
          <a:xfrm>
            <a:off x="365760" y="1261872"/>
            <a:ext cx="2834640" cy="5074920"/>
          </a:xfrm>
          <a:prstGeom prst="roundRect">
            <a:avLst>
              <a:gd name="adj" fmla="val 4516"/>
            </a:avLst>
          </a:prstGeom>
          <a:solidFill>
            <a:srgbClr val="04080E">
              <a:alpha val="60000"/>
            </a:srgbClr>
          </a:solidFill>
          <a:ln w="10160">
            <a:solidFill>
              <a:srgbClr val="6DAEDB">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365760" y="1261872"/>
            <a:ext cx="2834640" cy="749808"/>
          </a:xfrm>
          <a:prstGeom prst="roundRect">
            <a:avLst>
              <a:gd name="adj" fmla="val 14634"/>
            </a:avLst>
          </a:prstGeom>
          <a:solidFill>
            <a:srgbClr val="6DAEDB">
              <a:alpha val="40000"/>
            </a:srgbClr>
          </a:solidFill>
          <a:ln w="12700">
            <a:solidFill>
              <a:srgbClr val="6DAEDB"/>
            </a:solidFill>
            <a:prstDash val="solid"/>
          </a:ln>
        </p:spPr>
        <p:txBody>
          <a:bodyPr/>
          <a:lstStyle/>
          <a:p>
            <a:endParaRPr lang="en-GB"/>
          </a:p>
        </p:txBody>
      </p:sp>
      <p:sp>
        <p:nvSpPr>
          <p:cNvPr id="10" name="Text 7"/>
          <p:cNvSpPr/>
          <p:nvPr/>
        </p:nvSpPr>
        <p:spPr>
          <a:xfrm>
            <a:off x="457200"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ξ₁</a:t>
            </a:r>
            <a:endParaRPr lang="en-US" sz="2400" dirty="0"/>
          </a:p>
        </p:txBody>
      </p:sp>
      <p:sp>
        <p:nvSpPr>
          <p:cNvPr id="11" name="Text 8"/>
          <p:cNvSpPr/>
          <p:nvPr/>
        </p:nvSpPr>
        <p:spPr>
          <a:xfrm>
            <a:off x="1280160"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AI Readiness</a:t>
            </a:r>
            <a:endParaRPr lang="en-US" sz="1200" dirty="0"/>
          </a:p>
        </p:txBody>
      </p:sp>
      <p:sp>
        <p:nvSpPr>
          <p:cNvPr id="12" name="Text 9"/>
          <p:cNvSpPr/>
          <p:nvPr/>
        </p:nvSpPr>
        <p:spPr>
          <a:xfrm>
            <a:off x="1280160"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Exogenous</a:t>
            </a:r>
            <a:endParaRPr lang="en-US" sz="850" dirty="0"/>
          </a:p>
        </p:txBody>
      </p:sp>
      <p:sp>
        <p:nvSpPr>
          <p:cNvPr id="13" name="Text 10"/>
          <p:cNvSpPr/>
          <p:nvPr/>
        </p:nvSpPr>
        <p:spPr>
          <a:xfrm>
            <a:off x="530352"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6DAEDB"/>
                </a:solidFill>
                <a:latin typeface="Gill Sans MT" pitchFamily="34" charset="0"/>
                <a:ea typeface="Gill Sans MT" pitchFamily="34" charset="-122"/>
                <a:cs typeface="Gill Sans MT" pitchFamily="34" charset="-120"/>
              </a:rPr>
              <a:t>Source</a:t>
            </a:r>
            <a:endParaRPr lang="en-US" sz="850" dirty="0"/>
          </a:p>
        </p:txBody>
      </p:sp>
      <p:sp>
        <p:nvSpPr>
          <p:cNvPr id="14" name="Shape 11"/>
          <p:cNvSpPr/>
          <p:nvPr/>
        </p:nvSpPr>
        <p:spPr>
          <a:xfrm>
            <a:off x="530352" y="2468880"/>
            <a:ext cx="2487168" cy="0"/>
          </a:xfrm>
          <a:prstGeom prst="line">
            <a:avLst/>
          </a:prstGeom>
          <a:noFill/>
          <a:ln w="19050">
            <a:solidFill>
              <a:srgbClr val="6DAEDB"/>
            </a:solidFill>
            <a:prstDash val="solid"/>
          </a:ln>
        </p:spPr>
        <p:txBody>
          <a:bodyPr/>
          <a:lstStyle/>
          <a:p>
            <a:endParaRPr lang="en-GB"/>
          </a:p>
        </p:txBody>
      </p:sp>
      <p:sp>
        <p:nvSpPr>
          <p:cNvPr id="15" name="Text 12"/>
          <p:cNvSpPr/>
          <p:nvPr/>
        </p:nvSpPr>
        <p:spPr>
          <a:xfrm>
            <a:off x="530352"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Oxford Insights AI Index + ITU</a:t>
            </a:r>
            <a:endParaRPr lang="en-US" sz="1100" dirty="0"/>
          </a:p>
        </p:txBody>
      </p:sp>
      <p:sp>
        <p:nvSpPr>
          <p:cNvPr id="16" name="Text 13"/>
          <p:cNvSpPr/>
          <p:nvPr/>
        </p:nvSpPr>
        <p:spPr>
          <a:xfrm>
            <a:off x="530352"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6DAEDB"/>
                </a:solidFill>
                <a:latin typeface="Gill Sans MT" pitchFamily="34" charset="0"/>
                <a:ea typeface="Gill Sans MT" pitchFamily="34" charset="-122"/>
                <a:cs typeface="Gill Sans MT" pitchFamily="34" charset="-120"/>
              </a:rPr>
              <a:t>Indicators</a:t>
            </a:r>
            <a:endParaRPr lang="en-US" sz="850" dirty="0"/>
          </a:p>
        </p:txBody>
      </p:sp>
      <p:sp>
        <p:nvSpPr>
          <p:cNvPr id="17" name="Shape 14"/>
          <p:cNvSpPr/>
          <p:nvPr/>
        </p:nvSpPr>
        <p:spPr>
          <a:xfrm>
            <a:off x="530352" y="3456432"/>
            <a:ext cx="2487168" cy="0"/>
          </a:xfrm>
          <a:prstGeom prst="line">
            <a:avLst/>
          </a:prstGeom>
          <a:noFill/>
          <a:ln w="19050">
            <a:solidFill>
              <a:srgbClr val="6DAEDB"/>
            </a:solidFill>
            <a:prstDash val="solid"/>
          </a:ln>
        </p:spPr>
        <p:txBody>
          <a:bodyPr/>
          <a:lstStyle/>
          <a:p>
            <a:endParaRPr lang="en-GB"/>
          </a:p>
        </p:txBody>
      </p:sp>
      <p:sp>
        <p:nvSpPr>
          <p:cNvPr id="18" name="Text 15"/>
          <p:cNvSpPr/>
          <p:nvPr/>
        </p:nvSpPr>
        <p:spPr>
          <a:xfrm>
            <a:off x="530352"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AI Index Score</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Internet Penetration</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R&amp;D Expenditure</a:t>
            </a:r>
            <a:endParaRPr lang="en-US" sz="1100" dirty="0"/>
          </a:p>
        </p:txBody>
      </p:sp>
      <p:sp>
        <p:nvSpPr>
          <p:cNvPr id="19" name="Shape 16"/>
          <p:cNvSpPr/>
          <p:nvPr/>
        </p:nvSpPr>
        <p:spPr>
          <a:xfrm>
            <a:off x="3310128" y="1261872"/>
            <a:ext cx="2834640" cy="5074920"/>
          </a:xfrm>
          <a:prstGeom prst="roundRect">
            <a:avLst>
              <a:gd name="adj" fmla="val 4516"/>
            </a:avLst>
          </a:prstGeom>
          <a:solidFill>
            <a:srgbClr val="04080E">
              <a:alpha val="60000"/>
            </a:srgbClr>
          </a:solidFill>
          <a:ln w="10160">
            <a:solidFill>
              <a:srgbClr val="56D68A">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Shape 17"/>
          <p:cNvSpPr/>
          <p:nvPr/>
        </p:nvSpPr>
        <p:spPr>
          <a:xfrm>
            <a:off x="3310128" y="1261872"/>
            <a:ext cx="2834640" cy="749808"/>
          </a:xfrm>
          <a:prstGeom prst="roundRect">
            <a:avLst>
              <a:gd name="adj" fmla="val 14634"/>
            </a:avLst>
          </a:prstGeom>
          <a:solidFill>
            <a:srgbClr val="56D68A">
              <a:alpha val="40000"/>
            </a:srgbClr>
          </a:solidFill>
          <a:ln w="12700">
            <a:solidFill>
              <a:srgbClr val="56D68A"/>
            </a:solidFill>
            <a:prstDash val="solid"/>
          </a:ln>
        </p:spPr>
        <p:txBody>
          <a:bodyPr/>
          <a:lstStyle/>
          <a:p>
            <a:endParaRPr lang="en-GB"/>
          </a:p>
        </p:txBody>
      </p:sp>
      <p:sp>
        <p:nvSpPr>
          <p:cNvPr id="21" name="Text 18"/>
          <p:cNvSpPr/>
          <p:nvPr/>
        </p:nvSpPr>
        <p:spPr>
          <a:xfrm>
            <a:off x="3401568"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η₁</a:t>
            </a:r>
            <a:endParaRPr lang="en-US" sz="2400" dirty="0"/>
          </a:p>
        </p:txBody>
      </p:sp>
      <p:sp>
        <p:nvSpPr>
          <p:cNvPr id="22" name="Text 19"/>
          <p:cNvSpPr/>
          <p:nvPr/>
        </p:nvSpPr>
        <p:spPr>
          <a:xfrm>
            <a:off x="4224528"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SC Performance</a:t>
            </a:r>
            <a:endParaRPr lang="en-US" sz="1200" dirty="0"/>
          </a:p>
        </p:txBody>
      </p:sp>
      <p:sp>
        <p:nvSpPr>
          <p:cNvPr id="23" name="Text 20"/>
          <p:cNvSpPr/>
          <p:nvPr/>
        </p:nvSpPr>
        <p:spPr>
          <a:xfrm>
            <a:off x="4224528"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Endogenous / Mediator</a:t>
            </a:r>
            <a:endParaRPr lang="en-US" sz="850" dirty="0"/>
          </a:p>
        </p:txBody>
      </p:sp>
      <p:sp>
        <p:nvSpPr>
          <p:cNvPr id="24" name="Text 21"/>
          <p:cNvSpPr/>
          <p:nvPr/>
        </p:nvSpPr>
        <p:spPr>
          <a:xfrm>
            <a:off x="3474720"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56D68A"/>
                </a:solidFill>
                <a:latin typeface="Gill Sans MT" pitchFamily="34" charset="0"/>
                <a:ea typeface="Gill Sans MT" pitchFamily="34" charset="-122"/>
                <a:cs typeface="Gill Sans MT" pitchFamily="34" charset="-120"/>
              </a:rPr>
              <a:t>Source</a:t>
            </a:r>
            <a:endParaRPr lang="en-US" sz="850" dirty="0"/>
          </a:p>
        </p:txBody>
      </p:sp>
      <p:sp>
        <p:nvSpPr>
          <p:cNvPr id="25" name="Shape 22"/>
          <p:cNvSpPr/>
          <p:nvPr/>
        </p:nvSpPr>
        <p:spPr>
          <a:xfrm>
            <a:off x="3474720" y="2468880"/>
            <a:ext cx="2487168" cy="0"/>
          </a:xfrm>
          <a:prstGeom prst="line">
            <a:avLst/>
          </a:prstGeom>
          <a:noFill/>
          <a:ln w="19050">
            <a:solidFill>
              <a:srgbClr val="56D68A"/>
            </a:solidFill>
            <a:prstDash val="solid"/>
          </a:ln>
        </p:spPr>
        <p:txBody>
          <a:bodyPr/>
          <a:lstStyle/>
          <a:p>
            <a:endParaRPr lang="en-GB"/>
          </a:p>
        </p:txBody>
      </p:sp>
      <p:sp>
        <p:nvSpPr>
          <p:cNvPr id="26" name="Text 23"/>
          <p:cNvSpPr/>
          <p:nvPr/>
        </p:nvSpPr>
        <p:spPr>
          <a:xfrm>
            <a:off x="3474720"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World Bank LPI</a:t>
            </a:r>
            <a:endParaRPr lang="en-US" sz="1100" dirty="0"/>
          </a:p>
        </p:txBody>
      </p:sp>
      <p:sp>
        <p:nvSpPr>
          <p:cNvPr id="27" name="Text 24"/>
          <p:cNvSpPr/>
          <p:nvPr/>
        </p:nvSpPr>
        <p:spPr>
          <a:xfrm>
            <a:off x="3474720"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56D68A"/>
                </a:solidFill>
                <a:latin typeface="Gill Sans MT" pitchFamily="34" charset="0"/>
                <a:ea typeface="Gill Sans MT" pitchFamily="34" charset="-122"/>
                <a:cs typeface="Gill Sans MT" pitchFamily="34" charset="-120"/>
              </a:rPr>
              <a:t>Indicators</a:t>
            </a:r>
            <a:endParaRPr lang="en-US" sz="850" dirty="0"/>
          </a:p>
        </p:txBody>
      </p:sp>
      <p:sp>
        <p:nvSpPr>
          <p:cNvPr id="28" name="Shape 25"/>
          <p:cNvSpPr/>
          <p:nvPr/>
        </p:nvSpPr>
        <p:spPr>
          <a:xfrm>
            <a:off x="3474720" y="3456432"/>
            <a:ext cx="2487168" cy="0"/>
          </a:xfrm>
          <a:prstGeom prst="line">
            <a:avLst/>
          </a:prstGeom>
          <a:noFill/>
          <a:ln w="19050">
            <a:solidFill>
              <a:srgbClr val="56D68A"/>
            </a:solidFill>
            <a:prstDash val="solid"/>
          </a:ln>
        </p:spPr>
        <p:txBody>
          <a:bodyPr/>
          <a:lstStyle/>
          <a:p>
            <a:endParaRPr lang="en-GB"/>
          </a:p>
        </p:txBody>
      </p:sp>
      <p:sp>
        <p:nvSpPr>
          <p:cNvPr id="29" name="Text 26"/>
          <p:cNvSpPr/>
          <p:nvPr/>
        </p:nvSpPr>
        <p:spPr>
          <a:xfrm>
            <a:off x="3474720"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Infrastructure</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Customs</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Timeliness, Tracking</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Intl. Shipments</a:t>
            </a:r>
            <a:endParaRPr lang="en-US" sz="1100" dirty="0"/>
          </a:p>
        </p:txBody>
      </p:sp>
      <p:sp>
        <p:nvSpPr>
          <p:cNvPr id="30" name="Shape 27"/>
          <p:cNvSpPr/>
          <p:nvPr/>
        </p:nvSpPr>
        <p:spPr>
          <a:xfrm>
            <a:off x="6254496" y="1261872"/>
            <a:ext cx="2834640" cy="5074920"/>
          </a:xfrm>
          <a:prstGeom prst="roundRect">
            <a:avLst>
              <a:gd name="adj" fmla="val 4516"/>
            </a:avLst>
          </a:prstGeom>
          <a:solidFill>
            <a:srgbClr val="04080E">
              <a:alpha val="60000"/>
            </a:srgbClr>
          </a:solidFill>
          <a:ln w="10160">
            <a:solidFill>
              <a:srgbClr val="FFB347">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1" name="Shape 28"/>
          <p:cNvSpPr/>
          <p:nvPr/>
        </p:nvSpPr>
        <p:spPr>
          <a:xfrm>
            <a:off x="6254496" y="1261872"/>
            <a:ext cx="2834640" cy="749808"/>
          </a:xfrm>
          <a:prstGeom prst="roundRect">
            <a:avLst>
              <a:gd name="adj" fmla="val 14634"/>
            </a:avLst>
          </a:prstGeom>
          <a:solidFill>
            <a:srgbClr val="FFB347">
              <a:alpha val="40000"/>
            </a:srgbClr>
          </a:solidFill>
          <a:ln w="12700">
            <a:solidFill>
              <a:srgbClr val="FFB347"/>
            </a:solidFill>
            <a:prstDash val="solid"/>
          </a:ln>
        </p:spPr>
        <p:txBody>
          <a:bodyPr/>
          <a:lstStyle/>
          <a:p>
            <a:endParaRPr lang="en-GB"/>
          </a:p>
        </p:txBody>
      </p:sp>
      <p:sp>
        <p:nvSpPr>
          <p:cNvPr id="32" name="Text 29"/>
          <p:cNvSpPr/>
          <p:nvPr/>
        </p:nvSpPr>
        <p:spPr>
          <a:xfrm>
            <a:off x="6345936"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η₂</a:t>
            </a:r>
            <a:endParaRPr lang="en-US" sz="2400" dirty="0"/>
          </a:p>
        </p:txBody>
      </p:sp>
      <p:sp>
        <p:nvSpPr>
          <p:cNvPr id="33" name="Text 30"/>
          <p:cNvSpPr/>
          <p:nvPr/>
        </p:nvSpPr>
        <p:spPr>
          <a:xfrm>
            <a:off x="7168896"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Economic Perf.</a:t>
            </a:r>
            <a:endParaRPr lang="en-US" sz="1200" dirty="0"/>
          </a:p>
        </p:txBody>
      </p:sp>
      <p:sp>
        <p:nvSpPr>
          <p:cNvPr id="34" name="Text 31"/>
          <p:cNvSpPr/>
          <p:nvPr/>
        </p:nvSpPr>
        <p:spPr>
          <a:xfrm>
            <a:off x="7168896"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Endogenous</a:t>
            </a:r>
            <a:endParaRPr lang="en-US" sz="850" dirty="0"/>
          </a:p>
        </p:txBody>
      </p:sp>
      <p:sp>
        <p:nvSpPr>
          <p:cNvPr id="35" name="Text 32"/>
          <p:cNvSpPr/>
          <p:nvPr/>
        </p:nvSpPr>
        <p:spPr>
          <a:xfrm>
            <a:off x="6419088"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FFB347"/>
                </a:solidFill>
                <a:latin typeface="Gill Sans MT" pitchFamily="34" charset="0"/>
                <a:ea typeface="Gill Sans MT" pitchFamily="34" charset="-122"/>
                <a:cs typeface="Gill Sans MT" pitchFamily="34" charset="-120"/>
              </a:rPr>
              <a:t>Source</a:t>
            </a:r>
            <a:endParaRPr lang="en-US" sz="850" dirty="0"/>
          </a:p>
        </p:txBody>
      </p:sp>
      <p:sp>
        <p:nvSpPr>
          <p:cNvPr id="36" name="Shape 33"/>
          <p:cNvSpPr/>
          <p:nvPr/>
        </p:nvSpPr>
        <p:spPr>
          <a:xfrm>
            <a:off x="6419088" y="2468880"/>
            <a:ext cx="2487168" cy="0"/>
          </a:xfrm>
          <a:prstGeom prst="line">
            <a:avLst/>
          </a:prstGeom>
          <a:noFill/>
          <a:ln w="19050">
            <a:solidFill>
              <a:srgbClr val="FFB347"/>
            </a:solidFill>
            <a:prstDash val="solid"/>
          </a:ln>
        </p:spPr>
        <p:txBody>
          <a:bodyPr/>
          <a:lstStyle/>
          <a:p>
            <a:endParaRPr lang="en-GB"/>
          </a:p>
        </p:txBody>
      </p:sp>
      <p:sp>
        <p:nvSpPr>
          <p:cNvPr id="37" name="Text 34"/>
          <p:cNvSpPr/>
          <p:nvPr/>
        </p:nvSpPr>
        <p:spPr>
          <a:xfrm>
            <a:off x="6419088"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World Bank WDI</a:t>
            </a:r>
            <a:endParaRPr lang="en-US" sz="1100" dirty="0"/>
          </a:p>
        </p:txBody>
      </p:sp>
      <p:sp>
        <p:nvSpPr>
          <p:cNvPr id="38" name="Text 35"/>
          <p:cNvSpPr/>
          <p:nvPr/>
        </p:nvSpPr>
        <p:spPr>
          <a:xfrm>
            <a:off x="6419088"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FFB347"/>
                </a:solidFill>
                <a:latin typeface="Gill Sans MT" pitchFamily="34" charset="0"/>
                <a:ea typeface="Gill Sans MT" pitchFamily="34" charset="-122"/>
                <a:cs typeface="Gill Sans MT" pitchFamily="34" charset="-120"/>
              </a:rPr>
              <a:t>Indicators</a:t>
            </a:r>
            <a:endParaRPr lang="en-US" sz="850" dirty="0"/>
          </a:p>
        </p:txBody>
      </p:sp>
      <p:sp>
        <p:nvSpPr>
          <p:cNvPr id="39" name="Shape 36"/>
          <p:cNvSpPr/>
          <p:nvPr/>
        </p:nvSpPr>
        <p:spPr>
          <a:xfrm>
            <a:off x="6419088" y="3456432"/>
            <a:ext cx="2487168" cy="0"/>
          </a:xfrm>
          <a:prstGeom prst="line">
            <a:avLst/>
          </a:prstGeom>
          <a:noFill/>
          <a:ln w="19050">
            <a:solidFill>
              <a:srgbClr val="FFB347"/>
            </a:solidFill>
            <a:prstDash val="solid"/>
          </a:ln>
        </p:spPr>
        <p:txBody>
          <a:bodyPr/>
          <a:lstStyle/>
          <a:p>
            <a:endParaRPr lang="en-GB"/>
          </a:p>
        </p:txBody>
      </p:sp>
      <p:sp>
        <p:nvSpPr>
          <p:cNvPr id="40" name="Text 37"/>
          <p:cNvSpPr/>
          <p:nvPr/>
        </p:nvSpPr>
        <p:spPr>
          <a:xfrm>
            <a:off x="6419088"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GDP per Capita</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Exports % GDP</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Trade Openness</a:t>
            </a:r>
            <a:endParaRPr lang="en-US" sz="1100" dirty="0"/>
          </a:p>
        </p:txBody>
      </p:sp>
      <p:sp>
        <p:nvSpPr>
          <p:cNvPr id="41" name="Shape 38"/>
          <p:cNvSpPr/>
          <p:nvPr/>
        </p:nvSpPr>
        <p:spPr>
          <a:xfrm>
            <a:off x="9198864" y="1261872"/>
            <a:ext cx="2834640" cy="5074920"/>
          </a:xfrm>
          <a:prstGeom prst="roundRect">
            <a:avLst>
              <a:gd name="adj" fmla="val 4516"/>
            </a:avLst>
          </a:prstGeom>
          <a:solidFill>
            <a:srgbClr val="04080E">
              <a:alpha val="60000"/>
            </a:srgbClr>
          </a:solidFill>
          <a:ln w="10160">
            <a:solidFill>
              <a:srgbClr val="C9A0E8">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2" name="Shape 39"/>
          <p:cNvSpPr/>
          <p:nvPr/>
        </p:nvSpPr>
        <p:spPr>
          <a:xfrm>
            <a:off x="9198864" y="1261872"/>
            <a:ext cx="2834640" cy="749808"/>
          </a:xfrm>
          <a:prstGeom prst="roundRect">
            <a:avLst>
              <a:gd name="adj" fmla="val 14634"/>
            </a:avLst>
          </a:prstGeom>
          <a:solidFill>
            <a:srgbClr val="C9A0E8">
              <a:alpha val="40000"/>
            </a:srgbClr>
          </a:solidFill>
          <a:ln w="12700">
            <a:solidFill>
              <a:srgbClr val="C9A0E8"/>
            </a:solidFill>
            <a:prstDash val="solid"/>
          </a:ln>
        </p:spPr>
        <p:txBody>
          <a:bodyPr/>
          <a:lstStyle/>
          <a:p>
            <a:endParaRPr lang="en-GB"/>
          </a:p>
        </p:txBody>
      </p:sp>
      <p:sp>
        <p:nvSpPr>
          <p:cNvPr id="43" name="Text 40"/>
          <p:cNvSpPr/>
          <p:nvPr/>
        </p:nvSpPr>
        <p:spPr>
          <a:xfrm>
            <a:off x="9290304"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ξ₂</a:t>
            </a:r>
            <a:endParaRPr lang="en-US" sz="2400" dirty="0"/>
          </a:p>
        </p:txBody>
      </p:sp>
      <p:sp>
        <p:nvSpPr>
          <p:cNvPr id="44" name="Text 41"/>
          <p:cNvSpPr/>
          <p:nvPr/>
        </p:nvSpPr>
        <p:spPr>
          <a:xfrm>
            <a:off x="10113264"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Institutional Quality</a:t>
            </a:r>
            <a:endParaRPr lang="en-US" sz="1200" dirty="0"/>
          </a:p>
        </p:txBody>
      </p:sp>
      <p:sp>
        <p:nvSpPr>
          <p:cNvPr id="45" name="Text 42"/>
          <p:cNvSpPr/>
          <p:nvPr/>
        </p:nvSpPr>
        <p:spPr>
          <a:xfrm>
            <a:off x="10113264"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Exogenous / Moderator</a:t>
            </a:r>
            <a:endParaRPr lang="en-US" sz="850" dirty="0"/>
          </a:p>
        </p:txBody>
      </p:sp>
      <p:sp>
        <p:nvSpPr>
          <p:cNvPr id="46" name="Text 43"/>
          <p:cNvSpPr/>
          <p:nvPr/>
        </p:nvSpPr>
        <p:spPr>
          <a:xfrm>
            <a:off x="9363456"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C9A0E8"/>
                </a:solidFill>
                <a:latin typeface="Gill Sans MT" pitchFamily="34" charset="0"/>
                <a:ea typeface="Gill Sans MT" pitchFamily="34" charset="-122"/>
                <a:cs typeface="Gill Sans MT" pitchFamily="34" charset="-120"/>
              </a:rPr>
              <a:t>Source</a:t>
            </a:r>
            <a:endParaRPr lang="en-US" sz="850" dirty="0"/>
          </a:p>
        </p:txBody>
      </p:sp>
      <p:sp>
        <p:nvSpPr>
          <p:cNvPr id="47" name="Shape 44"/>
          <p:cNvSpPr/>
          <p:nvPr/>
        </p:nvSpPr>
        <p:spPr>
          <a:xfrm>
            <a:off x="9363456" y="2468880"/>
            <a:ext cx="2487168" cy="0"/>
          </a:xfrm>
          <a:prstGeom prst="line">
            <a:avLst/>
          </a:prstGeom>
          <a:noFill/>
          <a:ln w="19050">
            <a:solidFill>
              <a:srgbClr val="C9A0E8"/>
            </a:solidFill>
            <a:prstDash val="solid"/>
          </a:ln>
        </p:spPr>
        <p:txBody>
          <a:bodyPr/>
          <a:lstStyle/>
          <a:p>
            <a:endParaRPr lang="en-GB"/>
          </a:p>
        </p:txBody>
      </p:sp>
      <p:sp>
        <p:nvSpPr>
          <p:cNvPr id="48" name="Text 45"/>
          <p:cNvSpPr/>
          <p:nvPr/>
        </p:nvSpPr>
        <p:spPr>
          <a:xfrm>
            <a:off x="9363456"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World Bank WGI</a:t>
            </a:r>
            <a:endParaRPr lang="en-US" sz="1100" dirty="0"/>
          </a:p>
        </p:txBody>
      </p:sp>
      <p:sp>
        <p:nvSpPr>
          <p:cNvPr id="49" name="Text 46"/>
          <p:cNvSpPr/>
          <p:nvPr/>
        </p:nvSpPr>
        <p:spPr>
          <a:xfrm>
            <a:off x="9363456"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C9A0E8"/>
                </a:solidFill>
                <a:latin typeface="Gill Sans MT" pitchFamily="34" charset="0"/>
                <a:ea typeface="Gill Sans MT" pitchFamily="34" charset="-122"/>
                <a:cs typeface="Gill Sans MT" pitchFamily="34" charset="-120"/>
              </a:rPr>
              <a:t>Indicators</a:t>
            </a:r>
            <a:endParaRPr lang="en-US" sz="850" dirty="0"/>
          </a:p>
        </p:txBody>
      </p:sp>
      <p:sp>
        <p:nvSpPr>
          <p:cNvPr id="50" name="Shape 47"/>
          <p:cNvSpPr/>
          <p:nvPr/>
        </p:nvSpPr>
        <p:spPr>
          <a:xfrm>
            <a:off x="9363456" y="3456432"/>
            <a:ext cx="2487168" cy="0"/>
          </a:xfrm>
          <a:prstGeom prst="line">
            <a:avLst/>
          </a:prstGeom>
          <a:noFill/>
          <a:ln w="19050">
            <a:solidFill>
              <a:srgbClr val="C9A0E8"/>
            </a:solidFill>
            <a:prstDash val="solid"/>
          </a:ln>
        </p:spPr>
        <p:txBody>
          <a:bodyPr/>
          <a:lstStyle/>
          <a:p>
            <a:endParaRPr lang="en-GB"/>
          </a:p>
        </p:txBody>
      </p:sp>
      <p:sp>
        <p:nvSpPr>
          <p:cNvPr id="51" name="Text 48"/>
          <p:cNvSpPr/>
          <p:nvPr/>
        </p:nvSpPr>
        <p:spPr>
          <a:xfrm>
            <a:off x="9363456"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Govt. Effectiveness</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Rule of Law</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Regulatory Quality</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Corruption Control</a:t>
            </a:r>
            <a:endParaRPr lang="en-US" sz="1100" dirty="0"/>
          </a:p>
        </p:txBody>
      </p:sp>
      <p:sp>
        <p:nvSpPr>
          <p:cNvPr id="52" name="Shape 49"/>
          <p:cNvSpPr/>
          <p:nvPr/>
        </p:nvSpPr>
        <p:spPr>
          <a:xfrm>
            <a:off x="365760" y="6473952"/>
            <a:ext cx="11430000" cy="329184"/>
          </a:xfrm>
          <a:prstGeom prst="roundRect">
            <a:avLst>
              <a:gd name="adj" fmla="val 38889"/>
            </a:avLst>
          </a:prstGeom>
          <a:solidFill>
            <a:srgbClr val="030810">
              <a:alpha val="55000"/>
            </a:srgbClr>
          </a:solidFill>
          <a:ln w="3810">
            <a:solidFill>
              <a:srgbClr val="B8C8D8">
                <a:alpha val="1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3" name="Text 50"/>
          <p:cNvSpPr/>
          <p:nvPr/>
        </p:nvSpPr>
        <p:spPr>
          <a:xfrm>
            <a:off x="457200" y="6483096"/>
            <a:ext cx="11247120" cy="320040"/>
          </a:xfrm>
          <a:prstGeom prst="rect">
            <a:avLst/>
          </a:prstGeom>
          <a:noFill/>
          <a:ln/>
        </p:spPr>
        <p:txBody>
          <a:bodyPr wrap="square" lIns="50800" tIns="50800" rIns="50800" bIns="50800" rtlCol="0" anchor="ctr"/>
          <a:lstStyle/>
          <a:p>
            <a:pPr marL="0" indent="0" algn="ctr">
              <a:buNone/>
            </a:pPr>
            <a:r>
              <a:rPr lang="en-US" sz="900" i="1" dirty="0">
                <a:solidFill>
                  <a:srgbClr val="B8C8D8"/>
                </a:solidFill>
                <a:latin typeface="Gill Sans MT" pitchFamily="34" charset="0"/>
                <a:ea typeface="Gill Sans MT" pitchFamily="34" charset="-122"/>
                <a:cs typeface="Gill Sans MT" pitchFamily="34" charset="-120"/>
              </a:rPr>
              <a:t>All variables z-score standardised prior to SEM  |  Final harmonised dataset: 164 countries × 48 variables</a:t>
            </a:r>
            <a:endParaRPr lang="en-US" sz="900" dirty="0"/>
          </a:p>
        </p:txBody>
      </p:sp>
      <p:sp>
        <p:nvSpPr>
          <p:cNvPr id="54" name="Text 51"/>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6DAEDB"/>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6DAEDB"/>
                </a:solidFill>
                <a:latin typeface="Gill Sans MT" pitchFamily="34" charset="0"/>
                <a:ea typeface="Gill Sans MT" pitchFamily="34" charset="-122"/>
                <a:cs typeface="Gill Sans MT" pitchFamily="34" charset="-120"/>
              </a:rPr>
              <a:t>RESULTS — DESCRIPTIVE STATS</a:t>
            </a:r>
            <a:endParaRPr lang="en-US" sz="850" dirty="0"/>
          </a:p>
        </p:txBody>
      </p:sp>
      <p:sp>
        <p:nvSpPr>
          <p:cNvPr id="6" name="Text 3"/>
          <p:cNvSpPr/>
          <p:nvPr/>
        </p:nvSpPr>
        <p:spPr>
          <a:xfrm>
            <a:off x="365760" y="347472"/>
            <a:ext cx="11430000" cy="685800"/>
          </a:xfrm>
          <a:prstGeom prst="rect">
            <a:avLst/>
          </a:prstGeom>
          <a:noFill/>
          <a:ln/>
        </p:spPr>
        <p:txBody>
          <a:bodyPr wrap="square" lIns="50800" tIns="50800" rIns="50800" bIns="50800" rtlCol="0" anchor="ctr"/>
          <a:lstStyle/>
          <a:p>
            <a:pPr marL="0" indent="0" algn="l">
              <a:buNone/>
            </a:pPr>
            <a:r>
              <a:rPr lang="en-US" sz="2400" b="1" dirty="0">
                <a:solidFill>
                  <a:srgbClr val="FFFFFF"/>
                </a:solidFill>
                <a:latin typeface="Gill Sans MT" pitchFamily="34" charset="0"/>
                <a:ea typeface="Gill Sans MT" pitchFamily="34" charset="-122"/>
                <a:cs typeface="Gill Sans MT" pitchFamily="34" charset="-120"/>
              </a:rPr>
              <a:t>Descriptive Statistics — Latent Constructs (n = 164)</a:t>
            </a:r>
            <a:endParaRPr lang="en-US" sz="2400" dirty="0"/>
          </a:p>
        </p:txBody>
      </p:sp>
      <p:sp>
        <p:nvSpPr>
          <p:cNvPr id="7" name="Shape 4"/>
          <p:cNvSpPr/>
          <p:nvPr/>
        </p:nvSpPr>
        <p:spPr>
          <a:xfrm>
            <a:off x="365760" y="1115568"/>
            <a:ext cx="11430000" cy="0"/>
          </a:xfrm>
          <a:prstGeom prst="line">
            <a:avLst/>
          </a:prstGeom>
          <a:noFill/>
          <a:ln w="19050">
            <a:solidFill>
              <a:srgbClr val="6DAEDB"/>
            </a:solidFill>
            <a:prstDash val="solid"/>
          </a:ln>
        </p:spPr>
        <p:txBody>
          <a:bodyPr/>
          <a:lstStyle/>
          <a:p>
            <a:endParaRPr lang="en-GB"/>
          </a:p>
        </p:txBody>
      </p:sp>
      <p:sp>
        <p:nvSpPr>
          <p:cNvPr id="8" name="Shape 5"/>
          <p:cNvSpPr/>
          <p:nvPr/>
        </p:nvSpPr>
        <p:spPr>
          <a:xfrm>
            <a:off x="320040" y="1234440"/>
            <a:ext cx="7955280" cy="457200"/>
          </a:xfrm>
          <a:prstGeom prst="roundRect">
            <a:avLst>
              <a:gd name="adj" fmla="val 28000"/>
            </a:avLst>
          </a:prstGeom>
          <a:solidFill>
            <a:srgbClr val="051830">
              <a:alpha val="60000"/>
            </a:srgbClr>
          </a:solidFill>
          <a:ln w="6350">
            <a:solidFill>
              <a:srgbClr val="6DAEDB">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Text 6"/>
          <p:cNvSpPr/>
          <p:nvPr/>
        </p:nvSpPr>
        <p:spPr>
          <a:xfrm>
            <a:off x="365760" y="1252728"/>
            <a:ext cx="2286000" cy="420624"/>
          </a:xfrm>
          <a:prstGeom prst="rect">
            <a:avLst/>
          </a:prstGeom>
          <a:noFill/>
          <a:ln/>
        </p:spPr>
        <p:txBody>
          <a:bodyPr wrap="square" lIns="50800" tIns="50800" rIns="50800" bIns="50800" rtlCol="0" anchor="ctr"/>
          <a:lstStyle/>
          <a:p>
            <a:pPr marL="0" indent="0" algn="l">
              <a:buNone/>
            </a:pPr>
            <a:r>
              <a:rPr lang="en-US" sz="1000" b="1" kern="0" spc="50" dirty="0">
                <a:solidFill>
                  <a:srgbClr val="6DAEDB"/>
                </a:solidFill>
                <a:latin typeface="Gill Sans MT" pitchFamily="34" charset="0"/>
                <a:ea typeface="Gill Sans MT" pitchFamily="34" charset="-122"/>
                <a:cs typeface="Gill Sans MT" pitchFamily="34" charset="-120"/>
              </a:rPr>
              <a:t>Construct</a:t>
            </a:r>
            <a:endParaRPr lang="en-US" sz="1000" dirty="0"/>
          </a:p>
        </p:txBody>
      </p:sp>
      <p:sp>
        <p:nvSpPr>
          <p:cNvPr id="10" name="Text 7"/>
          <p:cNvSpPr/>
          <p:nvPr/>
        </p:nvSpPr>
        <p:spPr>
          <a:xfrm>
            <a:off x="2651760" y="1252728"/>
            <a:ext cx="64008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N</a:t>
            </a:r>
            <a:endParaRPr lang="en-US" sz="1000" dirty="0"/>
          </a:p>
        </p:txBody>
      </p:sp>
      <p:sp>
        <p:nvSpPr>
          <p:cNvPr id="11" name="Text 8"/>
          <p:cNvSpPr/>
          <p:nvPr/>
        </p:nvSpPr>
        <p:spPr>
          <a:xfrm>
            <a:off x="329184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Mean</a:t>
            </a:r>
            <a:endParaRPr lang="en-US" sz="1000" dirty="0"/>
          </a:p>
        </p:txBody>
      </p:sp>
      <p:sp>
        <p:nvSpPr>
          <p:cNvPr id="12" name="Text 9"/>
          <p:cNvSpPr/>
          <p:nvPr/>
        </p:nvSpPr>
        <p:spPr>
          <a:xfrm>
            <a:off x="406908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SD</a:t>
            </a:r>
            <a:endParaRPr lang="en-US" sz="1000" dirty="0"/>
          </a:p>
        </p:txBody>
      </p:sp>
      <p:sp>
        <p:nvSpPr>
          <p:cNvPr id="13" name="Text 10"/>
          <p:cNvSpPr/>
          <p:nvPr/>
        </p:nvSpPr>
        <p:spPr>
          <a:xfrm>
            <a:off x="484632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Min</a:t>
            </a:r>
            <a:endParaRPr lang="en-US" sz="1000" dirty="0"/>
          </a:p>
        </p:txBody>
      </p:sp>
      <p:sp>
        <p:nvSpPr>
          <p:cNvPr id="14" name="Text 11"/>
          <p:cNvSpPr/>
          <p:nvPr/>
        </p:nvSpPr>
        <p:spPr>
          <a:xfrm>
            <a:off x="562356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Max</a:t>
            </a:r>
            <a:endParaRPr lang="en-US" sz="1000" dirty="0"/>
          </a:p>
        </p:txBody>
      </p:sp>
      <p:sp>
        <p:nvSpPr>
          <p:cNvPr id="15" name="Text 12"/>
          <p:cNvSpPr/>
          <p:nvPr/>
        </p:nvSpPr>
        <p:spPr>
          <a:xfrm>
            <a:off x="6400800" y="1252728"/>
            <a:ext cx="91440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Skewness</a:t>
            </a:r>
            <a:endParaRPr lang="en-US" sz="1000" dirty="0"/>
          </a:p>
        </p:txBody>
      </p:sp>
      <p:sp>
        <p:nvSpPr>
          <p:cNvPr id="16" name="Text 13"/>
          <p:cNvSpPr/>
          <p:nvPr/>
        </p:nvSpPr>
        <p:spPr>
          <a:xfrm>
            <a:off x="7315200" y="1252728"/>
            <a:ext cx="91440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Kurtosis</a:t>
            </a:r>
            <a:endParaRPr lang="en-US" sz="1000" dirty="0"/>
          </a:p>
        </p:txBody>
      </p:sp>
      <p:sp>
        <p:nvSpPr>
          <p:cNvPr id="17" name="Shape 14"/>
          <p:cNvSpPr/>
          <p:nvPr/>
        </p:nvSpPr>
        <p:spPr>
          <a:xfrm>
            <a:off x="320040" y="1755648"/>
            <a:ext cx="7955280" cy="475488"/>
          </a:xfrm>
          <a:prstGeom prst="roundRect">
            <a:avLst>
              <a:gd name="adj" fmla="val 11538"/>
            </a:avLst>
          </a:prstGeom>
          <a:solidFill>
            <a:srgbClr val="040C18">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Shape 15"/>
          <p:cNvSpPr/>
          <p:nvPr/>
        </p:nvSpPr>
        <p:spPr>
          <a:xfrm>
            <a:off x="320040" y="1755648"/>
            <a:ext cx="54864" cy="475488"/>
          </a:xfrm>
          <a:prstGeom prst="line">
            <a:avLst/>
          </a:prstGeom>
          <a:noFill/>
          <a:ln w="50800">
            <a:solidFill>
              <a:srgbClr val="6DAEDB"/>
            </a:solidFill>
            <a:prstDash val="solid"/>
          </a:ln>
        </p:spPr>
        <p:txBody>
          <a:bodyPr/>
          <a:lstStyle/>
          <a:p>
            <a:endParaRPr lang="en-GB"/>
          </a:p>
        </p:txBody>
      </p:sp>
      <p:sp>
        <p:nvSpPr>
          <p:cNvPr id="19" name="Text 16"/>
          <p:cNvSpPr/>
          <p:nvPr/>
        </p:nvSpPr>
        <p:spPr>
          <a:xfrm>
            <a:off x="457200" y="1801368"/>
            <a:ext cx="2194560" cy="384048"/>
          </a:xfrm>
          <a:prstGeom prst="rect">
            <a:avLst/>
          </a:prstGeom>
          <a:noFill/>
          <a:ln/>
        </p:spPr>
        <p:txBody>
          <a:bodyPr wrap="square" lIns="50800" tIns="50800" rIns="50800" bIns="50800" rtlCol="0" anchor="ctr"/>
          <a:lstStyle/>
          <a:p>
            <a:pPr marL="0" indent="0" algn="l">
              <a:buNone/>
            </a:pPr>
            <a:r>
              <a:rPr lang="en-US" sz="1100" b="1" dirty="0">
                <a:solidFill>
                  <a:srgbClr val="6DAEDB"/>
                </a:solidFill>
                <a:latin typeface="Gill Sans MT" pitchFamily="34" charset="0"/>
                <a:ea typeface="Gill Sans MT" pitchFamily="34" charset="-122"/>
                <a:cs typeface="Gill Sans MT" pitchFamily="34" charset="-120"/>
              </a:rPr>
              <a:t>ξ₁  AI Readiness</a:t>
            </a:r>
            <a:endParaRPr lang="en-US" sz="1100" dirty="0"/>
          </a:p>
        </p:txBody>
      </p:sp>
      <p:sp>
        <p:nvSpPr>
          <p:cNvPr id="20" name="Text 17"/>
          <p:cNvSpPr/>
          <p:nvPr/>
        </p:nvSpPr>
        <p:spPr>
          <a:xfrm>
            <a:off x="2651760" y="1801368"/>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21" name="Text 18"/>
          <p:cNvSpPr/>
          <p:nvPr/>
        </p:nvSpPr>
        <p:spPr>
          <a:xfrm>
            <a:off x="329184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0.042</a:t>
            </a:r>
            <a:endParaRPr lang="en-US" sz="1100" dirty="0"/>
          </a:p>
        </p:txBody>
      </p:sp>
      <p:sp>
        <p:nvSpPr>
          <p:cNvPr id="22" name="Text 19"/>
          <p:cNvSpPr/>
          <p:nvPr/>
        </p:nvSpPr>
        <p:spPr>
          <a:xfrm>
            <a:off x="406908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0.975</a:t>
            </a:r>
            <a:endParaRPr lang="en-US" sz="1100" dirty="0"/>
          </a:p>
        </p:txBody>
      </p:sp>
      <p:sp>
        <p:nvSpPr>
          <p:cNvPr id="23" name="Text 20"/>
          <p:cNvSpPr/>
          <p:nvPr/>
        </p:nvSpPr>
        <p:spPr>
          <a:xfrm>
            <a:off x="484632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−2.159</a:t>
            </a:r>
            <a:endParaRPr lang="en-US" sz="1100" dirty="0"/>
          </a:p>
        </p:txBody>
      </p:sp>
      <p:sp>
        <p:nvSpPr>
          <p:cNvPr id="24" name="Text 21"/>
          <p:cNvSpPr/>
          <p:nvPr/>
        </p:nvSpPr>
        <p:spPr>
          <a:xfrm>
            <a:off x="562356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1.624</a:t>
            </a:r>
            <a:endParaRPr lang="en-US" sz="1100" dirty="0"/>
          </a:p>
        </p:txBody>
      </p:sp>
      <p:sp>
        <p:nvSpPr>
          <p:cNvPr id="25" name="Text 22"/>
          <p:cNvSpPr/>
          <p:nvPr/>
        </p:nvSpPr>
        <p:spPr>
          <a:xfrm>
            <a:off x="6400800" y="1801368"/>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−0.361</a:t>
            </a:r>
            <a:endParaRPr lang="en-US" sz="1100" dirty="0"/>
          </a:p>
        </p:txBody>
      </p:sp>
      <p:sp>
        <p:nvSpPr>
          <p:cNvPr id="26" name="Text 23"/>
          <p:cNvSpPr/>
          <p:nvPr/>
        </p:nvSpPr>
        <p:spPr>
          <a:xfrm>
            <a:off x="7315200" y="1801368"/>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−0.982</a:t>
            </a:r>
            <a:endParaRPr lang="en-US" sz="1100" dirty="0"/>
          </a:p>
        </p:txBody>
      </p:sp>
      <p:sp>
        <p:nvSpPr>
          <p:cNvPr id="27" name="Shape 24"/>
          <p:cNvSpPr/>
          <p:nvPr/>
        </p:nvSpPr>
        <p:spPr>
          <a:xfrm>
            <a:off x="320040" y="2286000"/>
            <a:ext cx="7955280" cy="475488"/>
          </a:xfrm>
          <a:prstGeom prst="roundRect">
            <a:avLst>
              <a:gd name="adj" fmla="val 11538"/>
            </a:avLst>
          </a:prstGeom>
          <a:solidFill>
            <a:srgbClr val="060E22">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8" name="Shape 25"/>
          <p:cNvSpPr/>
          <p:nvPr/>
        </p:nvSpPr>
        <p:spPr>
          <a:xfrm>
            <a:off x="320040" y="2286000"/>
            <a:ext cx="54864" cy="475488"/>
          </a:xfrm>
          <a:prstGeom prst="line">
            <a:avLst/>
          </a:prstGeom>
          <a:noFill/>
          <a:ln w="50800">
            <a:solidFill>
              <a:srgbClr val="56D68A"/>
            </a:solidFill>
            <a:prstDash val="solid"/>
          </a:ln>
        </p:spPr>
        <p:txBody>
          <a:bodyPr/>
          <a:lstStyle/>
          <a:p>
            <a:endParaRPr lang="en-GB"/>
          </a:p>
        </p:txBody>
      </p:sp>
      <p:sp>
        <p:nvSpPr>
          <p:cNvPr id="29" name="Text 26"/>
          <p:cNvSpPr/>
          <p:nvPr/>
        </p:nvSpPr>
        <p:spPr>
          <a:xfrm>
            <a:off x="457200" y="2331720"/>
            <a:ext cx="2194560" cy="384048"/>
          </a:xfrm>
          <a:prstGeom prst="rect">
            <a:avLst/>
          </a:prstGeom>
          <a:noFill/>
          <a:ln/>
        </p:spPr>
        <p:txBody>
          <a:bodyPr wrap="square" lIns="50800" tIns="50800" rIns="50800" bIns="50800" rtlCol="0" anchor="ctr"/>
          <a:lstStyle/>
          <a:p>
            <a:pPr marL="0" indent="0" algn="l">
              <a:buNone/>
            </a:pPr>
            <a:r>
              <a:rPr lang="en-US" sz="1100" b="1" dirty="0">
                <a:solidFill>
                  <a:srgbClr val="56D68A"/>
                </a:solidFill>
                <a:latin typeface="Gill Sans MT" pitchFamily="34" charset="0"/>
                <a:ea typeface="Gill Sans MT" pitchFamily="34" charset="-122"/>
                <a:cs typeface="Gill Sans MT" pitchFamily="34" charset="-120"/>
              </a:rPr>
              <a:t>η₁  SC Performance</a:t>
            </a:r>
            <a:endParaRPr lang="en-US" sz="1100" dirty="0"/>
          </a:p>
        </p:txBody>
      </p:sp>
      <p:sp>
        <p:nvSpPr>
          <p:cNvPr id="30" name="Text 27"/>
          <p:cNvSpPr/>
          <p:nvPr/>
        </p:nvSpPr>
        <p:spPr>
          <a:xfrm>
            <a:off x="2651760" y="2331720"/>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31" name="Text 28"/>
          <p:cNvSpPr/>
          <p:nvPr/>
        </p:nvSpPr>
        <p:spPr>
          <a:xfrm>
            <a:off x="329184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0.072</a:t>
            </a:r>
            <a:endParaRPr lang="en-US" sz="1100" dirty="0"/>
          </a:p>
        </p:txBody>
      </p:sp>
      <p:sp>
        <p:nvSpPr>
          <p:cNvPr id="32" name="Text 29"/>
          <p:cNvSpPr/>
          <p:nvPr/>
        </p:nvSpPr>
        <p:spPr>
          <a:xfrm>
            <a:off x="406908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1.018</a:t>
            </a:r>
            <a:endParaRPr lang="en-US" sz="1100" dirty="0"/>
          </a:p>
        </p:txBody>
      </p:sp>
      <p:sp>
        <p:nvSpPr>
          <p:cNvPr id="33" name="Text 30"/>
          <p:cNvSpPr/>
          <p:nvPr/>
        </p:nvSpPr>
        <p:spPr>
          <a:xfrm>
            <a:off x="484632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−1.704</a:t>
            </a:r>
            <a:endParaRPr lang="en-US" sz="1100" dirty="0"/>
          </a:p>
        </p:txBody>
      </p:sp>
      <p:sp>
        <p:nvSpPr>
          <p:cNvPr id="34" name="Text 31"/>
          <p:cNvSpPr/>
          <p:nvPr/>
        </p:nvSpPr>
        <p:spPr>
          <a:xfrm>
            <a:off x="562356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2.526</a:t>
            </a:r>
            <a:endParaRPr lang="en-US" sz="1100" dirty="0"/>
          </a:p>
        </p:txBody>
      </p:sp>
      <p:sp>
        <p:nvSpPr>
          <p:cNvPr id="35" name="Text 32"/>
          <p:cNvSpPr/>
          <p:nvPr/>
        </p:nvSpPr>
        <p:spPr>
          <a:xfrm>
            <a:off x="6400800" y="2331720"/>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0.562</a:t>
            </a:r>
            <a:endParaRPr lang="en-US" sz="1100" dirty="0"/>
          </a:p>
        </p:txBody>
      </p:sp>
      <p:sp>
        <p:nvSpPr>
          <p:cNvPr id="36" name="Text 33"/>
          <p:cNvSpPr/>
          <p:nvPr/>
        </p:nvSpPr>
        <p:spPr>
          <a:xfrm>
            <a:off x="7315200" y="2331720"/>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−0.671</a:t>
            </a:r>
            <a:endParaRPr lang="en-US" sz="1100" dirty="0"/>
          </a:p>
        </p:txBody>
      </p:sp>
      <p:sp>
        <p:nvSpPr>
          <p:cNvPr id="37" name="Shape 34"/>
          <p:cNvSpPr/>
          <p:nvPr/>
        </p:nvSpPr>
        <p:spPr>
          <a:xfrm>
            <a:off x="320040" y="2816352"/>
            <a:ext cx="7955280" cy="475488"/>
          </a:xfrm>
          <a:prstGeom prst="roundRect">
            <a:avLst>
              <a:gd name="adj" fmla="val 11538"/>
            </a:avLst>
          </a:prstGeom>
          <a:solidFill>
            <a:srgbClr val="040C18">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8" name="Shape 35"/>
          <p:cNvSpPr/>
          <p:nvPr/>
        </p:nvSpPr>
        <p:spPr>
          <a:xfrm>
            <a:off x="320040" y="2816352"/>
            <a:ext cx="54864" cy="475488"/>
          </a:xfrm>
          <a:prstGeom prst="line">
            <a:avLst/>
          </a:prstGeom>
          <a:noFill/>
          <a:ln w="50800">
            <a:solidFill>
              <a:srgbClr val="FFB347"/>
            </a:solidFill>
            <a:prstDash val="solid"/>
          </a:ln>
        </p:spPr>
        <p:txBody>
          <a:bodyPr/>
          <a:lstStyle/>
          <a:p>
            <a:endParaRPr lang="en-GB"/>
          </a:p>
        </p:txBody>
      </p:sp>
      <p:sp>
        <p:nvSpPr>
          <p:cNvPr id="39" name="Text 36"/>
          <p:cNvSpPr/>
          <p:nvPr/>
        </p:nvSpPr>
        <p:spPr>
          <a:xfrm>
            <a:off x="457200" y="2862072"/>
            <a:ext cx="2194560" cy="384048"/>
          </a:xfrm>
          <a:prstGeom prst="rect">
            <a:avLst/>
          </a:prstGeom>
          <a:noFill/>
          <a:ln/>
        </p:spPr>
        <p:txBody>
          <a:bodyPr wrap="square" lIns="50800" tIns="50800" rIns="50800" bIns="50800" rtlCol="0" anchor="ctr"/>
          <a:lstStyle/>
          <a:p>
            <a:pPr marL="0" indent="0" algn="l">
              <a:buNone/>
            </a:pPr>
            <a:r>
              <a:rPr lang="en-US" sz="1100" b="1" dirty="0">
                <a:solidFill>
                  <a:srgbClr val="FFB347"/>
                </a:solidFill>
                <a:latin typeface="Gill Sans MT" pitchFamily="34" charset="0"/>
                <a:ea typeface="Gill Sans MT" pitchFamily="34" charset="-122"/>
                <a:cs typeface="Gill Sans MT" pitchFamily="34" charset="-120"/>
              </a:rPr>
              <a:t>η₂  Economic Perf.</a:t>
            </a:r>
            <a:endParaRPr lang="en-US" sz="1100" dirty="0"/>
          </a:p>
        </p:txBody>
      </p:sp>
      <p:sp>
        <p:nvSpPr>
          <p:cNvPr id="40" name="Text 37"/>
          <p:cNvSpPr/>
          <p:nvPr/>
        </p:nvSpPr>
        <p:spPr>
          <a:xfrm>
            <a:off x="2651760" y="2862072"/>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41" name="Text 38"/>
          <p:cNvSpPr/>
          <p:nvPr/>
        </p:nvSpPr>
        <p:spPr>
          <a:xfrm>
            <a:off x="329184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0.013</a:t>
            </a:r>
            <a:endParaRPr lang="en-US" sz="1100" dirty="0"/>
          </a:p>
        </p:txBody>
      </p:sp>
      <p:sp>
        <p:nvSpPr>
          <p:cNvPr id="42" name="Text 39"/>
          <p:cNvSpPr/>
          <p:nvPr/>
        </p:nvSpPr>
        <p:spPr>
          <a:xfrm>
            <a:off x="406908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0.867</a:t>
            </a:r>
            <a:endParaRPr lang="en-US" sz="1100" dirty="0"/>
          </a:p>
        </p:txBody>
      </p:sp>
      <p:sp>
        <p:nvSpPr>
          <p:cNvPr id="43" name="Text 40"/>
          <p:cNvSpPr/>
          <p:nvPr/>
        </p:nvSpPr>
        <p:spPr>
          <a:xfrm>
            <a:off x="484632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−1.158</a:t>
            </a:r>
            <a:endParaRPr lang="en-US" sz="1100" dirty="0"/>
          </a:p>
        </p:txBody>
      </p:sp>
      <p:sp>
        <p:nvSpPr>
          <p:cNvPr id="44" name="Text 41"/>
          <p:cNvSpPr/>
          <p:nvPr/>
        </p:nvSpPr>
        <p:spPr>
          <a:xfrm>
            <a:off x="562356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4.908</a:t>
            </a:r>
            <a:endParaRPr lang="en-US" sz="1100" dirty="0"/>
          </a:p>
        </p:txBody>
      </p:sp>
      <p:sp>
        <p:nvSpPr>
          <p:cNvPr id="45" name="Text 42"/>
          <p:cNvSpPr/>
          <p:nvPr/>
        </p:nvSpPr>
        <p:spPr>
          <a:xfrm>
            <a:off x="6400800" y="2862072"/>
            <a:ext cx="914400" cy="384048"/>
          </a:xfrm>
          <a:prstGeom prst="rect">
            <a:avLst/>
          </a:prstGeom>
          <a:noFill/>
          <a:ln/>
        </p:spPr>
        <p:txBody>
          <a:bodyPr wrap="square" lIns="50800" tIns="50800" rIns="50800" bIns="50800" rtlCol="0" anchor="ctr"/>
          <a:lstStyle/>
          <a:p>
            <a:pPr marL="0" indent="0" algn="ctr">
              <a:buNone/>
            </a:pPr>
            <a:r>
              <a:rPr lang="en-US" sz="1100" b="1" dirty="0">
                <a:solidFill>
                  <a:srgbClr val="FFB347"/>
                </a:solidFill>
                <a:latin typeface="Gill Sans MT" pitchFamily="34" charset="0"/>
                <a:ea typeface="Gill Sans MT" pitchFamily="34" charset="-122"/>
                <a:cs typeface="Gill Sans MT" pitchFamily="34" charset="-120"/>
              </a:rPr>
              <a:t>2.368 ⚠</a:t>
            </a:r>
            <a:endParaRPr lang="en-US" sz="1100" dirty="0"/>
          </a:p>
        </p:txBody>
      </p:sp>
      <p:sp>
        <p:nvSpPr>
          <p:cNvPr id="46" name="Text 43"/>
          <p:cNvSpPr/>
          <p:nvPr/>
        </p:nvSpPr>
        <p:spPr>
          <a:xfrm>
            <a:off x="7315200" y="2862072"/>
            <a:ext cx="914400" cy="384048"/>
          </a:xfrm>
          <a:prstGeom prst="rect">
            <a:avLst/>
          </a:prstGeom>
          <a:noFill/>
          <a:ln/>
        </p:spPr>
        <p:txBody>
          <a:bodyPr wrap="square" lIns="50800" tIns="50800" rIns="50800" bIns="50800" rtlCol="0" anchor="ctr"/>
          <a:lstStyle/>
          <a:p>
            <a:pPr marL="0" indent="0" algn="ctr">
              <a:buNone/>
            </a:pPr>
            <a:r>
              <a:rPr lang="en-US" sz="1100" b="1" dirty="0">
                <a:solidFill>
                  <a:srgbClr val="FFB347"/>
                </a:solidFill>
                <a:latin typeface="Gill Sans MT" pitchFamily="34" charset="0"/>
                <a:ea typeface="Gill Sans MT" pitchFamily="34" charset="-122"/>
                <a:cs typeface="Gill Sans MT" pitchFamily="34" charset="-120"/>
              </a:rPr>
              <a:t>8.157 ⚠</a:t>
            </a:r>
            <a:endParaRPr lang="en-US" sz="1100" dirty="0"/>
          </a:p>
        </p:txBody>
      </p:sp>
      <p:sp>
        <p:nvSpPr>
          <p:cNvPr id="47" name="Shape 44"/>
          <p:cNvSpPr/>
          <p:nvPr/>
        </p:nvSpPr>
        <p:spPr>
          <a:xfrm>
            <a:off x="320040" y="3346704"/>
            <a:ext cx="7955280" cy="475488"/>
          </a:xfrm>
          <a:prstGeom prst="roundRect">
            <a:avLst>
              <a:gd name="adj" fmla="val 11538"/>
            </a:avLst>
          </a:prstGeom>
          <a:solidFill>
            <a:srgbClr val="060E22">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8" name="Shape 45"/>
          <p:cNvSpPr/>
          <p:nvPr/>
        </p:nvSpPr>
        <p:spPr>
          <a:xfrm>
            <a:off x="320040" y="3346704"/>
            <a:ext cx="54864" cy="475488"/>
          </a:xfrm>
          <a:prstGeom prst="line">
            <a:avLst/>
          </a:prstGeom>
          <a:noFill/>
          <a:ln w="50800">
            <a:solidFill>
              <a:srgbClr val="C9A0E8"/>
            </a:solidFill>
            <a:prstDash val="solid"/>
          </a:ln>
        </p:spPr>
        <p:txBody>
          <a:bodyPr/>
          <a:lstStyle/>
          <a:p>
            <a:endParaRPr lang="en-GB"/>
          </a:p>
        </p:txBody>
      </p:sp>
      <p:sp>
        <p:nvSpPr>
          <p:cNvPr id="49" name="Text 46"/>
          <p:cNvSpPr/>
          <p:nvPr/>
        </p:nvSpPr>
        <p:spPr>
          <a:xfrm>
            <a:off x="457200" y="3392424"/>
            <a:ext cx="2194560" cy="384048"/>
          </a:xfrm>
          <a:prstGeom prst="rect">
            <a:avLst/>
          </a:prstGeom>
          <a:noFill/>
          <a:ln/>
        </p:spPr>
        <p:txBody>
          <a:bodyPr wrap="square" lIns="50800" tIns="50800" rIns="50800" bIns="50800" rtlCol="0" anchor="ctr"/>
          <a:lstStyle/>
          <a:p>
            <a:pPr marL="0" indent="0" algn="l">
              <a:buNone/>
            </a:pPr>
            <a:r>
              <a:rPr lang="en-US" sz="1100" b="1" dirty="0">
                <a:solidFill>
                  <a:srgbClr val="C9A0E8"/>
                </a:solidFill>
                <a:latin typeface="Gill Sans MT" pitchFamily="34" charset="0"/>
                <a:ea typeface="Gill Sans MT" pitchFamily="34" charset="-122"/>
                <a:cs typeface="Gill Sans MT" pitchFamily="34" charset="-120"/>
              </a:rPr>
              <a:t>ξ₂  Institutions</a:t>
            </a:r>
            <a:endParaRPr lang="en-US" sz="1100" dirty="0"/>
          </a:p>
        </p:txBody>
      </p:sp>
      <p:sp>
        <p:nvSpPr>
          <p:cNvPr id="50" name="Text 47"/>
          <p:cNvSpPr/>
          <p:nvPr/>
        </p:nvSpPr>
        <p:spPr>
          <a:xfrm>
            <a:off x="2651760" y="3392424"/>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51" name="Text 48"/>
          <p:cNvSpPr/>
          <p:nvPr/>
        </p:nvSpPr>
        <p:spPr>
          <a:xfrm>
            <a:off x="329184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−0.023</a:t>
            </a:r>
            <a:endParaRPr lang="en-US" sz="1100" dirty="0"/>
          </a:p>
        </p:txBody>
      </p:sp>
      <p:sp>
        <p:nvSpPr>
          <p:cNvPr id="52" name="Text 49"/>
          <p:cNvSpPr/>
          <p:nvPr/>
        </p:nvSpPr>
        <p:spPr>
          <a:xfrm>
            <a:off x="406908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0.949</a:t>
            </a:r>
            <a:endParaRPr lang="en-US" sz="1100" dirty="0"/>
          </a:p>
        </p:txBody>
      </p:sp>
      <p:sp>
        <p:nvSpPr>
          <p:cNvPr id="53" name="Text 50"/>
          <p:cNvSpPr/>
          <p:nvPr/>
        </p:nvSpPr>
        <p:spPr>
          <a:xfrm>
            <a:off x="484632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−1.683</a:t>
            </a:r>
            <a:endParaRPr lang="en-US" sz="1100" dirty="0"/>
          </a:p>
        </p:txBody>
      </p:sp>
      <p:sp>
        <p:nvSpPr>
          <p:cNvPr id="54" name="Text 51"/>
          <p:cNvSpPr/>
          <p:nvPr/>
        </p:nvSpPr>
        <p:spPr>
          <a:xfrm>
            <a:off x="562356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2.137</a:t>
            </a:r>
            <a:endParaRPr lang="en-US" sz="1100" dirty="0"/>
          </a:p>
        </p:txBody>
      </p:sp>
      <p:sp>
        <p:nvSpPr>
          <p:cNvPr id="55" name="Text 52"/>
          <p:cNvSpPr/>
          <p:nvPr/>
        </p:nvSpPr>
        <p:spPr>
          <a:xfrm>
            <a:off x="6400800" y="3392424"/>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0.439</a:t>
            </a:r>
            <a:endParaRPr lang="en-US" sz="1100" dirty="0"/>
          </a:p>
        </p:txBody>
      </p:sp>
      <p:sp>
        <p:nvSpPr>
          <p:cNvPr id="56" name="Text 53"/>
          <p:cNvSpPr/>
          <p:nvPr/>
        </p:nvSpPr>
        <p:spPr>
          <a:xfrm>
            <a:off x="7315200" y="3392424"/>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−0.661</a:t>
            </a:r>
            <a:endParaRPr lang="en-US" sz="1100" dirty="0"/>
          </a:p>
        </p:txBody>
      </p:sp>
      <p:sp>
        <p:nvSpPr>
          <p:cNvPr id="57" name="Shape 54"/>
          <p:cNvSpPr/>
          <p:nvPr/>
        </p:nvSpPr>
        <p:spPr>
          <a:xfrm>
            <a:off x="365760" y="4069080"/>
            <a:ext cx="2834640" cy="2331720"/>
          </a:xfrm>
          <a:prstGeom prst="roundRect">
            <a:avLst>
              <a:gd name="adj" fmla="val 5490"/>
            </a:avLst>
          </a:prstGeom>
          <a:solidFill>
            <a:srgbClr val="040810">
              <a:alpha val="55000"/>
            </a:srgbClr>
          </a:solidFill>
          <a:ln w="8890">
            <a:solidFill>
              <a:srgbClr val="56D68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8" name="Text 55"/>
          <p:cNvSpPr/>
          <p:nvPr/>
        </p:nvSpPr>
        <p:spPr>
          <a:xfrm>
            <a:off x="548640"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56D68A"/>
                </a:solidFill>
                <a:latin typeface="Gill Sans MT" pitchFamily="34" charset="0"/>
                <a:ea typeface="Gill Sans MT" pitchFamily="34" charset="-122"/>
                <a:cs typeface="Gill Sans MT" pitchFamily="34" charset="-120"/>
              </a:rPr>
              <a:t>Three Constructs ~Normal</a:t>
            </a:r>
            <a:endParaRPr lang="en-US" sz="1200" dirty="0"/>
          </a:p>
        </p:txBody>
      </p:sp>
      <p:sp>
        <p:nvSpPr>
          <p:cNvPr id="59" name="Shape 56"/>
          <p:cNvSpPr/>
          <p:nvPr/>
        </p:nvSpPr>
        <p:spPr>
          <a:xfrm>
            <a:off x="548640" y="4590288"/>
            <a:ext cx="2468880" cy="0"/>
          </a:xfrm>
          <a:prstGeom prst="line">
            <a:avLst/>
          </a:prstGeom>
          <a:noFill/>
          <a:ln w="19050">
            <a:solidFill>
              <a:srgbClr val="56D68A"/>
            </a:solidFill>
            <a:prstDash val="solid"/>
          </a:ln>
        </p:spPr>
        <p:txBody>
          <a:bodyPr/>
          <a:lstStyle/>
          <a:p>
            <a:endParaRPr lang="en-GB"/>
          </a:p>
        </p:txBody>
      </p:sp>
      <p:sp>
        <p:nvSpPr>
          <p:cNvPr id="60" name="Text 57"/>
          <p:cNvSpPr/>
          <p:nvPr/>
        </p:nvSpPr>
        <p:spPr>
          <a:xfrm>
            <a:off x="548640"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ξ₁, η₁, ξ₂ — skewness ∈ [−0.36, 0.56]. Safe for SEM estimation (Kline, 2023)</a:t>
            </a:r>
            <a:endParaRPr lang="en-US" sz="1100" dirty="0"/>
          </a:p>
        </p:txBody>
      </p:sp>
      <p:sp>
        <p:nvSpPr>
          <p:cNvPr id="61" name="Shape 58"/>
          <p:cNvSpPr/>
          <p:nvPr/>
        </p:nvSpPr>
        <p:spPr>
          <a:xfrm>
            <a:off x="3310128" y="4069080"/>
            <a:ext cx="2834640" cy="2331720"/>
          </a:xfrm>
          <a:prstGeom prst="roundRect">
            <a:avLst>
              <a:gd name="adj" fmla="val 5490"/>
            </a:avLst>
          </a:prstGeom>
          <a:solidFill>
            <a:srgbClr val="040810">
              <a:alpha val="55000"/>
            </a:srgbClr>
          </a:solidFill>
          <a:ln w="8890">
            <a:solidFill>
              <a:srgbClr val="FFB347">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62" name="Text 59"/>
          <p:cNvSpPr/>
          <p:nvPr/>
        </p:nvSpPr>
        <p:spPr>
          <a:xfrm>
            <a:off x="3493008"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FFB347"/>
                </a:solidFill>
                <a:latin typeface="Gill Sans MT" pitchFamily="34" charset="0"/>
                <a:ea typeface="Gill Sans MT" pitchFamily="34" charset="-122"/>
                <a:cs typeface="Gill Sans MT" pitchFamily="34" charset="-120"/>
              </a:rPr>
              <a:t>η₂ Outlier-Driven</a:t>
            </a:r>
            <a:endParaRPr lang="en-US" sz="1200" dirty="0"/>
          </a:p>
        </p:txBody>
      </p:sp>
      <p:sp>
        <p:nvSpPr>
          <p:cNvPr id="63" name="Shape 60"/>
          <p:cNvSpPr/>
          <p:nvPr/>
        </p:nvSpPr>
        <p:spPr>
          <a:xfrm>
            <a:off x="3493008" y="4590288"/>
            <a:ext cx="2468880" cy="0"/>
          </a:xfrm>
          <a:prstGeom prst="line">
            <a:avLst/>
          </a:prstGeom>
          <a:noFill/>
          <a:ln w="19050">
            <a:solidFill>
              <a:srgbClr val="FFB347"/>
            </a:solidFill>
            <a:prstDash val="solid"/>
          </a:ln>
        </p:spPr>
        <p:txBody>
          <a:bodyPr/>
          <a:lstStyle/>
          <a:p>
            <a:endParaRPr lang="en-GB"/>
          </a:p>
        </p:txBody>
      </p:sp>
      <p:sp>
        <p:nvSpPr>
          <p:cNvPr id="64" name="Text 61"/>
          <p:cNvSpPr/>
          <p:nvPr/>
        </p:nvSpPr>
        <p:spPr>
          <a:xfrm>
            <a:off x="3493008"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Skew = 2.368, Kurt = 8.157. Singapore &amp; Luxembourg pull the right tail. HC3 robust SE applied.</a:t>
            </a:r>
            <a:endParaRPr lang="en-US" sz="1100" dirty="0"/>
          </a:p>
        </p:txBody>
      </p:sp>
      <p:sp>
        <p:nvSpPr>
          <p:cNvPr id="65" name="Shape 62"/>
          <p:cNvSpPr/>
          <p:nvPr/>
        </p:nvSpPr>
        <p:spPr>
          <a:xfrm>
            <a:off x="6254496" y="4069080"/>
            <a:ext cx="2834640" cy="2331720"/>
          </a:xfrm>
          <a:prstGeom prst="roundRect">
            <a:avLst>
              <a:gd name="adj" fmla="val 5490"/>
            </a:avLst>
          </a:prstGeom>
          <a:solidFill>
            <a:srgbClr val="040810">
              <a:alpha val="55000"/>
            </a:srgbClr>
          </a:solidFill>
          <a:ln w="8890">
            <a:solidFill>
              <a:srgbClr val="6DAEDB">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66" name="Text 63"/>
          <p:cNvSpPr/>
          <p:nvPr/>
        </p:nvSpPr>
        <p:spPr>
          <a:xfrm>
            <a:off x="6437376"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6DAEDB"/>
                </a:solidFill>
                <a:latin typeface="Gill Sans MT" pitchFamily="34" charset="0"/>
                <a:ea typeface="Gill Sans MT" pitchFamily="34" charset="-122"/>
                <a:cs typeface="Gill Sans MT" pitchFamily="34" charset="-120"/>
              </a:rPr>
              <a:t>Means ≈ 0, SD ≈ 1</a:t>
            </a:r>
            <a:endParaRPr lang="en-US" sz="1200" dirty="0"/>
          </a:p>
        </p:txBody>
      </p:sp>
      <p:sp>
        <p:nvSpPr>
          <p:cNvPr id="67" name="Shape 64"/>
          <p:cNvSpPr/>
          <p:nvPr/>
        </p:nvSpPr>
        <p:spPr>
          <a:xfrm>
            <a:off x="6437376" y="4590288"/>
            <a:ext cx="2468880" cy="0"/>
          </a:xfrm>
          <a:prstGeom prst="line">
            <a:avLst/>
          </a:prstGeom>
          <a:noFill/>
          <a:ln w="19050">
            <a:solidFill>
              <a:srgbClr val="6DAEDB"/>
            </a:solidFill>
            <a:prstDash val="solid"/>
          </a:ln>
        </p:spPr>
        <p:txBody>
          <a:bodyPr/>
          <a:lstStyle/>
          <a:p>
            <a:endParaRPr lang="en-GB"/>
          </a:p>
        </p:txBody>
      </p:sp>
      <p:sp>
        <p:nvSpPr>
          <p:cNvPr id="68" name="Text 65"/>
          <p:cNvSpPr/>
          <p:nvPr/>
        </p:nvSpPr>
        <p:spPr>
          <a:xfrm>
            <a:off x="6437376"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z-score standardisation by design — not a data error. Ensures cross-scale comparability.</a:t>
            </a:r>
            <a:endParaRPr lang="en-US" sz="1100" dirty="0"/>
          </a:p>
        </p:txBody>
      </p:sp>
      <p:sp>
        <p:nvSpPr>
          <p:cNvPr id="69" name="Shape 66"/>
          <p:cNvSpPr/>
          <p:nvPr/>
        </p:nvSpPr>
        <p:spPr>
          <a:xfrm>
            <a:off x="9198864" y="4069080"/>
            <a:ext cx="2834640" cy="2331720"/>
          </a:xfrm>
          <a:prstGeom prst="roundRect">
            <a:avLst>
              <a:gd name="adj" fmla="val 5490"/>
            </a:avLst>
          </a:prstGeom>
          <a:solidFill>
            <a:srgbClr val="040810">
              <a:alpha val="55000"/>
            </a:srgbClr>
          </a:solidFill>
          <a:ln w="8890">
            <a:solidFill>
              <a:srgbClr val="4ECDC4">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70" name="Text 67"/>
          <p:cNvSpPr/>
          <p:nvPr/>
        </p:nvSpPr>
        <p:spPr>
          <a:xfrm>
            <a:off x="9381744"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4ECDC4"/>
                </a:solidFill>
                <a:latin typeface="Gill Sans MT" pitchFamily="34" charset="0"/>
                <a:ea typeface="Gill Sans MT" pitchFamily="34" charset="-122"/>
                <a:cs typeface="Gill Sans MT" pitchFamily="34" charset="-120"/>
              </a:rPr>
              <a:t>All r Significant</a:t>
            </a:r>
            <a:endParaRPr lang="en-US" sz="1200" dirty="0"/>
          </a:p>
        </p:txBody>
      </p:sp>
      <p:sp>
        <p:nvSpPr>
          <p:cNvPr id="71" name="Shape 68"/>
          <p:cNvSpPr/>
          <p:nvPr/>
        </p:nvSpPr>
        <p:spPr>
          <a:xfrm>
            <a:off x="9381744" y="4590288"/>
            <a:ext cx="2468880" cy="0"/>
          </a:xfrm>
          <a:prstGeom prst="line">
            <a:avLst/>
          </a:prstGeom>
          <a:noFill/>
          <a:ln w="19050">
            <a:solidFill>
              <a:srgbClr val="4ECDC4"/>
            </a:solidFill>
            <a:prstDash val="solid"/>
          </a:ln>
        </p:spPr>
        <p:txBody>
          <a:bodyPr/>
          <a:lstStyle/>
          <a:p>
            <a:endParaRPr lang="en-GB"/>
          </a:p>
        </p:txBody>
      </p:sp>
      <p:sp>
        <p:nvSpPr>
          <p:cNvPr id="72" name="Text 69"/>
          <p:cNvSpPr/>
          <p:nvPr/>
        </p:nvSpPr>
        <p:spPr>
          <a:xfrm>
            <a:off x="9381744"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All 6 pairwise correlations: p &lt; .001. Strong empirical foundations for structural model.</a:t>
            </a:r>
            <a:endParaRPr lang="en-US" sz="1100" dirty="0"/>
          </a:p>
        </p:txBody>
      </p:sp>
      <p:sp>
        <p:nvSpPr>
          <p:cNvPr id="73" name="Text 70"/>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4ECDC4"/>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4ECDC4"/>
                </a:solidFill>
                <a:latin typeface="Gill Sans MT" pitchFamily="34" charset="0"/>
                <a:ea typeface="Gill Sans MT" pitchFamily="34" charset="-122"/>
                <a:cs typeface="Gill Sans MT" pitchFamily="34" charset="-120"/>
              </a:rPr>
              <a:t>RESULTS — CORRELATIONS</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Pearson Correlation Matrix</a:t>
            </a:r>
            <a:endParaRPr lang="en-US" sz="2800" dirty="0"/>
          </a:p>
        </p:txBody>
      </p:sp>
      <p:sp>
        <p:nvSpPr>
          <p:cNvPr id="7" name="Shape 4"/>
          <p:cNvSpPr/>
          <p:nvPr/>
        </p:nvSpPr>
        <p:spPr>
          <a:xfrm>
            <a:off x="365760" y="1115568"/>
            <a:ext cx="11430000" cy="0"/>
          </a:xfrm>
          <a:prstGeom prst="line">
            <a:avLst/>
          </a:prstGeom>
          <a:noFill/>
          <a:ln w="19050">
            <a:solidFill>
              <a:srgbClr val="4ECDC4"/>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320040" y="1261872"/>
            <a:ext cx="5943600" cy="4754880"/>
          </a:xfrm>
          <a:prstGeom prst="rect">
            <a:avLst/>
          </a:prstGeom>
        </p:spPr>
      </p:pic>
      <p:sp>
        <p:nvSpPr>
          <p:cNvPr id="9" name="Shape 5"/>
          <p:cNvSpPr/>
          <p:nvPr/>
        </p:nvSpPr>
        <p:spPr>
          <a:xfrm>
            <a:off x="6492240" y="1298448"/>
            <a:ext cx="5486400" cy="841248"/>
          </a:xfrm>
          <a:prstGeom prst="roundRect">
            <a:avLst>
              <a:gd name="adj" fmla="val 15217"/>
            </a:avLst>
          </a:prstGeom>
          <a:solidFill>
            <a:srgbClr val="030C10">
              <a:alpha val="58000"/>
            </a:srgbClr>
          </a:solidFill>
          <a:ln w="7620">
            <a:solidFill>
              <a:srgbClr val="C9A0E8">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0" name="Text 6"/>
          <p:cNvSpPr/>
          <p:nvPr/>
        </p:nvSpPr>
        <p:spPr>
          <a:xfrm>
            <a:off x="6656832" y="1353312"/>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ξ₂ ↔ η₁</a:t>
            </a:r>
            <a:endParaRPr lang="en-US" sz="1300" dirty="0"/>
          </a:p>
        </p:txBody>
      </p:sp>
      <p:sp>
        <p:nvSpPr>
          <p:cNvPr id="11" name="Text 7"/>
          <p:cNvSpPr/>
          <p:nvPr/>
        </p:nvSpPr>
        <p:spPr>
          <a:xfrm>
            <a:off x="8183880" y="1353312"/>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0.844</a:t>
            </a:r>
            <a:endParaRPr lang="en-US" sz="1300" dirty="0"/>
          </a:p>
        </p:txBody>
      </p:sp>
      <p:sp>
        <p:nvSpPr>
          <p:cNvPr id="12" name="Text 8"/>
          <p:cNvSpPr/>
          <p:nvPr/>
        </p:nvSpPr>
        <p:spPr>
          <a:xfrm>
            <a:off x="6656832" y="1737360"/>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Strongest link — institutions dominate SC performance</a:t>
            </a:r>
            <a:endParaRPr lang="en-US" sz="1050" dirty="0"/>
          </a:p>
        </p:txBody>
      </p:sp>
      <p:sp>
        <p:nvSpPr>
          <p:cNvPr id="13" name="Shape 9"/>
          <p:cNvSpPr/>
          <p:nvPr/>
        </p:nvSpPr>
        <p:spPr>
          <a:xfrm>
            <a:off x="6492240" y="2267712"/>
            <a:ext cx="5486400" cy="841248"/>
          </a:xfrm>
          <a:prstGeom prst="roundRect">
            <a:avLst>
              <a:gd name="adj" fmla="val 15217"/>
            </a:avLst>
          </a:prstGeom>
          <a:solidFill>
            <a:srgbClr val="030C10">
              <a:alpha val="58000"/>
            </a:srgbClr>
          </a:solidFill>
          <a:ln w="7620">
            <a:solidFill>
              <a:srgbClr val="6DAEDB">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Text 10"/>
          <p:cNvSpPr/>
          <p:nvPr/>
        </p:nvSpPr>
        <p:spPr>
          <a:xfrm>
            <a:off x="6656832" y="2322576"/>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ξ₁ ↔ ξ₂</a:t>
            </a:r>
            <a:endParaRPr lang="en-US" sz="1300" dirty="0"/>
          </a:p>
        </p:txBody>
      </p:sp>
      <p:sp>
        <p:nvSpPr>
          <p:cNvPr id="15" name="Text 11"/>
          <p:cNvSpPr/>
          <p:nvPr/>
        </p:nvSpPr>
        <p:spPr>
          <a:xfrm>
            <a:off x="8183880" y="2322576"/>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0.799</a:t>
            </a:r>
            <a:endParaRPr lang="en-US" sz="1300" dirty="0"/>
          </a:p>
        </p:txBody>
      </p:sp>
      <p:sp>
        <p:nvSpPr>
          <p:cNvPr id="16" name="Text 12"/>
          <p:cNvSpPr/>
          <p:nvPr/>
        </p:nvSpPr>
        <p:spPr>
          <a:xfrm>
            <a:off x="6656832" y="2706624"/>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AI readiness &amp; institutions highly co-evolved globally</a:t>
            </a:r>
            <a:endParaRPr lang="en-US" sz="1050" dirty="0"/>
          </a:p>
        </p:txBody>
      </p:sp>
      <p:sp>
        <p:nvSpPr>
          <p:cNvPr id="17" name="Shape 13"/>
          <p:cNvSpPr/>
          <p:nvPr/>
        </p:nvSpPr>
        <p:spPr>
          <a:xfrm>
            <a:off x="6492240" y="3236976"/>
            <a:ext cx="5486400" cy="841248"/>
          </a:xfrm>
          <a:prstGeom prst="roundRect">
            <a:avLst>
              <a:gd name="adj" fmla="val 15217"/>
            </a:avLst>
          </a:prstGeom>
          <a:solidFill>
            <a:srgbClr val="030C10">
              <a:alpha val="58000"/>
            </a:srgbClr>
          </a:solidFill>
          <a:ln w="7620">
            <a:solidFill>
              <a:srgbClr val="4ECDC4">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Text 14"/>
          <p:cNvSpPr/>
          <p:nvPr/>
        </p:nvSpPr>
        <p:spPr>
          <a:xfrm>
            <a:off x="6656832" y="3291840"/>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ξ₁ ↔ η₁</a:t>
            </a:r>
            <a:endParaRPr lang="en-US" sz="1300" dirty="0"/>
          </a:p>
        </p:txBody>
      </p:sp>
      <p:sp>
        <p:nvSpPr>
          <p:cNvPr id="19" name="Text 15"/>
          <p:cNvSpPr/>
          <p:nvPr/>
        </p:nvSpPr>
        <p:spPr>
          <a:xfrm>
            <a:off x="8183880" y="3291840"/>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0.786</a:t>
            </a:r>
            <a:endParaRPr lang="en-US" sz="1300" dirty="0"/>
          </a:p>
        </p:txBody>
      </p:sp>
      <p:sp>
        <p:nvSpPr>
          <p:cNvPr id="20" name="Text 16"/>
          <p:cNvSpPr/>
          <p:nvPr/>
        </p:nvSpPr>
        <p:spPr>
          <a:xfrm>
            <a:off x="6656832" y="3675888"/>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Strong AI readiness → SC relationship confirmed</a:t>
            </a:r>
            <a:endParaRPr lang="en-US" sz="1050" dirty="0"/>
          </a:p>
        </p:txBody>
      </p:sp>
      <p:sp>
        <p:nvSpPr>
          <p:cNvPr id="21" name="Shape 17"/>
          <p:cNvSpPr/>
          <p:nvPr/>
        </p:nvSpPr>
        <p:spPr>
          <a:xfrm>
            <a:off x="6492240" y="4206240"/>
            <a:ext cx="5486400" cy="841248"/>
          </a:xfrm>
          <a:prstGeom prst="roundRect">
            <a:avLst>
              <a:gd name="adj" fmla="val 15217"/>
            </a:avLst>
          </a:prstGeom>
          <a:solidFill>
            <a:srgbClr val="030C10">
              <a:alpha val="58000"/>
            </a:srgbClr>
          </a:solidFill>
          <a:ln w="7620">
            <a:solidFill>
              <a:srgbClr val="F0C040">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Text 18"/>
          <p:cNvSpPr/>
          <p:nvPr/>
        </p:nvSpPr>
        <p:spPr>
          <a:xfrm>
            <a:off x="6656832" y="4261104"/>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ξ₁ ↔ η₂</a:t>
            </a:r>
            <a:endParaRPr lang="en-US" sz="1300" dirty="0"/>
          </a:p>
        </p:txBody>
      </p:sp>
      <p:sp>
        <p:nvSpPr>
          <p:cNvPr id="23" name="Text 19"/>
          <p:cNvSpPr/>
          <p:nvPr/>
        </p:nvSpPr>
        <p:spPr>
          <a:xfrm>
            <a:off x="8183880" y="4261104"/>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0.550</a:t>
            </a:r>
            <a:endParaRPr lang="en-US" sz="1300" dirty="0"/>
          </a:p>
        </p:txBody>
      </p:sp>
      <p:sp>
        <p:nvSpPr>
          <p:cNvPr id="24" name="Text 20"/>
          <p:cNvSpPr/>
          <p:nvPr/>
        </p:nvSpPr>
        <p:spPr>
          <a:xfrm>
            <a:off x="6656832" y="4645152"/>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Moderate — suggests direct AI → Economy route</a:t>
            </a:r>
            <a:endParaRPr lang="en-US" sz="1050" dirty="0"/>
          </a:p>
        </p:txBody>
      </p:sp>
      <p:sp>
        <p:nvSpPr>
          <p:cNvPr id="25" name="Shape 21"/>
          <p:cNvSpPr/>
          <p:nvPr/>
        </p:nvSpPr>
        <p:spPr>
          <a:xfrm>
            <a:off x="6492240" y="5175504"/>
            <a:ext cx="5486400" cy="841248"/>
          </a:xfrm>
          <a:prstGeom prst="roundRect">
            <a:avLst>
              <a:gd name="adj" fmla="val 15217"/>
            </a:avLst>
          </a:prstGeom>
          <a:solidFill>
            <a:srgbClr val="030C10">
              <a:alpha val="58000"/>
            </a:srgbClr>
          </a:solidFill>
          <a:ln w="7620">
            <a:solidFill>
              <a:srgbClr val="56D68A">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6" name="Text 22"/>
          <p:cNvSpPr/>
          <p:nvPr/>
        </p:nvSpPr>
        <p:spPr>
          <a:xfrm>
            <a:off x="6656832" y="5230368"/>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η₁ ↔ η₂</a:t>
            </a:r>
            <a:endParaRPr lang="en-US" sz="1300" dirty="0"/>
          </a:p>
        </p:txBody>
      </p:sp>
      <p:sp>
        <p:nvSpPr>
          <p:cNvPr id="27" name="Text 23"/>
          <p:cNvSpPr/>
          <p:nvPr/>
        </p:nvSpPr>
        <p:spPr>
          <a:xfrm>
            <a:off x="8183880" y="5230368"/>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0.562</a:t>
            </a:r>
            <a:endParaRPr lang="en-US" sz="1300" dirty="0"/>
          </a:p>
        </p:txBody>
      </p:sp>
      <p:sp>
        <p:nvSpPr>
          <p:cNvPr id="28" name="Text 24"/>
          <p:cNvSpPr/>
          <p:nvPr/>
        </p:nvSpPr>
        <p:spPr>
          <a:xfrm>
            <a:off x="6656832" y="5614416"/>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Moderate — partial, not full mediation signal</a:t>
            </a:r>
            <a:endParaRPr lang="en-US" sz="1050" dirty="0"/>
          </a:p>
        </p:txBody>
      </p:sp>
      <p:sp>
        <p:nvSpPr>
          <p:cNvPr id="29" name="Shape 25"/>
          <p:cNvSpPr/>
          <p:nvPr/>
        </p:nvSpPr>
        <p:spPr>
          <a:xfrm>
            <a:off x="6492240" y="6172200"/>
            <a:ext cx="5486400" cy="384048"/>
          </a:xfrm>
          <a:prstGeom prst="roundRect">
            <a:avLst>
              <a:gd name="adj" fmla="val 33333"/>
            </a:avLst>
          </a:prstGeom>
          <a:solidFill>
            <a:srgbClr val="030C10">
              <a:alpha val="52000"/>
            </a:srgbClr>
          </a:solidFill>
          <a:ln w="3810">
            <a:solidFill>
              <a:srgbClr val="B8C8D8">
                <a:alpha val="1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0" name="Text 26"/>
          <p:cNvSpPr/>
          <p:nvPr/>
        </p:nvSpPr>
        <p:spPr>
          <a:xfrm>
            <a:off x="6565392" y="6181344"/>
            <a:ext cx="5349240" cy="365760"/>
          </a:xfrm>
          <a:prstGeom prst="rect">
            <a:avLst/>
          </a:prstGeom>
          <a:noFill/>
          <a:ln/>
        </p:spPr>
        <p:txBody>
          <a:bodyPr wrap="square" lIns="50800" tIns="50800" rIns="50800" bIns="50800" rtlCol="0" anchor="ctr"/>
          <a:lstStyle/>
          <a:p>
            <a:pPr marL="0" indent="0" algn="l">
              <a:buNone/>
            </a:pPr>
            <a:r>
              <a:rPr lang="en-US" sz="900" i="1" dirty="0">
                <a:solidFill>
                  <a:srgbClr val="B8C8D8"/>
                </a:solidFill>
                <a:latin typeface="Gill Sans MT" pitchFamily="34" charset="0"/>
                <a:ea typeface="Gill Sans MT" pitchFamily="34" charset="-122"/>
                <a:cs typeface="Gill Sans MT" pitchFamily="34" charset="-120"/>
              </a:rPr>
              <a:t>All 6 pairwise correlations significant at p &lt; .001 (two-tailed). N = 164 listwise.</a:t>
            </a:r>
            <a:endParaRPr lang="en-US" sz="900" dirty="0"/>
          </a:p>
        </p:txBody>
      </p:sp>
      <p:sp>
        <p:nvSpPr>
          <p:cNvPr id="31" name="Text 27"/>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30480" y="13716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C9A0E8"/>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C9A0E8"/>
                </a:solidFill>
                <a:latin typeface="Gill Sans MT" pitchFamily="34" charset="0"/>
                <a:ea typeface="Gill Sans MT" pitchFamily="34" charset="-122"/>
                <a:cs typeface="Gill Sans MT" pitchFamily="34" charset="-120"/>
              </a:rPr>
              <a:t>RESULTS — MEASUREMENT MODEL</a:t>
            </a:r>
            <a:endParaRPr lang="en-US" sz="850" dirty="0"/>
          </a:p>
        </p:txBody>
      </p:sp>
      <p:sp>
        <p:nvSpPr>
          <p:cNvPr id="6" name="Text 3"/>
          <p:cNvSpPr/>
          <p:nvPr/>
        </p:nvSpPr>
        <p:spPr>
          <a:xfrm>
            <a:off x="365760" y="347472"/>
            <a:ext cx="11430000" cy="685800"/>
          </a:xfrm>
          <a:prstGeom prst="rect">
            <a:avLst/>
          </a:prstGeom>
          <a:noFill/>
          <a:ln/>
        </p:spPr>
        <p:txBody>
          <a:bodyPr wrap="square" lIns="50800" tIns="50800" rIns="50800" bIns="50800" rtlCol="0" anchor="ctr"/>
          <a:lstStyle/>
          <a:p>
            <a:pPr marL="0" indent="0" algn="l">
              <a:buNone/>
            </a:pPr>
            <a:r>
              <a:rPr lang="en-US" sz="2500" b="1" dirty="0">
                <a:solidFill>
                  <a:srgbClr val="FFFFFF"/>
                </a:solidFill>
                <a:latin typeface="Gill Sans MT" pitchFamily="34" charset="0"/>
                <a:ea typeface="Gill Sans MT" pitchFamily="34" charset="-122"/>
                <a:cs typeface="Gill Sans MT" pitchFamily="34" charset="-120"/>
              </a:rPr>
              <a:t>Measurement Model — Reliability &amp; Validity</a:t>
            </a:r>
            <a:endParaRPr lang="en-US" sz="2500" dirty="0"/>
          </a:p>
        </p:txBody>
      </p:sp>
      <p:sp>
        <p:nvSpPr>
          <p:cNvPr id="7" name="Shape 4"/>
          <p:cNvSpPr/>
          <p:nvPr/>
        </p:nvSpPr>
        <p:spPr>
          <a:xfrm>
            <a:off x="365760" y="1115568"/>
            <a:ext cx="11430000" cy="0"/>
          </a:xfrm>
          <a:prstGeom prst="line">
            <a:avLst/>
          </a:prstGeom>
          <a:noFill/>
          <a:ln w="19050">
            <a:solidFill>
              <a:srgbClr val="C9A0E8"/>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320040" y="1261872"/>
            <a:ext cx="7680960" cy="4114800"/>
          </a:xfrm>
          <a:prstGeom prst="rect">
            <a:avLst/>
          </a:prstGeom>
        </p:spPr>
      </p:pic>
      <p:sp>
        <p:nvSpPr>
          <p:cNvPr id="9" name="Shape 5"/>
          <p:cNvSpPr/>
          <p:nvPr/>
        </p:nvSpPr>
        <p:spPr>
          <a:xfrm>
            <a:off x="8183880" y="1298448"/>
            <a:ext cx="3749040" cy="1417320"/>
          </a:xfrm>
          <a:prstGeom prst="roundRect">
            <a:avLst>
              <a:gd name="adj" fmla="val 9032"/>
            </a:avLst>
          </a:prstGeom>
          <a:solidFill>
            <a:srgbClr val="100520">
              <a:alpha val="58000"/>
            </a:srgbClr>
          </a:solidFill>
          <a:ln w="10160">
            <a:solidFill>
              <a:srgbClr val="56D68A">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0" name="Text 6"/>
          <p:cNvSpPr/>
          <p:nvPr/>
        </p:nvSpPr>
        <p:spPr>
          <a:xfrm>
            <a:off x="8321040" y="1371600"/>
            <a:ext cx="502920" cy="1261872"/>
          </a:xfrm>
          <a:prstGeom prst="rect">
            <a:avLst/>
          </a:prstGeom>
          <a:noFill/>
          <a:ln/>
        </p:spPr>
        <p:txBody>
          <a:bodyPr wrap="square" lIns="50800" tIns="50800" rIns="50800" bIns="50800" rtlCol="0" anchor="ctr"/>
          <a:lstStyle/>
          <a:p>
            <a:pPr marL="0" indent="0" algn="ctr">
              <a:buNone/>
            </a:pPr>
            <a:r>
              <a:rPr lang="en-US" sz="2200" b="1" dirty="0">
                <a:solidFill>
                  <a:srgbClr val="56D68A"/>
                </a:solidFill>
                <a:latin typeface="Gill Sans MT" pitchFamily="34" charset="0"/>
                <a:ea typeface="Gill Sans MT" pitchFamily="34" charset="-122"/>
                <a:cs typeface="Gill Sans MT" pitchFamily="34" charset="-120"/>
              </a:rPr>
              <a:t>✓</a:t>
            </a:r>
            <a:endParaRPr lang="en-US" sz="2200" dirty="0"/>
          </a:p>
        </p:txBody>
      </p:sp>
      <p:sp>
        <p:nvSpPr>
          <p:cNvPr id="11" name="Shape 7"/>
          <p:cNvSpPr/>
          <p:nvPr/>
        </p:nvSpPr>
        <p:spPr>
          <a:xfrm>
            <a:off x="8869680" y="1389888"/>
            <a:ext cx="0" cy="1234440"/>
          </a:xfrm>
          <a:prstGeom prst="line">
            <a:avLst/>
          </a:prstGeom>
          <a:noFill/>
          <a:ln w="10160">
            <a:solidFill>
              <a:srgbClr val="56D68A">
                <a:alpha val="40000"/>
              </a:srgbClr>
            </a:solidFill>
            <a:prstDash val="solid"/>
          </a:ln>
        </p:spPr>
        <p:txBody>
          <a:bodyPr/>
          <a:lstStyle/>
          <a:p>
            <a:endParaRPr lang="en-GB"/>
          </a:p>
        </p:txBody>
      </p:sp>
      <p:sp>
        <p:nvSpPr>
          <p:cNvPr id="12" name="Text 8"/>
          <p:cNvSpPr/>
          <p:nvPr/>
        </p:nvSpPr>
        <p:spPr>
          <a:xfrm>
            <a:off x="8979408" y="1389888"/>
            <a:ext cx="2834640" cy="36576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Gill Sans MT" pitchFamily="34" charset="0"/>
                <a:ea typeface="Gill Sans MT" pitchFamily="34" charset="-122"/>
                <a:cs typeface="Gill Sans MT" pitchFamily="34" charset="-120"/>
              </a:rPr>
              <a:t>Internal Consistency</a:t>
            </a:r>
            <a:endParaRPr lang="en-US" sz="1100" dirty="0"/>
          </a:p>
        </p:txBody>
      </p:sp>
      <p:sp>
        <p:nvSpPr>
          <p:cNvPr id="13" name="Text 9"/>
          <p:cNvSpPr/>
          <p:nvPr/>
        </p:nvSpPr>
        <p:spPr>
          <a:xfrm>
            <a:off x="8979408" y="1773936"/>
            <a:ext cx="2834640" cy="365760"/>
          </a:xfrm>
          <a:prstGeom prst="rect">
            <a:avLst/>
          </a:prstGeom>
          <a:noFill/>
          <a:ln/>
        </p:spPr>
        <p:txBody>
          <a:bodyPr wrap="square" lIns="50800" tIns="50800" rIns="50800" bIns="50800" rtlCol="0" anchor="ctr"/>
          <a:lstStyle/>
          <a:p>
            <a:pPr marL="0" indent="0" algn="l">
              <a:buNone/>
            </a:pPr>
            <a:r>
              <a:rPr lang="en-US" sz="1400" b="1" dirty="0">
                <a:solidFill>
                  <a:srgbClr val="56D68A"/>
                </a:solidFill>
                <a:latin typeface="Gill Sans MT" pitchFamily="34" charset="0"/>
                <a:ea typeface="Gill Sans MT" pitchFamily="34" charset="-122"/>
                <a:cs typeface="Gill Sans MT" pitchFamily="34" charset="-120"/>
              </a:rPr>
              <a:t>All α ≥ 0.819</a:t>
            </a:r>
            <a:endParaRPr lang="en-US" sz="1400" dirty="0"/>
          </a:p>
        </p:txBody>
      </p:sp>
      <p:sp>
        <p:nvSpPr>
          <p:cNvPr id="14" name="Text 10"/>
          <p:cNvSpPr/>
          <p:nvPr/>
        </p:nvSpPr>
        <p:spPr>
          <a:xfrm>
            <a:off x="8979408" y="2157984"/>
            <a:ext cx="2834640" cy="41148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ξ₂ = 0.982 (exceptional)</a:t>
            </a:r>
            <a:endParaRPr lang="en-US" sz="1050" dirty="0"/>
          </a:p>
        </p:txBody>
      </p:sp>
      <p:sp>
        <p:nvSpPr>
          <p:cNvPr id="15" name="Shape 11"/>
          <p:cNvSpPr/>
          <p:nvPr/>
        </p:nvSpPr>
        <p:spPr>
          <a:xfrm>
            <a:off x="8183880" y="2871216"/>
            <a:ext cx="3749040" cy="1417320"/>
          </a:xfrm>
          <a:prstGeom prst="roundRect">
            <a:avLst>
              <a:gd name="adj" fmla="val 9032"/>
            </a:avLst>
          </a:prstGeom>
          <a:solidFill>
            <a:srgbClr val="100520">
              <a:alpha val="58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6" name="Text 12"/>
          <p:cNvSpPr/>
          <p:nvPr/>
        </p:nvSpPr>
        <p:spPr>
          <a:xfrm>
            <a:off x="8321040" y="2944368"/>
            <a:ext cx="502920" cy="1261872"/>
          </a:xfrm>
          <a:prstGeom prst="rect">
            <a:avLst/>
          </a:prstGeom>
          <a:noFill/>
          <a:ln/>
        </p:spPr>
        <p:txBody>
          <a:bodyPr wrap="square" lIns="50800" tIns="50800" rIns="50800" bIns="50800" rtlCol="0" anchor="ctr"/>
          <a:lstStyle/>
          <a:p>
            <a:pPr marL="0" indent="0" algn="ctr">
              <a:buNone/>
            </a:pPr>
            <a:r>
              <a:rPr lang="en-US" sz="2200" b="1" dirty="0">
                <a:solidFill>
                  <a:srgbClr val="F0C040"/>
                </a:solidFill>
                <a:latin typeface="Gill Sans MT" pitchFamily="34" charset="0"/>
                <a:ea typeface="Gill Sans MT" pitchFamily="34" charset="-122"/>
                <a:cs typeface="Gill Sans MT" pitchFamily="34" charset="-120"/>
              </a:rPr>
              <a:t>✓</a:t>
            </a:r>
            <a:endParaRPr lang="en-US" sz="2200" dirty="0"/>
          </a:p>
        </p:txBody>
      </p:sp>
      <p:sp>
        <p:nvSpPr>
          <p:cNvPr id="17" name="Shape 13"/>
          <p:cNvSpPr/>
          <p:nvPr/>
        </p:nvSpPr>
        <p:spPr>
          <a:xfrm>
            <a:off x="8869680" y="2962656"/>
            <a:ext cx="0" cy="1234440"/>
          </a:xfrm>
          <a:prstGeom prst="line">
            <a:avLst/>
          </a:prstGeom>
          <a:noFill/>
          <a:ln w="10160">
            <a:solidFill>
              <a:srgbClr val="F0C040">
                <a:alpha val="40000"/>
              </a:srgbClr>
            </a:solidFill>
            <a:prstDash val="solid"/>
          </a:ln>
        </p:spPr>
        <p:txBody>
          <a:bodyPr/>
          <a:lstStyle/>
          <a:p>
            <a:endParaRPr lang="en-GB"/>
          </a:p>
        </p:txBody>
      </p:sp>
      <p:sp>
        <p:nvSpPr>
          <p:cNvPr id="18" name="Text 14"/>
          <p:cNvSpPr/>
          <p:nvPr/>
        </p:nvSpPr>
        <p:spPr>
          <a:xfrm>
            <a:off x="8979408" y="2962656"/>
            <a:ext cx="2834640" cy="36576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Gill Sans MT" pitchFamily="34" charset="0"/>
                <a:ea typeface="Gill Sans MT" pitchFamily="34" charset="-122"/>
                <a:cs typeface="Gill Sans MT" pitchFamily="34" charset="-120"/>
              </a:rPr>
              <a:t>Convergent Validity</a:t>
            </a:r>
            <a:endParaRPr lang="en-US" sz="1100" dirty="0"/>
          </a:p>
        </p:txBody>
      </p:sp>
      <p:sp>
        <p:nvSpPr>
          <p:cNvPr id="19" name="Text 15"/>
          <p:cNvSpPr/>
          <p:nvPr/>
        </p:nvSpPr>
        <p:spPr>
          <a:xfrm>
            <a:off x="8979408" y="3346704"/>
            <a:ext cx="2834640" cy="365760"/>
          </a:xfrm>
          <a:prstGeom prst="rect">
            <a:avLst/>
          </a:prstGeom>
          <a:noFill/>
          <a:ln/>
        </p:spPr>
        <p:txBody>
          <a:bodyPr wrap="square" lIns="50800" tIns="50800" rIns="50800" bIns="50800" rtlCol="0" anchor="ctr"/>
          <a:lstStyle/>
          <a:p>
            <a:pPr marL="0" indent="0" algn="l">
              <a:buNone/>
            </a:pPr>
            <a:r>
              <a:rPr lang="en-US" sz="1400" b="1" dirty="0">
                <a:solidFill>
                  <a:srgbClr val="F0C040"/>
                </a:solidFill>
                <a:latin typeface="Gill Sans MT" pitchFamily="34" charset="0"/>
                <a:ea typeface="Gill Sans MT" pitchFamily="34" charset="-122"/>
                <a:cs typeface="Gill Sans MT" pitchFamily="34" charset="-120"/>
              </a:rPr>
              <a:t>All AVE (Average Variance Extracted) ≥ 0.501</a:t>
            </a:r>
            <a:endParaRPr lang="en-US" sz="1400" dirty="0"/>
          </a:p>
        </p:txBody>
      </p:sp>
      <p:sp>
        <p:nvSpPr>
          <p:cNvPr id="20" name="Text 16"/>
          <p:cNvSpPr/>
          <p:nvPr/>
        </p:nvSpPr>
        <p:spPr>
          <a:xfrm>
            <a:off x="8979408" y="3730752"/>
            <a:ext cx="2834640" cy="41148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η₂ borderline — passes threshold</a:t>
            </a:r>
            <a:endParaRPr lang="en-US" sz="1050" dirty="0"/>
          </a:p>
        </p:txBody>
      </p:sp>
      <p:sp>
        <p:nvSpPr>
          <p:cNvPr id="21" name="Shape 17"/>
          <p:cNvSpPr/>
          <p:nvPr/>
        </p:nvSpPr>
        <p:spPr>
          <a:xfrm>
            <a:off x="8183880" y="4443984"/>
            <a:ext cx="3749040" cy="1417320"/>
          </a:xfrm>
          <a:prstGeom prst="roundRect">
            <a:avLst>
              <a:gd name="adj" fmla="val 9032"/>
            </a:avLst>
          </a:prstGeom>
          <a:solidFill>
            <a:srgbClr val="100520">
              <a:alpha val="58000"/>
            </a:srgbClr>
          </a:solidFill>
          <a:ln w="10160">
            <a:solidFill>
              <a:srgbClr val="4ECDC4">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Text 18"/>
          <p:cNvSpPr/>
          <p:nvPr/>
        </p:nvSpPr>
        <p:spPr>
          <a:xfrm>
            <a:off x="8321040" y="4517136"/>
            <a:ext cx="502920" cy="1261872"/>
          </a:xfrm>
          <a:prstGeom prst="rect">
            <a:avLst/>
          </a:prstGeom>
          <a:noFill/>
          <a:ln/>
        </p:spPr>
        <p:txBody>
          <a:bodyPr wrap="square" lIns="50800" tIns="50800" rIns="50800" bIns="50800" rtlCol="0" anchor="ctr"/>
          <a:lstStyle/>
          <a:p>
            <a:pPr marL="0" indent="0" algn="ctr">
              <a:buNone/>
            </a:pPr>
            <a:r>
              <a:rPr lang="en-US" sz="2200" b="1" dirty="0">
                <a:solidFill>
                  <a:srgbClr val="4ECDC4"/>
                </a:solidFill>
                <a:latin typeface="Gill Sans MT" pitchFamily="34" charset="0"/>
                <a:ea typeface="Gill Sans MT" pitchFamily="34" charset="-122"/>
                <a:cs typeface="Gill Sans MT" pitchFamily="34" charset="-120"/>
              </a:rPr>
              <a:t>✓</a:t>
            </a:r>
            <a:endParaRPr lang="en-US" sz="2200" dirty="0"/>
          </a:p>
        </p:txBody>
      </p:sp>
      <p:sp>
        <p:nvSpPr>
          <p:cNvPr id="23" name="Shape 19"/>
          <p:cNvSpPr/>
          <p:nvPr/>
        </p:nvSpPr>
        <p:spPr>
          <a:xfrm>
            <a:off x="8869680" y="4535424"/>
            <a:ext cx="0" cy="1234440"/>
          </a:xfrm>
          <a:prstGeom prst="line">
            <a:avLst/>
          </a:prstGeom>
          <a:noFill/>
          <a:ln w="10160">
            <a:solidFill>
              <a:srgbClr val="4ECDC4">
                <a:alpha val="40000"/>
              </a:srgbClr>
            </a:solidFill>
            <a:prstDash val="solid"/>
          </a:ln>
        </p:spPr>
        <p:txBody>
          <a:bodyPr/>
          <a:lstStyle/>
          <a:p>
            <a:endParaRPr lang="en-GB"/>
          </a:p>
        </p:txBody>
      </p:sp>
      <p:sp>
        <p:nvSpPr>
          <p:cNvPr id="24" name="Text 20"/>
          <p:cNvSpPr/>
          <p:nvPr/>
        </p:nvSpPr>
        <p:spPr>
          <a:xfrm>
            <a:off x="8979408" y="4535424"/>
            <a:ext cx="2834640" cy="36576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Gill Sans MT" pitchFamily="34" charset="0"/>
                <a:ea typeface="Gill Sans MT" pitchFamily="34" charset="-122"/>
                <a:cs typeface="Gill Sans MT" pitchFamily="34" charset="-120"/>
              </a:rPr>
              <a:t>Discriminant Validity</a:t>
            </a:r>
            <a:endParaRPr lang="en-US" sz="1100" dirty="0"/>
          </a:p>
        </p:txBody>
      </p:sp>
      <p:sp>
        <p:nvSpPr>
          <p:cNvPr id="25" name="Text 21"/>
          <p:cNvSpPr/>
          <p:nvPr/>
        </p:nvSpPr>
        <p:spPr>
          <a:xfrm>
            <a:off x="8979408" y="4919472"/>
            <a:ext cx="2834640" cy="365760"/>
          </a:xfrm>
          <a:prstGeom prst="rect">
            <a:avLst/>
          </a:prstGeom>
          <a:noFill/>
          <a:ln/>
        </p:spPr>
        <p:txBody>
          <a:bodyPr wrap="square" lIns="50800" tIns="50800" rIns="50800" bIns="50800" rtlCol="0" anchor="ctr"/>
          <a:lstStyle/>
          <a:p>
            <a:pPr marL="0" indent="0" algn="l">
              <a:buNone/>
            </a:pPr>
            <a:r>
              <a:rPr lang="en-US" sz="1400" b="1" dirty="0">
                <a:solidFill>
                  <a:srgbClr val="4ECDC4"/>
                </a:solidFill>
                <a:latin typeface="Gill Sans MT" pitchFamily="34" charset="0"/>
                <a:ea typeface="Gill Sans MT" pitchFamily="34" charset="-122"/>
                <a:cs typeface="Gill Sans MT" pitchFamily="34" charset="-120"/>
              </a:rPr>
              <a:t>√AVE &gt; all r</a:t>
            </a:r>
            <a:endParaRPr lang="en-US" sz="1400" dirty="0"/>
          </a:p>
        </p:txBody>
      </p:sp>
      <p:sp>
        <p:nvSpPr>
          <p:cNvPr id="26" name="Text 22"/>
          <p:cNvSpPr/>
          <p:nvPr/>
        </p:nvSpPr>
        <p:spPr>
          <a:xfrm>
            <a:off x="8979408" y="5303520"/>
            <a:ext cx="2834640" cy="41148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Fornell-Larcker fully satisfied</a:t>
            </a:r>
            <a:endParaRPr lang="en-US" sz="1050" dirty="0"/>
          </a:p>
        </p:txBody>
      </p:sp>
      <p:sp>
        <p:nvSpPr>
          <p:cNvPr id="27" name="Shape 23"/>
          <p:cNvSpPr/>
          <p:nvPr/>
        </p:nvSpPr>
        <p:spPr>
          <a:xfrm>
            <a:off x="292608" y="6106513"/>
            <a:ext cx="11521440" cy="475488"/>
          </a:xfrm>
          <a:prstGeom prst="roundRect">
            <a:avLst>
              <a:gd name="adj" fmla="val 26923"/>
            </a:avLst>
          </a:prstGeom>
          <a:solidFill>
            <a:srgbClr val="100520">
              <a:alpha val="58000"/>
            </a:srgbClr>
          </a:solidFill>
          <a:ln w="10160">
            <a:solidFill>
              <a:srgbClr val="C9A0E8">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8" name="Text 24"/>
          <p:cNvSpPr/>
          <p:nvPr/>
        </p:nvSpPr>
        <p:spPr>
          <a:xfrm>
            <a:off x="320040" y="6093264"/>
            <a:ext cx="11247120" cy="457200"/>
          </a:xfrm>
          <a:prstGeom prst="rect">
            <a:avLst/>
          </a:prstGeom>
          <a:noFill/>
          <a:ln/>
        </p:spPr>
        <p:txBody>
          <a:bodyPr wrap="square" lIns="50800" tIns="50800" rIns="50800" bIns="50800" rtlCol="0" anchor="ctr"/>
          <a:lstStyle/>
          <a:p>
            <a:pPr marL="0" indent="0" algn="ctr">
              <a:buNone/>
            </a:pPr>
            <a:r>
              <a:rPr lang="en-US" sz="1300" b="1" dirty="0">
                <a:solidFill>
                  <a:srgbClr val="C9A0E8"/>
                </a:solidFill>
                <a:latin typeface="Gill Sans MT" pitchFamily="34" charset="0"/>
                <a:ea typeface="Gill Sans MT" pitchFamily="34" charset="-122"/>
                <a:cs typeface="Gill Sans MT" pitchFamily="34" charset="-120"/>
              </a:rPr>
              <a:t>Measurement validity confirmed across all four constructs — structural estimation proceeds.</a:t>
            </a:r>
            <a:endParaRPr lang="en-US" sz="1300" dirty="0"/>
          </a:p>
        </p:txBody>
      </p:sp>
      <p:sp>
        <p:nvSpPr>
          <p:cNvPr id="29" name="Text 25"/>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F0C040"/>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F0C040"/>
                </a:solidFill>
                <a:latin typeface="Gill Sans MT" pitchFamily="34" charset="0"/>
                <a:ea typeface="Gill Sans MT" pitchFamily="34" charset="-122"/>
                <a:cs typeface="Gill Sans MT" pitchFamily="34" charset="-120"/>
              </a:rPr>
              <a:t>FINDINGS SUMMARY</a:t>
            </a:r>
            <a:endParaRPr lang="en-US" sz="850" dirty="0"/>
          </a:p>
        </p:txBody>
      </p:sp>
      <p:sp>
        <p:nvSpPr>
          <p:cNvPr id="6" name="Text 3"/>
          <p:cNvSpPr/>
          <p:nvPr/>
        </p:nvSpPr>
        <p:spPr>
          <a:xfrm>
            <a:off x="365760" y="347472"/>
            <a:ext cx="10972800" cy="685800"/>
          </a:xfrm>
          <a:prstGeom prst="rect">
            <a:avLst/>
          </a:prstGeom>
          <a:noFill/>
          <a:ln/>
        </p:spPr>
        <p:txBody>
          <a:bodyPr wrap="square" lIns="50800" tIns="50800" rIns="50800" bIns="50800" rtlCol="0" anchor="ctr"/>
          <a:lstStyle/>
          <a:p>
            <a:pPr marL="0" indent="0" algn="l">
              <a:buNone/>
            </a:pPr>
            <a:r>
              <a:rPr lang="en-US" sz="2700" b="1" dirty="0">
                <a:solidFill>
                  <a:srgbClr val="FFFFFF"/>
                </a:solidFill>
                <a:latin typeface="Gill Sans MT" pitchFamily="34" charset="0"/>
                <a:ea typeface="Gill Sans MT" pitchFamily="34" charset="-122"/>
                <a:cs typeface="Gill Sans MT" pitchFamily="34" charset="-120"/>
              </a:rPr>
              <a:t>Hypothesis Outcomes at a Glance</a:t>
            </a:r>
            <a:endParaRPr lang="en-US" sz="2700" dirty="0"/>
          </a:p>
        </p:txBody>
      </p:sp>
      <p:sp>
        <p:nvSpPr>
          <p:cNvPr id="7" name="Shape 4"/>
          <p:cNvSpPr/>
          <p:nvPr/>
        </p:nvSpPr>
        <p:spPr>
          <a:xfrm>
            <a:off x="365760" y="1115568"/>
            <a:ext cx="11430000" cy="0"/>
          </a:xfrm>
          <a:prstGeom prst="line">
            <a:avLst/>
          </a:prstGeom>
          <a:noFill/>
          <a:ln w="19050">
            <a:solidFill>
              <a:srgbClr val="F0C040"/>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320040" y="1261872"/>
            <a:ext cx="8046720" cy="4846320"/>
          </a:xfrm>
          <a:prstGeom prst="rect">
            <a:avLst/>
          </a:prstGeom>
        </p:spPr>
      </p:pic>
      <p:sp>
        <p:nvSpPr>
          <p:cNvPr id="9" name="Shape 5"/>
          <p:cNvSpPr/>
          <p:nvPr/>
        </p:nvSpPr>
        <p:spPr>
          <a:xfrm>
            <a:off x="8503920" y="1298448"/>
            <a:ext cx="3474720" cy="868680"/>
          </a:xfrm>
          <a:prstGeom prst="roundRect">
            <a:avLst>
              <a:gd name="adj" fmla="val 14737"/>
            </a:avLst>
          </a:prstGeom>
          <a:solidFill>
            <a:srgbClr val="040808">
              <a:alpha val="60000"/>
            </a:srgbClr>
          </a:solidFill>
          <a:ln w="8890">
            <a:solidFill>
              <a:srgbClr val="56D68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0" name="Shape 6"/>
          <p:cNvSpPr/>
          <p:nvPr/>
        </p:nvSpPr>
        <p:spPr>
          <a:xfrm>
            <a:off x="8503920" y="1298448"/>
            <a:ext cx="0" cy="868680"/>
          </a:xfrm>
          <a:prstGeom prst="line">
            <a:avLst/>
          </a:prstGeom>
          <a:noFill/>
          <a:ln w="44450">
            <a:solidFill>
              <a:srgbClr val="56D68A"/>
            </a:solidFill>
            <a:prstDash val="solid"/>
          </a:ln>
        </p:spPr>
        <p:txBody>
          <a:bodyPr/>
          <a:lstStyle/>
          <a:p>
            <a:endParaRPr lang="en-GB"/>
          </a:p>
        </p:txBody>
      </p:sp>
      <p:sp>
        <p:nvSpPr>
          <p:cNvPr id="11" name="Text 7"/>
          <p:cNvSpPr/>
          <p:nvPr/>
        </p:nvSpPr>
        <p:spPr>
          <a:xfrm>
            <a:off x="8705088" y="1362456"/>
            <a:ext cx="777240" cy="347472"/>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H1a</a:t>
            </a:r>
            <a:endParaRPr lang="en-US" sz="1300" dirty="0"/>
          </a:p>
        </p:txBody>
      </p:sp>
      <p:sp>
        <p:nvSpPr>
          <p:cNvPr id="12" name="Text 8"/>
          <p:cNvSpPr/>
          <p:nvPr/>
        </p:nvSpPr>
        <p:spPr>
          <a:xfrm>
            <a:off x="9528048" y="1362456"/>
            <a:ext cx="2331720" cy="347472"/>
          </a:xfrm>
          <a:prstGeom prst="rect">
            <a:avLst/>
          </a:prstGeom>
          <a:noFill/>
          <a:ln/>
        </p:spPr>
        <p:txBody>
          <a:bodyPr wrap="square" lIns="50800" tIns="50800" rIns="50800" bIns="50800" rtlCol="0" anchor="ctr"/>
          <a:lstStyle/>
          <a:p>
            <a:pPr marL="0" indent="0" algn="l">
              <a:buNone/>
            </a:pPr>
            <a:r>
              <a:rPr lang="en-US" sz="1150" b="1" dirty="0">
                <a:solidFill>
                  <a:srgbClr val="56D68A"/>
                </a:solidFill>
                <a:latin typeface="Gill Sans MT" pitchFamily="34" charset="0"/>
                <a:ea typeface="Gill Sans MT" pitchFamily="34" charset="-122"/>
                <a:cs typeface="Gill Sans MT" pitchFamily="34" charset="-120"/>
              </a:rPr>
              <a:t>SUPPORTED</a:t>
            </a:r>
            <a:endParaRPr lang="en-US" sz="1150" dirty="0"/>
          </a:p>
        </p:txBody>
      </p:sp>
      <p:sp>
        <p:nvSpPr>
          <p:cNvPr id="13" name="Text 9"/>
          <p:cNvSpPr/>
          <p:nvPr/>
        </p:nvSpPr>
        <p:spPr>
          <a:xfrm>
            <a:off x="8705088" y="1773936"/>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β = 0.462  |  p &lt; .001</a:t>
            </a:r>
            <a:endParaRPr lang="en-US" sz="1000" dirty="0"/>
          </a:p>
        </p:txBody>
      </p:sp>
      <p:sp>
        <p:nvSpPr>
          <p:cNvPr id="14" name="Shape 10"/>
          <p:cNvSpPr/>
          <p:nvPr/>
        </p:nvSpPr>
        <p:spPr>
          <a:xfrm>
            <a:off x="8503920" y="2286000"/>
            <a:ext cx="3474720" cy="868680"/>
          </a:xfrm>
          <a:prstGeom prst="roundRect">
            <a:avLst>
              <a:gd name="adj" fmla="val 14737"/>
            </a:avLst>
          </a:prstGeom>
          <a:solidFill>
            <a:srgbClr val="040808">
              <a:alpha val="60000"/>
            </a:srgbClr>
          </a:solidFill>
          <a:ln w="8890">
            <a:solidFill>
              <a:srgbClr val="56D68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5" name="Shape 11"/>
          <p:cNvSpPr/>
          <p:nvPr/>
        </p:nvSpPr>
        <p:spPr>
          <a:xfrm>
            <a:off x="8503920" y="2286000"/>
            <a:ext cx="0" cy="868680"/>
          </a:xfrm>
          <a:prstGeom prst="line">
            <a:avLst/>
          </a:prstGeom>
          <a:noFill/>
          <a:ln w="44450">
            <a:solidFill>
              <a:srgbClr val="56D68A"/>
            </a:solidFill>
            <a:prstDash val="solid"/>
          </a:ln>
        </p:spPr>
        <p:txBody>
          <a:bodyPr/>
          <a:lstStyle/>
          <a:p>
            <a:endParaRPr lang="en-GB"/>
          </a:p>
        </p:txBody>
      </p:sp>
      <p:sp>
        <p:nvSpPr>
          <p:cNvPr id="16" name="Text 12"/>
          <p:cNvSpPr/>
          <p:nvPr/>
        </p:nvSpPr>
        <p:spPr>
          <a:xfrm>
            <a:off x="8705088" y="2350008"/>
            <a:ext cx="777240" cy="347472"/>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H1b</a:t>
            </a:r>
            <a:endParaRPr lang="en-US" sz="1300" dirty="0"/>
          </a:p>
        </p:txBody>
      </p:sp>
      <p:sp>
        <p:nvSpPr>
          <p:cNvPr id="17" name="Text 13"/>
          <p:cNvSpPr/>
          <p:nvPr/>
        </p:nvSpPr>
        <p:spPr>
          <a:xfrm>
            <a:off x="9528048" y="2350008"/>
            <a:ext cx="2331720" cy="347472"/>
          </a:xfrm>
          <a:prstGeom prst="rect">
            <a:avLst/>
          </a:prstGeom>
          <a:noFill/>
          <a:ln/>
        </p:spPr>
        <p:txBody>
          <a:bodyPr wrap="square" lIns="50800" tIns="50800" rIns="50800" bIns="50800" rtlCol="0" anchor="ctr"/>
          <a:lstStyle/>
          <a:p>
            <a:pPr marL="0" indent="0" algn="l">
              <a:buNone/>
            </a:pPr>
            <a:r>
              <a:rPr lang="en-US" sz="1150" b="1" dirty="0">
                <a:solidFill>
                  <a:srgbClr val="56D68A"/>
                </a:solidFill>
                <a:latin typeface="Gill Sans MT" pitchFamily="34" charset="0"/>
                <a:ea typeface="Gill Sans MT" pitchFamily="34" charset="-122"/>
                <a:cs typeface="Gill Sans MT" pitchFamily="34" charset="-120"/>
              </a:rPr>
              <a:t>SUPPORTED</a:t>
            </a:r>
            <a:endParaRPr lang="en-US" sz="1150" dirty="0"/>
          </a:p>
        </p:txBody>
      </p:sp>
      <p:sp>
        <p:nvSpPr>
          <p:cNvPr id="18" name="Text 14"/>
          <p:cNvSpPr/>
          <p:nvPr/>
        </p:nvSpPr>
        <p:spPr>
          <a:xfrm>
            <a:off x="8705088" y="2761488"/>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β = 0.408  |  p &lt; .001</a:t>
            </a:r>
            <a:endParaRPr lang="en-US" sz="1000" dirty="0"/>
          </a:p>
        </p:txBody>
      </p:sp>
      <p:sp>
        <p:nvSpPr>
          <p:cNvPr id="19" name="Shape 15"/>
          <p:cNvSpPr/>
          <p:nvPr/>
        </p:nvSpPr>
        <p:spPr>
          <a:xfrm>
            <a:off x="8503920" y="3273552"/>
            <a:ext cx="3474720" cy="868680"/>
          </a:xfrm>
          <a:prstGeom prst="roundRect">
            <a:avLst>
              <a:gd name="adj" fmla="val 14737"/>
            </a:avLst>
          </a:prstGeom>
          <a:solidFill>
            <a:srgbClr val="040808">
              <a:alpha val="60000"/>
            </a:srgbClr>
          </a:solidFill>
          <a:ln w="8890">
            <a:solidFill>
              <a:srgbClr val="C9A0E8">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Shape 16"/>
          <p:cNvSpPr/>
          <p:nvPr/>
        </p:nvSpPr>
        <p:spPr>
          <a:xfrm>
            <a:off x="8503920" y="3273552"/>
            <a:ext cx="0" cy="868680"/>
          </a:xfrm>
          <a:prstGeom prst="line">
            <a:avLst/>
          </a:prstGeom>
          <a:noFill/>
          <a:ln w="44450">
            <a:solidFill>
              <a:srgbClr val="C9A0E8"/>
            </a:solidFill>
            <a:prstDash val="solid"/>
          </a:ln>
        </p:spPr>
        <p:txBody>
          <a:bodyPr/>
          <a:lstStyle/>
          <a:p>
            <a:endParaRPr lang="en-GB"/>
          </a:p>
        </p:txBody>
      </p:sp>
      <p:sp>
        <p:nvSpPr>
          <p:cNvPr id="21" name="Text 17"/>
          <p:cNvSpPr/>
          <p:nvPr/>
        </p:nvSpPr>
        <p:spPr>
          <a:xfrm>
            <a:off x="8705088" y="3337560"/>
            <a:ext cx="777240" cy="347472"/>
          </a:xfrm>
          <a:prstGeom prst="rect">
            <a:avLst/>
          </a:prstGeom>
          <a:noFill/>
          <a:ln/>
        </p:spPr>
        <p:txBody>
          <a:bodyPr wrap="square" lIns="50800" tIns="50800" rIns="50800" bIns="50800" rtlCol="0" anchor="ctr"/>
          <a:lstStyle/>
          <a:p>
            <a:pPr marL="0" indent="0" algn="l">
              <a:buNone/>
            </a:pPr>
            <a:r>
              <a:rPr lang="en-US" sz="1300" b="1" dirty="0">
                <a:solidFill>
                  <a:srgbClr val="C9A0E8"/>
                </a:solidFill>
                <a:latin typeface="Gill Sans MT" pitchFamily="34" charset="0"/>
                <a:ea typeface="Gill Sans MT" pitchFamily="34" charset="-122"/>
                <a:cs typeface="Gill Sans MT" pitchFamily="34" charset="-120"/>
              </a:rPr>
              <a:t>H1c</a:t>
            </a:r>
            <a:endParaRPr lang="en-US" sz="1300" dirty="0"/>
          </a:p>
        </p:txBody>
      </p:sp>
      <p:sp>
        <p:nvSpPr>
          <p:cNvPr id="22" name="Text 18"/>
          <p:cNvSpPr/>
          <p:nvPr/>
        </p:nvSpPr>
        <p:spPr>
          <a:xfrm>
            <a:off x="9528048" y="3337560"/>
            <a:ext cx="2331720" cy="347472"/>
          </a:xfrm>
          <a:prstGeom prst="rect">
            <a:avLst/>
          </a:prstGeom>
          <a:noFill/>
          <a:ln/>
        </p:spPr>
        <p:txBody>
          <a:bodyPr wrap="square" lIns="50800" tIns="50800" rIns="50800" bIns="50800" rtlCol="0" anchor="ctr"/>
          <a:lstStyle/>
          <a:p>
            <a:pPr marL="0" indent="0" algn="l">
              <a:buNone/>
            </a:pPr>
            <a:r>
              <a:rPr lang="en-US" sz="1150" b="1" dirty="0">
                <a:solidFill>
                  <a:srgbClr val="C9A0E8"/>
                </a:solidFill>
                <a:latin typeface="Gill Sans MT" pitchFamily="34" charset="0"/>
                <a:ea typeface="Gill Sans MT" pitchFamily="34" charset="-122"/>
                <a:cs typeface="Gill Sans MT" pitchFamily="34" charset="-120"/>
              </a:rPr>
              <a:t>SUPPORTED (−)</a:t>
            </a:r>
            <a:endParaRPr lang="en-US" sz="1150" dirty="0"/>
          </a:p>
        </p:txBody>
      </p:sp>
      <p:sp>
        <p:nvSpPr>
          <p:cNvPr id="23" name="Text 19"/>
          <p:cNvSpPr/>
          <p:nvPr/>
        </p:nvSpPr>
        <p:spPr>
          <a:xfrm>
            <a:off x="8705088" y="3749040"/>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β = −0.102  |  p = .029  |  substitutive</a:t>
            </a:r>
            <a:endParaRPr lang="en-US" sz="1000" dirty="0"/>
          </a:p>
        </p:txBody>
      </p:sp>
      <p:sp>
        <p:nvSpPr>
          <p:cNvPr id="24" name="Shape 20"/>
          <p:cNvSpPr/>
          <p:nvPr/>
        </p:nvSpPr>
        <p:spPr>
          <a:xfrm>
            <a:off x="8503920" y="4261104"/>
            <a:ext cx="3474720" cy="868680"/>
          </a:xfrm>
          <a:prstGeom prst="roundRect">
            <a:avLst>
              <a:gd name="adj" fmla="val 14737"/>
            </a:avLst>
          </a:prstGeom>
          <a:solidFill>
            <a:srgbClr val="040808">
              <a:alpha val="60000"/>
            </a:srgbClr>
          </a:solidFill>
          <a:ln w="8890">
            <a:solidFill>
              <a:srgbClr val="F47A7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5" name="Shape 21"/>
          <p:cNvSpPr/>
          <p:nvPr/>
        </p:nvSpPr>
        <p:spPr>
          <a:xfrm>
            <a:off x="8503920" y="4261104"/>
            <a:ext cx="0" cy="868680"/>
          </a:xfrm>
          <a:prstGeom prst="line">
            <a:avLst/>
          </a:prstGeom>
          <a:noFill/>
          <a:ln w="44450">
            <a:solidFill>
              <a:srgbClr val="F47A7A"/>
            </a:solidFill>
            <a:prstDash val="solid"/>
          </a:ln>
        </p:spPr>
        <p:txBody>
          <a:bodyPr/>
          <a:lstStyle/>
          <a:p>
            <a:endParaRPr lang="en-GB"/>
          </a:p>
        </p:txBody>
      </p:sp>
      <p:sp>
        <p:nvSpPr>
          <p:cNvPr id="26" name="Text 22"/>
          <p:cNvSpPr/>
          <p:nvPr/>
        </p:nvSpPr>
        <p:spPr>
          <a:xfrm>
            <a:off x="8705088" y="4325112"/>
            <a:ext cx="777240" cy="347472"/>
          </a:xfrm>
          <a:prstGeom prst="rect">
            <a:avLst/>
          </a:prstGeom>
          <a:noFill/>
          <a:ln/>
        </p:spPr>
        <p:txBody>
          <a:bodyPr wrap="square" lIns="50800" tIns="50800" rIns="50800" bIns="50800" rtlCol="0" anchor="ctr"/>
          <a:lstStyle/>
          <a:p>
            <a:pPr marL="0" indent="0" algn="l">
              <a:buNone/>
            </a:pPr>
            <a:r>
              <a:rPr lang="en-US" sz="1300" b="1" dirty="0">
                <a:solidFill>
                  <a:srgbClr val="F47A7A"/>
                </a:solidFill>
                <a:latin typeface="Gill Sans MT" pitchFamily="34" charset="0"/>
                <a:ea typeface="Gill Sans MT" pitchFamily="34" charset="-122"/>
                <a:cs typeface="Gill Sans MT" pitchFamily="34" charset="-120"/>
              </a:rPr>
              <a:t>H2a</a:t>
            </a:r>
            <a:endParaRPr lang="en-US" sz="1300" dirty="0"/>
          </a:p>
        </p:txBody>
      </p:sp>
      <p:sp>
        <p:nvSpPr>
          <p:cNvPr id="27" name="Text 23"/>
          <p:cNvSpPr/>
          <p:nvPr/>
        </p:nvSpPr>
        <p:spPr>
          <a:xfrm>
            <a:off x="9528048" y="4325112"/>
            <a:ext cx="2331720" cy="347472"/>
          </a:xfrm>
          <a:prstGeom prst="rect">
            <a:avLst/>
          </a:prstGeom>
          <a:noFill/>
          <a:ln/>
        </p:spPr>
        <p:txBody>
          <a:bodyPr wrap="square" lIns="50800" tIns="50800" rIns="50800" bIns="50800" rtlCol="0" anchor="ctr"/>
          <a:lstStyle/>
          <a:p>
            <a:pPr marL="0" indent="0" algn="l">
              <a:buNone/>
            </a:pPr>
            <a:r>
              <a:rPr lang="en-US" sz="1150" b="1" dirty="0">
                <a:solidFill>
                  <a:srgbClr val="F47A7A"/>
                </a:solidFill>
                <a:latin typeface="Gill Sans MT" pitchFamily="34" charset="0"/>
                <a:ea typeface="Gill Sans MT" pitchFamily="34" charset="-122"/>
                <a:cs typeface="Gill Sans MT" pitchFamily="34" charset="-120"/>
              </a:rPr>
              <a:t>NOT SUPPORTED</a:t>
            </a:r>
            <a:endParaRPr lang="en-US" sz="1150" dirty="0"/>
          </a:p>
        </p:txBody>
      </p:sp>
      <p:sp>
        <p:nvSpPr>
          <p:cNvPr id="28" name="Text 24"/>
          <p:cNvSpPr/>
          <p:nvPr/>
        </p:nvSpPr>
        <p:spPr>
          <a:xfrm>
            <a:off x="8705088" y="4736592"/>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b-path collapsed  |  p = .743</a:t>
            </a:r>
            <a:endParaRPr lang="en-US" sz="1000" dirty="0"/>
          </a:p>
        </p:txBody>
      </p:sp>
      <p:sp>
        <p:nvSpPr>
          <p:cNvPr id="29" name="Shape 25"/>
          <p:cNvSpPr/>
          <p:nvPr/>
        </p:nvSpPr>
        <p:spPr>
          <a:xfrm>
            <a:off x="8503920" y="5248656"/>
            <a:ext cx="3474720" cy="868680"/>
          </a:xfrm>
          <a:prstGeom prst="roundRect">
            <a:avLst>
              <a:gd name="adj" fmla="val 14737"/>
            </a:avLst>
          </a:prstGeom>
          <a:solidFill>
            <a:srgbClr val="040808">
              <a:alpha val="60000"/>
            </a:srgbClr>
          </a:solidFill>
          <a:ln w="8890">
            <a:solidFill>
              <a:srgbClr val="4ECDC4">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0" name="Shape 26"/>
          <p:cNvSpPr/>
          <p:nvPr/>
        </p:nvSpPr>
        <p:spPr>
          <a:xfrm>
            <a:off x="8503920" y="5248656"/>
            <a:ext cx="0" cy="868680"/>
          </a:xfrm>
          <a:prstGeom prst="line">
            <a:avLst/>
          </a:prstGeom>
          <a:noFill/>
          <a:ln w="44450">
            <a:solidFill>
              <a:srgbClr val="4ECDC4"/>
            </a:solidFill>
            <a:prstDash val="solid"/>
          </a:ln>
        </p:spPr>
        <p:txBody>
          <a:bodyPr/>
          <a:lstStyle/>
          <a:p>
            <a:endParaRPr lang="en-GB"/>
          </a:p>
        </p:txBody>
      </p:sp>
      <p:sp>
        <p:nvSpPr>
          <p:cNvPr id="31" name="Text 27"/>
          <p:cNvSpPr/>
          <p:nvPr/>
        </p:nvSpPr>
        <p:spPr>
          <a:xfrm>
            <a:off x="8705088" y="5312664"/>
            <a:ext cx="777240" cy="347472"/>
          </a:xfrm>
          <a:prstGeom prst="rect">
            <a:avLst/>
          </a:prstGeom>
          <a:noFill/>
          <a:ln/>
        </p:spPr>
        <p:txBody>
          <a:bodyPr wrap="square" lIns="50800" tIns="50800" rIns="50800" bIns="50800" rtlCol="0" anchor="ctr"/>
          <a:lstStyle/>
          <a:p>
            <a:pPr marL="0" indent="0" algn="l">
              <a:buNone/>
            </a:pPr>
            <a:r>
              <a:rPr lang="en-US" sz="1300" b="1" dirty="0">
                <a:solidFill>
                  <a:srgbClr val="4ECDC4"/>
                </a:solidFill>
                <a:latin typeface="Gill Sans MT" pitchFamily="34" charset="0"/>
                <a:ea typeface="Gill Sans MT" pitchFamily="34" charset="-122"/>
                <a:cs typeface="Gill Sans MT" pitchFamily="34" charset="-120"/>
              </a:rPr>
              <a:t>Direct</a:t>
            </a:r>
            <a:endParaRPr lang="en-US" sz="1300" dirty="0"/>
          </a:p>
        </p:txBody>
      </p:sp>
      <p:sp>
        <p:nvSpPr>
          <p:cNvPr id="32" name="Text 28"/>
          <p:cNvSpPr/>
          <p:nvPr/>
        </p:nvSpPr>
        <p:spPr>
          <a:xfrm>
            <a:off x="9528048" y="5312664"/>
            <a:ext cx="2331720" cy="347472"/>
          </a:xfrm>
          <a:prstGeom prst="rect">
            <a:avLst/>
          </a:prstGeom>
          <a:noFill/>
          <a:ln/>
        </p:spPr>
        <p:txBody>
          <a:bodyPr wrap="square" lIns="50800" tIns="50800" rIns="50800" bIns="50800" rtlCol="0" anchor="ctr"/>
          <a:lstStyle/>
          <a:p>
            <a:pPr marL="0" indent="0" algn="l">
              <a:buNone/>
            </a:pPr>
            <a:r>
              <a:rPr lang="en-US" sz="1150" b="1" dirty="0">
                <a:solidFill>
                  <a:srgbClr val="4ECDC4"/>
                </a:solidFill>
                <a:latin typeface="Gill Sans MT" pitchFamily="34" charset="0"/>
                <a:ea typeface="Gill Sans MT" pitchFamily="34" charset="-122"/>
                <a:cs typeface="Gill Sans MT" pitchFamily="34" charset="-120"/>
              </a:rPr>
              <a:t>SIGNIFICANT</a:t>
            </a:r>
            <a:endParaRPr lang="en-US" sz="1150" dirty="0"/>
          </a:p>
        </p:txBody>
      </p:sp>
      <p:sp>
        <p:nvSpPr>
          <p:cNvPr id="33" name="Text 29"/>
          <p:cNvSpPr/>
          <p:nvPr/>
        </p:nvSpPr>
        <p:spPr>
          <a:xfrm>
            <a:off x="8705088" y="5724144"/>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ξ₁→η₂  β = 0.340  |  p = .001</a:t>
            </a:r>
            <a:endParaRPr lang="en-US" sz="1000" dirty="0"/>
          </a:p>
        </p:txBody>
      </p:sp>
      <p:sp>
        <p:nvSpPr>
          <p:cNvPr id="34" name="Text 30"/>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6DAEDB"/>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6DAEDB"/>
                </a:solidFill>
                <a:latin typeface="Gill Sans MT" pitchFamily="34" charset="0"/>
                <a:ea typeface="Gill Sans MT" pitchFamily="34" charset="-122"/>
                <a:cs typeface="Gill Sans MT" pitchFamily="34" charset="-120"/>
              </a:rPr>
              <a:t>DISCUSSION</a:t>
            </a:r>
            <a:endParaRPr lang="en-US" sz="850" dirty="0"/>
          </a:p>
        </p:txBody>
      </p:sp>
      <p:sp>
        <p:nvSpPr>
          <p:cNvPr id="6" name="Text 3"/>
          <p:cNvSpPr/>
          <p:nvPr/>
        </p:nvSpPr>
        <p:spPr>
          <a:xfrm>
            <a:off x="365760" y="347472"/>
            <a:ext cx="10972800" cy="685800"/>
          </a:xfrm>
          <a:prstGeom prst="rect">
            <a:avLst/>
          </a:prstGeom>
          <a:noFill/>
          <a:ln/>
        </p:spPr>
        <p:txBody>
          <a:bodyPr wrap="square" lIns="50800" tIns="50800" rIns="50800" bIns="50800" rtlCol="0" anchor="ctr"/>
          <a:lstStyle/>
          <a:p>
            <a:pPr marL="0" indent="0" algn="l">
              <a:buNone/>
            </a:pPr>
            <a:r>
              <a:rPr lang="en-US" sz="2600" b="1" dirty="0">
                <a:solidFill>
                  <a:srgbClr val="FFFFFF"/>
                </a:solidFill>
                <a:latin typeface="Gill Sans MT" pitchFamily="34" charset="0"/>
                <a:ea typeface="Gill Sans MT" pitchFamily="34" charset="-122"/>
                <a:cs typeface="Gill Sans MT" pitchFamily="34" charset="-120"/>
              </a:rPr>
              <a:t>What Do the Results Really Tell Us?</a:t>
            </a:r>
            <a:endParaRPr lang="en-US" sz="2600" dirty="0"/>
          </a:p>
        </p:txBody>
      </p:sp>
      <p:sp>
        <p:nvSpPr>
          <p:cNvPr id="7" name="Shape 4"/>
          <p:cNvSpPr/>
          <p:nvPr/>
        </p:nvSpPr>
        <p:spPr>
          <a:xfrm>
            <a:off x="365760" y="1115568"/>
            <a:ext cx="11430000" cy="0"/>
          </a:xfrm>
          <a:prstGeom prst="line">
            <a:avLst/>
          </a:prstGeom>
          <a:noFill/>
          <a:ln w="19050">
            <a:solidFill>
              <a:srgbClr val="6DAEDB"/>
            </a:solidFill>
            <a:prstDash val="solid"/>
          </a:ln>
        </p:spPr>
        <p:txBody>
          <a:bodyPr/>
          <a:lstStyle/>
          <a:p>
            <a:endParaRPr lang="en-GB"/>
          </a:p>
        </p:txBody>
      </p:sp>
      <p:sp>
        <p:nvSpPr>
          <p:cNvPr id="8" name="Shape 5"/>
          <p:cNvSpPr/>
          <p:nvPr/>
        </p:nvSpPr>
        <p:spPr>
          <a:xfrm>
            <a:off x="365760" y="1261872"/>
            <a:ext cx="5669280" cy="2487168"/>
          </a:xfrm>
          <a:prstGeom prst="roundRect">
            <a:avLst>
              <a:gd name="adj" fmla="val 5147"/>
            </a:avLst>
          </a:prstGeom>
          <a:solidFill>
            <a:srgbClr val="040810">
              <a:alpha val="58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30352" y="1353312"/>
            <a:ext cx="0" cy="2331720"/>
          </a:xfrm>
          <a:prstGeom prst="line">
            <a:avLst/>
          </a:prstGeom>
          <a:noFill/>
          <a:ln w="38100">
            <a:solidFill>
              <a:srgbClr val="6DAEDB"/>
            </a:solidFill>
            <a:prstDash val="solid"/>
          </a:ln>
        </p:spPr>
        <p:txBody>
          <a:bodyPr/>
          <a:lstStyle/>
          <a:p>
            <a:endParaRPr lang="en-GB"/>
          </a:p>
        </p:txBody>
      </p:sp>
      <p:sp>
        <p:nvSpPr>
          <p:cNvPr id="10" name="Text 7"/>
          <p:cNvSpPr/>
          <p:nvPr/>
        </p:nvSpPr>
        <p:spPr>
          <a:xfrm>
            <a:off x="749808" y="1371600"/>
            <a:ext cx="5138928" cy="438912"/>
          </a:xfrm>
          <a:prstGeom prst="rect">
            <a:avLst/>
          </a:prstGeom>
          <a:noFill/>
          <a:ln/>
        </p:spPr>
        <p:txBody>
          <a:bodyPr wrap="square" lIns="50800" tIns="50800" rIns="50800" bIns="50800" rtlCol="0" anchor="ctr"/>
          <a:lstStyle/>
          <a:p>
            <a:pPr marL="0" indent="0" algn="l">
              <a:buNone/>
            </a:pPr>
            <a:r>
              <a:rPr lang="en-US" sz="1300" b="1" dirty="0">
                <a:solidFill>
                  <a:srgbClr val="6DAEDB"/>
                </a:solidFill>
                <a:latin typeface="Gill Sans MT" pitchFamily="34" charset="0"/>
                <a:ea typeface="Gill Sans MT" pitchFamily="34" charset="-122"/>
                <a:cs typeface="Gill Sans MT" pitchFamily="34" charset="-120"/>
              </a:rPr>
              <a:t>AI is a Macro-Level SC Driver  (RQ1)</a:t>
            </a:r>
            <a:endParaRPr lang="en-US" sz="1300" dirty="0"/>
          </a:p>
        </p:txBody>
      </p:sp>
      <p:sp>
        <p:nvSpPr>
          <p:cNvPr id="11" name="Shape 8"/>
          <p:cNvSpPr/>
          <p:nvPr/>
        </p:nvSpPr>
        <p:spPr>
          <a:xfrm>
            <a:off x="749808" y="1828800"/>
            <a:ext cx="5102352" cy="0"/>
          </a:xfrm>
          <a:prstGeom prst="line">
            <a:avLst/>
          </a:prstGeom>
          <a:noFill/>
          <a:ln w="19050">
            <a:solidFill>
              <a:srgbClr val="6DAEDB"/>
            </a:solidFill>
            <a:prstDash val="solid"/>
          </a:ln>
        </p:spPr>
        <p:txBody>
          <a:bodyPr/>
          <a:lstStyle/>
          <a:p>
            <a:endParaRPr lang="en-GB"/>
          </a:p>
        </p:txBody>
      </p:sp>
      <p:sp>
        <p:nvSpPr>
          <p:cNvPr id="12" name="Text 9"/>
          <p:cNvSpPr/>
          <p:nvPr/>
        </p:nvSpPr>
        <p:spPr>
          <a:xfrm>
            <a:off x="749808" y="1947672"/>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β = 0.462 confirms TOE framework at national scale. AI readiness shapes entire logistics ecosystems, not just firm-level processes.</a:t>
            </a:r>
            <a:endParaRPr lang="en-US" sz="1150" dirty="0"/>
          </a:p>
        </p:txBody>
      </p:sp>
      <p:sp>
        <p:nvSpPr>
          <p:cNvPr id="13" name="Shape 10"/>
          <p:cNvSpPr/>
          <p:nvPr/>
        </p:nvSpPr>
        <p:spPr>
          <a:xfrm>
            <a:off x="6309360" y="1261872"/>
            <a:ext cx="5669280" cy="2487168"/>
          </a:xfrm>
          <a:prstGeom prst="roundRect">
            <a:avLst>
              <a:gd name="adj" fmla="val 5147"/>
            </a:avLst>
          </a:prstGeom>
          <a:solidFill>
            <a:srgbClr val="040810">
              <a:alpha val="58000"/>
            </a:srgbClr>
          </a:solidFill>
          <a:ln w="10160">
            <a:solidFill>
              <a:srgbClr val="C9A0E8">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Shape 11"/>
          <p:cNvSpPr/>
          <p:nvPr/>
        </p:nvSpPr>
        <p:spPr>
          <a:xfrm>
            <a:off x="6473952" y="1353312"/>
            <a:ext cx="0" cy="2331720"/>
          </a:xfrm>
          <a:prstGeom prst="line">
            <a:avLst/>
          </a:prstGeom>
          <a:noFill/>
          <a:ln w="38100">
            <a:solidFill>
              <a:srgbClr val="C9A0E8"/>
            </a:solidFill>
            <a:prstDash val="solid"/>
          </a:ln>
        </p:spPr>
        <p:txBody>
          <a:bodyPr/>
          <a:lstStyle/>
          <a:p>
            <a:endParaRPr lang="en-GB"/>
          </a:p>
        </p:txBody>
      </p:sp>
      <p:sp>
        <p:nvSpPr>
          <p:cNvPr id="15" name="Text 12"/>
          <p:cNvSpPr/>
          <p:nvPr/>
        </p:nvSpPr>
        <p:spPr>
          <a:xfrm>
            <a:off x="6693408" y="1371600"/>
            <a:ext cx="5138928" cy="438912"/>
          </a:xfrm>
          <a:prstGeom prst="rect">
            <a:avLst/>
          </a:prstGeom>
          <a:noFill/>
          <a:ln/>
        </p:spPr>
        <p:txBody>
          <a:bodyPr wrap="square" lIns="50800" tIns="50800" rIns="50800" bIns="50800" rtlCol="0" anchor="ctr"/>
          <a:lstStyle/>
          <a:p>
            <a:pPr marL="0" indent="0" algn="l">
              <a:buNone/>
            </a:pPr>
            <a:r>
              <a:rPr lang="en-US" sz="1300" b="1" dirty="0">
                <a:solidFill>
                  <a:srgbClr val="C9A0E8"/>
                </a:solidFill>
                <a:latin typeface="Gill Sans MT" pitchFamily="34" charset="0"/>
                <a:ea typeface="Gill Sans MT" pitchFamily="34" charset="-122"/>
                <a:cs typeface="Gill Sans MT" pitchFamily="34" charset="-120"/>
              </a:rPr>
              <a:t>Institutions Substitute, Not Amplify  (RQ3)</a:t>
            </a:r>
            <a:endParaRPr lang="en-US" sz="1300" dirty="0"/>
          </a:p>
        </p:txBody>
      </p:sp>
      <p:sp>
        <p:nvSpPr>
          <p:cNvPr id="16" name="Shape 13"/>
          <p:cNvSpPr/>
          <p:nvPr/>
        </p:nvSpPr>
        <p:spPr>
          <a:xfrm>
            <a:off x="6693408" y="1828800"/>
            <a:ext cx="5102352" cy="0"/>
          </a:xfrm>
          <a:prstGeom prst="line">
            <a:avLst/>
          </a:prstGeom>
          <a:noFill/>
          <a:ln w="19050">
            <a:solidFill>
              <a:srgbClr val="C9A0E8"/>
            </a:solidFill>
            <a:prstDash val="solid"/>
          </a:ln>
        </p:spPr>
        <p:txBody>
          <a:bodyPr/>
          <a:lstStyle/>
          <a:p>
            <a:endParaRPr lang="en-GB"/>
          </a:p>
        </p:txBody>
      </p:sp>
      <p:sp>
        <p:nvSpPr>
          <p:cNvPr id="17" name="Text 14"/>
          <p:cNvSpPr/>
          <p:nvPr/>
        </p:nvSpPr>
        <p:spPr>
          <a:xfrm>
            <a:off x="6693408" y="1947672"/>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Negative moderation (β = −0.102) contradicts complementarity assumptions. Strong governance reduces urgency of AI investment in SC — a novel finding challenging dominant narratives.</a:t>
            </a:r>
            <a:endParaRPr lang="en-US" sz="1150" dirty="0"/>
          </a:p>
        </p:txBody>
      </p:sp>
      <p:sp>
        <p:nvSpPr>
          <p:cNvPr id="18" name="Shape 15"/>
          <p:cNvSpPr/>
          <p:nvPr/>
        </p:nvSpPr>
        <p:spPr>
          <a:xfrm>
            <a:off x="365760" y="3931920"/>
            <a:ext cx="5669280" cy="2487168"/>
          </a:xfrm>
          <a:prstGeom prst="roundRect">
            <a:avLst>
              <a:gd name="adj" fmla="val 5147"/>
            </a:avLst>
          </a:prstGeom>
          <a:solidFill>
            <a:srgbClr val="040810">
              <a:alpha val="58000"/>
            </a:srgbClr>
          </a:solidFill>
          <a:ln w="10160">
            <a:solidFill>
              <a:srgbClr val="56D68A">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9" name="Shape 16"/>
          <p:cNvSpPr/>
          <p:nvPr/>
        </p:nvSpPr>
        <p:spPr>
          <a:xfrm>
            <a:off x="530352" y="4023360"/>
            <a:ext cx="0" cy="2331720"/>
          </a:xfrm>
          <a:prstGeom prst="line">
            <a:avLst/>
          </a:prstGeom>
          <a:noFill/>
          <a:ln w="38100">
            <a:solidFill>
              <a:srgbClr val="56D68A"/>
            </a:solidFill>
            <a:prstDash val="solid"/>
          </a:ln>
        </p:spPr>
        <p:txBody>
          <a:bodyPr/>
          <a:lstStyle/>
          <a:p>
            <a:endParaRPr lang="en-GB"/>
          </a:p>
        </p:txBody>
      </p:sp>
      <p:sp>
        <p:nvSpPr>
          <p:cNvPr id="20" name="Text 17"/>
          <p:cNvSpPr/>
          <p:nvPr/>
        </p:nvSpPr>
        <p:spPr>
          <a:xfrm>
            <a:off x="749808" y="4041648"/>
            <a:ext cx="5138928" cy="438912"/>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Mediation Fails — Direct AI Effect Dominates  (RQ2)</a:t>
            </a:r>
            <a:endParaRPr lang="en-US" sz="1300" dirty="0"/>
          </a:p>
        </p:txBody>
      </p:sp>
      <p:sp>
        <p:nvSpPr>
          <p:cNvPr id="21" name="Shape 18"/>
          <p:cNvSpPr/>
          <p:nvPr/>
        </p:nvSpPr>
        <p:spPr>
          <a:xfrm>
            <a:off x="749808" y="4498848"/>
            <a:ext cx="5102352" cy="0"/>
          </a:xfrm>
          <a:prstGeom prst="line">
            <a:avLst/>
          </a:prstGeom>
          <a:noFill/>
          <a:ln w="19050">
            <a:solidFill>
              <a:srgbClr val="56D68A"/>
            </a:solidFill>
            <a:prstDash val="solid"/>
          </a:ln>
        </p:spPr>
        <p:txBody>
          <a:bodyPr/>
          <a:lstStyle/>
          <a:p>
            <a:endParaRPr lang="en-GB"/>
          </a:p>
        </p:txBody>
      </p:sp>
      <p:sp>
        <p:nvSpPr>
          <p:cNvPr id="22" name="Text 19"/>
          <p:cNvSpPr/>
          <p:nvPr/>
        </p:nvSpPr>
        <p:spPr>
          <a:xfrm>
            <a:off x="749808" y="4617720"/>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H2a not supported. AI readiness drives economic performance directly (β = 0.340), bypassing SC. AI's economic value is broader than the logistics channel alone.</a:t>
            </a:r>
            <a:endParaRPr lang="en-US" sz="1150" dirty="0"/>
          </a:p>
        </p:txBody>
      </p:sp>
      <p:sp>
        <p:nvSpPr>
          <p:cNvPr id="23" name="Shape 20"/>
          <p:cNvSpPr/>
          <p:nvPr/>
        </p:nvSpPr>
        <p:spPr>
          <a:xfrm>
            <a:off x="6309360" y="3931920"/>
            <a:ext cx="5669280" cy="2487168"/>
          </a:xfrm>
          <a:prstGeom prst="roundRect">
            <a:avLst>
              <a:gd name="adj" fmla="val 5147"/>
            </a:avLst>
          </a:prstGeom>
          <a:solidFill>
            <a:srgbClr val="040810">
              <a:alpha val="58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Shape 21"/>
          <p:cNvSpPr/>
          <p:nvPr/>
        </p:nvSpPr>
        <p:spPr>
          <a:xfrm>
            <a:off x="6473952" y="4023360"/>
            <a:ext cx="0" cy="2331720"/>
          </a:xfrm>
          <a:prstGeom prst="line">
            <a:avLst/>
          </a:prstGeom>
          <a:noFill/>
          <a:ln w="38100">
            <a:solidFill>
              <a:srgbClr val="F0C040"/>
            </a:solidFill>
            <a:prstDash val="solid"/>
          </a:ln>
        </p:spPr>
        <p:txBody>
          <a:bodyPr/>
          <a:lstStyle/>
          <a:p>
            <a:endParaRPr lang="en-GB"/>
          </a:p>
        </p:txBody>
      </p:sp>
      <p:sp>
        <p:nvSpPr>
          <p:cNvPr id="25" name="Text 22"/>
          <p:cNvSpPr/>
          <p:nvPr/>
        </p:nvSpPr>
        <p:spPr>
          <a:xfrm>
            <a:off x="6693408" y="4041648"/>
            <a:ext cx="5138928" cy="438912"/>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Theoretical Refinement Needed</a:t>
            </a:r>
            <a:endParaRPr lang="en-US" sz="1300" dirty="0"/>
          </a:p>
        </p:txBody>
      </p:sp>
      <p:sp>
        <p:nvSpPr>
          <p:cNvPr id="26" name="Shape 23"/>
          <p:cNvSpPr/>
          <p:nvPr/>
        </p:nvSpPr>
        <p:spPr>
          <a:xfrm>
            <a:off x="6693408" y="4498848"/>
            <a:ext cx="5102352" cy="0"/>
          </a:xfrm>
          <a:prstGeom prst="line">
            <a:avLst/>
          </a:prstGeom>
          <a:noFill/>
          <a:ln w="19050">
            <a:solidFill>
              <a:srgbClr val="F0C040"/>
            </a:solidFill>
            <a:prstDash val="solid"/>
          </a:ln>
        </p:spPr>
        <p:txBody>
          <a:bodyPr/>
          <a:lstStyle/>
          <a:p>
            <a:endParaRPr lang="en-GB"/>
          </a:p>
        </p:txBody>
      </p:sp>
      <p:sp>
        <p:nvSpPr>
          <p:cNvPr id="27" name="Text 24"/>
          <p:cNvSpPr/>
          <p:nvPr/>
        </p:nvSpPr>
        <p:spPr>
          <a:xfrm>
            <a:off x="6693408" y="4617720"/>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The substitutive pattern calls for boundary conditions theory. When does governance complement vs. substitute AI? Full-panel longitudinal analysis is the necessary next step.</a:t>
            </a:r>
            <a:endParaRPr lang="en-US" sz="1150" dirty="0"/>
          </a:p>
        </p:txBody>
      </p:sp>
      <p:sp>
        <p:nvSpPr>
          <p:cNvPr id="28" name="Text 25"/>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FFB347"/>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FFB347"/>
                </a:solidFill>
                <a:latin typeface="Gill Sans MT" pitchFamily="34" charset="0"/>
                <a:ea typeface="Gill Sans MT" pitchFamily="34" charset="-122"/>
                <a:cs typeface="Gill Sans MT" pitchFamily="34" charset="-120"/>
              </a:rPr>
              <a:t>LIMITATIONS &amp; FUTURE RESEARCH</a:t>
            </a:r>
            <a:endParaRPr lang="en-US" sz="850" dirty="0"/>
          </a:p>
        </p:txBody>
      </p:sp>
      <p:sp>
        <p:nvSpPr>
          <p:cNvPr id="6" name="Text 3"/>
          <p:cNvSpPr/>
          <p:nvPr/>
        </p:nvSpPr>
        <p:spPr>
          <a:xfrm>
            <a:off x="365760" y="347472"/>
            <a:ext cx="10972800" cy="685800"/>
          </a:xfrm>
          <a:prstGeom prst="rect">
            <a:avLst/>
          </a:prstGeom>
          <a:noFill/>
          <a:ln/>
        </p:spPr>
        <p:txBody>
          <a:bodyPr wrap="square" lIns="50800" tIns="50800" rIns="50800" bIns="50800" rtlCol="0" anchor="ctr"/>
          <a:lstStyle/>
          <a:p>
            <a:pPr marL="0" indent="0" algn="l">
              <a:buNone/>
            </a:pPr>
            <a:r>
              <a:rPr lang="en-US" sz="2600" b="1" dirty="0">
                <a:solidFill>
                  <a:srgbClr val="FFFFFF"/>
                </a:solidFill>
                <a:latin typeface="Gill Sans MT" pitchFamily="34" charset="0"/>
                <a:ea typeface="Gill Sans MT" pitchFamily="34" charset="-122"/>
                <a:cs typeface="Gill Sans MT" pitchFamily="34" charset="-120"/>
              </a:rPr>
              <a:t>Limitations, Implications &amp; Next Steps</a:t>
            </a:r>
            <a:endParaRPr lang="en-US" sz="2600" dirty="0"/>
          </a:p>
        </p:txBody>
      </p:sp>
      <p:sp>
        <p:nvSpPr>
          <p:cNvPr id="7" name="Shape 4"/>
          <p:cNvSpPr/>
          <p:nvPr/>
        </p:nvSpPr>
        <p:spPr>
          <a:xfrm>
            <a:off x="365760" y="1115568"/>
            <a:ext cx="11430000" cy="0"/>
          </a:xfrm>
          <a:prstGeom prst="line">
            <a:avLst/>
          </a:prstGeom>
          <a:noFill/>
          <a:ln w="19050">
            <a:solidFill>
              <a:srgbClr val="FFB347"/>
            </a:solidFill>
            <a:prstDash val="solid"/>
          </a:ln>
        </p:spPr>
        <p:txBody>
          <a:bodyPr/>
          <a:lstStyle/>
          <a:p>
            <a:endParaRPr lang="en-GB"/>
          </a:p>
        </p:txBody>
      </p:sp>
      <p:sp>
        <p:nvSpPr>
          <p:cNvPr id="8" name="Text 5"/>
          <p:cNvSpPr/>
          <p:nvPr/>
        </p:nvSpPr>
        <p:spPr>
          <a:xfrm>
            <a:off x="365760" y="1261872"/>
            <a:ext cx="5669280" cy="384048"/>
          </a:xfrm>
          <a:prstGeom prst="rect">
            <a:avLst/>
          </a:prstGeom>
          <a:noFill/>
          <a:ln/>
        </p:spPr>
        <p:txBody>
          <a:bodyPr wrap="square" lIns="50800" tIns="50800" rIns="50800" bIns="50800" rtlCol="0" anchor="ctr"/>
          <a:lstStyle/>
          <a:p>
            <a:pPr marL="0" indent="0" algn="l">
              <a:buNone/>
            </a:pPr>
            <a:r>
              <a:rPr lang="en-US" sz="1400" b="1" kern="0" spc="100" dirty="0">
                <a:solidFill>
                  <a:srgbClr val="F47A7A"/>
                </a:solidFill>
                <a:latin typeface="Gill Sans MT" pitchFamily="34" charset="0"/>
                <a:ea typeface="Gill Sans MT" pitchFamily="34" charset="-122"/>
                <a:cs typeface="Gill Sans MT" pitchFamily="34" charset="-120"/>
              </a:rPr>
              <a:t>Study Limitations</a:t>
            </a:r>
            <a:endParaRPr lang="en-US" sz="1400" dirty="0"/>
          </a:p>
        </p:txBody>
      </p:sp>
      <p:sp>
        <p:nvSpPr>
          <p:cNvPr id="9" name="Shape 6"/>
          <p:cNvSpPr/>
          <p:nvPr/>
        </p:nvSpPr>
        <p:spPr>
          <a:xfrm>
            <a:off x="365760" y="1719072"/>
            <a:ext cx="5669280" cy="777240"/>
          </a:xfrm>
          <a:prstGeom prst="roundRect">
            <a:avLst>
              <a:gd name="adj" fmla="val 9412"/>
            </a:avLst>
          </a:prstGeom>
          <a:solidFill>
            <a:srgbClr val="100308">
              <a:alpha val="55000"/>
            </a:srgbClr>
          </a:solidFill>
          <a:ln w="7620">
            <a:solidFill>
              <a:srgbClr val="F47A7A">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0" name="Text 7"/>
          <p:cNvSpPr/>
          <p:nvPr/>
        </p:nvSpPr>
        <p:spPr>
          <a:xfrm>
            <a:off x="530352" y="1810512"/>
            <a:ext cx="411480" cy="594360"/>
          </a:xfrm>
          <a:prstGeom prst="rect">
            <a:avLst/>
          </a:prstGeom>
          <a:noFill/>
          <a:ln/>
        </p:spPr>
        <p:txBody>
          <a:bodyPr wrap="square" lIns="50800" tIns="50800" rIns="50800" bIns="50800" rtlCol="0" anchor="ctr"/>
          <a:lstStyle/>
          <a:p>
            <a:pPr marL="0" indent="0" algn="ctr">
              <a:buNone/>
            </a:pPr>
            <a:r>
              <a:rPr lang="en-US" sz="1300" b="1" dirty="0">
                <a:solidFill>
                  <a:srgbClr val="F47A7A"/>
                </a:solidFill>
                <a:latin typeface="Gill Sans MT" pitchFamily="34" charset="0"/>
                <a:ea typeface="Gill Sans MT" pitchFamily="34" charset="-122"/>
                <a:cs typeface="Gill Sans MT" pitchFamily="34" charset="-120"/>
              </a:rPr>
              <a:t>1.</a:t>
            </a:r>
            <a:endParaRPr lang="en-US" sz="1300" dirty="0"/>
          </a:p>
        </p:txBody>
      </p:sp>
      <p:sp>
        <p:nvSpPr>
          <p:cNvPr id="11" name="Shape 8"/>
          <p:cNvSpPr/>
          <p:nvPr/>
        </p:nvSpPr>
        <p:spPr>
          <a:xfrm>
            <a:off x="1005840" y="1792224"/>
            <a:ext cx="0" cy="640080"/>
          </a:xfrm>
          <a:prstGeom prst="line">
            <a:avLst/>
          </a:prstGeom>
          <a:noFill/>
          <a:ln w="10160">
            <a:solidFill>
              <a:srgbClr val="F47A7A">
                <a:alpha val="35000"/>
              </a:srgbClr>
            </a:solidFill>
            <a:prstDash val="solid"/>
          </a:ln>
        </p:spPr>
        <p:txBody>
          <a:bodyPr/>
          <a:lstStyle/>
          <a:p>
            <a:endParaRPr lang="en-GB"/>
          </a:p>
        </p:txBody>
      </p:sp>
      <p:sp>
        <p:nvSpPr>
          <p:cNvPr id="12" name="Text 9"/>
          <p:cNvSpPr/>
          <p:nvPr/>
        </p:nvSpPr>
        <p:spPr>
          <a:xfrm>
            <a:off x="1115568" y="1828800"/>
            <a:ext cx="4773168" cy="566928"/>
          </a:xfrm>
          <a:prstGeom prst="rect">
            <a:avLst/>
          </a:prstGeom>
          <a:noFill/>
          <a:ln/>
        </p:spPr>
        <p:txBody>
          <a:bodyPr wrap="square" lIns="50800" tIns="50800" rIns="50800" bIns="50800" rtlCol="0" anchor="ctr"/>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Cross-sectional design — temporal precedence cannot be fully established</a:t>
            </a:r>
            <a:endParaRPr lang="en-US" sz="1100" dirty="0"/>
          </a:p>
        </p:txBody>
      </p:sp>
      <p:sp>
        <p:nvSpPr>
          <p:cNvPr id="13" name="Shape 10"/>
          <p:cNvSpPr/>
          <p:nvPr/>
        </p:nvSpPr>
        <p:spPr>
          <a:xfrm>
            <a:off x="365760" y="2606040"/>
            <a:ext cx="5669280" cy="777240"/>
          </a:xfrm>
          <a:prstGeom prst="roundRect">
            <a:avLst>
              <a:gd name="adj" fmla="val 9412"/>
            </a:avLst>
          </a:prstGeom>
          <a:solidFill>
            <a:srgbClr val="100308">
              <a:alpha val="55000"/>
            </a:srgbClr>
          </a:solidFill>
          <a:ln w="7620">
            <a:solidFill>
              <a:srgbClr val="F47A7A">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Text 11"/>
          <p:cNvSpPr/>
          <p:nvPr/>
        </p:nvSpPr>
        <p:spPr>
          <a:xfrm>
            <a:off x="530352" y="2697480"/>
            <a:ext cx="411480" cy="594360"/>
          </a:xfrm>
          <a:prstGeom prst="rect">
            <a:avLst/>
          </a:prstGeom>
          <a:noFill/>
          <a:ln/>
        </p:spPr>
        <p:txBody>
          <a:bodyPr wrap="square" lIns="50800" tIns="50800" rIns="50800" bIns="50800" rtlCol="0" anchor="ctr"/>
          <a:lstStyle/>
          <a:p>
            <a:pPr marL="0" indent="0" algn="ctr">
              <a:buNone/>
            </a:pPr>
            <a:r>
              <a:rPr lang="en-US" sz="1300" b="1" dirty="0">
                <a:solidFill>
                  <a:srgbClr val="F47A7A"/>
                </a:solidFill>
                <a:latin typeface="Gill Sans MT" pitchFamily="34" charset="0"/>
                <a:ea typeface="Gill Sans MT" pitchFamily="34" charset="-122"/>
                <a:cs typeface="Gill Sans MT" pitchFamily="34" charset="-120"/>
              </a:rPr>
              <a:t>2.</a:t>
            </a:r>
            <a:endParaRPr lang="en-US" sz="1300" dirty="0"/>
          </a:p>
        </p:txBody>
      </p:sp>
      <p:sp>
        <p:nvSpPr>
          <p:cNvPr id="15" name="Shape 12"/>
          <p:cNvSpPr/>
          <p:nvPr/>
        </p:nvSpPr>
        <p:spPr>
          <a:xfrm>
            <a:off x="1005840" y="2679192"/>
            <a:ext cx="0" cy="640080"/>
          </a:xfrm>
          <a:prstGeom prst="line">
            <a:avLst/>
          </a:prstGeom>
          <a:noFill/>
          <a:ln w="10160">
            <a:solidFill>
              <a:srgbClr val="F47A7A">
                <a:alpha val="35000"/>
              </a:srgbClr>
            </a:solidFill>
            <a:prstDash val="solid"/>
          </a:ln>
        </p:spPr>
        <p:txBody>
          <a:bodyPr/>
          <a:lstStyle/>
          <a:p>
            <a:endParaRPr lang="en-GB"/>
          </a:p>
        </p:txBody>
      </p:sp>
      <p:sp>
        <p:nvSpPr>
          <p:cNvPr id="16" name="Text 13"/>
          <p:cNvSpPr/>
          <p:nvPr/>
        </p:nvSpPr>
        <p:spPr>
          <a:xfrm>
            <a:off x="1115568" y="2715768"/>
            <a:ext cx="4773168" cy="566928"/>
          </a:xfrm>
          <a:prstGeom prst="rect">
            <a:avLst/>
          </a:prstGeom>
          <a:noFill/>
          <a:ln/>
        </p:spPr>
        <p:txBody>
          <a:bodyPr wrap="square" lIns="50800" tIns="50800" rIns="50800" bIns="50800" rtlCol="0" anchor="ctr"/>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Composite index bias — aggregation may mask within-indicator variation</a:t>
            </a:r>
            <a:endParaRPr lang="en-US" sz="1100" dirty="0"/>
          </a:p>
        </p:txBody>
      </p:sp>
      <p:sp>
        <p:nvSpPr>
          <p:cNvPr id="17" name="Shape 14"/>
          <p:cNvSpPr/>
          <p:nvPr/>
        </p:nvSpPr>
        <p:spPr>
          <a:xfrm>
            <a:off x="365760" y="3493008"/>
            <a:ext cx="5669280" cy="777240"/>
          </a:xfrm>
          <a:prstGeom prst="roundRect">
            <a:avLst>
              <a:gd name="adj" fmla="val 9412"/>
            </a:avLst>
          </a:prstGeom>
          <a:solidFill>
            <a:srgbClr val="100308">
              <a:alpha val="55000"/>
            </a:srgbClr>
          </a:solidFill>
          <a:ln w="7620">
            <a:solidFill>
              <a:srgbClr val="F47A7A">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Text 15"/>
          <p:cNvSpPr/>
          <p:nvPr/>
        </p:nvSpPr>
        <p:spPr>
          <a:xfrm>
            <a:off x="530352" y="3584448"/>
            <a:ext cx="411480" cy="594360"/>
          </a:xfrm>
          <a:prstGeom prst="rect">
            <a:avLst/>
          </a:prstGeom>
          <a:noFill/>
          <a:ln/>
        </p:spPr>
        <p:txBody>
          <a:bodyPr wrap="square" lIns="50800" tIns="50800" rIns="50800" bIns="50800" rtlCol="0" anchor="ctr"/>
          <a:lstStyle/>
          <a:p>
            <a:pPr marL="0" indent="0" algn="ctr">
              <a:buNone/>
            </a:pPr>
            <a:r>
              <a:rPr lang="en-US" sz="1300" b="1" dirty="0">
                <a:solidFill>
                  <a:srgbClr val="F47A7A"/>
                </a:solidFill>
                <a:latin typeface="Gill Sans MT" pitchFamily="34" charset="0"/>
                <a:ea typeface="Gill Sans MT" pitchFamily="34" charset="-122"/>
                <a:cs typeface="Gill Sans MT" pitchFamily="34" charset="-120"/>
              </a:rPr>
              <a:t>3.</a:t>
            </a:r>
            <a:endParaRPr lang="en-US" sz="1300" dirty="0"/>
          </a:p>
        </p:txBody>
      </p:sp>
      <p:sp>
        <p:nvSpPr>
          <p:cNvPr id="19" name="Shape 16"/>
          <p:cNvSpPr/>
          <p:nvPr/>
        </p:nvSpPr>
        <p:spPr>
          <a:xfrm>
            <a:off x="1005840" y="3566160"/>
            <a:ext cx="0" cy="640080"/>
          </a:xfrm>
          <a:prstGeom prst="line">
            <a:avLst/>
          </a:prstGeom>
          <a:noFill/>
          <a:ln w="10160">
            <a:solidFill>
              <a:srgbClr val="F47A7A">
                <a:alpha val="35000"/>
              </a:srgbClr>
            </a:solidFill>
            <a:prstDash val="solid"/>
          </a:ln>
        </p:spPr>
        <p:txBody>
          <a:bodyPr/>
          <a:lstStyle/>
          <a:p>
            <a:endParaRPr lang="en-GB"/>
          </a:p>
        </p:txBody>
      </p:sp>
      <p:sp>
        <p:nvSpPr>
          <p:cNvPr id="20" name="Text 17"/>
          <p:cNvSpPr/>
          <p:nvPr/>
        </p:nvSpPr>
        <p:spPr>
          <a:xfrm>
            <a:off x="1115568" y="3602736"/>
            <a:ext cx="4773168" cy="566928"/>
          </a:xfrm>
          <a:prstGeom prst="rect">
            <a:avLst/>
          </a:prstGeom>
          <a:noFill/>
          <a:ln/>
        </p:spPr>
        <p:txBody>
          <a:bodyPr wrap="square" lIns="50800" tIns="50800" rIns="50800" bIns="50800" rtlCol="0" anchor="ctr"/>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Endogeneity risk — AI readiness &amp; GDP are co-evolving; reverse causality possible</a:t>
            </a:r>
            <a:endParaRPr lang="en-US" sz="1100" dirty="0"/>
          </a:p>
        </p:txBody>
      </p:sp>
      <p:sp>
        <p:nvSpPr>
          <p:cNvPr id="21" name="Shape 18"/>
          <p:cNvSpPr/>
          <p:nvPr/>
        </p:nvSpPr>
        <p:spPr>
          <a:xfrm>
            <a:off x="365760" y="4379976"/>
            <a:ext cx="5669280" cy="777240"/>
          </a:xfrm>
          <a:prstGeom prst="roundRect">
            <a:avLst>
              <a:gd name="adj" fmla="val 9412"/>
            </a:avLst>
          </a:prstGeom>
          <a:solidFill>
            <a:srgbClr val="100308">
              <a:alpha val="55000"/>
            </a:srgbClr>
          </a:solidFill>
          <a:ln w="7620">
            <a:solidFill>
              <a:srgbClr val="F47A7A">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Text 19"/>
          <p:cNvSpPr/>
          <p:nvPr/>
        </p:nvSpPr>
        <p:spPr>
          <a:xfrm>
            <a:off x="530352" y="4471416"/>
            <a:ext cx="411480" cy="594360"/>
          </a:xfrm>
          <a:prstGeom prst="rect">
            <a:avLst/>
          </a:prstGeom>
          <a:noFill/>
          <a:ln/>
        </p:spPr>
        <p:txBody>
          <a:bodyPr wrap="square" lIns="50800" tIns="50800" rIns="50800" bIns="50800" rtlCol="0" anchor="ctr"/>
          <a:lstStyle/>
          <a:p>
            <a:pPr marL="0" indent="0" algn="ctr">
              <a:buNone/>
            </a:pPr>
            <a:r>
              <a:rPr lang="en-US" sz="1300" b="1" dirty="0">
                <a:solidFill>
                  <a:srgbClr val="F47A7A"/>
                </a:solidFill>
                <a:latin typeface="Gill Sans MT" pitchFamily="34" charset="0"/>
                <a:ea typeface="Gill Sans MT" pitchFamily="34" charset="-122"/>
                <a:cs typeface="Gill Sans MT" pitchFamily="34" charset="-120"/>
              </a:rPr>
              <a:t>4.</a:t>
            </a:r>
            <a:endParaRPr lang="en-US" sz="1300" dirty="0"/>
          </a:p>
        </p:txBody>
      </p:sp>
      <p:sp>
        <p:nvSpPr>
          <p:cNvPr id="23" name="Shape 20"/>
          <p:cNvSpPr/>
          <p:nvPr/>
        </p:nvSpPr>
        <p:spPr>
          <a:xfrm>
            <a:off x="1005840" y="4453128"/>
            <a:ext cx="0" cy="640080"/>
          </a:xfrm>
          <a:prstGeom prst="line">
            <a:avLst/>
          </a:prstGeom>
          <a:noFill/>
          <a:ln w="10160">
            <a:solidFill>
              <a:srgbClr val="F47A7A">
                <a:alpha val="35000"/>
              </a:srgbClr>
            </a:solidFill>
            <a:prstDash val="solid"/>
          </a:ln>
        </p:spPr>
        <p:txBody>
          <a:bodyPr/>
          <a:lstStyle/>
          <a:p>
            <a:endParaRPr lang="en-GB"/>
          </a:p>
        </p:txBody>
      </p:sp>
      <p:sp>
        <p:nvSpPr>
          <p:cNvPr id="24" name="Text 21"/>
          <p:cNvSpPr/>
          <p:nvPr/>
        </p:nvSpPr>
        <p:spPr>
          <a:xfrm>
            <a:off x="1115568" y="4489704"/>
            <a:ext cx="4773168" cy="566928"/>
          </a:xfrm>
          <a:prstGeom prst="rect">
            <a:avLst/>
          </a:prstGeom>
          <a:noFill/>
          <a:ln/>
        </p:spPr>
        <p:txBody>
          <a:bodyPr wrap="square" lIns="50800" tIns="50800" rIns="50800" bIns="50800" rtlCol="0" anchor="ctr"/>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η₂ non-normality — Singapore/Luxembourg outliers inflate kurtosis to 8.157</a:t>
            </a:r>
            <a:endParaRPr lang="en-US" sz="1100" dirty="0"/>
          </a:p>
        </p:txBody>
      </p:sp>
      <p:sp>
        <p:nvSpPr>
          <p:cNvPr id="29" name="Text 26"/>
          <p:cNvSpPr/>
          <p:nvPr/>
        </p:nvSpPr>
        <p:spPr>
          <a:xfrm>
            <a:off x="6309360" y="1261872"/>
            <a:ext cx="5577840" cy="384048"/>
          </a:xfrm>
          <a:prstGeom prst="rect">
            <a:avLst/>
          </a:prstGeom>
          <a:noFill/>
          <a:ln/>
        </p:spPr>
        <p:txBody>
          <a:bodyPr wrap="square" lIns="50800" tIns="50800" rIns="50800" bIns="50800" rtlCol="0" anchor="ctr"/>
          <a:lstStyle/>
          <a:p>
            <a:pPr marL="0" indent="0" algn="l">
              <a:buNone/>
            </a:pPr>
            <a:r>
              <a:rPr lang="en-US" sz="1400" b="1" kern="0" spc="100" dirty="0">
                <a:solidFill>
                  <a:srgbClr val="56D68A"/>
                </a:solidFill>
                <a:latin typeface="Gill Sans MT" pitchFamily="34" charset="0"/>
                <a:ea typeface="Gill Sans MT" pitchFamily="34" charset="-122"/>
                <a:cs typeface="Gill Sans MT" pitchFamily="34" charset="-120"/>
              </a:rPr>
              <a:t>Future Research</a:t>
            </a:r>
            <a:endParaRPr lang="en-US" sz="1400" dirty="0"/>
          </a:p>
        </p:txBody>
      </p:sp>
      <p:sp>
        <p:nvSpPr>
          <p:cNvPr id="30" name="Shape 27"/>
          <p:cNvSpPr/>
          <p:nvPr/>
        </p:nvSpPr>
        <p:spPr>
          <a:xfrm>
            <a:off x="6263640" y="1719072"/>
            <a:ext cx="5577840" cy="777240"/>
          </a:xfrm>
          <a:prstGeom prst="roundRect">
            <a:avLst>
              <a:gd name="adj" fmla="val 9412"/>
            </a:avLst>
          </a:prstGeom>
          <a:solidFill>
            <a:srgbClr val="041008">
              <a:alpha val="55000"/>
            </a:srgbClr>
          </a:solidFill>
          <a:ln w="7620">
            <a:solidFill>
              <a:srgbClr val="56D68A">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1" name="Text 28"/>
          <p:cNvSpPr/>
          <p:nvPr/>
        </p:nvSpPr>
        <p:spPr>
          <a:xfrm>
            <a:off x="6446520" y="1792224"/>
            <a:ext cx="5230368" cy="347472"/>
          </a:xfrm>
          <a:prstGeom prst="rect">
            <a:avLst/>
          </a:prstGeom>
          <a:noFill/>
          <a:ln/>
        </p:spPr>
        <p:txBody>
          <a:bodyPr wrap="square" lIns="50800" tIns="50800" rIns="50800" bIns="50800" rtlCol="0" anchor="ctr"/>
          <a:lstStyle/>
          <a:p>
            <a:pPr marL="0" indent="0" algn="l">
              <a:buNone/>
            </a:pPr>
            <a:r>
              <a:rPr lang="en-US" sz="1150" b="1" dirty="0">
                <a:solidFill>
                  <a:srgbClr val="56D68A"/>
                </a:solidFill>
                <a:latin typeface="Gill Sans MT" pitchFamily="34" charset="0"/>
                <a:ea typeface="Gill Sans MT" pitchFamily="34" charset="-122"/>
                <a:cs typeface="Gill Sans MT" pitchFamily="34" charset="-120"/>
              </a:rPr>
              <a:t>Panel Regression (2010–2025)</a:t>
            </a:r>
            <a:endParaRPr lang="en-US" sz="1150" dirty="0"/>
          </a:p>
        </p:txBody>
      </p:sp>
      <p:sp>
        <p:nvSpPr>
          <p:cNvPr id="32" name="Text 29"/>
          <p:cNvSpPr/>
          <p:nvPr/>
        </p:nvSpPr>
        <p:spPr>
          <a:xfrm>
            <a:off x="6446520" y="2157984"/>
            <a:ext cx="5230368" cy="27432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Exploit temporal variation; IV estimation for causal inference</a:t>
            </a:r>
            <a:endParaRPr lang="en-US" sz="1050" dirty="0"/>
          </a:p>
        </p:txBody>
      </p:sp>
      <p:sp>
        <p:nvSpPr>
          <p:cNvPr id="33" name="Shape 30"/>
          <p:cNvSpPr/>
          <p:nvPr/>
        </p:nvSpPr>
        <p:spPr>
          <a:xfrm>
            <a:off x="6263640" y="2606040"/>
            <a:ext cx="5577840" cy="777240"/>
          </a:xfrm>
          <a:prstGeom prst="roundRect">
            <a:avLst>
              <a:gd name="adj" fmla="val 9412"/>
            </a:avLst>
          </a:prstGeom>
          <a:solidFill>
            <a:srgbClr val="041008">
              <a:alpha val="55000"/>
            </a:srgbClr>
          </a:solidFill>
          <a:ln w="7620">
            <a:solidFill>
              <a:srgbClr val="56D68A">
                <a:alpha val="45000"/>
              </a:srgbClr>
            </a:solidFill>
            <a:prstDash val="solid"/>
          </a:ln>
          <a:effectLst>
            <a:outerShdw blurRad="190500" dist="63500" dir="2700000" algn="bl" rotWithShape="0">
              <a:srgbClr val="000000">
                <a:alpha val="45000"/>
              </a:srgbClr>
            </a:outerShdw>
          </a:effectLst>
        </p:spPr>
        <p:txBody>
          <a:bodyPr/>
          <a:lstStyle/>
          <a:p>
            <a:endParaRPr lang="en-GB" dirty="0"/>
          </a:p>
        </p:txBody>
      </p:sp>
      <p:sp>
        <p:nvSpPr>
          <p:cNvPr id="34" name="Text 31"/>
          <p:cNvSpPr/>
          <p:nvPr/>
        </p:nvSpPr>
        <p:spPr>
          <a:xfrm>
            <a:off x="6446520" y="2679192"/>
            <a:ext cx="5230368" cy="347472"/>
          </a:xfrm>
          <a:prstGeom prst="rect">
            <a:avLst/>
          </a:prstGeom>
          <a:noFill/>
          <a:ln/>
        </p:spPr>
        <p:txBody>
          <a:bodyPr wrap="square" lIns="50800" tIns="50800" rIns="50800" bIns="50800" rtlCol="0" anchor="ctr"/>
          <a:lstStyle/>
          <a:p>
            <a:pPr marL="0" indent="0" algn="l">
              <a:buNone/>
            </a:pPr>
            <a:r>
              <a:rPr lang="en-US" sz="1150" b="1" dirty="0">
                <a:solidFill>
                  <a:srgbClr val="56D68A"/>
                </a:solidFill>
                <a:latin typeface="Gill Sans MT" pitchFamily="34" charset="0"/>
              </a:rPr>
              <a:t>Composite Fitness </a:t>
            </a:r>
            <a:endParaRPr lang="en-US" sz="1150" dirty="0"/>
          </a:p>
        </p:txBody>
      </p:sp>
      <p:sp>
        <p:nvSpPr>
          <p:cNvPr id="35" name="Text 32"/>
          <p:cNvSpPr/>
          <p:nvPr/>
        </p:nvSpPr>
        <p:spPr>
          <a:xfrm>
            <a:off x="6446520" y="3044952"/>
            <a:ext cx="5230368" cy="27432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Latent variable modelling with fit indices (CFI, RMSEA)</a:t>
            </a:r>
            <a:endParaRPr lang="en-US" sz="1050" dirty="0"/>
          </a:p>
        </p:txBody>
      </p:sp>
      <p:sp>
        <p:nvSpPr>
          <p:cNvPr id="36" name="Shape 33"/>
          <p:cNvSpPr/>
          <p:nvPr/>
        </p:nvSpPr>
        <p:spPr>
          <a:xfrm>
            <a:off x="6263640" y="3493008"/>
            <a:ext cx="5577840" cy="777240"/>
          </a:xfrm>
          <a:prstGeom prst="roundRect">
            <a:avLst>
              <a:gd name="adj" fmla="val 9412"/>
            </a:avLst>
          </a:prstGeom>
          <a:solidFill>
            <a:srgbClr val="041008">
              <a:alpha val="55000"/>
            </a:srgbClr>
          </a:solidFill>
          <a:ln w="7620">
            <a:solidFill>
              <a:srgbClr val="56D68A">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7" name="Text 34"/>
          <p:cNvSpPr/>
          <p:nvPr/>
        </p:nvSpPr>
        <p:spPr>
          <a:xfrm>
            <a:off x="6446520" y="3566160"/>
            <a:ext cx="5230368" cy="347472"/>
          </a:xfrm>
          <a:prstGeom prst="rect">
            <a:avLst/>
          </a:prstGeom>
          <a:noFill/>
          <a:ln/>
        </p:spPr>
        <p:txBody>
          <a:bodyPr wrap="square" lIns="50800" tIns="50800" rIns="50800" bIns="50800" rtlCol="0" anchor="ctr"/>
          <a:lstStyle/>
          <a:p>
            <a:pPr marL="0" indent="0" algn="l">
              <a:buNone/>
            </a:pPr>
            <a:r>
              <a:rPr lang="en-US" sz="1150" b="1" dirty="0">
                <a:solidFill>
                  <a:srgbClr val="56D68A"/>
                </a:solidFill>
                <a:latin typeface="Gill Sans MT" pitchFamily="34" charset="0"/>
                <a:ea typeface="Gill Sans MT" pitchFamily="34" charset="-122"/>
                <a:cs typeface="Gill Sans MT" pitchFamily="34" charset="-120"/>
              </a:rPr>
              <a:t>Regional Heterogeneity</a:t>
            </a:r>
            <a:endParaRPr lang="en-US" sz="1150" dirty="0"/>
          </a:p>
        </p:txBody>
      </p:sp>
      <p:sp>
        <p:nvSpPr>
          <p:cNvPr id="38" name="Text 35"/>
          <p:cNvSpPr/>
          <p:nvPr/>
        </p:nvSpPr>
        <p:spPr>
          <a:xfrm>
            <a:off x="6446520" y="3931920"/>
            <a:ext cx="5230368" cy="27432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Separate models for high/low-income groups; multi-group SEM</a:t>
            </a:r>
            <a:endParaRPr lang="en-US" sz="1050" dirty="0"/>
          </a:p>
        </p:txBody>
      </p:sp>
      <p:sp>
        <p:nvSpPr>
          <p:cNvPr id="39" name="Shape 36"/>
          <p:cNvSpPr/>
          <p:nvPr/>
        </p:nvSpPr>
        <p:spPr>
          <a:xfrm>
            <a:off x="6263640" y="4379976"/>
            <a:ext cx="5577840" cy="777240"/>
          </a:xfrm>
          <a:prstGeom prst="roundRect">
            <a:avLst>
              <a:gd name="adj" fmla="val 9412"/>
            </a:avLst>
          </a:prstGeom>
          <a:solidFill>
            <a:srgbClr val="041008">
              <a:alpha val="55000"/>
            </a:srgbClr>
          </a:solidFill>
          <a:ln w="7620">
            <a:solidFill>
              <a:srgbClr val="56D68A">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0" name="Text 37"/>
          <p:cNvSpPr/>
          <p:nvPr/>
        </p:nvSpPr>
        <p:spPr>
          <a:xfrm>
            <a:off x="6446520" y="4453128"/>
            <a:ext cx="5230368" cy="347472"/>
          </a:xfrm>
          <a:prstGeom prst="rect">
            <a:avLst/>
          </a:prstGeom>
          <a:noFill/>
          <a:ln/>
        </p:spPr>
        <p:txBody>
          <a:bodyPr wrap="square" lIns="50800" tIns="50800" rIns="50800" bIns="50800" rtlCol="0" anchor="ctr"/>
          <a:lstStyle/>
          <a:p>
            <a:pPr marL="0" indent="0" algn="l">
              <a:buNone/>
            </a:pPr>
            <a:r>
              <a:rPr lang="en-US" sz="1150" b="1" dirty="0">
                <a:solidFill>
                  <a:srgbClr val="56D68A"/>
                </a:solidFill>
                <a:latin typeface="Gill Sans MT" pitchFamily="34" charset="0"/>
                <a:ea typeface="Gill Sans MT" pitchFamily="34" charset="-122"/>
                <a:cs typeface="Gill Sans MT" pitchFamily="34" charset="-120"/>
              </a:rPr>
              <a:t>Policy Implication</a:t>
            </a:r>
            <a:endParaRPr lang="en-US" sz="1150" dirty="0"/>
          </a:p>
        </p:txBody>
      </p:sp>
      <p:sp>
        <p:nvSpPr>
          <p:cNvPr id="41" name="Text 38"/>
          <p:cNvSpPr/>
          <p:nvPr/>
        </p:nvSpPr>
        <p:spPr>
          <a:xfrm>
            <a:off x="6446520" y="4818888"/>
            <a:ext cx="5230368" cy="27432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AI investment alone insufficient — governance co-investment critical</a:t>
            </a:r>
            <a:endParaRPr lang="en-US" sz="1050" dirty="0"/>
          </a:p>
        </p:txBody>
      </p:sp>
      <p:sp>
        <p:nvSpPr>
          <p:cNvPr id="45" name="Text 42"/>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005840"/>
          </a:xfrm>
          <a:prstGeom prst="roundRect">
            <a:avLst>
              <a:gd name="adj" fmla="val 12727"/>
            </a:avLst>
          </a:prstGeom>
          <a:solidFill>
            <a:srgbClr val="020306">
              <a:alpha val="65000"/>
            </a:srgbClr>
          </a:solidFill>
          <a:ln w="6350">
            <a:solidFill>
              <a:srgbClr val="FFFFFF">
                <a:alpha val="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 name="Shape 1"/>
          <p:cNvSpPr/>
          <p:nvPr/>
        </p:nvSpPr>
        <p:spPr>
          <a:xfrm>
            <a:off x="0" y="987552"/>
            <a:ext cx="12161520" cy="0"/>
          </a:xfrm>
          <a:prstGeom prst="line">
            <a:avLst/>
          </a:prstGeom>
          <a:noFill/>
          <a:ln w="19050">
            <a:solidFill>
              <a:srgbClr val="F0C040"/>
            </a:solidFill>
            <a:prstDash val="solid"/>
          </a:ln>
        </p:spPr>
        <p:txBody>
          <a:bodyPr/>
          <a:lstStyle/>
          <a:p>
            <a:endParaRPr lang="en-GB"/>
          </a:p>
        </p:txBody>
      </p:sp>
      <p:sp>
        <p:nvSpPr>
          <p:cNvPr id="5" name="Text 2"/>
          <p:cNvSpPr/>
          <p:nvPr/>
        </p:nvSpPr>
        <p:spPr>
          <a:xfrm>
            <a:off x="365760" y="201168"/>
            <a:ext cx="11430000" cy="566928"/>
          </a:xfrm>
          <a:prstGeom prst="rect">
            <a:avLst/>
          </a:prstGeom>
          <a:noFill/>
          <a:ln/>
        </p:spPr>
        <p:txBody>
          <a:bodyPr wrap="square" lIns="50800" tIns="50800" rIns="50800" bIns="50800" rtlCol="0" anchor="ctr"/>
          <a:lstStyle/>
          <a:p>
            <a:pPr marL="0" indent="0" algn="ctr">
              <a:buNone/>
            </a:pPr>
            <a:r>
              <a:rPr lang="en-US" sz="1200" b="1" kern="0" spc="350" dirty="0">
                <a:solidFill>
                  <a:srgbClr val="B8C8D8"/>
                </a:solidFill>
                <a:latin typeface="Gill Sans MT" pitchFamily="34" charset="0"/>
                <a:ea typeface="Gill Sans MT" pitchFamily="34" charset="-122"/>
                <a:cs typeface="Gill Sans MT" pitchFamily="34" charset="-120"/>
              </a:rPr>
              <a:t>CONCLUSION</a:t>
            </a:r>
            <a:endParaRPr lang="en-US" sz="1200" dirty="0"/>
          </a:p>
        </p:txBody>
      </p:sp>
      <p:sp>
        <p:nvSpPr>
          <p:cNvPr id="6" name="Text 3"/>
          <p:cNvSpPr/>
          <p:nvPr/>
        </p:nvSpPr>
        <p:spPr>
          <a:xfrm>
            <a:off x="365760" y="1078992"/>
            <a:ext cx="11430000" cy="658368"/>
          </a:xfrm>
          <a:prstGeom prst="rect">
            <a:avLst/>
          </a:prstGeom>
          <a:noFill/>
          <a:ln/>
        </p:spPr>
        <p:txBody>
          <a:bodyPr wrap="square" lIns="50800" tIns="50800" rIns="50800" bIns="50800" rtlCol="0" anchor="ctr"/>
          <a:lstStyle/>
          <a:p>
            <a:pPr marL="0" indent="0" algn="ctr">
              <a:buNone/>
            </a:pPr>
            <a:r>
              <a:rPr lang="en-US" sz="3000" b="1" dirty="0">
                <a:solidFill>
                  <a:srgbClr val="FFFFFF"/>
                </a:solidFill>
                <a:latin typeface="Gill Sans MT" pitchFamily="34" charset="0"/>
                <a:ea typeface="Gill Sans MT" pitchFamily="34" charset="-122"/>
                <a:cs typeface="Gill Sans MT" pitchFamily="34" charset="-120"/>
              </a:rPr>
              <a:t>Three Takeaways for the Room</a:t>
            </a:r>
            <a:endParaRPr lang="en-US" sz="3000" dirty="0"/>
          </a:p>
        </p:txBody>
      </p:sp>
      <p:sp>
        <p:nvSpPr>
          <p:cNvPr id="7" name="Shape 4"/>
          <p:cNvSpPr/>
          <p:nvPr/>
        </p:nvSpPr>
        <p:spPr>
          <a:xfrm>
            <a:off x="2286000" y="1783080"/>
            <a:ext cx="7589520" cy="0"/>
          </a:xfrm>
          <a:prstGeom prst="line">
            <a:avLst/>
          </a:prstGeom>
          <a:noFill/>
          <a:ln w="19050">
            <a:solidFill>
              <a:srgbClr val="F0C040"/>
            </a:solidFill>
            <a:prstDash val="solid"/>
          </a:ln>
        </p:spPr>
        <p:txBody>
          <a:bodyPr/>
          <a:lstStyle/>
          <a:p>
            <a:endParaRPr lang="en-GB"/>
          </a:p>
        </p:txBody>
      </p:sp>
      <p:sp>
        <p:nvSpPr>
          <p:cNvPr id="8" name="Shape 5"/>
          <p:cNvSpPr/>
          <p:nvPr/>
        </p:nvSpPr>
        <p:spPr>
          <a:xfrm>
            <a:off x="365760" y="1965960"/>
            <a:ext cx="3749040" cy="4434840"/>
          </a:xfrm>
          <a:prstGeom prst="roundRect">
            <a:avLst>
              <a:gd name="adj" fmla="val 3415"/>
            </a:avLst>
          </a:prstGeom>
          <a:solidFill>
            <a:srgbClr val="04060E">
              <a:alpha val="65000"/>
            </a:srgbClr>
          </a:solidFill>
          <a:ln w="15240">
            <a:solidFill>
              <a:srgbClr val="6DAEDB">
                <a:alpha val="7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30352" y="2084832"/>
            <a:ext cx="749808" cy="640080"/>
          </a:xfrm>
          <a:prstGeom prst="roundRect">
            <a:avLst>
              <a:gd name="adj" fmla="val 11429"/>
            </a:avLst>
          </a:prstGeom>
          <a:solidFill>
            <a:srgbClr val="6DAEDB">
              <a:alpha val="55000"/>
            </a:srgbClr>
          </a:solidFill>
          <a:ln w="12700">
            <a:solidFill>
              <a:srgbClr val="6DAEDB"/>
            </a:solidFill>
            <a:prstDash val="solid"/>
          </a:ln>
        </p:spPr>
        <p:txBody>
          <a:bodyPr/>
          <a:lstStyle/>
          <a:p>
            <a:endParaRPr lang="en-GB"/>
          </a:p>
        </p:txBody>
      </p:sp>
      <p:sp>
        <p:nvSpPr>
          <p:cNvPr id="10" name="Text 7"/>
          <p:cNvSpPr/>
          <p:nvPr/>
        </p:nvSpPr>
        <p:spPr>
          <a:xfrm>
            <a:off x="530352" y="2084832"/>
            <a:ext cx="749808" cy="640080"/>
          </a:xfrm>
          <a:prstGeom prst="rect">
            <a:avLst/>
          </a:prstGeom>
          <a:noFill/>
          <a:ln/>
        </p:spPr>
        <p:txBody>
          <a:bodyPr wrap="square" lIns="50800" tIns="50800" rIns="50800" bIns="50800" rtlCol="0" anchor="ctr"/>
          <a:lstStyle/>
          <a:p>
            <a:pPr marL="0" indent="0" algn="ctr">
              <a:buNone/>
            </a:pPr>
            <a:r>
              <a:rPr lang="en-US" sz="2000" b="1" dirty="0">
                <a:solidFill>
                  <a:srgbClr val="FFFFFF"/>
                </a:solidFill>
                <a:latin typeface="Gill Sans MT" pitchFamily="34" charset="0"/>
                <a:ea typeface="Gill Sans MT" pitchFamily="34" charset="-122"/>
                <a:cs typeface="Gill Sans MT" pitchFamily="34" charset="-120"/>
              </a:rPr>
              <a:t>01</a:t>
            </a:r>
            <a:endParaRPr lang="en-US" sz="2000" dirty="0"/>
          </a:p>
        </p:txBody>
      </p:sp>
      <p:sp>
        <p:nvSpPr>
          <p:cNvPr id="11" name="Text 8"/>
          <p:cNvSpPr/>
          <p:nvPr/>
        </p:nvSpPr>
        <p:spPr>
          <a:xfrm>
            <a:off x="566928" y="2834640"/>
            <a:ext cx="3364992" cy="594360"/>
          </a:xfrm>
          <a:prstGeom prst="rect">
            <a:avLst/>
          </a:prstGeom>
          <a:noFill/>
          <a:ln/>
        </p:spPr>
        <p:txBody>
          <a:bodyPr wrap="square" lIns="50800" tIns="50800" rIns="50800" bIns="50800" rtlCol="0" anchor="ctr"/>
          <a:lstStyle/>
          <a:p>
            <a:pPr marL="0" indent="0" algn="l">
              <a:buNone/>
            </a:pPr>
            <a:r>
              <a:rPr lang="en-US" sz="1300" b="1" dirty="0">
                <a:solidFill>
                  <a:srgbClr val="6DAEDB"/>
                </a:solidFill>
                <a:latin typeface="Gill Sans MT" pitchFamily="34" charset="0"/>
                <a:ea typeface="Gill Sans MT" pitchFamily="34" charset="-122"/>
                <a:cs typeface="Gill Sans MT" pitchFamily="34" charset="-120"/>
              </a:rPr>
              <a:t>AI readiness is a genuine macro-level SC driver</a:t>
            </a:r>
            <a:endParaRPr lang="en-US" sz="1300" dirty="0"/>
          </a:p>
        </p:txBody>
      </p:sp>
      <p:sp>
        <p:nvSpPr>
          <p:cNvPr id="12" name="Shape 9"/>
          <p:cNvSpPr/>
          <p:nvPr/>
        </p:nvSpPr>
        <p:spPr>
          <a:xfrm>
            <a:off x="566928" y="3456432"/>
            <a:ext cx="3337560" cy="0"/>
          </a:xfrm>
          <a:prstGeom prst="line">
            <a:avLst/>
          </a:prstGeom>
          <a:noFill/>
          <a:ln w="19050">
            <a:solidFill>
              <a:srgbClr val="6DAEDB"/>
            </a:solidFill>
            <a:prstDash val="solid"/>
          </a:ln>
        </p:spPr>
        <p:txBody>
          <a:bodyPr/>
          <a:lstStyle/>
          <a:p>
            <a:endParaRPr lang="en-GB"/>
          </a:p>
        </p:txBody>
      </p:sp>
      <p:sp>
        <p:nvSpPr>
          <p:cNvPr id="13" name="Text 10"/>
          <p:cNvSpPr/>
          <p:nvPr/>
        </p:nvSpPr>
        <p:spPr>
          <a:xfrm>
            <a:off x="566928" y="3584448"/>
            <a:ext cx="3364992" cy="269748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H1a (β = 0.462) and H1b (β = 0.408) both strongly confirmed. AI capability and governance quality jointly explain 78% of cross-national SC performance variation — robust and policy-relevant.</a:t>
            </a:r>
            <a:endParaRPr lang="en-US" sz="1150" dirty="0"/>
          </a:p>
        </p:txBody>
      </p:sp>
      <p:sp>
        <p:nvSpPr>
          <p:cNvPr id="14" name="Shape 11"/>
          <p:cNvSpPr/>
          <p:nvPr/>
        </p:nvSpPr>
        <p:spPr>
          <a:xfrm>
            <a:off x="4297680" y="1965960"/>
            <a:ext cx="3749040" cy="4434840"/>
          </a:xfrm>
          <a:prstGeom prst="roundRect">
            <a:avLst>
              <a:gd name="adj" fmla="val 3415"/>
            </a:avLst>
          </a:prstGeom>
          <a:solidFill>
            <a:srgbClr val="04060E">
              <a:alpha val="65000"/>
            </a:srgbClr>
          </a:solidFill>
          <a:ln w="15240">
            <a:solidFill>
              <a:srgbClr val="C9A0E8">
                <a:alpha val="7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5" name="Shape 12"/>
          <p:cNvSpPr/>
          <p:nvPr/>
        </p:nvSpPr>
        <p:spPr>
          <a:xfrm>
            <a:off x="4462272" y="2084832"/>
            <a:ext cx="749808" cy="640080"/>
          </a:xfrm>
          <a:prstGeom prst="roundRect">
            <a:avLst>
              <a:gd name="adj" fmla="val 11429"/>
            </a:avLst>
          </a:prstGeom>
          <a:solidFill>
            <a:srgbClr val="C9A0E8">
              <a:alpha val="55000"/>
            </a:srgbClr>
          </a:solidFill>
          <a:ln w="12700">
            <a:solidFill>
              <a:srgbClr val="C9A0E8"/>
            </a:solidFill>
            <a:prstDash val="solid"/>
          </a:ln>
        </p:spPr>
        <p:txBody>
          <a:bodyPr/>
          <a:lstStyle/>
          <a:p>
            <a:endParaRPr lang="en-GB"/>
          </a:p>
        </p:txBody>
      </p:sp>
      <p:sp>
        <p:nvSpPr>
          <p:cNvPr id="16" name="Text 13"/>
          <p:cNvSpPr/>
          <p:nvPr/>
        </p:nvSpPr>
        <p:spPr>
          <a:xfrm>
            <a:off x="4462272" y="2084832"/>
            <a:ext cx="749808" cy="640080"/>
          </a:xfrm>
          <a:prstGeom prst="rect">
            <a:avLst/>
          </a:prstGeom>
          <a:noFill/>
          <a:ln/>
        </p:spPr>
        <p:txBody>
          <a:bodyPr wrap="square" lIns="50800" tIns="50800" rIns="50800" bIns="50800" rtlCol="0" anchor="ctr"/>
          <a:lstStyle/>
          <a:p>
            <a:pPr marL="0" indent="0" algn="ctr">
              <a:buNone/>
            </a:pPr>
            <a:r>
              <a:rPr lang="en-US" sz="2000" b="1" dirty="0">
                <a:solidFill>
                  <a:srgbClr val="FFFFFF"/>
                </a:solidFill>
                <a:latin typeface="Gill Sans MT" pitchFamily="34" charset="0"/>
                <a:ea typeface="Gill Sans MT" pitchFamily="34" charset="-122"/>
                <a:cs typeface="Gill Sans MT" pitchFamily="34" charset="-120"/>
              </a:rPr>
              <a:t>02</a:t>
            </a:r>
            <a:endParaRPr lang="en-US" sz="2000" dirty="0"/>
          </a:p>
        </p:txBody>
      </p:sp>
      <p:sp>
        <p:nvSpPr>
          <p:cNvPr id="17" name="Text 14"/>
          <p:cNvSpPr/>
          <p:nvPr/>
        </p:nvSpPr>
        <p:spPr>
          <a:xfrm>
            <a:off x="4498848" y="2834640"/>
            <a:ext cx="3364992" cy="594360"/>
          </a:xfrm>
          <a:prstGeom prst="rect">
            <a:avLst/>
          </a:prstGeom>
          <a:noFill/>
          <a:ln/>
        </p:spPr>
        <p:txBody>
          <a:bodyPr wrap="square" lIns="50800" tIns="50800" rIns="50800" bIns="50800" rtlCol="0" anchor="ctr"/>
          <a:lstStyle/>
          <a:p>
            <a:pPr marL="0" indent="0" algn="l">
              <a:buNone/>
            </a:pPr>
            <a:r>
              <a:rPr lang="en-US" sz="1300" b="1" dirty="0">
                <a:solidFill>
                  <a:srgbClr val="C9A0E8"/>
                </a:solidFill>
                <a:latin typeface="Gill Sans MT" pitchFamily="34" charset="0"/>
                <a:ea typeface="Gill Sans MT" pitchFamily="34" charset="-122"/>
                <a:cs typeface="Gill Sans MT" pitchFamily="34" charset="-120"/>
              </a:rPr>
              <a:t>Institutions substitute, not amplify, AI effects</a:t>
            </a:r>
            <a:endParaRPr lang="en-US" sz="1300" dirty="0"/>
          </a:p>
        </p:txBody>
      </p:sp>
      <p:sp>
        <p:nvSpPr>
          <p:cNvPr id="18" name="Shape 15"/>
          <p:cNvSpPr/>
          <p:nvPr/>
        </p:nvSpPr>
        <p:spPr>
          <a:xfrm>
            <a:off x="4498848" y="3456432"/>
            <a:ext cx="3337560" cy="0"/>
          </a:xfrm>
          <a:prstGeom prst="line">
            <a:avLst/>
          </a:prstGeom>
          <a:noFill/>
          <a:ln w="19050">
            <a:solidFill>
              <a:srgbClr val="C9A0E8"/>
            </a:solidFill>
            <a:prstDash val="solid"/>
          </a:ln>
        </p:spPr>
        <p:txBody>
          <a:bodyPr/>
          <a:lstStyle/>
          <a:p>
            <a:endParaRPr lang="en-GB"/>
          </a:p>
        </p:txBody>
      </p:sp>
      <p:sp>
        <p:nvSpPr>
          <p:cNvPr id="19" name="Text 16"/>
          <p:cNvSpPr/>
          <p:nvPr/>
        </p:nvSpPr>
        <p:spPr>
          <a:xfrm>
            <a:off x="4498848" y="3584448"/>
            <a:ext cx="3364992" cy="269748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H1c reveals negative moderation. The complementarity assumption in most policy frameworks is not empirically warranted. This is a provocation for theory and AI investment strategy.</a:t>
            </a:r>
            <a:endParaRPr lang="en-US" sz="1150" dirty="0"/>
          </a:p>
        </p:txBody>
      </p:sp>
      <p:sp>
        <p:nvSpPr>
          <p:cNvPr id="20" name="Shape 17"/>
          <p:cNvSpPr/>
          <p:nvPr/>
        </p:nvSpPr>
        <p:spPr>
          <a:xfrm>
            <a:off x="8229600" y="1965960"/>
            <a:ext cx="3749040" cy="4434840"/>
          </a:xfrm>
          <a:prstGeom prst="roundRect">
            <a:avLst>
              <a:gd name="adj" fmla="val 3415"/>
            </a:avLst>
          </a:prstGeom>
          <a:solidFill>
            <a:srgbClr val="04060E">
              <a:alpha val="65000"/>
            </a:srgbClr>
          </a:solidFill>
          <a:ln w="15240">
            <a:solidFill>
              <a:srgbClr val="56D68A">
                <a:alpha val="7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1" name="Shape 18"/>
          <p:cNvSpPr/>
          <p:nvPr/>
        </p:nvSpPr>
        <p:spPr>
          <a:xfrm>
            <a:off x="8394192" y="2084832"/>
            <a:ext cx="749808" cy="640080"/>
          </a:xfrm>
          <a:prstGeom prst="roundRect">
            <a:avLst>
              <a:gd name="adj" fmla="val 11429"/>
            </a:avLst>
          </a:prstGeom>
          <a:solidFill>
            <a:srgbClr val="56D68A">
              <a:alpha val="55000"/>
            </a:srgbClr>
          </a:solidFill>
          <a:ln w="12700">
            <a:solidFill>
              <a:srgbClr val="56D68A"/>
            </a:solidFill>
            <a:prstDash val="solid"/>
          </a:ln>
        </p:spPr>
        <p:txBody>
          <a:bodyPr/>
          <a:lstStyle/>
          <a:p>
            <a:endParaRPr lang="en-GB"/>
          </a:p>
        </p:txBody>
      </p:sp>
      <p:sp>
        <p:nvSpPr>
          <p:cNvPr id="22" name="Text 19"/>
          <p:cNvSpPr/>
          <p:nvPr/>
        </p:nvSpPr>
        <p:spPr>
          <a:xfrm>
            <a:off x="8394192" y="2084832"/>
            <a:ext cx="749808" cy="640080"/>
          </a:xfrm>
          <a:prstGeom prst="rect">
            <a:avLst/>
          </a:prstGeom>
          <a:noFill/>
          <a:ln/>
        </p:spPr>
        <p:txBody>
          <a:bodyPr wrap="square" lIns="50800" tIns="50800" rIns="50800" bIns="50800" rtlCol="0" anchor="ctr"/>
          <a:lstStyle/>
          <a:p>
            <a:pPr marL="0" indent="0" algn="ctr">
              <a:buNone/>
            </a:pPr>
            <a:r>
              <a:rPr lang="en-US" sz="2000" b="1" dirty="0">
                <a:solidFill>
                  <a:srgbClr val="FFFFFF"/>
                </a:solidFill>
                <a:latin typeface="Gill Sans MT" pitchFamily="34" charset="0"/>
                <a:ea typeface="Gill Sans MT" pitchFamily="34" charset="-122"/>
                <a:cs typeface="Gill Sans MT" pitchFamily="34" charset="-120"/>
              </a:rPr>
              <a:t>03</a:t>
            </a:r>
            <a:endParaRPr lang="en-US" sz="2000" dirty="0"/>
          </a:p>
        </p:txBody>
      </p:sp>
      <p:sp>
        <p:nvSpPr>
          <p:cNvPr id="23" name="Text 20"/>
          <p:cNvSpPr/>
          <p:nvPr/>
        </p:nvSpPr>
        <p:spPr>
          <a:xfrm>
            <a:off x="8430768" y="2834640"/>
            <a:ext cx="3364992" cy="594360"/>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AI drives economies directly — not through supply chains</a:t>
            </a:r>
            <a:endParaRPr lang="en-US" sz="1300" dirty="0"/>
          </a:p>
        </p:txBody>
      </p:sp>
      <p:sp>
        <p:nvSpPr>
          <p:cNvPr id="24" name="Shape 21"/>
          <p:cNvSpPr/>
          <p:nvPr/>
        </p:nvSpPr>
        <p:spPr>
          <a:xfrm>
            <a:off x="8430768" y="3456432"/>
            <a:ext cx="3337560" cy="0"/>
          </a:xfrm>
          <a:prstGeom prst="line">
            <a:avLst/>
          </a:prstGeom>
          <a:noFill/>
          <a:ln w="19050">
            <a:solidFill>
              <a:srgbClr val="56D68A"/>
            </a:solidFill>
            <a:prstDash val="solid"/>
          </a:ln>
        </p:spPr>
        <p:txBody>
          <a:bodyPr/>
          <a:lstStyle/>
          <a:p>
            <a:endParaRPr lang="en-GB"/>
          </a:p>
        </p:txBody>
      </p:sp>
      <p:sp>
        <p:nvSpPr>
          <p:cNvPr id="25" name="Text 22"/>
          <p:cNvSpPr/>
          <p:nvPr/>
        </p:nvSpPr>
        <p:spPr>
          <a:xfrm>
            <a:off x="8430768" y="3584448"/>
            <a:ext cx="3364992" cy="269748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H2a fails but the direct ξ₁→η₂ path (β = 0.340) is robust. AI readiness has broader economic value bypassing logistics. Full-scale panel study needed to confirm causal mechanism.</a:t>
            </a:r>
            <a:endParaRPr lang="en-US" sz="1150" dirty="0"/>
          </a:p>
        </p:txBody>
      </p:sp>
      <p:sp>
        <p:nvSpPr>
          <p:cNvPr id="26" name="Shape 23"/>
          <p:cNvSpPr/>
          <p:nvPr/>
        </p:nvSpPr>
        <p:spPr>
          <a:xfrm>
            <a:off x="365760" y="6473952"/>
            <a:ext cx="11430000" cy="365760"/>
          </a:xfrm>
          <a:prstGeom prst="roundRect">
            <a:avLst>
              <a:gd name="adj" fmla="val 35000"/>
            </a:avLst>
          </a:prstGeom>
          <a:solidFill>
            <a:srgbClr val="020408">
              <a:alpha val="60000"/>
            </a:srgbClr>
          </a:solidFill>
          <a:ln w="3810">
            <a:solidFill>
              <a:srgbClr val="B8C8D8">
                <a:alpha val="1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7" name="Text 24"/>
          <p:cNvSpPr/>
          <p:nvPr/>
        </p:nvSpPr>
        <p:spPr>
          <a:xfrm>
            <a:off x="457200" y="6492240"/>
            <a:ext cx="11247120" cy="347472"/>
          </a:xfrm>
          <a:prstGeom prst="rect">
            <a:avLst/>
          </a:prstGeom>
          <a:noFill/>
          <a:ln/>
        </p:spPr>
        <p:txBody>
          <a:bodyPr wrap="square" lIns="50800" tIns="50800" rIns="50800" bIns="50800" rtlCol="0" anchor="ctr"/>
          <a:lstStyle/>
          <a:p>
            <a:pPr marL="0" indent="0" algn="ctr">
              <a:buNone/>
            </a:pPr>
            <a:r>
              <a:rPr lang="en-US" sz="1000" dirty="0">
                <a:solidFill>
                  <a:srgbClr val="B8C8D8"/>
                </a:solidFill>
                <a:latin typeface="Gill Sans MT" pitchFamily="34" charset="0"/>
                <a:ea typeface="Gill Sans MT" pitchFamily="34" charset="-122"/>
                <a:cs typeface="Gill Sans MT" pitchFamily="34" charset="-120"/>
              </a:rPr>
              <a:t>Tewogbade Shakir Adeyemi  |  DBA Researcher  |  2573172317  |  Thank you — Questions welcome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6858000"/>
          </a:xfrm>
          <a:prstGeom prst="roundRect">
            <a:avLst>
              <a:gd name="adj" fmla="val 1600"/>
            </a:avLst>
          </a:prstGeom>
          <a:solidFill>
            <a:srgbClr val="050810">
              <a:alpha val="72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0" y="0"/>
            <a:ext cx="12161520" cy="1078992"/>
          </a:xfrm>
          <a:prstGeom prst="roundRect">
            <a:avLst>
              <a:gd name="adj" fmla="val 11864"/>
            </a:avLst>
          </a:prstGeom>
          <a:solidFill>
            <a:srgbClr val="020610">
              <a:alpha val="72000"/>
            </a:srgbClr>
          </a:solidFill>
          <a:ln w="6350">
            <a:solidFill>
              <a:srgbClr val="FFFFFF">
                <a:alpha val="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 name="Shape 2"/>
          <p:cNvSpPr/>
          <p:nvPr/>
        </p:nvSpPr>
        <p:spPr>
          <a:xfrm>
            <a:off x="0" y="1051560"/>
            <a:ext cx="12161520" cy="0"/>
          </a:xfrm>
          <a:prstGeom prst="line">
            <a:avLst/>
          </a:prstGeom>
          <a:noFill/>
          <a:ln w="19050">
            <a:solidFill>
              <a:srgbClr val="F0C040"/>
            </a:solidFill>
            <a:prstDash val="solid"/>
          </a:ln>
        </p:spPr>
        <p:txBody>
          <a:bodyPr/>
          <a:lstStyle/>
          <a:p>
            <a:endParaRPr lang="en-GB"/>
          </a:p>
        </p:txBody>
      </p:sp>
      <p:sp>
        <p:nvSpPr>
          <p:cNvPr id="6" name="Text 3"/>
          <p:cNvSpPr/>
          <p:nvPr/>
        </p:nvSpPr>
        <p:spPr>
          <a:xfrm>
            <a:off x="365760" y="109728"/>
            <a:ext cx="11430000" cy="438912"/>
          </a:xfrm>
          <a:prstGeom prst="rect">
            <a:avLst/>
          </a:prstGeom>
          <a:noFill/>
          <a:ln/>
        </p:spPr>
        <p:txBody>
          <a:bodyPr wrap="square" lIns="50800" tIns="50800" rIns="50800" bIns="50800" rtlCol="0" anchor="ctr"/>
          <a:lstStyle/>
          <a:p>
            <a:pPr marL="0" indent="0" algn="ctr">
              <a:buNone/>
            </a:pPr>
            <a:r>
              <a:rPr lang="en-US" sz="1100" b="1" kern="0" spc="350" dirty="0">
                <a:solidFill>
                  <a:srgbClr val="B8C8D8"/>
                </a:solidFill>
                <a:latin typeface="Gill Sans MT" pitchFamily="34" charset="0"/>
                <a:ea typeface="Gill Sans MT" pitchFamily="34" charset="-122"/>
                <a:cs typeface="Gill Sans MT" pitchFamily="34" charset="-120"/>
              </a:rPr>
              <a:t>REFERENCES</a:t>
            </a:r>
            <a:endParaRPr lang="en-US" sz="1100" dirty="0"/>
          </a:p>
        </p:txBody>
      </p:sp>
      <p:sp>
        <p:nvSpPr>
          <p:cNvPr id="7" name="Text 4"/>
          <p:cNvSpPr/>
          <p:nvPr/>
        </p:nvSpPr>
        <p:spPr>
          <a:xfrm>
            <a:off x="365760" y="502920"/>
            <a:ext cx="11430000" cy="475488"/>
          </a:xfrm>
          <a:prstGeom prst="rect">
            <a:avLst/>
          </a:prstGeom>
          <a:noFill/>
          <a:ln/>
        </p:spPr>
        <p:txBody>
          <a:bodyPr wrap="square" lIns="50800" tIns="50800" rIns="50800" bIns="50800" rtlCol="0" anchor="ctr"/>
          <a:lstStyle/>
          <a:p>
            <a:pPr marL="0" indent="0" algn="ctr">
              <a:buNone/>
            </a:pPr>
            <a:r>
              <a:rPr lang="en-US" sz="2600" b="1" dirty="0">
                <a:solidFill>
                  <a:srgbClr val="FFFFFF"/>
                </a:solidFill>
                <a:latin typeface="Gill Sans MT" pitchFamily="34" charset="0"/>
                <a:ea typeface="Gill Sans MT" pitchFamily="34" charset="-122"/>
                <a:cs typeface="Gill Sans MT" pitchFamily="34" charset="-120"/>
              </a:rPr>
              <a:t>Key Sources</a:t>
            </a:r>
            <a:endParaRPr lang="en-US" sz="2600" dirty="0"/>
          </a:p>
        </p:txBody>
      </p:sp>
      <p:sp>
        <p:nvSpPr>
          <p:cNvPr id="8" name="Shape 5"/>
          <p:cNvSpPr/>
          <p:nvPr/>
        </p:nvSpPr>
        <p:spPr>
          <a:xfrm>
            <a:off x="347472" y="1188720"/>
            <a:ext cx="5715000" cy="5440680"/>
          </a:xfrm>
          <a:prstGeom prst="roundRect">
            <a:avLst>
              <a:gd name="adj" fmla="val 2017"/>
            </a:avLst>
          </a:prstGeom>
          <a:solidFill>
            <a:srgbClr val="020810">
              <a:alpha val="58000"/>
            </a:srgbClr>
          </a:solidFill>
          <a:ln w="7620">
            <a:solidFill>
              <a:srgbClr val="F0C040">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12064" y="1335024"/>
            <a:ext cx="0" cy="822960"/>
          </a:xfrm>
          <a:prstGeom prst="line">
            <a:avLst/>
          </a:prstGeom>
          <a:noFill/>
          <a:ln w="31750">
            <a:solidFill>
              <a:srgbClr val="F0C040"/>
            </a:solidFill>
            <a:prstDash val="solid"/>
          </a:ln>
        </p:spPr>
        <p:txBody>
          <a:bodyPr/>
          <a:lstStyle/>
          <a:p>
            <a:endParaRPr lang="en-GB"/>
          </a:p>
        </p:txBody>
      </p:sp>
      <p:sp>
        <p:nvSpPr>
          <p:cNvPr id="10" name="Text 7"/>
          <p:cNvSpPr/>
          <p:nvPr/>
        </p:nvSpPr>
        <p:spPr>
          <a:xfrm>
            <a:off x="694944" y="1371600"/>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Baker, J. (2012). The technology–organization–environment framework. In Dwivedi et al. (Eds.), Information systems theory (Vol. 1, pp. 231–245). Springer. https://doi.org/10.1007/978-1-4419-6108-2_12</a:t>
            </a:r>
            <a:endParaRPr lang="en-US" sz="980" dirty="0"/>
          </a:p>
        </p:txBody>
      </p:sp>
      <p:sp>
        <p:nvSpPr>
          <p:cNvPr id="11" name="Shape 8"/>
          <p:cNvSpPr/>
          <p:nvPr/>
        </p:nvSpPr>
        <p:spPr>
          <a:xfrm>
            <a:off x="512064" y="2414016"/>
            <a:ext cx="0" cy="822960"/>
          </a:xfrm>
          <a:prstGeom prst="line">
            <a:avLst/>
          </a:prstGeom>
          <a:noFill/>
          <a:ln w="31750">
            <a:solidFill>
              <a:srgbClr val="F0C040"/>
            </a:solidFill>
            <a:prstDash val="solid"/>
          </a:ln>
        </p:spPr>
        <p:txBody>
          <a:bodyPr/>
          <a:lstStyle/>
          <a:p>
            <a:endParaRPr lang="en-GB"/>
          </a:p>
        </p:txBody>
      </p:sp>
      <p:sp>
        <p:nvSpPr>
          <p:cNvPr id="12" name="Text 9"/>
          <p:cNvSpPr/>
          <p:nvPr/>
        </p:nvSpPr>
        <p:spPr>
          <a:xfrm>
            <a:off x="694944" y="2450592"/>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Beamon, B. M. (1999). Measuring supply chain performance. International Journal of Operations &amp; Production Management, 19(3), 275–292. https://doi.org/10.1108/01443579910249714</a:t>
            </a:r>
            <a:endParaRPr lang="en-US" sz="980" dirty="0"/>
          </a:p>
        </p:txBody>
      </p:sp>
      <p:sp>
        <p:nvSpPr>
          <p:cNvPr id="13" name="Shape 10"/>
          <p:cNvSpPr/>
          <p:nvPr/>
        </p:nvSpPr>
        <p:spPr>
          <a:xfrm>
            <a:off x="512064" y="3493008"/>
            <a:ext cx="0" cy="822960"/>
          </a:xfrm>
          <a:prstGeom prst="line">
            <a:avLst/>
          </a:prstGeom>
          <a:noFill/>
          <a:ln w="31750">
            <a:solidFill>
              <a:srgbClr val="F0C040"/>
            </a:solidFill>
            <a:prstDash val="solid"/>
          </a:ln>
        </p:spPr>
        <p:txBody>
          <a:bodyPr/>
          <a:lstStyle/>
          <a:p>
            <a:endParaRPr lang="en-GB"/>
          </a:p>
        </p:txBody>
      </p:sp>
      <p:sp>
        <p:nvSpPr>
          <p:cNvPr id="14" name="Text 11"/>
          <p:cNvSpPr/>
          <p:nvPr/>
        </p:nvSpPr>
        <p:spPr>
          <a:xfrm>
            <a:off x="694944" y="3529584"/>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Chan, F. T. S., &amp; Qi, H. J. (2003). An innovative performance measurement method for supply chain management. Supply Chain Management: An International Journal, 8(3), 209–223. https://doi.org/10.1108/13598540310484618</a:t>
            </a:r>
            <a:endParaRPr lang="en-US" sz="980" dirty="0"/>
          </a:p>
        </p:txBody>
      </p:sp>
      <p:sp>
        <p:nvSpPr>
          <p:cNvPr id="15" name="Shape 12"/>
          <p:cNvSpPr/>
          <p:nvPr/>
        </p:nvSpPr>
        <p:spPr>
          <a:xfrm>
            <a:off x="512064" y="4572000"/>
            <a:ext cx="0" cy="822960"/>
          </a:xfrm>
          <a:prstGeom prst="line">
            <a:avLst/>
          </a:prstGeom>
          <a:noFill/>
          <a:ln w="31750">
            <a:solidFill>
              <a:srgbClr val="F0C040"/>
            </a:solidFill>
            <a:prstDash val="solid"/>
          </a:ln>
        </p:spPr>
        <p:txBody>
          <a:bodyPr/>
          <a:lstStyle/>
          <a:p>
            <a:endParaRPr lang="en-GB"/>
          </a:p>
        </p:txBody>
      </p:sp>
      <p:sp>
        <p:nvSpPr>
          <p:cNvPr id="16" name="Text 13"/>
          <p:cNvSpPr/>
          <p:nvPr/>
        </p:nvSpPr>
        <p:spPr>
          <a:xfrm>
            <a:off x="694944" y="4608576"/>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Gunasekaran, A., Patel, C., &amp; McGaughey, R. E. (2004). A framework for supply chain performance measurement. International Journal of Production Economics, 87(3), 333–347. https://doi.org/10.1016/j.ijpe.2003.08.003</a:t>
            </a:r>
            <a:endParaRPr lang="en-US" sz="980" dirty="0"/>
          </a:p>
        </p:txBody>
      </p:sp>
      <p:sp>
        <p:nvSpPr>
          <p:cNvPr id="17" name="Shape 14"/>
          <p:cNvSpPr/>
          <p:nvPr/>
        </p:nvSpPr>
        <p:spPr>
          <a:xfrm>
            <a:off x="6291072" y="1188720"/>
            <a:ext cx="5715000" cy="5440680"/>
          </a:xfrm>
          <a:prstGeom prst="roundRect">
            <a:avLst>
              <a:gd name="adj" fmla="val 2017"/>
            </a:avLst>
          </a:prstGeom>
          <a:solidFill>
            <a:srgbClr val="020810">
              <a:alpha val="58000"/>
            </a:srgbClr>
          </a:solidFill>
          <a:ln w="7620">
            <a:solidFill>
              <a:srgbClr val="F0C040">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Shape 15"/>
          <p:cNvSpPr/>
          <p:nvPr/>
        </p:nvSpPr>
        <p:spPr>
          <a:xfrm>
            <a:off x="6455664" y="1335024"/>
            <a:ext cx="0" cy="822960"/>
          </a:xfrm>
          <a:prstGeom prst="line">
            <a:avLst/>
          </a:prstGeom>
          <a:noFill/>
          <a:ln w="31750">
            <a:solidFill>
              <a:srgbClr val="F0C040"/>
            </a:solidFill>
            <a:prstDash val="solid"/>
          </a:ln>
        </p:spPr>
        <p:txBody>
          <a:bodyPr/>
          <a:lstStyle/>
          <a:p>
            <a:endParaRPr lang="en-GB"/>
          </a:p>
        </p:txBody>
      </p:sp>
      <p:sp>
        <p:nvSpPr>
          <p:cNvPr id="19" name="Text 16"/>
          <p:cNvSpPr/>
          <p:nvPr/>
        </p:nvSpPr>
        <p:spPr>
          <a:xfrm>
            <a:off x="6638544" y="1371600"/>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Martí, L., Puertas, R., &amp; García, L. (2014). The importance of the Logistics Performance Index in international trade. Applied Economics, 46(24), 2982–2992. https://doi.org/10.1080/00036846.2014.916394</a:t>
            </a:r>
            <a:endParaRPr lang="en-US" sz="980" dirty="0"/>
          </a:p>
        </p:txBody>
      </p:sp>
      <p:sp>
        <p:nvSpPr>
          <p:cNvPr id="20" name="Shape 17"/>
          <p:cNvSpPr/>
          <p:nvPr/>
        </p:nvSpPr>
        <p:spPr>
          <a:xfrm>
            <a:off x="6455664" y="2414016"/>
            <a:ext cx="0" cy="822960"/>
          </a:xfrm>
          <a:prstGeom prst="line">
            <a:avLst/>
          </a:prstGeom>
          <a:noFill/>
          <a:ln w="31750">
            <a:solidFill>
              <a:srgbClr val="F0C040"/>
            </a:solidFill>
            <a:prstDash val="solid"/>
          </a:ln>
        </p:spPr>
        <p:txBody>
          <a:bodyPr/>
          <a:lstStyle/>
          <a:p>
            <a:endParaRPr lang="en-GB"/>
          </a:p>
        </p:txBody>
      </p:sp>
      <p:sp>
        <p:nvSpPr>
          <p:cNvPr id="21" name="Text 18"/>
          <p:cNvSpPr/>
          <p:nvPr/>
        </p:nvSpPr>
        <p:spPr>
          <a:xfrm>
            <a:off x="6638544" y="2450592"/>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North, D. C. (1990). Institutions, institutional change and economic performance. Cambridge University Press.</a:t>
            </a:r>
            <a:endParaRPr lang="en-US" sz="980" dirty="0"/>
          </a:p>
        </p:txBody>
      </p:sp>
      <p:sp>
        <p:nvSpPr>
          <p:cNvPr id="22" name="Shape 19"/>
          <p:cNvSpPr/>
          <p:nvPr/>
        </p:nvSpPr>
        <p:spPr>
          <a:xfrm>
            <a:off x="6455664" y="3493008"/>
            <a:ext cx="0" cy="822960"/>
          </a:xfrm>
          <a:prstGeom prst="line">
            <a:avLst/>
          </a:prstGeom>
          <a:noFill/>
          <a:ln w="31750">
            <a:solidFill>
              <a:srgbClr val="F0C040"/>
            </a:solidFill>
            <a:prstDash val="solid"/>
          </a:ln>
        </p:spPr>
        <p:txBody>
          <a:bodyPr/>
          <a:lstStyle/>
          <a:p>
            <a:endParaRPr lang="en-GB"/>
          </a:p>
        </p:txBody>
      </p:sp>
      <p:sp>
        <p:nvSpPr>
          <p:cNvPr id="23" name="Text 20"/>
          <p:cNvSpPr/>
          <p:nvPr/>
        </p:nvSpPr>
        <p:spPr>
          <a:xfrm>
            <a:off x="6638544" y="3529584"/>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Scott, W. R. (2014). Institutions and organizations: Ideas, interests, and identities (4th ed.). SAGE Publications.</a:t>
            </a:r>
            <a:endParaRPr lang="en-US" sz="980" dirty="0"/>
          </a:p>
        </p:txBody>
      </p:sp>
      <p:sp>
        <p:nvSpPr>
          <p:cNvPr id="24" name="Shape 21"/>
          <p:cNvSpPr/>
          <p:nvPr/>
        </p:nvSpPr>
        <p:spPr>
          <a:xfrm>
            <a:off x="6455664" y="4572000"/>
            <a:ext cx="0" cy="822960"/>
          </a:xfrm>
          <a:prstGeom prst="line">
            <a:avLst/>
          </a:prstGeom>
          <a:noFill/>
          <a:ln w="31750">
            <a:solidFill>
              <a:srgbClr val="F0C040"/>
            </a:solidFill>
            <a:prstDash val="solid"/>
          </a:ln>
        </p:spPr>
        <p:txBody>
          <a:bodyPr/>
          <a:lstStyle/>
          <a:p>
            <a:endParaRPr lang="en-GB"/>
          </a:p>
        </p:txBody>
      </p:sp>
      <p:sp>
        <p:nvSpPr>
          <p:cNvPr id="25" name="Text 22"/>
          <p:cNvSpPr/>
          <p:nvPr/>
        </p:nvSpPr>
        <p:spPr>
          <a:xfrm>
            <a:off x="6638544" y="4608576"/>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Tornatzky, L. G., &amp; Fleischer, M. (1990). The processes of technological innovation. Lexington Books.</a:t>
            </a:r>
            <a:endParaRPr lang="en-US" sz="980" dirty="0"/>
          </a:p>
        </p:txBody>
      </p:sp>
      <p:sp>
        <p:nvSpPr>
          <p:cNvPr id="26" name="Text 23"/>
          <p:cNvSpPr/>
          <p:nvPr/>
        </p:nvSpPr>
        <p:spPr>
          <a:xfrm>
            <a:off x="365760" y="6565392"/>
            <a:ext cx="11430000" cy="292608"/>
          </a:xfrm>
          <a:prstGeom prst="rect">
            <a:avLst/>
          </a:prstGeom>
          <a:noFill/>
          <a:ln/>
        </p:spPr>
        <p:txBody>
          <a:bodyPr wrap="square" lIns="50800" tIns="50800" rIns="50800" bIns="50800" rtlCol="0" anchor="ctr"/>
          <a:lstStyle/>
          <a:p>
            <a:pPr marL="0" indent="0" algn="ctr">
              <a:buNone/>
            </a:pPr>
            <a:r>
              <a:rPr lang="en-US" sz="950" dirty="0">
                <a:solidFill>
                  <a:srgbClr val="B8C8D8"/>
                </a:solidFill>
                <a:latin typeface="Gill Sans MT" pitchFamily="34" charset="0"/>
                <a:ea typeface="Gill Sans MT" pitchFamily="34" charset="-122"/>
                <a:cs typeface="Gill Sans MT" pitchFamily="34" charset="-120"/>
              </a:rPr>
              <a:t>Tewogbade Shakir Adeyemi  |  DBA Researcher  |  2573172317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1975</Words>
  <Application>Microsoft Office PowerPoint</Application>
  <PresentationFormat>Widescreen</PresentationFormat>
  <Paragraphs>333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Gill Sans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Readiness &amp; Supply Chain Performance</dc:title>
  <dc:subject>PptxGenJS Presentation</dc:subject>
  <dc:creator>Tewogbade Shakir Adeyemi</dc:creator>
  <cp:lastModifiedBy>shakir tewogbade</cp:lastModifiedBy>
  <cp:revision>2</cp:revision>
  <dcterms:created xsi:type="dcterms:W3CDTF">2026-06-27T21:14:52Z</dcterms:created>
  <dcterms:modified xsi:type="dcterms:W3CDTF">2026-06-27T22:55:08Z</dcterms:modified>
</cp:coreProperties>
</file>