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1360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A15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760720"/>
            <a:ext cx="12161520" cy="1097280"/>
          </a:xfrm>
          <a:prstGeom prst="rect">
            <a:avLst/>
          </a:prstGeom>
          <a:solidFill>
            <a:srgbClr val="0A15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64592" cy="4663440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1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 PAPER PRESENTATION  •  BDX0010 Research Methods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471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Readiness and Supply Chain Performance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Cross-National Pilot Study Using Structural Equation Modelling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286000" y="3383280"/>
            <a:ext cx="7589520" cy="0"/>
          </a:xfrm>
          <a:prstGeom prst="line">
            <a:avLst/>
          </a:prstGeom>
          <a:noFill/>
          <a:ln w="1905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365760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4251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 Countries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97280" y="45537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Cross-national</a:t>
            </a:r>
            <a:endParaRPr lang="en-US" sz="1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365760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4251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Data Sources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566160" y="45537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data</a:t>
            </a:r>
            <a:endParaRPr lang="en-US" sz="10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365760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35040" y="4251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SPSS v29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035040" y="45537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SPSS Amos</a:t>
            </a:r>
            <a:endParaRPr lang="en-US" sz="10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0" y="365760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503920" y="4251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Framework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503920" y="45537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+ Path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57200" y="59893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Tewogbade Shakir Adeyemi  |  DBA Researcher  |  ID: 2573172317  |  May 2026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18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1A7A8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A Critical Gap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1430000" cy="0"/>
          </a:xfrm>
          <a:prstGeom prst="line">
            <a:avLst/>
          </a:prstGeom>
          <a:noFill/>
          <a:ln w="1524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3749040" cy="4114800"/>
          </a:xfrm>
          <a:prstGeom prst="roundRect">
            <a:avLst>
              <a:gd name="adj" fmla="val 3659"/>
            </a:avLst>
          </a:prstGeom>
          <a:solidFill>
            <a:srgbClr val="122040"/>
          </a:solidFill>
          <a:ln w="15240">
            <a:solidFill>
              <a:srgbClr val="1A7A8A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164592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37744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transforming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supply chains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310896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analytics, ML, intelligent automation — yet benefits are not automatic (Brynjolfsson &amp; Syverson, 2021)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97680" y="1463040"/>
            <a:ext cx="3749040" cy="4114800"/>
          </a:xfrm>
          <a:prstGeom prst="roundRect">
            <a:avLst>
              <a:gd name="adj" fmla="val 3659"/>
            </a:avLst>
          </a:prstGeom>
          <a:solidFill>
            <a:srgbClr val="122040"/>
          </a:solidFill>
          <a:ln w="15240">
            <a:solidFill>
              <a:srgbClr val="1A7A8A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64592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237744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empirical gap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real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480560" y="310896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studies are firm-level or sector-specific. Cross-national macro-level evidence remains scarce (Queiroz et al., 2022)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0" y="1463040"/>
            <a:ext cx="3749040" cy="4114800"/>
          </a:xfrm>
          <a:prstGeom prst="roundRect">
            <a:avLst>
              <a:gd name="adj" fmla="val 3659"/>
            </a:avLst>
          </a:prstGeom>
          <a:solidFill>
            <a:srgbClr val="122040"/>
          </a:solidFill>
          <a:ln w="15240">
            <a:solidFill>
              <a:srgbClr val="1A7A8A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0" y="164592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12480" y="237744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matter —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how?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8412480" y="310896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quality shapes technology diffusion. The conditioning role is theorised but rarely tested quantitatively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365760" y="5669280"/>
            <a:ext cx="11430000" cy="777240"/>
          </a:xfrm>
          <a:prstGeom prst="roundRect">
            <a:avLst>
              <a:gd name="adj" fmla="val 11765"/>
            </a:avLst>
          </a:prstGeom>
          <a:solidFill>
            <a:srgbClr val="1A7A8A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4"/>
          <p:cNvSpPr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❝  Does AI readiness inherently improve supply chain performance — or are its effects conditional on institutional quality?  ❞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AIM &amp; QUESTIONS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Answer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10526"/>
            </a:avLst>
          </a:prstGeom>
          <a:solidFill>
            <a:srgbClr val="E8F4FB"/>
          </a:solidFill>
          <a:ln w="22860">
            <a:solidFill>
              <a:srgbClr val="3A9BD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87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5087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280160" y="178308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examine the effect of government AI readiness on supply chain logistics performance and assess whether supply chain performance mediates the relationship between AI readiness and economic outcomes.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65760" y="2514600"/>
            <a:ext cx="11430000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9050">
            <a:solidFill>
              <a:srgbClr val="3A9BD5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365760" y="2514600"/>
            <a:ext cx="1005840" cy="1143000"/>
          </a:xfrm>
          <a:prstGeom prst="roundRect">
            <a:avLst>
              <a:gd name="adj" fmla="val 9091"/>
            </a:avLst>
          </a:prstGeom>
          <a:solidFill>
            <a:srgbClr val="3A9BD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365760" y="28346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508760" y="26974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what extent does government AI readiness influence national supply chain logistics performance?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5760" y="3840480"/>
            <a:ext cx="11430000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9050">
            <a:solidFill>
              <a:srgbClr val="2ECC8A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365760" y="3840480"/>
            <a:ext cx="1005840" cy="1143000"/>
          </a:xfrm>
          <a:prstGeom prst="roundRect">
            <a:avLst>
              <a:gd name="adj" fmla="val 9091"/>
            </a:avLst>
          </a:prstGeom>
          <a:solidFill>
            <a:srgbClr val="2ECC8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365760" y="41605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508760" y="40233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supply chain performance mediate the relationship between AI readiness and economic outcomes?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65760" y="5166360"/>
            <a:ext cx="11430000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9050">
            <a:solidFill>
              <a:srgbClr val="9B72CF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365760" y="5166360"/>
            <a:ext cx="1005840" cy="1143000"/>
          </a:xfrm>
          <a:prstGeom prst="roundRect">
            <a:avLst>
              <a:gd name="adj" fmla="val 9091"/>
            </a:avLst>
          </a:prstGeom>
          <a:solidFill>
            <a:srgbClr val="9B72C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365760" y="54864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508760" y="534924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role does institutional quality play in driving supply chain performance alongside AI readiness?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1A7A8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Framework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1430000" cy="0"/>
          </a:xfrm>
          <a:prstGeom prst="line">
            <a:avLst/>
          </a:prstGeom>
          <a:noFill/>
          <a:ln w="1524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3749040" cy="5029200"/>
          </a:xfrm>
          <a:prstGeom prst="roundRect">
            <a:avLst>
              <a:gd name="adj" fmla="val 3659"/>
            </a:avLst>
          </a:prstGeom>
          <a:solidFill>
            <a:srgbClr val="122040"/>
          </a:solidFill>
          <a:ln w="19050">
            <a:solidFill>
              <a:srgbClr val="3A9BD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3749040" cy="777240"/>
          </a:xfrm>
          <a:prstGeom prst="roundRect">
            <a:avLst>
              <a:gd name="adj" fmla="val 17647"/>
            </a:avLst>
          </a:prstGeom>
          <a:solidFill>
            <a:srgbClr val="3A9BD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36192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53619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Adoption Theory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88720" y="188366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 Framework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2423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A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Proposition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48640" y="2724912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readiness is a primary macro-level driver of supply chain performance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4069080"/>
            <a:ext cx="3383280" cy="0"/>
          </a:xfrm>
          <a:prstGeom prst="line">
            <a:avLst/>
          </a:prstGeom>
          <a:noFill/>
          <a:ln w="10160">
            <a:solidFill>
              <a:srgbClr val="3A9BD5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548640" y="4160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A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48640" y="448056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H1a: ξ₁ → η₁  (AI Readiness → SC Performance)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97680" y="1463040"/>
            <a:ext cx="3749040" cy="5029200"/>
          </a:xfrm>
          <a:prstGeom prst="roundRect">
            <a:avLst>
              <a:gd name="adj" fmla="val 3659"/>
            </a:avLst>
          </a:prstGeom>
          <a:solidFill>
            <a:srgbClr val="122040"/>
          </a:solidFill>
          <a:ln w="19050">
            <a:solidFill>
              <a:srgbClr val="9B72C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4297680" y="1463040"/>
            <a:ext cx="3749040" cy="777240"/>
          </a:xfrm>
          <a:prstGeom prst="roundRect">
            <a:avLst>
              <a:gd name="adj" fmla="val 17647"/>
            </a:avLst>
          </a:prstGeom>
          <a:solidFill>
            <a:srgbClr val="9B72C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536192"/>
            <a:ext cx="548640" cy="5486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120640" y="153619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Theory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5120640" y="188366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Moderation + Direct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480560" y="2423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Proposition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4480560" y="2724912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quality shapes SC efficiency AND moderates the AI–SC relationship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480560" y="4069080"/>
            <a:ext cx="3383280" cy="0"/>
          </a:xfrm>
          <a:prstGeom prst="line">
            <a:avLst/>
          </a:prstGeom>
          <a:noFill/>
          <a:ln w="10160">
            <a:solidFill>
              <a:srgbClr val="9B72CF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0"/>
          <p:cNvSpPr/>
          <p:nvPr/>
        </p:nvSpPr>
        <p:spPr>
          <a:xfrm>
            <a:off x="4480560" y="4160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4480560" y="448056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H1b: ξ₂ → η₁     H1c: ξ₁×ξ₂ → η₁ (moderation)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8229600" y="1463040"/>
            <a:ext cx="3749040" cy="5029200"/>
          </a:xfrm>
          <a:prstGeom prst="roundRect">
            <a:avLst>
              <a:gd name="adj" fmla="val 3659"/>
            </a:avLst>
          </a:prstGeom>
          <a:solidFill>
            <a:srgbClr val="122040"/>
          </a:solidFill>
          <a:ln w="19050">
            <a:solidFill>
              <a:srgbClr val="2ECC8A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3"/>
          <p:cNvSpPr/>
          <p:nvPr/>
        </p:nvSpPr>
        <p:spPr>
          <a:xfrm>
            <a:off x="8229600" y="1463040"/>
            <a:ext cx="3749040" cy="777240"/>
          </a:xfrm>
          <a:prstGeom prst="roundRect">
            <a:avLst>
              <a:gd name="adj" fmla="val 17647"/>
            </a:avLst>
          </a:prstGeom>
          <a:solidFill>
            <a:srgbClr val="2ECC8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1536192"/>
            <a:ext cx="548640" cy="54864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9052560" y="153619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Performance Theory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9052560" y="188366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Mediation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8412480" y="2423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EC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Proposition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8412480" y="2724912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performance is the transmission mechanism linking AI readiness to economic outcomes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8412480" y="4069080"/>
            <a:ext cx="3383280" cy="0"/>
          </a:xfrm>
          <a:prstGeom prst="line">
            <a:avLst/>
          </a:prstGeom>
          <a:noFill/>
          <a:ln w="10160">
            <a:solidFill>
              <a:srgbClr val="2ECC8A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29"/>
          <p:cNvSpPr/>
          <p:nvPr/>
        </p:nvSpPr>
        <p:spPr>
          <a:xfrm>
            <a:off x="8412480" y="4160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EC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950" dirty="0"/>
          </a:p>
        </p:txBody>
      </p:sp>
      <p:sp>
        <p:nvSpPr>
          <p:cNvPr id="35" name="Text 30"/>
          <p:cNvSpPr/>
          <p:nvPr/>
        </p:nvSpPr>
        <p:spPr>
          <a:xfrm>
            <a:off x="8412480" y="448056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H2a: η₁ mediates ξ₁ → η₂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1A7A8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Equation Model — Conceptual Path Diagram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1430000" cy="0"/>
          </a:xfrm>
          <a:prstGeom prst="line">
            <a:avLst/>
          </a:prstGeom>
          <a:noFill/>
          <a:ln w="1524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224028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0F2A50"/>
          </a:solidFill>
          <a:ln w="25400">
            <a:solidFill>
              <a:srgbClr val="3A9BD5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ξ₁  AI Readiness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3A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Exogenous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452628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0F2A50"/>
          </a:solidFill>
          <a:ln w="25400">
            <a:solidFill>
              <a:srgbClr val="9B72CF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57200" y="46177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ξ₂  Institutional Quality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5029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Exogenous / Moderator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324612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0F2A50"/>
          </a:solidFill>
          <a:ln w="25400">
            <a:solidFill>
              <a:srgbClr val="2ECC8A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754880" y="33375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η₁  SC Performance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754880" y="37490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EC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Endogenous / Mediator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778240" y="324612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0F2A50"/>
          </a:solidFill>
          <a:ln w="25400">
            <a:solidFill>
              <a:srgbClr val="F4A261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8869680" y="33375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η₂  Economic Perf.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869680" y="37490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Endogenous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83280" y="1920240"/>
            <a:ext cx="1005840" cy="640080"/>
          </a:xfrm>
          <a:prstGeom prst="rect">
            <a:avLst/>
          </a:prstGeom>
          <a:solidFill>
            <a:srgbClr val="1E0F3A"/>
          </a:solidFill>
          <a:ln w="19050">
            <a:solidFill>
              <a:srgbClr val="9B72C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383280" y="19659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ξ₁×ξ₂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22402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926080" y="2606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H1a  β=0.462***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926080" y="4297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H1b  β=0.408***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480560" y="1783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H1c  β=−0.102*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223760" y="3108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H2a  β≈0.00  ns  ✗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92240" y="5029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A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 β=0.340**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6263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constructs z-score standardised  |  n = 164 countries  |  OLS hierarchical regression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Design at a Glance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11612880" cy="612648"/>
          </a:xfrm>
          <a:prstGeom prst="roundRect">
            <a:avLst>
              <a:gd name="adj" fmla="val 8955"/>
            </a:avLst>
          </a:prstGeom>
          <a:solidFill>
            <a:srgbClr val="F0F5FA"/>
          </a:solidFill>
          <a:ln w="1016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457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54533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60320" y="15270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Post-Positivism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212080" y="1545336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reality, imperfect observation; justifies latent constructs &amp; proxy variables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66360" y="1490472"/>
            <a:ext cx="0" cy="457200"/>
          </a:xfrm>
          <a:prstGeom prst="line">
            <a:avLst/>
          </a:prstGeom>
          <a:noFill/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74320" y="2093976"/>
            <a:ext cx="11612880" cy="612648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016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65760" y="2185416"/>
            <a:ext cx="457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22219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0" y="220370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Deductive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212080" y="2221992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Theory-driven hypotheses tested against 164-country empirical dataset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66360" y="2167128"/>
            <a:ext cx="0" cy="457200"/>
          </a:xfrm>
          <a:prstGeom prst="line">
            <a:avLst/>
          </a:prstGeom>
          <a:noFill/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274320" y="2770632"/>
            <a:ext cx="11612880" cy="612648"/>
          </a:xfrm>
          <a:prstGeom prst="roundRect">
            <a:avLst>
              <a:gd name="adj" fmla="val 8955"/>
            </a:avLst>
          </a:prstGeom>
          <a:solidFill>
            <a:srgbClr val="F0F5FA"/>
          </a:solidFill>
          <a:ln w="1016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65760" y="2862072"/>
            <a:ext cx="457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289864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60320" y="28803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SEM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212080" y="2898648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estimation of latent paths — both measurement &amp; structural models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166360" y="2843784"/>
            <a:ext cx="0" cy="457200"/>
          </a:xfrm>
          <a:prstGeom prst="line">
            <a:avLst/>
          </a:prstGeom>
          <a:noFill/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274320" y="3447288"/>
            <a:ext cx="11612880" cy="612648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016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365760" y="3538728"/>
            <a:ext cx="457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🌍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8680" y="357530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60320" y="355701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Cross-National Comparative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212080" y="3575304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 countries; generalisable structural relationships across heterogeneous contexts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66360" y="3520440"/>
            <a:ext cx="0" cy="457200"/>
          </a:xfrm>
          <a:prstGeom prst="line">
            <a:avLst/>
          </a:prstGeom>
          <a:noFill/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274320" y="4123944"/>
            <a:ext cx="11612880" cy="612648"/>
          </a:xfrm>
          <a:prstGeom prst="roundRect">
            <a:avLst>
              <a:gd name="adj" fmla="val 8955"/>
            </a:avLst>
          </a:prstGeom>
          <a:solidFill>
            <a:srgbClr val="F0F5FA"/>
          </a:solidFill>
          <a:ln w="1016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365760" y="4215384"/>
            <a:ext cx="457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8680" y="42519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Horizon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60320" y="423367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 2022–23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212080" y="425196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AI 2023 + LPI 2022; temporal bridging standard where sources differ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166360" y="4197096"/>
            <a:ext cx="0" cy="457200"/>
          </a:xfrm>
          <a:prstGeom prst="line">
            <a:avLst/>
          </a:prstGeom>
          <a:noFill/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274320" y="4800600"/>
            <a:ext cx="11612880" cy="612648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016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365760" y="4892040"/>
            <a:ext cx="457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🗄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68680" y="492861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560320" y="491032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Macro-Level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212080" y="4928616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AI, World Bank WDI/WGI/LPI, ITU, Stanford HAI — all public open-access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166360" y="4873752"/>
            <a:ext cx="0" cy="457200"/>
          </a:xfrm>
          <a:prstGeom prst="line">
            <a:avLst/>
          </a:prstGeom>
          <a:noFill/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274320" y="5477256"/>
            <a:ext cx="11612880" cy="612648"/>
          </a:xfrm>
          <a:prstGeom prst="roundRect">
            <a:avLst>
              <a:gd name="adj" fmla="val 8955"/>
            </a:avLst>
          </a:prstGeom>
          <a:solidFill>
            <a:srgbClr val="F0F5FA"/>
          </a:solidFill>
          <a:ln w="1016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365760" y="5568696"/>
            <a:ext cx="457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68680" y="560527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560320" y="558698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SPSS v29 + Amos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5212080" y="5605272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(wbgapi, pdftotext) for extraction; SPSS for all analysis &amp; modelling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166360" y="5550408"/>
            <a:ext cx="0" cy="457200"/>
          </a:xfrm>
          <a:prstGeom prst="line">
            <a:avLst/>
          </a:prstGeom>
          <a:noFill/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1A7A8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Latent Constructs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1430000" cy="0"/>
          </a:xfrm>
          <a:prstGeom prst="line">
            <a:avLst/>
          </a:prstGeom>
          <a:noFill/>
          <a:ln w="1524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834640" cy="4937760"/>
          </a:xfrm>
          <a:prstGeom prst="roundRect">
            <a:avLst>
              <a:gd name="adj" fmla="val 3871"/>
            </a:avLst>
          </a:prstGeom>
          <a:solidFill>
            <a:srgbClr val="122040"/>
          </a:solidFill>
          <a:ln w="19050">
            <a:solidFill>
              <a:srgbClr val="3A9BD5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2834640" cy="640080"/>
          </a:xfrm>
          <a:prstGeom prst="roundRect">
            <a:avLst>
              <a:gd name="adj" fmla="val 17143"/>
            </a:avLst>
          </a:prstGeom>
          <a:solidFill>
            <a:srgbClr val="3A9BD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ξ₁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14904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Readiness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97280" y="180136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Exogenous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3A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248716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Insights AI Readiness Index + ITU Internet Users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3A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356616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Index Score, Internet Penetration, R&amp;D Expenditure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10128" y="1417320"/>
            <a:ext cx="2834640" cy="4937760"/>
          </a:xfrm>
          <a:prstGeom prst="roundRect">
            <a:avLst>
              <a:gd name="adj" fmla="val 3871"/>
            </a:avLst>
          </a:prstGeom>
          <a:solidFill>
            <a:srgbClr val="122040"/>
          </a:solidFill>
          <a:ln w="19050">
            <a:solidFill>
              <a:srgbClr val="2ECC8A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3310128" y="1417320"/>
            <a:ext cx="2834640" cy="640080"/>
          </a:xfrm>
          <a:prstGeom prst="roundRect">
            <a:avLst>
              <a:gd name="adj" fmla="val 17143"/>
            </a:avLst>
          </a:prstGeom>
          <a:solidFill>
            <a:srgbClr val="2ECC8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401568" y="14630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η₁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041648" y="14904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Performance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041648" y="180136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Endogenous / Mediator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47288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2EC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47288" y="248716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Logistics Performance Index (LPI)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47288" y="32918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2EC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47288" y="356616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Infrastructure, Customs, Timeliness, Tracking, Intl. Shipments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54496" y="1417320"/>
            <a:ext cx="2834640" cy="4937760"/>
          </a:xfrm>
          <a:prstGeom prst="roundRect">
            <a:avLst>
              <a:gd name="adj" fmla="val 3871"/>
            </a:avLst>
          </a:prstGeom>
          <a:solidFill>
            <a:srgbClr val="122040"/>
          </a:solidFill>
          <a:ln w="19050">
            <a:solidFill>
              <a:srgbClr val="F4A261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6254496" y="1417320"/>
            <a:ext cx="2834640" cy="640080"/>
          </a:xfrm>
          <a:prstGeom prst="roundRect">
            <a:avLst>
              <a:gd name="adj" fmla="val 17143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345936" y="14630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η₂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86016" y="14904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Performance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986016" y="180136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Endogenous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391656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91656" y="248716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WDI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91656" y="32918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391656" y="356616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per Capita (const. 2015), Exports % GDP, Trade Openness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198864" y="1417320"/>
            <a:ext cx="2834640" cy="4937760"/>
          </a:xfrm>
          <a:prstGeom prst="roundRect">
            <a:avLst>
              <a:gd name="adj" fmla="val 3871"/>
            </a:avLst>
          </a:prstGeom>
          <a:solidFill>
            <a:srgbClr val="122040"/>
          </a:solidFill>
          <a:ln w="19050">
            <a:solidFill>
              <a:srgbClr val="9B72CF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9198864" y="1417320"/>
            <a:ext cx="2834640" cy="640080"/>
          </a:xfrm>
          <a:prstGeom prst="roundRect">
            <a:avLst>
              <a:gd name="adj" fmla="val 17143"/>
            </a:avLst>
          </a:prstGeom>
          <a:solidFill>
            <a:srgbClr val="9B72C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9290304" y="14630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ξ₂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9930384" y="14904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Quality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930384" y="180136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Exogenous / Moderator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9336024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9336024" y="248716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Worldwide Governance Indicators (WGI)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336024" y="32918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9336024" y="356616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Govt. Effectiveness, Rule of Law, Regulatory Quality, Corruption Control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variables z-score standardised prior to SEM estimation  |  Final harmonised dataset: 164 countries × 48 variables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3.1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 — Latent Constructs (n = 164)</a:t>
            </a:r>
            <a:endParaRPr lang="en-US" sz="2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11430000" cy="1828800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Kurtosis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A9B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ξ₁  AI Readiness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−2.159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−0.982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EC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η₁  SC Performance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−1.704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−0.671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η₂  Economic Perf.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−1.158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2.368 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8.157 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9B72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ξ₂  Institutions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−1.683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−0.661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3429000"/>
            <a:ext cx="3749040" cy="283464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9050">
            <a:solidFill>
              <a:srgbClr val="2ECC8A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3584448"/>
            <a:ext cx="594360" cy="594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42519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C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constructs: ~normal</a:t>
            </a:r>
            <a:endParaRPr lang="en-US" sz="1250" dirty="0"/>
          </a:p>
        </p:txBody>
      </p:sp>
      <p:sp>
        <p:nvSpPr>
          <p:cNvPr id="5" name="Text 5"/>
          <p:cNvSpPr/>
          <p:nvPr/>
        </p:nvSpPr>
        <p:spPr>
          <a:xfrm>
            <a:off x="548640" y="475488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ξ₁, η₁, ξ₂ — skewness ∈ [−0.36, 0.56]; kurtosis ∈ [−0.98, −0.66]. Safe for SEM estimation (Kline, 2023)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297680" y="3429000"/>
            <a:ext cx="3749040" cy="283464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9050">
            <a:solidFill>
              <a:srgbClr val="F4C542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3584448"/>
            <a:ext cx="594360" cy="5943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480560" y="42519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η₂ Economic Perf: outlier-driven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4480560" y="475488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 = 2.368, Kurt = 8.157. Caused by Singapore &amp; Luxembourg. Robust SE applied; limitation acknowledged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8229600" y="3429000"/>
            <a:ext cx="3749040" cy="283464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9050">
            <a:solidFill>
              <a:srgbClr val="3A9BD5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0" y="3584448"/>
            <a:ext cx="594360" cy="5943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412480" y="42519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A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≈ 0, SD ≈ 1 (by design)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8412480" y="475488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standardisation ensures cross-scale comparability. Not a data error — a deliberate pre-processing step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1A7A8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3.1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Matrix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1430000" cy="0"/>
          </a:xfrm>
          <a:prstGeom prst="line">
            <a:avLst/>
          </a:prstGeom>
          <a:noFill/>
          <a:ln w="1524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0"/>
            <a:ext cx="5486400" cy="4389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72200" y="1417320"/>
            <a:ext cx="5669280" cy="777240"/>
          </a:xfrm>
          <a:prstGeom prst="roundRect">
            <a:avLst>
              <a:gd name="adj" fmla="val 11765"/>
            </a:avLst>
          </a:prstGeom>
          <a:solidFill>
            <a:srgbClr val="122040"/>
          </a:solidFill>
          <a:ln w="1016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6309360" y="14904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ξ₂ ↔ η₁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0" y="14904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0.844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309360" y="181965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link — institutions dominate SC performance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72200" y="2313432"/>
            <a:ext cx="5669280" cy="777240"/>
          </a:xfrm>
          <a:prstGeom prst="roundRect">
            <a:avLst>
              <a:gd name="adj" fmla="val 11765"/>
            </a:avLst>
          </a:prstGeom>
          <a:solidFill>
            <a:srgbClr val="122040"/>
          </a:solidFill>
          <a:ln w="1016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6309360" y="238658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ξ₁ ↔ ξ₂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0" y="238658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0.799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309360" y="271576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readiness &amp; institutions highly co-evolved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172200" y="3209544"/>
            <a:ext cx="5669280" cy="777240"/>
          </a:xfrm>
          <a:prstGeom prst="roundRect">
            <a:avLst>
              <a:gd name="adj" fmla="val 11765"/>
            </a:avLst>
          </a:prstGeom>
          <a:solidFill>
            <a:srgbClr val="122040"/>
          </a:solidFill>
          <a:ln w="1016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6309360" y="328269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ξ₁ ↔ η₁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772400" y="328269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0.786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09360" y="3611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AI → SC relationship confirmed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172200" y="4105656"/>
            <a:ext cx="5669280" cy="777240"/>
          </a:xfrm>
          <a:prstGeom prst="roundRect">
            <a:avLst>
              <a:gd name="adj" fmla="val 11765"/>
            </a:avLst>
          </a:prstGeom>
          <a:solidFill>
            <a:srgbClr val="122040"/>
          </a:solidFill>
          <a:ln w="1016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6309360" y="41788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ξ₁ ↔ η₂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772400" y="41788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0.550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309360" y="450799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— suggests direct AI→Economy route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172200" y="5001768"/>
            <a:ext cx="5669280" cy="777240"/>
          </a:xfrm>
          <a:prstGeom prst="roundRect">
            <a:avLst>
              <a:gd name="adj" fmla="val 11765"/>
            </a:avLst>
          </a:prstGeom>
          <a:solidFill>
            <a:srgbClr val="122040"/>
          </a:solidFill>
          <a:ln w="1016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6309360" y="5074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η₁ ↔ η₂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772400" y="50749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0.562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309360" y="540410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— partial, not full mediation signal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760" y="61264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correlations significant at p &lt; .001 (two-tailed). N = 164 listwise.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3.2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Model — Reliability &amp; Validity</a:t>
            </a:r>
            <a:endParaRPr lang="en-US" sz="2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0"/>
            <a:ext cx="758952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46720" y="1417320"/>
            <a:ext cx="3840480" cy="1417320"/>
          </a:xfrm>
          <a:prstGeom prst="roundRect">
            <a:avLst>
              <a:gd name="adj" fmla="val 7742"/>
            </a:avLst>
          </a:prstGeom>
          <a:solidFill>
            <a:srgbClr val="F8FAFC"/>
          </a:solidFill>
          <a:ln w="25400">
            <a:solidFill>
              <a:srgbClr val="2ECC8A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8229600" y="15087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Consistency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0" y="1892808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α ≥ 0.819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EC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ξ₂ = 0.982 (exceptional)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046720" y="3017520"/>
            <a:ext cx="3840480" cy="1417320"/>
          </a:xfrm>
          <a:prstGeom prst="roundRect">
            <a:avLst>
              <a:gd name="adj" fmla="val 7742"/>
            </a:avLst>
          </a:prstGeom>
          <a:solidFill>
            <a:srgbClr val="F8FAFC"/>
          </a:solidFill>
          <a:ln w="25400">
            <a:solidFill>
              <a:srgbClr val="F4C542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8229600" y="31089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Convergent Validity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0" y="3493008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AVE ≥ 0.501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η₂ borderline but passes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46720" y="4617720"/>
            <a:ext cx="3840480" cy="1417320"/>
          </a:xfrm>
          <a:prstGeom prst="roundRect">
            <a:avLst>
              <a:gd name="adj" fmla="val 7742"/>
            </a:avLst>
          </a:prstGeom>
          <a:solidFill>
            <a:srgbClr val="F8FAFC"/>
          </a:solidFill>
          <a:ln w="25400">
            <a:solidFill>
              <a:srgbClr val="3A9BD5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8229600" y="47091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Discriminant Validity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0" y="5093208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√AVE &gt; all inter-construct r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A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Fornell-Larcker satisfied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-977848" y="5527548"/>
            <a:ext cx="11430000" cy="411480"/>
          </a:xfrm>
          <a:prstGeom prst="rect">
            <a:avLst/>
          </a:prstGeom>
          <a:noFill/>
          <a:ln/>
          <a:effectLst>
            <a:outerShdw blurRad="25400" dist="12700" dir="2700000" algn="bl" rotWithShape="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validity confirmed across all four constructs before structural estimation.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1A7A8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3.3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Paths — Equation 1: SC Performance (η₁)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1430000" cy="0"/>
          </a:xfrm>
          <a:prstGeom prst="line">
            <a:avLst/>
          </a:prstGeom>
          <a:noFill/>
          <a:ln w="1524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0"/>
            <a:ext cx="713232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417320"/>
            <a:ext cx="4297680" cy="1508760"/>
          </a:xfrm>
          <a:prstGeom prst="roundRect">
            <a:avLst>
              <a:gd name="adj" fmla="val 7273"/>
            </a:avLst>
          </a:prstGeom>
          <a:solidFill>
            <a:srgbClr val="122040"/>
          </a:solidFill>
          <a:ln w="19050">
            <a:solidFill>
              <a:srgbClr val="2ECC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150876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21040" y="1508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H1a  SUPPORTED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726680" y="19202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Readiness → SC Performance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0.462, t = 5.60, p &lt; .001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individual effect in Eq.1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589520" y="3063240"/>
            <a:ext cx="4297680" cy="1508760"/>
          </a:xfrm>
          <a:prstGeom prst="roundRect">
            <a:avLst>
              <a:gd name="adj" fmla="val 7273"/>
            </a:avLst>
          </a:prstGeom>
          <a:solidFill>
            <a:srgbClr val="122040"/>
          </a:solidFill>
          <a:ln w="19050">
            <a:solidFill>
              <a:srgbClr val="2ECC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315468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21040" y="3154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H1b  SUPPORTED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7726680" y="356616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→ SC Performance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0.408, t = 4.90, p &lt; .001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strongest main effect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274320" y="5212080"/>
            <a:ext cx="11612880" cy="822960"/>
          </a:xfrm>
          <a:prstGeom prst="roundRect">
            <a:avLst>
              <a:gd name="adj" fmla="val 11111"/>
            </a:avLst>
          </a:prstGeom>
          <a:solidFill>
            <a:srgbClr val="1A7A8A">
              <a:alpha val="20000"/>
            </a:srgbClr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1"/>
          <p:cNvSpPr/>
          <p:nvPr/>
        </p:nvSpPr>
        <p:spPr>
          <a:xfrm>
            <a:off x="365760" y="5285232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 1 explains 78.0% of variance in SC Performance  |  R² = 0.780, Adj R² = 0.776, F(3,160) = 189.16, p &lt; .001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1A7A8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3.5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Moderation Analysis — H1c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1430000" cy="0"/>
          </a:xfrm>
          <a:prstGeom prst="line">
            <a:avLst/>
          </a:prstGeom>
          <a:noFill/>
          <a:ln w="1524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0"/>
            <a:ext cx="7315200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1417320"/>
            <a:ext cx="4114800" cy="2103120"/>
          </a:xfrm>
          <a:prstGeom prst="roundRect">
            <a:avLst>
              <a:gd name="adj" fmla="val 5217"/>
            </a:avLst>
          </a:prstGeom>
          <a:solidFill>
            <a:srgbClr val="122040"/>
          </a:solidFill>
          <a:ln w="19050">
            <a:solidFill>
              <a:srgbClr val="9B72C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7955280" y="1508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H1c  SUPPORTED ✓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955280" y="201168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β = −0.211, p = .038
</a:t>
            </a: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ΔR² = +0.033, F-change = 23.98, p &lt; .001
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R² = 0.780  →  Block 2 R² = 0.813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0" y="3657600"/>
            <a:ext cx="4114800" cy="2011680"/>
          </a:xfrm>
          <a:prstGeom prst="roundRect">
            <a:avLst>
              <a:gd name="adj" fmla="val 5455"/>
            </a:avLst>
          </a:prstGeom>
          <a:solidFill>
            <a:srgbClr val="2A1A40"/>
          </a:solidFill>
          <a:ln w="1905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7955280" y="3749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Key Insight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955280" y="416052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interaction = substitutive, not complementary. Where governance is already strong, additional AI readiness adds less marginal gain. The two antecedents partially substitute for each other in driving SC performance.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1A7A8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3.4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Mediation Analysis — H2a  (Baron &amp; Kenny, 1986)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1430000" cy="0"/>
          </a:xfrm>
          <a:prstGeom prst="line">
            <a:avLst/>
          </a:prstGeom>
          <a:noFill/>
          <a:ln w="1524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0"/>
            <a:ext cx="11887200" cy="365760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5120640"/>
          <a:ext cx="11430000" cy="13716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(c path)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ξ₁ → η₂ (total)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.001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Confirmed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(a path)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ξ₁ → η₁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.001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Confirmed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(b path)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9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η₁ → η₂ | ξ₁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9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9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2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.743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9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72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FAILED — b-path 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9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MODEL FIT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Explained — Both Equations</a:t>
            </a:r>
            <a:endParaRPr lang="en-US" sz="2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0"/>
            <a:ext cx="777240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21040" y="146304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0F5FA"/>
          </a:solidFill>
          <a:ln w="25400">
            <a:solidFill>
              <a:srgbClr val="3A9BD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8458200" y="15361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Eq. 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458200" y="18562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A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0.780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458200" y="23317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 R² = 0.776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F(3,160) = 189.16***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321040" y="301752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0F5FA"/>
          </a:solidFill>
          <a:ln w="25400">
            <a:solidFill>
              <a:srgbClr val="9B72C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8458200" y="30906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ΔR² (H1c)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458200" y="341071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+0.033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458200" y="38862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F-change = 23.98***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R² = 0.813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321040" y="457200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0F5FA"/>
          </a:solidFill>
          <a:ln w="254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8458200" y="46451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Eq. 2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458200" y="496519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0.347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458200" y="54406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 R² = 0.339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F(2,161) = 42.74***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1A7A8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Outcomes at a Glance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1430000" cy="0"/>
          </a:xfrm>
          <a:prstGeom prst="line">
            <a:avLst/>
          </a:prstGeom>
          <a:noFill/>
          <a:ln w="1524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0"/>
            <a:ext cx="7863840" cy="4663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21040" y="1417320"/>
            <a:ext cx="3657600" cy="822960"/>
          </a:xfrm>
          <a:prstGeom prst="roundRect">
            <a:avLst>
              <a:gd name="adj" fmla="val 11111"/>
            </a:avLst>
          </a:prstGeom>
          <a:solidFill>
            <a:srgbClr val="122040"/>
          </a:solidFill>
          <a:ln w="15240">
            <a:solidFill>
              <a:srgbClr val="2ECC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55448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006840" y="146304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H1a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9738360" y="146304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9006840" y="1856232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0.462, p &lt; .001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8321040" y="2377440"/>
            <a:ext cx="3657600" cy="822960"/>
          </a:xfrm>
          <a:prstGeom prst="roundRect">
            <a:avLst>
              <a:gd name="adj" fmla="val 11111"/>
            </a:avLst>
          </a:prstGeom>
          <a:solidFill>
            <a:srgbClr val="122040"/>
          </a:solidFill>
          <a:ln w="15240">
            <a:solidFill>
              <a:srgbClr val="2ECC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25146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006840" y="242316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H1b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9738360" y="242316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9006840" y="2816352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0.408, p &lt; .001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8321040" y="3337560"/>
            <a:ext cx="3657600" cy="822960"/>
          </a:xfrm>
          <a:prstGeom prst="roundRect">
            <a:avLst>
              <a:gd name="adj" fmla="val 11111"/>
            </a:avLst>
          </a:prstGeom>
          <a:solidFill>
            <a:srgbClr val="122040"/>
          </a:solidFill>
          <a:ln w="15240">
            <a:solidFill>
              <a:srgbClr val="9B72C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347472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06840" y="338328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H1c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9738360" y="338328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(−)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9006840" y="3776472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−0.102, p = .029 (substitutive)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8321040" y="4297680"/>
            <a:ext cx="3657600" cy="822960"/>
          </a:xfrm>
          <a:prstGeom prst="roundRect">
            <a:avLst>
              <a:gd name="adj" fmla="val 11111"/>
            </a:avLst>
          </a:prstGeom>
          <a:solidFill>
            <a:srgbClr val="122040"/>
          </a:solidFill>
          <a:ln w="1524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4434840"/>
            <a:ext cx="502920" cy="5029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06840" y="434340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H2a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9738360" y="434340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SUPPORTED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9006840" y="4736592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b-path collapsed, p = .743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8321040" y="5257800"/>
            <a:ext cx="3657600" cy="822960"/>
          </a:xfrm>
          <a:prstGeom prst="roundRect">
            <a:avLst>
              <a:gd name="adj" fmla="val 11111"/>
            </a:avLst>
          </a:prstGeom>
          <a:solidFill>
            <a:srgbClr val="122040"/>
          </a:solidFill>
          <a:ln w="1524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5394960"/>
            <a:ext cx="502920" cy="5029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006840" y="530352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9738360" y="530352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9006840" y="5696712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ξ₁→η₂ β = 0.340, p = .001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— 4.0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 Results Really Tell Us?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5760720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9050">
            <a:solidFill>
              <a:srgbClr val="3A9BD5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581912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 macro-level SC driver (RQ1)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19456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0.462 confirms TOE framework at national scale. AI readiness is not just an organisational variable — it shapes entire logistics ecosystems (Ivanov, 2023; Maroufkhani et al., 2020)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1417320"/>
            <a:ext cx="5760720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9050">
            <a:solidFill>
              <a:srgbClr val="9B72CF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55448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86600" y="1581912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substitute, not amplify (RQ3)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0" y="219456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moderation (β = −0.102) contradicts complementarity assumptions. Strong governance may reduce urgency of AI investment. Novel finding challenging dominant narratives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74320" y="3886200"/>
            <a:ext cx="5760720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9050">
            <a:solidFill>
              <a:srgbClr val="2ECC8A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02336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4050792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Mediation fails — direct AI effect dominates (RQ2)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57200" y="466344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H2a not supported. AI readiness drives economic performance directly (β = 0.340), bypassing SC. Suggests AI's economic value is broader than the logistics channel alone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217920" y="3886200"/>
            <a:ext cx="5760720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9050">
            <a:solidFill>
              <a:srgbClr val="F4C542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023360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86600" y="4050792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refinement needed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400800" y="466344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substitutive pattern calls for boundary conditions theory. When does institutional quality complement vs substitute AI? Full-panel longitudinal analysis warranted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1A7A8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RESEARCH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Implications &amp; Next Steps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1430000" cy="0"/>
          </a:xfrm>
          <a:prstGeom prst="line">
            <a:avLst/>
          </a:prstGeom>
          <a:noFill/>
          <a:ln w="1524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Limitations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901952"/>
            <a:ext cx="5669280" cy="758952"/>
          </a:xfrm>
          <a:prstGeom prst="roundRect">
            <a:avLst>
              <a:gd name="adj" fmla="val 9639"/>
            </a:avLst>
          </a:prstGeom>
          <a:solidFill>
            <a:srgbClr val="122040"/>
          </a:solidFill>
          <a:ln w="1016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02920" y="1975104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975104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 design — temporal precedence cannot be established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788920"/>
            <a:ext cx="5669280" cy="758952"/>
          </a:xfrm>
          <a:prstGeom prst="roundRect">
            <a:avLst>
              <a:gd name="adj" fmla="val 9639"/>
            </a:avLst>
          </a:prstGeom>
          <a:solidFill>
            <a:srgbClr val="122040"/>
          </a:solidFill>
          <a:ln w="1016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02920" y="2862072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86207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index bias — aggregation may mask within-indicator variation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675888"/>
            <a:ext cx="5669280" cy="758952"/>
          </a:xfrm>
          <a:prstGeom prst="roundRect">
            <a:avLst>
              <a:gd name="adj" fmla="val 9639"/>
            </a:avLst>
          </a:prstGeom>
          <a:solidFill>
            <a:srgbClr val="122040"/>
          </a:solidFill>
          <a:ln w="1016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02920" y="37490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7490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Endogeneity risk — AI readiness &amp; GDP are co-evolving; reverse causality possible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562856"/>
            <a:ext cx="5669280" cy="758952"/>
          </a:xfrm>
          <a:prstGeom prst="roundRect">
            <a:avLst>
              <a:gd name="adj" fmla="val 9639"/>
            </a:avLst>
          </a:prstGeom>
          <a:solidFill>
            <a:srgbClr val="122040"/>
          </a:solidFill>
          <a:ln w="1016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02920" y="4636008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63600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η₂ non-normality — Singapore/Luxembourg outliers inflate kurtosis (8.157)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5449824"/>
            <a:ext cx="5669280" cy="758952"/>
          </a:xfrm>
          <a:prstGeom prst="roundRect">
            <a:avLst>
              <a:gd name="adj" fmla="val 9639"/>
            </a:avLst>
          </a:prstGeom>
          <a:solidFill>
            <a:srgbClr val="122040"/>
          </a:solidFill>
          <a:ln w="1016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02920" y="5522976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5522976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164: reproduced as 149 from raw CSV — SPSS composite aggregation difference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137160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2EC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 &amp; Future Research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09360" y="1901952"/>
            <a:ext cx="5577840" cy="758952"/>
          </a:xfrm>
          <a:prstGeom prst="roundRect">
            <a:avLst>
              <a:gd name="adj" fmla="val 9639"/>
            </a:avLst>
          </a:prstGeom>
          <a:solidFill>
            <a:srgbClr val="122040"/>
          </a:solidFill>
          <a:ln w="10160">
            <a:solidFill>
              <a:srgbClr val="2ECC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029968"/>
            <a:ext cx="411480" cy="41148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949440" y="195681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C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regression (2010–2025)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949440" y="230428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 temporal variation; IV estimation for causal inference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309360" y="2788920"/>
            <a:ext cx="5577840" cy="758952"/>
          </a:xfrm>
          <a:prstGeom prst="roundRect">
            <a:avLst>
              <a:gd name="adj" fmla="val 9639"/>
            </a:avLst>
          </a:prstGeom>
          <a:solidFill>
            <a:srgbClr val="122040"/>
          </a:solidFill>
          <a:ln w="10160">
            <a:solidFill>
              <a:srgbClr val="2ECC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916936"/>
            <a:ext cx="411480" cy="41148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6949440" y="284378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C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Amos CFA-SEM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6949440" y="319125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latent variable modelling with fit indices (CFI, RMSEA)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6309360" y="3675888"/>
            <a:ext cx="5577840" cy="758952"/>
          </a:xfrm>
          <a:prstGeom prst="roundRect">
            <a:avLst>
              <a:gd name="adj" fmla="val 9639"/>
            </a:avLst>
          </a:prstGeom>
          <a:solidFill>
            <a:srgbClr val="122040"/>
          </a:solidFill>
          <a:ln w="10160">
            <a:solidFill>
              <a:srgbClr val="2ECC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803904"/>
            <a:ext cx="411480" cy="4114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949440" y="373075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C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heterogeneity</a:t>
            </a:r>
            <a:endParaRPr lang="en-US" sz="1150" dirty="0"/>
          </a:p>
        </p:txBody>
      </p:sp>
      <p:sp>
        <p:nvSpPr>
          <p:cNvPr id="34" name="Text 29"/>
          <p:cNvSpPr/>
          <p:nvPr/>
        </p:nvSpPr>
        <p:spPr>
          <a:xfrm>
            <a:off x="6949440" y="407822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models for high/low-income groups; multi-group SEM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309360" y="4562856"/>
            <a:ext cx="5577840" cy="758952"/>
          </a:xfrm>
          <a:prstGeom prst="roundRect">
            <a:avLst>
              <a:gd name="adj" fmla="val 9639"/>
            </a:avLst>
          </a:prstGeom>
          <a:solidFill>
            <a:srgbClr val="122040"/>
          </a:solidFill>
          <a:ln w="10160">
            <a:solidFill>
              <a:srgbClr val="2ECC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4690872"/>
            <a:ext cx="411480" cy="41148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949440" y="461772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C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implication</a:t>
            </a:r>
            <a:endParaRPr lang="en-US" sz="1150" dirty="0"/>
          </a:p>
        </p:txBody>
      </p:sp>
      <p:sp>
        <p:nvSpPr>
          <p:cNvPr id="38" name="Text 32"/>
          <p:cNvSpPr/>
          <p:nvPr/>
        </p:nvSpPr>
        <p:spPr>
          <a:xfrm>
            <a:off x="6949440" y="496519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investment alone insufficient — governance co-investment critical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6309360" y="5449824"/>
            <a:ext cx="5577840" cy="758952"/>
          </a:xfrm>
          <a:prstGeom prst="roundRect">
            <a:avLst>
              <a:gd name="adj" fmla="val 9639"/>
            </a:avLst>
          </a:prstGeom>
          <a:solidFill>
            <a:srgbClr val="122040"/>
          </a:solidFill>
          <a:ln w="10160">
            <a:solidFill>
              <a:srgbClr val="2ECC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5577840"/>
            <a:ext cx="411480" cy="41148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6949440" y="550468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C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SEM</a:t>
            </a:r>
            <a:endParaRPr lang="en-US" sz="1150" dirty="0"/>
          </a:p>
        </p:txBody>
      </p:sp>
      <p:sp>
        <p:nvSpPr>
          <p:cNvPr id="42" name="Text 35"/>
          <p:cNvSpPr/>
          <p:nvPr/>
        </p:nvSpPr>
        <p:spPr>
          <a:xfrm>
            <a:off x="6949440" y="58521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for uncertainty in small N cross-national settings</a:t>
            </a:r>
            <a:endParaRPr lang="en-US" sz="1000" dirty="0"/>
          </a:p>
        </p:txBody>
      </p:sp>
      <p:sp>
        <p:nvSpPr>
          <p:cNvPr id="43" name="Text 36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4C5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F4C5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Takeaways for the Room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286000" y="1600200"/>
            <a:ext cx="7589520" cy="0"/>
          </a:xfrm>
          <a:prstGeom prst="line">
            <a:avLst/>
          </a:prstGeom>
          <a:noFill/>
          <a:ln w="1905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3794760" cy="4663440"/>
          </a:xfrm>
          <a:prstGeom prst="roundRect">
            <a:avLst>
              <a:gd name="adj" fmla="val 3614"/>
            </a:avLst>
          </a:prstGeom>
          <a:solidFill>
            <a:srgbClr val="122040"/>
          </a:solidFill>
          <a:ln w="22860">
            <a:solidFill>
              <a:srgbClr val="3A9BD5"/>
            </a:solidFill>
            <a:prstDash val="solid"/>
          </a:ln>
          <a:effectLst>
            <a:outerShdw blurRad="1270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02920" y="193852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A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1938528"/>
            <a:ext cx="685800" cy="6858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2920" y="2670048"/>
            <a:ext cx="3429000" cy="0"/>
          </a:xfrm>
          <a:prstGeom prst="line">
            <a:avLst/>
          </a:prstGeom>
          <a:noFill/>
          <a:ln w="10160">
            <a:solidFill>
              <a:srgbClr val="3A9BD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502920" y="2761488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readiness is a genuine macro-level SC driver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3520440"/>
            <a:ext cx="34290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H1a (β = 0.462) and H1b (β = 0.408) both strongly confirmed. Government AI capability and institutional quality explain 78% of cross-national SC performance variation — a robust and policy-relevant finding.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279392" y="1828800"/>
            <a:ext cx="3794760" cy="4663440"/>
          </a:xfrm>
          <a:prstGeom prst="roundRect">
            <a:avLst>
              <a:gd name="adj" fmla="val 3614"/>
            </a:avLst>
          </a:prstGeom>
          <a:solidFill>
            <a:srgbClr val="122040"/>
          </a:solidFill>
          <a:ln w="22860">
            <a:solidFill>
              <a:srgbClr val="9B72CF"/>
            </a:solidFill>
            <a:prstDash val="solid"/>
          </a:ln>
          <a:effectLst>
            <a:outerShdw blurRad="1270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4462272" y="193852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432" y="1938528"/>
            <a:ext cx="685800" cy="6858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462272" y="2670048"/>
            <a:ext cx="3429000" cy="0"/>
          </a:xfrm>
          <a:prstGeom prst="line">
            <a:avLst/>
          </a:prstGeom>
          <a:noFill/>
          <a:ln w="10160">
            <a:solidFill>
              <a:srgbClr val="9B72C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3"/>
          <p:cNvSpPr/>
          <p:nvPr/>
        </p:nvSpPr>
        <p:spPr>
          <a:xfrm>
            <a:off x="4462272" y="2761488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substitute, not amplify, AI effects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462272" y="3520440"/>
            <a:ext cx="34290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H1c reveals negative moderation. The complementarity assumption embedded in most policy frameworks is not empirically warranted here. This is a provocation for theory and for AI investment strategy.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238744" y="1828800"/>
            <a:ext cx="3794760" cy="4663440"/>
          </a:xfrm>
          <a:prstGeom prst="roundRect">
            <a:avLst>
              <a:gd name="adj" fmla="val 3614"/>
            </a:avLst>
          </a:prstGeom>
          <a:solidFill>
            <a:srgbClr val="122040"/>
          </a:solidFill>
          <a:ln w="22860">
            <a:solidFill>
              <a:srgbClr val="2ECC8A"/>
            </a:solidFill>
            <a:prstDash val="solid"/>
          </a:ln>
          <a:effectLst>
            <a:outerShdw blurRad="1270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 16"/>
          <p:cNvSpPr/>
          <p:nvPr/>
        </p:nvSpPr>
        <p:spPr>
          <a:xfrm>
            <a:off x="8421624" y="193852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C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4784" y="1938528"/>
            <a:ext cx="685800" cy="68580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8421624" y="2670048"/>
            <a:ext cx="3429000" cy="0"/>
          </a:xfrm>
          <a:prstGeom prst="line">
            <a:avLst/>
          </a:prstGeom>
          <a:noFill/>
          <a:ln w="10160">
            <a:solidFill>
              <a:srgbClr val="2ECC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18"/>
          <p:cNvSpPr/>
          <p:nvPr/>
        </p:nvSpPr>
        <p:spPr>
          <a:xfrm>
            <a:off x="8421624" y="2761488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drives economies directly — not through supply chains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8421624" y="3520440"/>
            <a:ext cx="34290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H2a fails but the direct ξ₁→η₂ path (β = 0.340) is robust. AI readiness has broader economic value that bypasses the logistics channel. Full-scale panel study needed to confirm causal mechanism.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365760" y="6510528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Tewogbade Shakir Adeyemi  |  DBA Researcher  |  2573172317  |  Thank you — Questions welcome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1904</Words>
  <Application>Microsoft Office PowerPoint</Application>
  <PresentationFormat>Widescreen</PresentationFormat>
  <Paragraphs>362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Readiness and Supply Chain Performance</dc:title>
  <dc:subject>PptxGenJS Presentation</dc:subject>
  <dc:creator>Tewogbade Shakir Adeyemi</dc:creator>
  <cp:lastModifiedBy>shakir tewogbade</cp:lastModifiedBy>
  <cp:revision>2</cp:revision>
  <dcterms:created xsi:type="dcterms:W3CDTF">2026-06-15T18:12:08Z</dcterms:created>
  <dcterms:modified xsi:type="dcterms:W3CDTF">2026-06-15T18:19:40Z</dcterms:modified>
</cp:coreProperties>
</file>