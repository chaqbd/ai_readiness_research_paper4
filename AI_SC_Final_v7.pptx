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70" r:id="rId12"/>
    <p:sldId id="271" r:id="rId13"/>
    <p:sldId id="276" r:id="rId14"/>
    <p:sldId id="275" r:id="rId15"/>
    <p:sldId id="272" r:id="rId16"/>
    <p:sldId id="273" r:id="rId17"/>
    <p:sldId id="274"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50452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61520" cy="6858000"/>
          </a:xfrm>
          <a:prstGeom prst="rect">
            <a:avLst/>
          </a:prstGeom>
        </p:spPr>
      </p:pic>
      <p:sp>
        <p:nvSpPr>
          <p:cNvPr id="3" name="Shape 0"/>
          <p:cNvSpPr/>
          <p:nvPr/>
        </p:nvSpPr>
        <p:spPr>
          <a:xfrm>
            <a:off x="0" y="0"/>
            <a:ext cx="12161520" cy="777240"/>
          </a:xfrm>
          <a:prstGeom prst="rect">
            <a:avLst/>
          </a:prstGeom>
          <a:solidFill>
            <a:srgbClr val="030818">
              <a:alpha val="70000"/>
            </a:srgbClr>
          </a:solidFill>
          <a:ln w="12700">
            <a:solidFill>
              <a:srgbClr val="FFFFFF">
                <a:alpha val="0"/>
              </a:srgbClr>
            </a:solidFill>
            <a:prstDash val="solid"/>
          </a:ln>
        </p:spPr>
        <p:txBody>
          <a:bodyPr/>
          <a:lstStyle/>
          <a:p>
            <a:endParaRPr lang="en-GB"/>
          </a:p>
        </p:txBody>
      </p:sp>
      <p:sp>
        <p:nvSpPr>
          <p:cNvPr id="4" name="Text 1"/>
          <p:cNvSpPr/>
          <p:nvPr/>
        </p:nvSpPr>
        <p:spPr>
          <a:xfrm>
            <a:off x="365760" y="73152"/>
            <a:ext cx="11430000" cy="594360"/>
          </a:xfrm>
          <a:prstGeom prst="rect">
            <a:avLst/>
          </a:prstGeom>
          <a:noFill/>
          <a:ln/>
        </p:spPr>
        <p:txBody>
          <a:bodyPr wrap="square" lIns="50800" tIns="50800" rIns="50800" bIns="50800" rtlCol="0" anchor="ctr"/>
          <a:lstStyle/>
          <a:p>
            <a:pPr marL="0" indent="0" algn="ctr">
              <a:buNone/>
            </a:pPr>
            <a:r>
              <a:rPr lang="en-US" sz="1000" kern="0" spc="250" dirty="0">
                <a:solidFill>
                  <a:srgbClr val="B8C8D8"/>
                </a:solidFill>
                <a:latin typeface="Gill Sans MT" pitchFamily="34" charset="0"/>
                <a:ea typeface="Gill Sans MT" pitchFamily="34" charset="-122"/>
                <a:cs typeface="Gill Sans MT" pitchFamily="34" charset="-120"/>
              </a:rPr>
              <a:t>SBEL CONFERENCE PAPER PRESENTATION  •  June 2026</a:t>
            </a:r>
            <a:endParaRPr lang="en-US" sz="1000" dirty="0"/>
          </a:p>
        </p:txBody>
      </p:sp>
      <p:sp>
        <p:nvSpPr>
          <p:cNvPr id="5" name="Shape 2"/>
          <p:cNvSpPr/>
          <p:nvPr/>
        </p:nvSpPr>
        <p:spPr>
          <a:xfrm>
            <a:off x="457200" y="1005840"/>
            <a:ext cx="11247120" cy="2286000"/>
          </a:xfrm>
          <a:prstGeom prst="roundRect">
            <a:avLst>
              <a:gd name="adj" fmla="val 5600"/>
            </a:avLst>
          </a:prstGeom>
          <a:solidFill>
            <a:srgbClr val="03081A">
              <a:alpha val="62000"/>
            </a:srgbClr>
          </a:solidFill>
          <a:ln w="10160">
            <a:solidFill>
              <a:srgbClr val="6DAEDB">
                <a:alpha val="6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6" name="Shape 3"/>
          <p:cNvSpPr/>
          <p:nvPr/>
        </p:nvSpPr>
        <p:spPr>
          <a:xfrm>
            <a:off x="822960" y="1115568"/>
            <a:ext cx="1828800" cy="0"/>
          </a:xfrm>
          <a:prstGeom prst="line">
            <a:avLst/>
          </a:prstGeom>
          <a:noFill/>
          <a:ln w="19050">
            <a:solidFill>
              <a:srgbClr val="F0C040"/>
            </a:solidFill>
            <a:prstDash val="solid"/>
          </a:ln>
        </p:spPr>
        <p:txBody>
          <a:bodyPr/>
          <a:lstStyle/>
          <a:p>
            <a:endParaRPr lang="en-GB"/>
          </a:p>
        </p:txBody>
      </p:sp>
      <p:sp>
        <p:nvSpPr>
          <p:cNvPr id="7" name="Text 4"/>
          <p:cNvSpPr/>
          <p:nvPr/>
        </p:nvSpPr>
        <p:spPr>
          <a:xfrm>
            <a:off x="640080" y="1143000"/>
            <a:ext cx="10881360" cy="1280160"/>
          </a:xfrm>
          <a:prstGeom prst="rect">
            <a:avLst/>
          </a:prstGeom>
          <a:noFill/>
          <a:ln/>
        </p:spPr>
        <p:txBody>
          <a:bodyPr wrap="square" lIns="50800" tIns="50800" rIns="50800" bIns="50800" rtlCol="0" anchor="ctr"/>
          <a:lstStyle/>
          <a:p>
            <a:pPr marL="0" indent="0" algn="ctr">
              <a:buNone/>
            </a:pPr>
            <a:r>
              <a:rPr lang="en-US" sz="3800" b="1" dirty="0">
                <a:solidFill>
                  <a:srgbClr val="FFFFFF"/>
                </a:solidFill>
                <a:latin typeface="Gill Sans MT" pitchFamily="34" charset="0"/>
                <a:ea typeface="Gill Sans MT" pitchFamily="34" charset="-122"/>
                <a:cs typeface="Gill Sans MT" pitchFamily="34" charset="-120"/>
              </a:rPr>
              <a:t>AI Readiness and Supply Chain Performance</a:t>
            </a:r>
            <a:endParaRPr lang="en-US" sz="3800" dirty="0"/>
          </a:p>
        </p:txBody>
      </p:sp>
      <p:sp>
        <p:nvSpPr>
          <p:cNvPr id="8" name="Text 5"/>
          <p:cNvSpPr/>
          <p:nvPr/>
        </p:nvSpPr>
        <p:spPr>
          <a:xfrm>
            <a:off x="640080" y="2331720"/>
            <a:ext cx="10881360" cy="685800"/>
          </a:xfrm>
          <a:prstGeom prst="rect">
            <a:avLst/>
          </a:prstGeom>
          <a:noFill/>
          <a:ln/>
        </p:spPr>
        <p:txBody>
          <a:bodyPr wrap="square" lIns="50800" tIns="50800" rIns="50800" bIns="50800" rtlCol="0" anchor="ctr"/>
          <a:lstStyle/>
          <a:p>
            <a:pPr marL="0" indent="0" algn="ctr">
              <a:buNone/>
            </a:pPr>
            <a:r>
              <a:rPr lang="en-US" sz="1900" i="1" dirty="0">
                <a:solidFill>
                  <a:srgbClr val="F0C040"/>
                </a:solidFill>
                <a:latin typeface="Gill Sans MT" pitchFamily="34" charset="0"/>
                <a:ea typeface="Gill Sans MT" pitchFamily="34" charset="-122"/>
                <a:cs typeface="Gill Sans MT" pitchFamily="34" charset="-120"/>
              </a:rPr>
              <a:t>A Cross-National Pilot Study Using Structural Equation Modelling</a:t>
            </a:r>
            <a:endParaRPr lang="en-US" sz="1900" dirty="0"/>
          </a:p>
        </p:txBody>
      </p:sp>
      <p:sp>
        <p:nvSpPr>
          <p:cNvPr id="9" name="Shape 6"/>
          <p:cNvSpPr/>
          <p:nvPr/>
        </p:nvSpPr>
        <p:spPr>
          <a:xfrm>
            <a:off x="822960" y="3127248"/>
            <a:ext cx="10515600" cy="0"/>
          </a:xfrm>
          <a:prstGeom prst="line">
            <a:avLst/>
          </a:prstGeom>
          <a:noFill/>
          <a:ln w="19050">
            <a:solidFill>
              <a:srgbClr val="6DAEDB"/>
            </a:solidFill>
            <a:prstDash val="solid"/>
          </a:ln>
        </p:spPr>
        <p:txBody>
          <a:bodyPr/>
          <a:lstStyle/>
          <a:p>
            <a:endParaRPr lang="en-GB"/>
          </a:p>
        </p:txBody>
      </p:sp>
      <p:sp>
        <p:nvSpPr>
          <p:cNvPr id="10" name="Shape 7"/>
          <p:cNvSpPr/>
          <p:nvPr/>
        </p:nvSpPr>
        <p:spPr>
          <a:xfrm>
            <a:off x="1188720" y="3337560"/>
            <a:ext cx="2194560" cy="1371600"/>
          </a:xfrm>
          <a:prstGeom prst="roundRect">
            <a:avLst>
              <a:gd name="adj" fmla="val 9333"/>
            </a:avLst>
          </a:prstGeom>
          <a:solidFill>
            <a:srgbClr val="060E24">
              <a:alpha val="55000"/>
            </a:srgbClr>
          </a:solidFill>
          <a:ln w="7620">
            <a:solidFill>
              <a:srgbClr val="4ECDC4">
                <a:alpha val="5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1" name="Text 8"/>
          <p:cNvSpPr/>
          <p:nvPr/>
        </p:nvSpPr>
        <p:spPr>
          <a:xfrm>
            <a:off x="1188720" y="3401568"/>
            <a:ext cx="2194560" cy="749808"/>
          </a:xfrm>
          <a:prstGeom prst="rect">
            <a:avLst/>
          </a:prstGeom>
          <a:noFill/>
          <a:ln/>
        </p:spPr>
        <p:txBody>
          <a:bodyPr wrap="square" lIns="50800" tIns="50800" rIns="50800" bIns="50800" rtlCol="0" anchor="ctr"/>
          <a:lstStyle/>
          <a:p>
            <a:pPr marL="0" indent="0" algn="ctr">
              <a:buNone/>
            </a:pPr>
            <a:r>
              <a:rPr lang="en-US" sz="2800" b="1" dirty="0">
                <a:solidFill>
                  <a:srgbClr val="4ECDC4"/>
                </a:solidFill>
                <a:latin typeface="Gill Sans MT" pitchFamily="34" charset="0"/>
                <a:ea typeface="Gill Sans MT" pitchFamily="34" charset="-122"/>
                <a:cs typeface="Gill Sans MT" pitchFamily="34" charset="-120"/>
              </a:rPr>
              <a:t>164</a:t>
            </a:r>
            <a:endParaRPr lang="en-US" sz="2800" dirty="0"/>
          </a:p>
        </p:txBody>
      </p:sp>
      <p:sp>
        <p:nvSpPr>
          <p:cNvPr id="12" name="Text 9"/>
          <p:cNvSpPr/>
          <p:nvPr/>
        </p:nvSpPr>
        <p:spPr>
          <a:xfrm>
            <a:off x="1188720" y="4041648"/>
            <a:ext cx="2194560" cy="502920"/>
          </a:xfrm>
          <a:prstGeom prst="rect">
            <a:avLst/>
          </a:prstGeom>
          <a:noFill/>
          <a:ln/>
        </p:spPr>
        <p:txBody>
          <a:bodyPr wrap="square" lIns="50800" tIns="50800" rIns="50800" bIns="50800" rtlCol="0" anchor="ctr"/>
          <a:lstStyle/>
          <a:p>
            <a:pPr marL="0" indent="0" algn="ctr">
              <a:buNone/>
            </a:pPr>
            <a:r>
              <a:rPr lang="en-US" sz="1100" kern="0" spc="150" dirty="0">
                <a:solidFill>
                  <a:srgbClr val="B8C8D8"/>
                </a:solidFill>
                <a:latin typeface="Gill Sans MT" pitchFamily="34" charset="0"/>
                <a:ea typeface="Gill Sans MT" pitchFamily="34" charset="-122"/>
                <a:cs typeface="Gill Sans MT" pitchFamily="34" charset="-120"/>
              </a:rPr>
              <a:t>Countries</a:t>
            </a:r>
            <a:endParaRPr lang="en-US" sz="1100" dirty="0"/>
          </a:p>
        </p:txBody>
      </p:sp>
      <p:sp>
        <p:nvSpPr>
          <p:cNvPr id="13" name="Shape 10"/>
          <p:cNvSpPr/>
          <p:nvPr/>
        </p:nvSpPr>
        <p:spPr>
          <a:xfrm>
            <a:off x="3703320" y="3337560"/>
            <a:ext cx="2194560" cy="1371600"/>
          </a:xfrm>
          <a:prstGeom prst="roundRect">
            <a:avLst>
              <a:gd name="adj" fmla="val 9333"/>
            </a:avLst>
          </a:prstGeom>
          <a:solidFill>
            <a:srgbClr val="060E24">
              <a:alpha val="55000"/>
            </a:srgbClr>
          </a:solidFill>
          <a:ln w="7620">
            <a:solidFill>
              <a:srgbClr val="4ECDC4">
                <a:alpha val="5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4" name="Text 11"/>
          <p:cNvSpPr/>
          <p:nvPr/>
        </p:nvSpPr>
        <p:spPr>
          <a:xfrm>
            <a:off x="3703320" y="3401568"/>
            <a:ext cx="2194560" cy="749808"/>
          </a:xfrm>
          <a:prstGeom prst="rect">
            <a:avLst/>
          </a:prstGeom>
          <a:noFill/>
          <a:ln/>
        </p:spPr>
        <p:txBody>
          <a:bodyPr wrap="square" lIns="50800" tIns="50800" rIns="50800" bIns="50800" rtlCol="0" anchor="ctr"/>
          <a:lstStyle/>
          <a:p>
            <a:pPr marL="0" indent="0" algn="ctr">
              <a:buNone/>
            </a:pPr>
            <a:r>
              <a:rPr lang="en-US" sz="2800" b="1" dirty="0">
                <a:solidFill>
                  <a:srgbClr val="4ECDC4"/>
                </a:solidFill>
                <a:latin typeface="Gill Sans MT" pitchFamily="34" charset="0"/>
                <a:ea typeface="Gill Sans MT" pitchFamily="34" charset="-122"/>
                <a:cs typeface="Gill Sans MT" pitchFamily="34" charset="-120"/>
              </a:rPr>
              <a:t>5</a:t>
            </a:r>
            <a:endParaRPr lang="en-US" sz="2800" dirty="0"/>
          </a:p>
        </p:txBody>
      </p:sp>
      <p:sp>
        <p:nvSpPr>
          <p:cNvPr id="15" name="Text 12"/>
          <p:cNvSpPr/>
          <p:nvPr/>
        </p:nvSpPr>
        <p:spPr>
          <a:xfrm>
            <a:off x="3703320" y="4041648"/>
            <a:ext cx="2194560" cy="502920"/>
          </a:xfrm>
          <a:prstGeom prst="rect">
            <a:avLst/>
          </a:prstGeom>
          <a:noFill/>
          <a:ln/>
        </p:spPr>
        <p:txBody>
          <a:bodyPr wrap="square" lIns="50800" tIns="50800" rIns="50800" bIns="50800" rtlCol="0" anchor="ctr"/>
          <a:lstStyle/>
          <a:p>
            <a:pPr marL="0" indent="0" algn="ctr">
              <a:buNone/>
            </a:pPr>
            <a:r>
              <a:rPr lang="en-US" sz="1100" kern="0" spc="150" dirty="0">
                <a:solidFill>
                  <a:srgbClr val="B8C8D8"/>
                </a:solidFill>
                <a:latin typeface="Gill Sans MT" pitchFamily="34" charset="0"/>
                <a:ea typeface="Gill Sans MT" pitchFamily="34" charset="-122"/>
                <a:cs typeface="Gill Sans MT" pitchFamily="34" charset="-120"/>
              </a:rPr>
              <a:t>Data Sources</a:t>
            </a:r>
            <a:endParaRPr lang="en-US" sz="1100" dirty="0"/>
          </a:p>
        </p:txBody>
      </p:sp>
      <p:sp>
        <p:nvSpPr>
          <p:cNvPr id="16" name="Shape 13"/>
          <p:cNvSpPr/>
          <p:nvPr/>
        </p:nvSpPr>
        <p:spPr>
          <a:xfrm>
            <a:off x="6217920" y="3337560"/>
            <a:ext cx="2194560" cy="1371600"/>
          </a:xfrm>
          <a:prstGeom prst="roundRect">
            <a:avLst>
              <a:gd name="adj" fmla="val 9333"/>
            </a:avLst>
          </a:prstGeom>
          <a:solidFill>
            <a:srgbClr val="060E24">
              <a:alpha val="55000"/>
            </a:srgbClr>
          </a:solidFill>
          <a:ln w="7620">
            <a:solidFill>
              <a:srgbClr val="4ECDC4">
                <a:alpha val="5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7" name="Text 14"/>
          <p:cNvSpPr/>
          <p:nvPr/>
        </p:nvSpPr>
        <p:spPr>
          <a:xfrm>
            <a:off x="6217920" y="3401568"/>
            <a:ext cx="2194560" cy="749808"/>
          </a:xfrm>
          <a:prstGeom prst="rect">
            <a:avLst/>
          </a:prstGeom>
          <a:noFill/>
          <a:ln/>
        </p:spPr>
        <p:txBody>
          <a:bodyPr wrap="square" lIns="50800" tIns="50800" rIns="50800" bIns="50800" rtlCol="0" anchor="ctr"/>
          <a:lstStyle/>
          <a:p>
            <a:pPr marL="0" indent="0" algn="ctr">
              <a:buNone/>
            </a:pPr>
            <a:r>
              <a:rPr lang="en-US" sz="2800" b="1" dirty="0">
                <a:solidFill>
                  <a:srgbClr val="4ECDC4"/>
                </a:solidFill>
                <a:latin typeface="Gill Sans MT" pitchFamily="34" charset="0"/>
                <a:ea typeface="Gill Sans MT" pitchFamily="34" charset="-122"/>
                <a:cs typeface="Gill Sans MT" pitchFamily="34" charset="-120"/>
              </a:rPr>
              <a:t>SEM</a:t>
            </a:r>
            <a:endParaRPr lang="en-US" sz="2800" dirty="0"/>
          </a:p>
        </p:txBody>
      </p:sp>
      <p:sp>
        <p:nvSpPr>
          <p:cNvPr id="18" name="Text 15"/>
          <p:cNvSpPr/>
          <p:nvPr/>
        </p:nvSpPr>
        <p:spPr>
          <a:xfrm>
            <a:off x="6217920" y="4041648"/>
            <a:ext cx="2194560" cy="502920"/>
          </a:xfrm>
          <a:prstGeom prst="rect">
            <a:avLst/>
          </a:prstGeom>
          <a:noFill/>
          <a:ln/>
        </p:spPr>
        <p:txBody>
          <a:bodyPr wrap="square" lIns="50800" tIns="50800" rIns="50800" bIns="50800" rtlCol="0" anchor="ctr"/>
          <a:lstStyle/>
          <a:p>
            <a:pPr marL="0" indent="0" algn="ctr">
              <a:buNone/>
            </a:pPr>
            <a:r>
              <a:rPr lang="en-US" sz="1100" kern="0" spc="150" dirty="0">
                <a:solidFill>
                  <a:srgbClr val="B8C8D8"/>
                </a:solidFill>
                <a:latin typeface="Gill Sans MT" pitchFamily="34" charset="0"/>
                <a:ea typeface="Gill Sans MT" pitchFamily="34" charset="-122"/>
                <a:cs typeface="Gill Sans MT" pitchFamily="34" charset="-120"/>
              </a:rPr>
              <a:t>Framework</a:t>
            </a:r>
            <a:endParaRPr lang="en-US" sz="1100" dirty="0"/>
          </a:p>
        </p:txBody>
      </p:sp>
      <p:sp>
        <p:nvSpPr>
          <p:cNvPr id="19" name="Shape 16"/>
          <p:cNvSpPr/>
          <p:nvPr/>
        </p:nvSpPr>
        <p:spPr>
          <a:xfrm>
            <a:off x="8732520" y="3337560"/>
            <a:ext cx="2194560" cy="1371600"/>
          </a:xfrm>
          <a:prstGeom prst="roundRect">
            <a:avLst>
              <a:gd name="adj" fmla="val 9333"/>
            </a:avLst>
          </a:prstGeom>
          <a:solidFill>
            <a:srgbClr val="060E24">
              <a:alpha val="55000"/>
            </a:srgbClr>
          </a:solidFill>
          <a:ln w="7620">
            <a:solidFill>
              <a:srgbClr val="4ECDC4">
                <a:alpha val="5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0" name="Text 17"/>
          <p:cNvSpPr/>
          <p:nvPr/>
        </p:nvSpPr>
        <p:spPr>
          <a:xfrm>
            <a:off x="8732520" y="3401568"/>
            <a:ext cx="2194560" cy="749808"/>
          </a:xfrm>
          <a:prstGeom prst="rect">
            <a:avLst/>
          </a:prstGeom>
          <a:noFill/>
          <a:ln/>
        </p:spPr>
        <p:txBody>
          <a:bodyPr wrap="square" lIns="50800" tIns="50800" rIns="50800" bIns="50800" rtlCol="0" anchor="ctr"/>
          <a:lstStyle/>
          <a:p>
            <a:pPr marL="0" indent="0" algn="ctr">
              <a:buNone/>
            </a:pPr>
            <a:r>
              <a:rPr lang="en-US" sz="2800" b="1" dirty="0">
                <a:solidFill>
                  <a:srgbClr val="4ECDC4"/>
                </a:solidFill>
                <a:latin typeface="Gill Sans MT" pitchFamily="34" charset="0"/>
                <a:ea typeface="Gill Sans MT" pitchFamily="34" charset="-122"/>
                <a:cs typeface="Gill Sans MT" pitchFamily="34" charset="-120"/>
              </a:rPr>
              <a:t>IBM SPSS</a:t>
            </a:r>
            <a:endParaRPr lang="en-US" sz="2800" dirty="0"/>
          </a:p>
        </p:txBody>
      </p:sp>
      <p:sp>
        <p:nvSpPr>
          <p:cNvPr id="21" name="Text 18"/>
          <p:cNvSpPr/>
          <p:nvPr/>
        </p:nvSpPr>
        <p:spPr>
          <a:xfrm>
            <a:off x="8732520" y="4041648"/>
            <a:ext cx="2194560" cy="502920"/>
          </a:xfrm>
          <a:prstGeom prst="rect">
            <a:avLst/>
          </a:prstGeom>
          <a:noFill/>
          <a:ln/>
        </p:spPr>
        <p:txBody>
          <a:bodyPr wrap="square" lIns="50800" tIns="50800" rIns="50800" bIns="50800" rtlCol="0" anchor="ctr"/>
          <a:lstStyle/>
          <a:p>
            <a:pPr marL="0" indent="0" algn="ctr">
              <a:buNone/>
            </a:pPr>
            <a:r>
              <a:rPr lang="en-US" sz="1100" kern="0" spc="150" dirty="0">
                <a:solidFill>
                  <a:srgbClr val="B8C8D8"/>
                </a:solidFill>
                <a:latin typeface="Gill Sans MT" pitchFamily="34" charset="0"/>
                <a:ea typeface="Gill Sans MT" pitchFamily="34" charset="-122"/>
                <a:cs typeface="Gill Sans MT" pitchFamily="34" charset="-120"/>
              </a:rPr>
              <a:t>Analysis</a:t>
            </a:r>
            <a:endParaRPr lang="en-US" sz="1100" dirty="0"/>
          </a:p>
        </p:txBody>
      </p:sp>
      <p:sp>
        <p:nvSpPr>
          <p:cNvPr id="22" name="Shape 19"/>
          <p:cNvSpPr/>
          <p:nvPr/>
        </p:nvSpPr>
        <p:spPr>
          <a:xfrm>
            <a:off x="457200" y="4983480"/>
            <a:ext cx="11247120" cy="502920"/>
          </a:xfrm>
          <a:prstGeom prst="roundRect">
            <a:avLst>
              <a:gd name="adj" fmla="val 25455"/>
            </a:avLst>
          </a:prstGeom>
          <a:solidFill>
            <a:srgbClr val="03081A">
              <a:alpha val="55000"/>
            </a:srgbClr>
          </a:solidFill>
          <a:ln w="3810">
            <a:solidFill>
              <a:srgbClr val="B8C8D8">
                <a:alpha val="2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3" name="Text 20"/>
          <p:cNvSpPr/>
          <p:nvPr/>
        </p:nvSpPr>
        <p:spPr>
          <a:xfrm>
            <a:off x="457200" y="4992624"/>
            <a:ext cx="11247120" cy="502920"/>
          </a:xfrm>
          <a:prstGeom prst="rect">
            <a:avLst/>
          </a:prstGeom>
          <a:noFill/>
          <a:ln/>
        </p:spPr>
        <p:txBody>
          <a:bodyPr wrap="square" lIns="50800" tIns="50800" rIns="50800" bIns="50800" rtlCol="0" anchor="ctr"/>
          <a:lstStyle/>
          <a:p>
            <a:pPr marL="0" indent="0" algn="ctr">
              <a:buNone/>
            </a:pPr>
            <a:r>
              <a:rPr lang="en-US" sz="1100" dirty="0">
                <a:solidFill>
                  <a:srgbClr val="B8C8D8"/>
                </a:solidFill>
                <a:latin typeface="Gill Sans MT" pitchFamily="34" charset="0"/>
                <a:ea typeface="Gill Sans MT" pitchFamily="34" charset="-122"/>
                <a:cs typeface="Gill Sans MT" pitchFamily="34" charset="-120"/>
              </a:rPr>
              <a:t>Tewogbade Shakir Adeyemi  |  DBA Researcher  </a:t>
            </a:r>
            <a:endParaRPr lang="en-US" sz="1100" dirty="0"/>
          </a:p>
        </p:txBody>
      </p:sp>
      <p:sp>
        <p:nvSpPr>
          <p:cNvPr id="24" name="Shape 21"/>
          <p:cNvSpPr/>
          <p:nvPr/>
        </p:nvSpPr>
        <p:spPr>
          <a:xfrm>
            <a:off x="0" y="5669280"/>
            <a:ext cx="12161520" cy="1188720"/>
          </a:xfrm>
          <a:prstGeom prst="rect">
            <a:avLst/>
          </a:prstGeom>
          <a:solidFill>
            <a:srgbClr val="020610">
              <a:alpha val="70000"/>
            </a:srgbClr>
          </a:solidFill>
          <a:ln w="12700">
            <a:solidFill>
              <a:srgbClr val="FFFFFF">
                <a:alpha val="0"/>
              </a:srgbClr>
            </a:solidFill>
            <a:prstDash val="solid"/>
          </a:ln>
        </p:spPr>
        <p:txBody>
          <a:bodyPr/>
          <a:lstStyle/>
          <a:p>
            <a:endParaRPr lang="en-GB"/>
          </a:p>
        </p:txBody>
      </p:sp>
      <p:sp>
        <p:nvSpPr>
          <p:cNvPr id="25" name="Text 22"/>
          <p:cNvSpPr/>
          <p:nvPr/>
        </p:nvSpPr>
        <p:spPr>
          <a:xfrm>
            <a:off x="11704320" y="6492240"/>
            <a:ext cx="365760" cy="274320"/>
          </a:xfrm>
          <a:prstGeom prst="rect">
            <a:avLst/>
          </a:prstGeom>
          <a:noFill/>
          <a:ln/>
        </p:spPr>
        <p:txBody>
          <a:bodyPr wrap="square" rtlCol="0" anchor="ctr"/>
          <a:lstStyle/>
          <a:p>
            <a:pPr marL="0" indent="0" algn="r">
              <a:buNone/>
            </a:pPr>
            <a:r>
              <a:rPr lang="en-US" sz="800" dirty="0">
                <a:solidFill>
                  <a:srgbClr val="B8C8D8"/>
                </a:solidFill>
                <a:latin typeface="Gill Sans MT" pitchFamily="34" charset="0"/>
                <a:ea typeface="Gill Sans MT" pitchFamily="34" charset="-122"/>
                <a:cs typeface="Gill Sans MT" pitchFamily="34" charset="-120"/>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61520" cy="6858000"/>
          </a:xfrm>
          <a:prstGeom prst="rect">
            <a:avLst/>
          </a:prstGeom>
        </p:spPr>
      </p:pic>
      <p:sp>
        <p:nvSpPr>
          <p:cNvPr id="3" name="Shape 0"/>
          <p:cNvSpPr/>
          <p:nvPr/>
        </p:nvSpPr>
        <p:spPr>
          <a:xfrm>
            <a:off x="0" y="0"/>
            <a:ext cx="12161520" cy="1188720"/>
          </a:xfrm>
          <a:prstGeom prst="roundRect">
            <a:avLst>
              <a:gd name="adj" fmla="val 9231"/>
            </a:avLst>
          </a:prstGeom>
          <a:solidFill>
            <a:srgbClr val="050810">
              <a:alpha val="45000"/>
            </a:srgbClr>
          </a:solidFill>
          <a:ln w="3810">
            <a:solidFill>
              <a:srgbClr val="FFFFFF">
                <a:alpha val="12000"/>
              </a:srgbClr>
            </a:solidFill>
            <a:prstDash val="solid"/>
          </a:ln>
          <a:effectLst>
            <a:outerShdw blurRad="152400" dist="50800" dir="2700000" algn="bl" rotWithShape="0">
              <a:srgbClr val="000000">
                <a:alpha val="50000"/>
              </a:srgbClr>
            </a:outerShdw>
          </a:effectLst>
        </p:spPr>
        <p:txBody>
          <a:bodyPr/>
          <a:lstStyle/>
          <a:p>
            <a:endParaRPr lang="en-GB"/>
          </a:p>
        </p:txBody>
      </p:sp>
      <p:sp>
        <p:nvSpPr>
          <p:cNvPr id="4" name="Shape 1"/>
          <p:cNvSpPr/>
          <p:nvPr/>
        </p:nvSpPr>
        <p:spPr>
          <a:xfrm>
            <a:off x="365760" y="137160"/>
            <a:ext cx="2194560" cy="292608"/>
          </a:xfrm>
          <a:prstGeom prst="roundRect">
            <a:avLst>
              <a:gd name="adj" fmla="val 18750"/>
            </a:avLst>
          </a:prstGeom>
          <a:solidFill>
            <a:srgbClr val="000000">
              <a:alpha val="50000"/>
            </a:srgbClr>
          </a:solidFill>
          <a:ln w="19050">
            <a:solidFill>
              <a:srgbClr val="4ECDC4"/>
            </a:solidFill>
            <a:prstDash val="solid"/>
          </a:ln>
        </p:spPr>
        <p:txBody>
          <a:bodyPr/>
          <a:lstStyle/>
          <a:p>
            <a:endParaRPr lang="en-GB"/>
          </a:p>
        </p:txBody>
      </p:sp>
      <p:sp>
        <p:nvSpPr>
          <p:cNvPr id="5" name="Text 2"/>
          <p:cNvSpPr/>
          <p:nvPr/>
        </p:nvSpPr>
        <p:spPr>
          <a:xfrm>
            <a:off x="365760" y="137160"/>
            <a:ext cx="2194560" cy="292608"/>
          </a:xfrm>
          <a:prstGeom prst="rect">
            <a:avLst/>
          </a:prstGeom>
          <a:noFill/>
          <a:ln/>
        </p:spPr>
        <p:txBody>
          <a:bodyPr wrap="square" rtlCol="0" anchor="ctr"/>
          <a:lstStyle/>
          <a:p>
            <a:pPr marL="0" indent="0" algn="ctr">
              <a:buNone/>
            </a:pPr>
            <a:r>
              <a:rPr lang="en-US" sz="850" b="1" kern="0" spc="200" dirty="0">
                <a:solidFill>
                  <a:srgbClr val="4ECDC4"/>
                </a:solidFill>
                <a:latin typeface="Gill Sans MT" pitchFamily="34" charset="0"/>
                <a:ea typeface="Gill Sans MT" pitchFamily="34" charset="-122"/>
                <a:cs typeface="Gill Sans MT" pitchFamily="34" charset="-120"/>
              </a:rPr>
              <a:t>MOTIVATION</a:t>
            </a:r>
            <a:endParaRPr lang="en-US" sz="850" dirty="0"/>
          </a:p>
        </p:txBody>
      </p:sp>
      <p:sp>
        <p:nvSpPr>
          <p:cNvPr id="6" name="Text 3"/>
          <p:cNvSpPr/>
          <p:nvPr/>
        </p:nvSpPr>
        <p:spPr>
          <a:xfrm>
            <a:off x="365760" y="347472"/>
            <a:ext cx="9144000" cy="685800"/>
          </a:xfrm>
          <a:prstGeom prst="rect">
            <a:avLst/>
          </a:prstGeom>
          <a:noFill/>
          <a:ln/>
        </p:spPr>
        <p:txBody>
          <a:bodyPr wrap="square" lIns="50800" tIns="50800" rIns="50800" bIns="50800" rtlCol="0" anchor="ctr"/>
          <a:lstStyle/>
          <a:p>
            <a:pPr marL="0" indent="0" algn="l">
              <a:buNone/>
            </a:pPr>
            <a:r>
              <a:rPr lang="en-US" sz="2800" b="1" dirty="0">
                <a:solidFill>
                  <a:srgbClr val="FFFFFF"/>
                </a:solidFill>
                <a:latin typeface="Gill Sans MT" pitchFamily="34" charset="0"/>
                <a:ea typeface="Gill Sans MT" pitchFamily="34" charset="-122"/>
                <a:cs typeface="Gill Sans MT" pitchFamily="34" charset="-120"/>
              </a:rPr>
              <a:t>The Problem: A Critical Gap</a:t>
            </a:r>
            <a:endParaRPr lang="en-US" sz="2800" dirty="0"/>
          </a:p>
        </p:txBody>
      </p:sp>
      <p:sp>
        <p:nvSpPr>
          <p:cNvPr id="7" name="Shape 4"/>
          <p:cNvSpPr/>
          <p:nvPr/>
        </p:nvSpPr>
        <p:spPr>
          <a:xfrm>
            <a:off x="365760" y="1115568"/>
            <a:ext cx="11430000" cy="0"/>
          </a:xfrm>
          <a:prstGeom prst="line">
            <a:avLst/>
          </a:prstGeom>
          <a:noFill/>
          <a:ln w="19050">
            <a:solidFill>
              <a:srgbClr val="4ECDC4"/>
            </a:solidFill>
            <a:prstDash val="solid"/>
          </a:ln>
        </p:spPr>
        <p:txBody>
          <a:bodyPr/>
          <a:lstStyle/>
          <a:p>
            <a:endParaRPr lang="en-GB"/>
          </a:p>
        </p:txBody>
      </p:sp>
      <p:sp>
        <p:nvSpPr>
          <p:cNvPr id="8" name="Shape 5"/>
          <p:cNvSpPr/>
          <p:nvPr/>
        </p:nvSpPr>
        <p:spPr>
          <a:xfrm>
            <a:off x="365760" y="1261872"/>
            <a:ext cx="3749040" cy="3977640"/>
          </a:xfrm>
          <a:prstGeom prst="roundRect">
            <a:avLst>
              <a:gd name="adj" fmla="val 3415"/>
            </a:avLst>
          </a:prstGeom>
          <a:solidFill>
            <a:srgbClr val="040C18">
              <a:alpha val="58000"/>
            </a:srgbClr>
          </a:solidFill>
          <a:ln w="10160">
            <a:solidFill>
              <a:srgbClr val="6DAEDB">
                <a:alpha val="6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9" name="Shape 6"/>
          <p:cNvSpPr/>
          <p:nvPr/>
        </p:nvSpPr>
        <p:spPr>
          <a:xfrm>
            <a:off x="530352" y="1261872"/>
            <a:ext cx="0" cy="3977640"/>
          </a:xfrm>
          <a:prstGeom prst="line">
            <a:avLst/>
          </a:prstGeom>
          <a:noFill/>
          <a:ln w="38100">
            <a:solidFill>
              <a:srgbClr val="6DAEDB"/>
            </a:solidFill>
            <a:prstDash val="solid"/>
          </a:ln>
        </p:spPr>
        <p:txBody>
          <a:bodyPr/>
          <a:lstStyle/>
          <a:p>
            <a:endParaRPr lang="en-GB"/>
          </a:p>
        </p:txBody>
      </p:sp>
      <p:sp>
        <p:nvSpPr>
          <p:cNvPr id="10" name="Text 7"/>
          <p:cNvSpPr/>
          <p:nvPr/>
        </p:nvSpPr>
        <p:spPr>
          <a:xfrm>
            <a:off x="713232" y="1417320"/>
            <a:ext cx="3291840" cy="822960"/>
          </a:xfrm>
          <a:prstGeom prst="rect">
            <a:avLst/>
          </a:prstGeom>
          <a:noFill/>
          <a:ln/>
        </p:spPr>
        <p:txBody>
          <a:bodyPr wrap="square" lIns="50800" tIns="50800" rIns="50800" bIns="50800" rtlCol="0" anchor="ctr"/>
          <a:lstStyle/>
          <a:p>
            <a:pPr marL="0" indent="0" algn="l">
              <a:buNone/>
            </a:pPr>
            <a:r>
              <a:rPr lang="en-US" sz="1450" b="1" dirty="0">
                <a:solidFill>
                  <a:srgbClr val="6DAEDB"/>
                </a:solidFill>
                <a:latin typeface="Gill Sans MT" pitchFamily="34" charset="0"/>
                <a:ea typeface="Gill Sans MT" pitchFamily="34" charset="-122"/>
                <a:cs typeface="Gill Sans MT" pitchFamily="34" charset="-120"/>
              </a:rPr>
              <a:t>AI is Transforming</a:t>
            </a:r>
            <a:endParaRPr lang="en-US" sz="1450" dirty="0"/>
          </a:p>
          <a:p>
            <a:pPr marL="0" indent="0" algn="l">
              <a:buNone/>
            </a:pPr>
            <a:r>
              <a:rPr lang="en-US" sz="1450" b="1" dirty="0">
                <a:solidFill>
                  <a:srgbClr val="6DAEDB"/>
                </a:solidFill>
                <a:latin typeface="Gill Sans MT" pitchFamily="34" charset="0"/>
                <a:ea typeface="Gill Sans MT" pitchFamily="34" charset="-122"/>
                <a:cs typeface="Gill Sans MT" pitchFamily="34" charset="-120"/>
              </a:rPr>
              <a:t>Global Supply Chains</a:t>
            </a:r>
            <a:endParaRPr lang="en-US" sz="1450" dirty="0"/>
          </a:p>
        </p:txBody>
      </p:sp>
      <p:sp>
        <p:nvSpPr>
          <p:cNvPr id="11" name="Shape 8"/>
          <p:cNvSpPr/>
          <p:nvPr/>
        </p:nvSpPr>
        <p:spPr>
          <a:xfrm>
            <a:off x="713232" y="2304288"/>
            <a:ext cx="3200400" cy="0"/>
          </a:xfrm>
          <a:prstGeom prst="line">
            <a:avLst/>
          </a:prstGeom>
          <a:noFill/>
          <a:ln w="19050">
            <a:solidFill>
              <a:srgbClr val="6DAEDB"/>
            </a:solidFill>
            <a:prstDash val="solid"/>
          </a:ln>
        </p:spPr>
        <p:txBody>
          <a:bodyPr/>
          <a:lstStyle/>
          <a:p>
            <a:endParaRPr lang="en-GB"/>
          </a:p>
        </p:txBody>
      </p:sp>
      <p:sp>
        <p:nvSpPr>
          <p:cNvPr id="12" name="Text 9"/>
          <p:cNvSpPr/>
          <p:nvPr/>
        </p:nvSpPr>
        <p:spPr>
          <a:xfrm>
            <a:off x="713232" y="2423160"/>
            <a:ext cx="3310128" cy="2651760"/>
          </a:xfrm>
          <a:prstGeom prst="rect">
            <a:avLst/>
          </a:prstGeom>
          <a:noFill/>
          <a:ln/>
        </p:spPr>
        <p:txBody>
          <a:bodyPr wrap="square" lIns="50800" tIns="50800" rIns="50800" bIns="50800" rtlCol="0" anchor="t"/>
          <a:lstStyle/>
          <a:p>
            <a:pPr marL="0" indent="0" algn="l">
              <a:buNone/>
            </a:pPr>
            <a:r>
              <a:rPr lang="en-US" sz="1150" dirty="0">
                <a:solidFill>
                  <a:srgbClr val="F5F5F0"/>
                </a:solidFill>
                <a:latin typeface="Gill Sans MT" pitchFamily="34" charset="0"/>
                <a:ea typeface="Gill Sans MT" pitchFamily="34" charset="-122"/>
                <a:cs typeface="Gill Sans MT" pitchFamily="34" charset="-120"/>
              </a:rPr>
              <a:t>Predictive analytics, ML, and intelligent automation are reshaping logistics. Yet the benefits are not automatic — returns depend on context (Brynjolfsson &amp; Syverson, 2021)</a:t>
            </a:r>
            <a:endParaRPr lang="en-US" sz="1150" dirty="0"/>
          </a:p>
        </p:txBody>
      </p:sp>
      <p:sp>
        <p:nvSpPr>
          <p:cNvPr id="13" name="Shape 10"/>
          <p:cNvSpPr/>
          <p:nvPr/>
        </p:nvSpPr>
        <p:spPr>
          <a:xfrm>
            <a:off x="4297680" y="1261872"/>
            <a:ext cx="3749040" cy="3977640"/>
          </a:xfrm>
          <a:prstGeom prst="roundRect">
            <a:avLst>
              <a:gd name="adj" fmla="val 3415"/>
            </a:avLst>
          </a:prstGeom>
          <a:solidFill>
            <a:srgbClr val="040C18">
              <a:alpha val="58000"/>
            </a:srgbClr>
          </a:solidFill>
          <a:ln w="10160">
            <a:solidFill>
              <a:srgbClr val="4ECDC4">
                <a:alpha val="6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4" name="Shape 11"/>
          <p:cNvSpPr/>
          <p:nvPr/>
        </p:nvSpPr>
        <p:spPr>
          <a:xfrm>
            <a:off x="4462272" y="1261872"/>
            <a:ext cx="0" cy="3977640"/>
          </a:xfrm>
          <a:prstGeom prst="line">
            <a:avLst/>
          </a:prstGeom>
          <a:noFill/>
          <a:ln w="38100">
            <a:solidFill>
              <a:srgbClr val="4ECDC4"/>
            </a:solidFill>
            <a:prstDash val="solid"/>
          </a:ln>
        </p:spPr>
        <p:txBody>
          <a:bodyPr/>
          <a:lstStyle/>
          <a:p>
            <a:endParaRPr lang="en-GB"/>
          </a:p>
        </p:txBody>
      </p:sp>
      <p:sp>
        <p:nvSpPr>
          <p:cNvPr id="15" name="Text 12"/>
          <p:cNvSpPr/>
          <p:nvPr/>
        </p:nvSpPr>
        <p:spPr>
          <a:xfrm>
            <a:off x="4645152" y="1417320"/>
            <a:ext cx="3291840" cy="822960"/>
          </a:xfrm>
          <a:prstGeom prst="rect">
            <a:avLst/>
          </a:prstGeom>
          <a:noFill/>
          <a:ln/>
        </p:spPr>
        <p:txBody>
          <a:bodyPr wrap="square" lIns="50800" tIns="50800" rIns="50800" bIns="50800" rtlCol="0" anchor="ctr"/>
          <a:lstStyle/>
          <a:p>
            <a:pPr marL="0" indent="0" algn="l">
              <a:buNone/>
            </a:pPr>
            <a:r>
              <a:rPr lang="en-US" sz="1450" b="1" dirty="0">
                <a:solidFill>
                  <a:srgbClr val="4ECDC4"/>
                </a:solidFill>
                <a:latin typeface="Gill Sans MT" pitchFamily="34" charset="0"/>
                <a:ea typeface="Gill Sans MT" pitchFamily="34" charset="-122"/>
                <a:cs typeface="Gill Sans MT" pitchFamily="34" charset="-120"/>
              </a:rPr>
              <a:t>The Empirical Gap</a:t>
            </a:r>
            <a:endParaRPr lang="en-US" sz="1450" dirty="0"/>
          </a:p>
          <a:p>
            <a:pPr marL="0" indent="0" algn="l">
              <a:buNone/>
            </a:pPr>
            <a:r>
              <a:rPr lang="en-US" sz="1450" b="1" dirty="0">
                <a:solidFill>
                  <a:srgbClr val="4ECDC4"/>
                </a:solidFill>
                <a:latin typeface="Gill Sans MT" pitchFamily="34" charset="0"/>
                <a:ea typeface="Gill Sans MT" pitchFamily="34" charset="-122"/>
                <a:cs typeface="Gill Sans MT" pitchFamily="34" charset="-120"/>
              </a:rPr>
              <a:t>Is Real</a:t>
            </a:r>
            <a:endParaRPr lang="en-US" sz="1450" dirty="0"/>
          </a:p>
        </p:txBody>
      </p:sp>
      <p:sp>
        <p:nvSpPr>
          <p:cNvPr id="16" name="Shape 13"/>
          <p:cNvSpPr/>
          <p:nvPr/>
        </p:nvSpPr>
        <p:spPr>
          <a:xfrm>
            <a:off x="4645152" y="2304288"/>
            <a:ext cx="3200400" cy="0"/>
          </a:xfrm>
          <a:prstGeom prst="line">
            <a:avLst/>
          </a:prstGeom>
          <a:noFill/>
          <a:ln w="19050">
            <a:solidFill>
              <a:srgbClr val="4ECDC4"/>
            </a:solidFill>
            <a:prstDash val="solid"/>
          </a:ln>
        </p:spPr>
        <p:txBody>
          <a:bodyPr/>
          <a:lstStyle/>
          <a:p>
            <a:endParaRPr lang="en-GB"/>
          </a:p>
        </p:txBody>
      </p:sp>
      <p:sp>
        <p:nvSpPr>
          <p:cNvPr id="17" name="Text 14"/>
          <p:cNvSpPr/>
          <p:nvPr/>
        </p:nvSpPr>
        <p:spPr>
          <a:xfrm>
            <a:off x="4645152" y="2423160"/>
            <a:ext cx="3310128" cy="2651760"/>
          </a:xfrm>
          <a:prstGeom prst="rect">
            <a:avLst/>
          </a:prstGeom>
          <a:noFill/>
          <a:ln/>
        </p:spPr>
        <p:txBody>
          <a:bodyPr wrap="square" lIns="50800" tIns="50800" rIns="50800" bIns="50800" rtlCol="0" anchor="t"/>
          <a:lstStyle/>
          <a:p>
            <a:pPr marL="0" indent="0" algn="l">
              <a:buNone/>
            </a:pPr>
            <a:r>
              <a:rPr lang="en-US" sz="1150" dirty="0">
                <a:solidFill>
                  <a:srgbClr val="F5F5F0"/>
                </a:solidFill>
                <a:latin typeface="Gill Sans MT" pitchFamily="34" charset="0"/>
                <a:ea typeface="Gill Sans MT" pitchFamily="34" charset="-122"/>
                <a:cs typeface="Gill Sans MT" pitchFamily="34" charset="-120"/>
              </a:rPr>
              <a:t>Most research is firm-level or sector-specific. Cross-national macro-level evidence on AI → SC performance remains scarce (Queiroz et al., 2022)</a:t>
            </a:r>
            <a:endParaRPr lang="en-US" sz="1150" dirty="0"/>
          </a:p>
        </p:txBody>
      </p:sp>
      <p:sp>
        <p:nvSpPr>
          <p:cNvPr id="18" name="Shape 15"/>
          <p:cNvSpPr/>
          <p:nvPr/>
        </p:nvSpPr>
        <p:spPr>
          <a:xfrm>
            <a:off x="8229600" y="1261872"/>
            <a:ext cx="3749040" cy="3977640"/>
          </a:xfrm>
          <a:prstGeom prst="roundRect">
            <a:avLst>
              <a:gd name="adj" fmla="val 3415"/>
            </a:avLst>
          </a:prstGeom>
          <a:solidFill>
            <a:srgbClr val="040C18">
              <a:alpha val="58000"/>
            </a:srgbClr>
          </a:solidFill>
          <a:ln w="10160">
            <a:solidFill>
              <a:srgbClr val="F0C040">
                <a:alpha val="6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9" name="Shape 16"/>
          <p:cNvSpPr/>
          <p:nvPr/>
        </p:nvSpPr>
        <p:spPr>
          <a:xfrm>
            <a:off x="8394192" y="1261872"/>
            <a:ext cx="0" cy="3977640"/>
          </a:xfrm>
          <a:prstGeom prst="line">
            <a:avLst/>
          </a:prstGeom>
          <a:noFill/>
          <a:ln w="38100">
            <a:solidFill>
              <a:srgbClr val="F0C040"/>
            </a:solidFill>
            <a:prstDash val="solid"/>
          </a:ln>
        </p:spPr>
        <p:txBody>
          <a:bodyPr/>
          <a:lstStyle/>
          <a:p>
            <a:endParaRPr lang="en-GB"/>
          </a:p>
        </p:txBody>
      </p:sp>
      <p:sp>
        <p:nvSpPr>
          <p:cNvPr id="20" name="Text 17"/>
          <p:cNvSpPr/>
          <p:nvPr/>
        </p:nvSpPr>
        <p:spPr>
          <a:xfrm>
            <a:off x="8577072" y="1417320"/>
            <a:ext cx="3291840" cy="822960"/>
          </a:xfrm>
          <a:prstGeom prst="rect">
            <a:avLst/>
          </a:prstGeom>
          <a:noFill/>
          <a:ln/>
        </p:spPr>
        <p:txBody>
          <a:bodyPr wrap="square" lIns="50800" tIns="50800" rIns="50800" bIns="50800" rtlCol="0" anchor="ctr"/>
          <a:lstStyle/>
          <a:p>
            <a:pPr marL="0" indent="0" algn="l">
              <a:buNone/>
            </a:pPr>
            <a:r>
              <a:rPr lang="en-US" sz="1450" b="1" dirty="0">
                <a:solidFill>
                  <a:srgbClr val="F0C040"/>
                </a:solidFill>
                <a:latin typeface="Gill Sans MT" pitchFamily="34" charset="0"/>
                <a:ea typeface="Gill Sans MT" pitchFamily="34" charset="-122"/>
                <a:cs typeface="Gill Sans MT" pitchFamily="34" charset="-120"/>
              </a:rPr>
              <a:t>Institutions Matter —</a:t>
            </a:r>
            <a:endParaRPr lang="en-US" sz="1450" dirty="0"/>
          </a:p>
          <a:p>
            <a:pPr marL="0" indent="0" algn="l">
              <a:buNone/>
            </a:pPr>
            <a:r>
              <a:rPr lang="en-US" sz="1450" b="1" dirty="0">
                <a:solidFill>
                  <a:srgbClr val="F0C040"/>
                </a:solidFill>
                <a:latin typeface="Gill Sans MT" pitchFamily="34" charset="0"/>
                <a:ea typeface="Gill Sans MT" pitchFamily="34" charset="-122"/>
                <a:cs typeface="Gill Sans MT" pitchFamily="34" charset="-120"/>
              </a:rPr>
              <a:t>But How?</a:t>
            </a:r>
            <a:endParaRPr lang="en-US" sz="1450" dirty="0"/>
          </a:p>
        </p:txBody>
      </p:sp>
      <p:sp>
        <p:nvSpPr>
          <p:cNvPr id="21" name="Shape 18"/>
          <p:cNvSpPr/>
          <p:nvPr/>
        </p:nvSpPr>
        <p:spPr>
          <a:xfrm>
            <a:off x="8577072" y="2304288"/>
            <a:ext cx="3200400" cy="0"/>
          </a:xfrm>
          <a:prstGeom prst="line">
            <a:avLst/>
          </a:prstGeom>
          <a:noFill/>
          <a:ln w="19050">
            <a:solidFill>
              <a:srgbClr val="F0C040"/>
            </a:solidFill>
            <a:prstDash val="solid"/>
          </a:ln>
        </p:spPr>
        <p:txBody>
          <a:bodyPr/>
          <a:lstStyle/>
          <a:p>
            <a:endParaRPr lang="en-GB"/>
          </a:p>
        </p:txBody>
      </p:sp>
      <p:sp>
        <p:nvSpPr>
          <p:cNvPr id="22" name="Text 19"/>
          <p:cNvSpPr/>
          <p:nvPr/>
        </p:nvSpPr>
        <p:spPr>
          <a:xfrm>
            <a:off x="8577072" y="2423160"/>
            <a:ext cx="3310128" cy="2651760"/>
          </a:xfrm>
          <a:prstGeom prst="rect">
            <a:avLst/>
          </a:prstGeom>
          <a:noFill/>
          <a:ln/>
        </p:spPr>
        <p:txBody>
          <a:bodyPr wrap="square" lIns="50800" tIns="50800" rIns="50800" bIns="50800" rtlCol="0" anchor="t"/>
          <a:lstStyle/>
          <a:p>
            <a:pPr marL="0" indent="0" algn="l">
              <a:buNone/>
            </a:pPr>
            <a:r>
              <a:rPr lang="en-US" sz="1150" dirty="0">
                <a:solidFill>
                  <a:srgbClr val="F5F5F0"/>
                </a:solidFill>
                <a:latin typeface="Gill Sans MT" pitchFamily="34" charset="0"/>
                <a:ea typeface="Gill Sans MT" pitchFamily="34" charset="-122"/>
                <a:cs typeface="Gill Sans MT" pitchFamily="34" charset="-120"/>
              </a:rPr>
              <a:t>Governance quality shapes technology diffusion. The conditioning role of institutions is theorised but rarely tested quantitatively at this scale</a:t>
            </a:r>
            <a:endParaRPr lang="en-US" sz="1150" dirty="0"/>
          </a:p>
        </p:txBody>
      </p:sp>
      <p:sp>
        <p:nvSpPr>
          <p:cNvPr id="23" name="Shape 20"/>
          <p:cNvSpPr/>
          <p:nvPr/>
        </p:nvSpPr>
        <p:spPr>
          <a:xfrm>
            <a:off x="365760" y="5394960"/>
            <a:ext cx="11430000" cy="1005840"/>
          </a:xfrm>
          <a:prstGeom prst="roundRect">
            <a:avLst>
              <a:gd name="adj" fmla="val 12727"/>
            </a:avLst>
          </a:prstGeom>
          <a:solidFill>
            <a:srgbClr val="03080E">
              <a:alpha val="60000"/>
            </a:srgbClr>
          </a:solidFill>
          <a:ln w="15240">
            <a:solidFill>
              <a:srgbClr val="F0C040">
                <a:alpha val="8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4" name="Text 21"/>
          <p:cNvSpPr/>
          <p:nvPr/>
        </p:nvSpPr>
        <p:spPr>
          <a:xfrm>
            <a:off x="548640" y="5413248"/>
            <a:ext cx="11064240" cy="969264"/>
          </a:xfrm>
          <a:prstGeom prst="rect">
            <a:avLst/>
          </a:prstGeom>
          <a:noFill/>
          <a:ln/>
        </p:spPr>
        <p:txBody>
          <a:bodyPr wrap="square" lIns="50800" tIns="50800" rIns="50800" bIns="50800" rtlCol="0" anchor="ctr"/>
          <a:lstStyle/>
          <a:p>
            <a:pPr marL="0" indent="0" algn="ctr">
              <a:buNone/>
            </a:pPr>
            <a:r>
              <a:rPr lang="en-US" sz="1350" i="1" dirty="0">
                <a:solidFill>
                  <a:srgbClr val="F0C040"/>
                </a:solidFill>
                <a:latin typeface="Gill Sans MT" pitchFamily="34" charset="0"/>
                <a:ea typeface="Gill Sans MT" pitchFamily="34" charset="-122"/>
                <a:cs typeface="Gill Sans MT" pitchFamily="34" charset="-120"/>
              </a:rPr>
              <a:t>❝  Does AI readiness inherently improve supply chain performance — or are its effects conditional on institutional quality?  ❞</a:t>
            </a:r>
            <a:endParaRPr lang="en-US" sz="1350" dirty="0"/>
          </a:p>
        </p:txBody>
      </p:sp>
      <p:sp>
        <p:nvSpPr>
          <p:cNvPr id="25" name="Text 22"/>
          <p:cNvSpPr/>
          <p:nvPr/>
        </p:nvSpPr>
        <p:spPr>
          <a:xfrm>
            <a:off x="11704320" y="6492240"/>
            <a:ext cx="365760" cy="274320"/>
          </a:xfrm>
          <a:prstGeom prst="rect">
            <a:avLst/>
          </a:prstGeom>
          <a:noFill/>
          <a:ln/>
        </p:spPr>
        <p:txBody>
          <a:bodyPr wrap="square" rtlCol="0" anchor="ctr"/>
          <a:lstStyle/>
          <a:p>
            <a:pPr marL="0" indent="0" algn="r">
              <a:buNone/>
            </a:pPr>
            <a:r>
              <a:rPr lang="en-US" sz="800" dirty="0">
                <a:solidFill>
                  <a:srgbClr val="B8C8D8"/>
                </a:solidFill>
                <a:latin typeface="Gill Sans MT" pitchFamily="34" charset="0"/>
                <a:ea typeface="Gill Sans MT" pitchFamily="34" charset="-122"/>
                <a:cs typeface="Gill Sans MT"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61520" cy="6858000"/>
          </a:xfrm>
          <a:prstGeom prst="rect">
            <a:avLst/>
          </a:prstGeom>
        </p:spPr>
      </p:pic>
      <p:sp>
        <p:nvSpPr>
          <p:cNvPr id="3" name="Shape 0"/>
          <p:cNvSpPr/>
          <p:nvPr/>
        </p:nvSpPr>
        <p:spPr>
          <a:xfrm>
            <a:off x="0" y="0"/>
            <a:ext cx="12161520" cy="1188720"/>
          </a:xfrm>
          <a:prstGeom prst="roundRect">
            <a:avLst>
              <a:gd name="adj" fmla="val 9231"/>
            </a:avLst>
          </a:prstGeom>
          <a:solidFill>
            <a:srgbClr val="050810">
              <a:alpha val="48000"/>
            </a:srgbClr>
          </a:solidFill>
          <a:ln w="3810">
            <a:solidFill>
              <a:srgbClr val="FFFFFF">
                <a:alpha val="12000"/>
              </a:srgbClr>
            </a:solidFill>
            <a:prstDash val="solid"/>
          </a:ln>
          <a:effectLst>
            <a:outerShdw blurRad="152400" dist="50800" dir="2700000" algn="bl" rotWithShape="0">
              <a:srgbClr val="000000">
                <a:alpha val="50000"/>
              </a:srgbClr>
            </a:outerShdw>
          </a:effectLst>
        </p:spPr>
        <p:txBody>
          <a:bodyPr/>
          <a:lstStyle/>
          <a:p>
            <a:endParaRPr lang="en-GB"/>
          </a:p>
        </p:txBody>
      </p:sp>
      <p:sp>
        <p:nvSpPr>
          <p:cNvPr id="4" name="Shape 1"/>
          <p:cNvSpPr/>
          <p:nvPr/>
        </p:nvSpPr>
        <p:spPr>
          <a:xfrm>
            <a:off x="365760" y="137160"/>
            <a:ext cx="2194560" cy="292608"/>
          </a:xfrm>
          <a:prstGeom prst="roundRect">
            <a:avLst>
              <a:gd name="adj" fmla="val 18750"/>
            </a:avLst>
          </a:prstGeom>
          <a:solidFill>
            <a:srgbClr val="000000">
              <a:alpha val="50000"/>
            </a:srgbClr>
          </a:solidFill>
          <a:ln w="19050">
            <a:solidFill>
              <a:srgbClr val="C9A0E8"/>
            </a:solidFill>
            <a:prstDash val="solid"/>
          </a:ln>
        </p:spPr>
        <p:txBody>
          <a:bodyPr/>
          <a:lstStyle/>
          <a:p>
            <a:endParaRPr lang="en-GB"/>
          </a:p>
        </p:txBody>
      </p:sp>
      <p:sp>
        <p:nvSpPr>
          <p:cNvPr id="5" name="Text 2"/>
          <p:cNvSpPr/>
          <p:nvPr/>
        </p:nvSpPr>
        <p:spPr>
          <a:xfrm>
            <a:off x="365760" y="137160"/>
            <a:ext cx="2194560" cy="292608"/>
          </a:xfrm>
          <a:prstGeom prst="rect">
            <a:avLst/>
          </a:prstGeom>
          <a:noFill/>
          <a:ln/>
        </p:spPr>
        <p:txBody>
          <a:bodyPr wrap="square" rtlCol="0" anchor="ctr"/>
          <a:lstStyle/>
          <a:p>
            <a:pPr marL="0" indent="0" algn="ctr">
              <a:buNone/>
            </a:pPr>
            <a:r>
              <a:rPr lang="en-US" sz="850" b="1" kern="0" spc="200" dirty="0">
                <a:solidFill>
                  <a:srgbClr val="C9A0E8"/>
                </a:solidFill>
                <a:latin typeface="Gill Sans MT" pitchFamily="34" charset="0"/>
                <a:ea typeface="Gill Sans MT" pitchFamily="34" charset="-122"/>
                <a:cs typeface="Gill Sans MT" pitchFamily="34" charset="-120"/>
              </a:rPr>
              <a:t>RESEARCH AIM &amp; QUESTIONS</a:t>
            </a:r>
            <a:endParaRPr lang="en-US" sz="850" dirty="0"/>
          </a:p>
        </p:txBody>
      </p:sp>
      <p:sp>
        <p:nvSpPr>
          <p:cNvPr id="6" name="Text 3"/>
          <p:cNvSpPr/>
          <p:nvPr/>
        </p:nvSpPr>
        <p:spPr>
          <a:xfrm>
            <a:off x="365760" y="347472"/>
            <a:ext cx="10058400" cy="685800"/>
          </a:xfrm>
          <a:prstGeom prst="rect">
            <a:avLst/>
          </a:prstGeom>
          <a:noFill/>
          <a:ln/>
        </p:spPr>
        <p:txBody>
          <a:bodyPr wrap="square" lIns="50800" tIns="50800" rIns="50800" bIns="50800" rtlCol="0" anchor="ctr"/>
          <a:lstStyle/>
          <a:p>
            <a:pPr marL="0" indent="0" algn="l">
              <a:buNone/>
            </a:pPr>
            <a:r>
              <a:rPr lang="en-US" sz="2800" b="1" dirty="0">
                <a:solidFill>
                  <a:srgbClr val="FFFFFF"/>
                </a:solidFill>
                <a:latin typeface="Gill Sans MT" pitchFamily="34" charset="0"/>
                <a:ea typeface="Gill Sans MT" pitchFamily="34" charset="-122"/>
                <a:cs typeface="Gill Sans MT" pitchFamily="34" charset="-120"/>
              </a:rPr>
              <a:t>What We Set Out to Answer</a:t>
            </a:r>
            <a:endParaRPr lang="en-US" sz="2800" dirty="0"/>
          </a:p>
        </p:txBody>
      </p:sp>
      <p:sp>
        <p:nvSpPr>
          <p:cNvPr id="7" name="Shape 4"/>
          <p:cNvSpPr/>
          <p:nvPr/>
        </p:nvSpPr>
        <p:spPr>
          <a:xfrm>
            <a:off x="365760" y="1115568"/>
            <a:ext cx="11430000" cy="0"/>
          </a:xfrm>
          <a:prstGeom prst="line">
            <a:avLst/>
          </a:prstGeom>
          <a:noFill/>
          <a:ln w="19050">
            <a:solidFill>
              <a:srgbClr val="C9A0E8"/>
            </a:solidFill>
            <a:prstDash val="solid"/>
          </a:ln>
        </p:spPr>
        <p:txBody>
          <a:bodyPr/>
          <a:lstStyle/>
          <a:p>
            <a:endParaRPr lang="en-GB"/>
          </a:p>
        </p:txBody>
      </p:sp>
      <p:sp>
        <p:nvSpPr>
          <p:cNvPr id="8" name="Shape 5"/>
          <p:cNvSpPr/>
          <p:nvPr/>
        </p:nvSpPr>
        <p:spPr>
          <a:xfrm>
            <a:off x="365760" y="1261872"/>
            <a:ext cx="11430000" cy="868680"/>
          </a:xfrm>
          <a:prstGeom prst="roundRect">
            <a:avLst>
              <a:gd name="adj" fmla="val 14737"/>
            </a:avLst>
          </a:prstGeom>
          <a:solidFill>
            <a:srgbClr val="1A0530">
              <a:alpha val="58000"/>
            </a:srgbClr>
          </a:solidFill>
          <a:ln w="10160">
            <a:solidFill>
              <a:srgbClr val="C9A0E8">
                <a:alpha val="6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9" name="Text 6"/>
          <p:cNvSpPr/>
          <p:nvPr/>
        </p:nvSpPr>
        <p:spPr>
          <a:xfrm>
            <a:off x="548640" y="1298448"/>
            <a:ext cx="822960" cy="777240"/>
          </a:xfrm>
          <a:prstGeom prst="rect">
            <a:avLst/>
          </a:prstGeom>
          <a:noFill/>
          <a:ln/>
        </p:spPr>
        <p:txBody>
          <a:bodyPr wrap="square" lIns="50800" tIns="50800" rIns="50800" bIns="50800" rtlCol="0" anchor="ctr"/>
          <a:lstStyle/>
          <a:p>
            <a:pPr marL="0" indent="0" algn="l">
              <a:buNone/>
            </a:pPr>
            <a:r>
              <a:rPr lang="en-US" sz="1100" b="1" kern="0" spc="200" dirty="0">
                <a:solidFill>
                  <a:srgbClr val="C9A0E8"/>
                </a:solidFill>
                <a:latin typeface="Gill Sans MT" pitchFamily="34" charset="0"/>
                <a:ea typeface="Gill Sans MT" pitchFamily="34" charset="-122"/>
                <a:cs typeface="Gill Sans MT" pitchFamily="34" charset="-120"/>
              </a:rPr>
              <a:t>AIM</a:t>
            </a:r>
            <a:endParaRPr lang="en-US" sz="1100" dirty="0"/>
          </a:p>
        </p:txBody>
      </p:sp>
      <p:sp>
        <p:nvSpPr>
          <p:cNvPr id="10" name="Shape 7"/>
          <p:cNvSpPr/>
          <p:nvPr/>
        </p:nvSpPr>
        <p:spPr>
          <a:xfrm>
            <a:off x="1417320" y="1463040"/>
            <a:ext cx="0" cy="0"/>
          </a:xfrm>
          <a:prstGeom prst="line">
            <a:avLst/>
          </a:prstGeom>
          <a:noFill/>
          <a:ln w="19050">
            <a:solidFill>
              <a:srgbClr val="C9A0E8"/>
            </a:solidFill>
            <a:prstDash val="solid"/>
          </a:ln>
        </p:spPr>
        <p:txBody>
          <a:bodyPr/>
          <a:lstStyle/>
          <a:p>
            <a:endParaRPr lang="en-GB"/>
          </a:p>
        </p:txBody>
      </p:sp>
      <p:sp>
        <p:nvSpPr>
          <p:cNvPr id="11" name="Shape 8"/>
          <p:cNvSpPr/>
          <p:nvPr/>
        </p:nvSpPr>
        <p:spPr>
          <a:xfrm>
            <a:off x="1463040" y="1280160"/>
            <a:ext cx="0" cy="777240"/>
          </a:xfrm>
          <a:prstGeom prst="line">
            <a:avLst/>
          </a:prstGeom>
          <a:noFill/>
          <a:ln w="12700">
            <a:solidFill>
              <a:srgbClr val="C9A0E8">
                <a:alpha val="50000"/>
              </a:srgbClr>
            </a:solidFill>
            <a:prstDash val="solid"/>
          </a:ln>
        </p:spPr>
        <p:txBody>
          <a:bodyPr/>
          <a:lstStyle/>
          <a:p>
            <a:endParaRPr lang="en-GB"/>
          </a:p>
        </p:txBody>
      </p:sp>
      <p:sp>
        <p:nvSpPr>
          <p:cNvPr id="12" name="Text 9"/>
          <p:cNvSpPr/>
          <p:nvPr/>
        </p:nvSpPr>
        <p:spPr>
          <a:xfrm>
            <a:off x="1600200" y="1280160"/>
            <a:ext cx="9966960" cy="822960"/>
          </a:xfrm>
          <a:prstGeom prst="rect">
            <a:avLst/>
          </a:prstGeom>
          <a:noFill/>
          <a:ln/>
        </p:spPr>
        <p:txBody>
          <a:bodyPr wrap="square" lIns="50800" tIns="50800" rIns="50800" bIns="50800" rtlCol="0" anchor="ctr"/>
          <a:lstStyle/>
          <a:p>
            <a:pPr marL="0" indent="0" algn="l">
              <a:buNone/>
            </a:pPr>
            <a:r>
              <a:rPr lang="en-US" sz="1200" dirty="0">
                <a:solidFill>
                  <a:srgbClr val="F5F5F0"/>
                </a:solidFill>
                <a:latin typeface="Gill Sans MT" pitchFamily="34" charset="0"/>
                <a:ea typeface="Gill Sans MT" pitchFamily="34" charset="-122"/>
                <a:cs typeface="Gill Sans MT" pitchFamily="34" charset="-120"/>
              </a:rPr>
              <a:t>To examine the effect of government AI readiness on supply chain logistics performance and assess whether supply chain performance mediates the relationship between AI readiness and economic outcomes.</a:t>
            </a:r>
            <a:endParaRPr lang="en-US" sz="1200" dirty="0"/>
          </a:p>
        </p:txBody>
      </p:sp>
      <p:sp>
        <p:nvSpPr>
          <p:cNvPr id="13" name="Shape 10"/>
          <p:cNvSpPr/>
          <p:nvPr/>
        </p:nvSpPr>
        <p:spPr>
          <a:xfrm>
            <a:off x="365760" y="2331720"/>
            <a:ext cx="11430000" cy="1207008"/>
          </a:xfrm>
          <a:prstGeom prst="roundRect">
            <a:avLst>
              <a:gd name="adj" fmla="val 10606"/>
            </a:avLst>
          </a:prstGeom>
          <a:solidFill>
            <a:srgbClr val="0E0520">
              <a:alpha val="55000"/>
            </a:srgbClr>
          </a:solidFill>
          <a:ln w="10160">
            <a:solidFill>
              <a:srgbClr val="6DAEDB">
                <a:alpha val="6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4" name="Shape 11"/>
          <p:cNvSpPr/>
          <p:nvPr/>
        </p:nvSpPr>
        <p:spPr>
          <a:xfrm>
            <a:off x="365760" y="2331720"/>
            <a:ext cx="1051560" cy="1207008"/>
          </a:xfrm>
          <a:prstGeom prst="roundRect">
            <a:avLst>
              <a:gd name="adj" fmla="val 10435"/>
            </a:avLst>
          </a:prstGeom>
          <a:solidFill>
            <a:srgbClr val="6DAEDB">
              <a:alpha val="70000"/>
            </a:srgbClr>
          </a:solidFill>
          <a:ln w="12700">
            <a:solidFill>
              <a:srgbClr val="6DAEDB"/>
            </a:solidFill>
            <a:prstDash val="solid"/>
          </a:ln>
        </p:spPr>
        <p:txBody>
          <a:bodyPr/>
          <a:lstStyle/>
          <a:p>
            <a:endParaRPr lang="en-GB"/>
          </a:p>
        </p:txBody>
      </p:sp>
      <p:sp>
        <p:nvSpPr>
          <p:cNvPr id="15" name="Text 12"/>
          <p:cNvSpPr/>
          <p:nvPr/>
        </p:nvSpPr>
        <p:spPr>
          <a:xfrm>
            <a:off x="365760" y="2679192"/>
            <a:ext cx="1051560" cy="502920"/>
          </a:xfrm>
          <a:prstGeom prst="rect">
            <a:avLst/>
          </a:prstGeom>
          <a:noFill/>
          <a:ln/>
        </p:spPr>
        <p:txBody>
          <a:bodyPr wrap="square" lIns="50800" tIns="50800" rIns="50800" bIns="50800" rtlCol="0" anchor="ctr"/>
          <a:lstStyle/>
          <a:p>
            <a:pPr marL="0" indent="0" algn="ctr">
              <a:buNone/>
            </a:pPr>
            <a:r>
              <a:rPr lang="en-US" sz="1700" b="1" dirty="0">
                <a:solidFill>
                  <a:srgbClr val="FFFFFF"/>
                </a:solidFill>
                <a:latin typeface="Gill Sans MT" pitchFamily="34" charset="0"/>
                <a:ea typeface="Gill Sans MT" pitchFamily="34" charset="-122"/>
                <a:cs typeface="Gill Sans MT" pitchFamily="34" charset="-120"/>
              </a:rPr>
              <a:t>RQ1</a:t>
            </a:r>
            <a:endParaRPr lang="en-US" sz="1700" dirty="0"/>
          </a:p>
        </p:txBody>
      </p:sp>
      <p:sp>
        <p:nvSpPr>
          <p:cNvPr id="16" name="Text 13"/>
          <p:cNvSpPr/>
          <p:nvPr/>
        </p:nvSpPr>
        <p:spPr>
          <a:xfrm>
            <a:off x="1554480" y="2532888"/>
            <a:ext cx="10012680" cy="804672"/>
          </a:xfrm>
          <a:prstGeom prst="rect">
            <a:avLst/>
          </a:prstGeom>
          <a:noFill/>
          <a:ln/>
        </p:spPr>
        <p:txBody>
          <a:bodyPr wrap="square" lIns="50800" tIns="50800" rIns="50800" bIns="50800" rtlCol="0" anchor="ctr"/>
          <a:lstStyle/>
          <a:p>
            <a:pPr marL="0" indent="0" algn="l">
              <a:buNone/>
            </a:pPr>
            <a:r>
              <a:rPr lang="en-US" sz="1300" dirty="0">
                <a:solidFill>
                  <a:srgbClr val="F5F5F0"/>
                </a:solidFill>
                <a:latin typeface="Gill Sans MT" pitchFamily="34" charset="0"/>
                <a:ea typeface="Gill Sans MT" pitchFamily="34" charset="-122"/>
                <a:cs typeface="Gill Sans MT" pitchFamily="34" charset="-120"/>
              </a:rPr>
              <a:t>To what extent does government AI readiness influence national supply chain logistics performance?</a:t>
            </a:r>
            <a:endParaRPr lang="en-US" sz="1300" dirty="0"/>
          </a:p>
        </p:txBody>
      </p:sp>
      <p:sp>
        <p:nvSpPr>
          <p:cNvPr id="17" name="Shape 14"/>
          <p:cNvSpPr/>
          <p:nvPr/>
        </p:nvSpPr>
        <p:spPr>
          <a:xfrm>
            <a:off x="365760" y="3703320"/>
            <a:ext cx="11430000" cy="1207008"/>
          </a:xfrm>
          <a:prstGeom prst="roundRect">
            <a:avLst>
              <a:gd name="adj" fmla="val 10606"/>
            </a:avLst>
          </a:prstGeom>
          <a:solidFill>
            <a:srgbClr val="0E0520">
              <a:alpha val="55000"/>
            </a:srgbClr>
          </a:solidFill>
          <a:ln w="10160">
            <a:solidFill>
              <a:srgbClr val="56D68A">
                <a:alpha val="6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8" name="Shape 15"/>
          <p:cNvSpPr/>
          <p:nvPr/>
        </p:nvSpPr>
        <p:spPr>
          <a:xfrm>
            <a:off x="365760" y="3703320"/>
            <a:ext cx="1051560" cy="1207008"/>
          </a:xfrm>
          <a:prstGeom prst="roundRect">
            <a:avLst>
              <a:gd name="adj" fmla="val 10435"/>
            </a:avLst>
          </a:prstGeom>
          <a:solidFill>
            <a:srgbClr val="56D68A">
              <a:alpha val="70000"/>
            </a:srgbClr>
          </a:solidFill>
          <a:ln w="12700">
            <a:solidFill>
              <a:srgbClr val="56D68A"/>
            </a:solidFill>
            <a:prstDash val="solid"/>
          </a:ln>
        </p:spPr>
        <p:txBody>
          <a:bodyPr/>
          <a:lstStyle/>
          <a:p>
            <a:endParaRPr lang="en-GB"/>
          </a:p>
        </p:txBody>
      </p:sp>
      <p:sp>
        <p:nvSpPr>
          <p:cNvPr id="19" name="Text 16"/>
          <p:cNvSpPr/>
          <p:nvPr/>
        </p:nvSpPr>
        <p:spPr>
          <a:xfrm>
            <a:off x="365760" y="4050792"/>
            <a:ext cx="1051560" cy="502920"/>
          </a:xfrm>
          <a:prstGeom prst="rect">
            <a:avLst/>
          </a:prstGeom>
          <a:noFill/>
          <a:ln/>
        </p:spPr>
        <p:txBody>
          <a:bodyPr wrap="square" lIns="50800" tIns="50800" rIns="50800" bIns="50800" rtlCol="0" anchor="ctr"/>
          <a:lstStyle/>
          <a:p>
            <a:pPr marL="0" indent="0" algn="ctr">
              <a:buNone/>
            </a:pPr>
            <a:r>
              <a:rPr lang="en-US" sz="1700" b="1" dirty="0">
                <a:solidFill>
                  <a:srgbClr val="FFFFFF"/>
                </a:solidFill>
                <a:latin typeface="Gill Sans MT" pitchFamily="34" charset="0"/>
                <a:ea typeface="Gill Sans MT" pitchFamily="34" charset="-122"/>
                <a:cs typeface="Gill Sans MT" pitchFamily="34" charset="-120"/>
              </a:rPr>
              <a:t>RQ2</a:t>
            </a:r>
            <a:endParaRPr lang="en-US" sz="1700" dirty="0"/>
          </a:p>
        </p:txBody>
      </p:sp>
      <p:sp>
        <p:nvSpPr>
          <p:cNvPr id="20" name="Text 17"/>
          <p:cNvSpPr/>
          <p:nvPr/>
        </p:nvSpPr>
        <p:spPr>
          <a:xfrm>
            <a:off x="1554480" y="3904488"/>
            <a:ext cx="10012680" cy="804672"/>
          </a:xfrm>
          <a:prstGeom prst="rect">
            <a:avLst/>
          </a:prstGeom>
          <a:noFill/>
          <a:ln/>
        </p:spPr>
        <p:txBody>
          <a:bodyPr wrap="square" lIns="50800" tIns="50800" rIns="50800" bIns="50800" rtlCol="0" anchor="ctr"/>
          <a:lstStyle/>
          <a:p>
            <a:pPr marL="0" indent="0" algn="l">
              <a:buNone/>
            </a:pPr>
            <a:r>
              <a:rPr lang="en-US" sz="1300" dirty="0">
                <a:solidFill>
                  <a:srgbClr val="F5F5F0"/>
                </a:solidFill>
                <a:latin typeface="Gill Sans MT" pitchFamily="34" charset="0"/>
                <a:ea typeface="Gill Sans MT" pitchFamily="34" charset="-122"/>
                <a:cs typeface="Gill Sans MT" pitchFamily="34" charset="-120"/>
              </a:rPr>
              <a:t>Does supply chain performance mediate the relationship between AI readiness and economic outcomes?</a:t>
            </a:r>
            <a:endParaRPr lang="en-US" sz="1300" dirty="0"/>
          </a:p>
        </p:txBody>
      </p:sp>
      <p:sp>
        <p:nvSpPr>
          <p:cNvPr id="21" name="Shape 18"/>
          <p:cNvSpPr/>
          <p:nvPr/>
        </p:nvSpPr>
        <p:spPr>
          <a:xfrm>
            <a:off x="365760" y="5074920"/>
            <a:ext cx="11430000" cy="1207008"/>
          </a:xfrm>
          <a:prstGeom prst="roundRect">
            <a:avLst>
              <a:gd name="adj" fmla="val 10606"/>
            </a:avLst>
          </a:prstGeom>
          <a:solidFill>
            <a:srgbClr val="0E0520">
              <a:alpha val="55000"/>
            </a:srgbClr>
          </a:solidFill>
          <a:ln w="10160">
            <a:solidFill>
              <a:srgbClr val="C9A0E8">
                <a:alpha val="6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2" name="Shape 19"/>
          <p:cNvSpPr/>
          <p:nvPr/>
        </p:nvSpPr>
        <p:spPr>
          <a:xfrm>
            <a:off x="365760" y="5074920"/>
            <a:ext cx="1051560" cy="1207008"/>
          </a:xfrm>
          <a:prstGeom prst="roundRect">
            <a:avLst>
              <a:gd name="adj" fmla="val 10435"/>
            </a:avLst>
          </a:prstGeom>
          <a:solidFill>
            <a:srgbClr val="C9A0E8">
              <a:alpha val="70000"/>
            </a:srgbClr>
          </a:solidFill>
          <a:ln w="12700">
            <a:solidFill>
              <a:srgbClr val="C9A0E8"/>
            </a:solidFill>
            <a:prstDash val="solid"/>
          </a:ln>
        </p:spPr>
        <p:txBody>
          <a:bodyPr/>
          <a:lstStyle/>
          <a:p>
            <a:endParaRPr lang="en-GB"/>
          </a:p>
        </p:txBody>
      </p:sp>
      <p:sp>
        <p:nvSpPr>
          <p:cNvPr id="23" name="Text 20"/>
          <p:cNvSpPr/>
          <p:nvPr/>
        </p:nvSpPr>
        <p:spPr>
          <a:xfrm>
            <a:off x="365760" y="5422392"/>
            <a:ext cx="1051560" cy="502920"/>
          </a:xfrm>
          <a:prstGeom prst="rect">
            <a:avLst/>
          </a:prstGeom>
          <a:noFill/>
          <a:ln/>
        </p:spPr>
        <p:txBody>
          <a:bodyPr wrap="square" lIns="50800" tIns="50800" rIns="50800" bIns="50800" rtlCol="0" anchor="ctr"/>
          <a:lstStyle/>
          <a:p>
            <a:pPr marL="0" indent="0" algn="ctr">
              <a:buNone/>
            </a:pPr>
            <a:r>
              <a:rPr lang="en-US" sz="1700" b="1" dirty="0">
                <a:solidFill>
                  <a:srgbClr val="FFFFFF"/>
                </a:solidFill>
                <a:latin typeface="Gill Sans MT" pitchFamily="34" charset="0"/>
                <a:ea typeface="Gill Sans MT" pitchFamily="34" charset="-122"/>
                <a:cs typeface="Gill Sans MT" pitchFamily="34" charset="-120"/>
              </a:rPr>
              <a:t>RQ3</a:t>
            </a:r>
            <a:endParaRPr lang="en-US" sz="1700" dirty="0"/>
          </a:p>
        </p:txBody>
      </p:sp>
      <p:sp>
        <p:nvSpPr>
          <p:cNvPr id="24" name="Text 21"/>
          <p:cNvSpPr/>
          <p:nvPr/>
        </p:nvSpPr>
        <p:spPr>
          <a:xfrm>
            <a:off x="1554480" y="5276088"/>
            <a:ext cx="10012680" cy="804672"/>
          </a:xfrm>
          <a:prstGeom prst="rect">
            <a:avLst/>
          </a:prstGeom>
          <a:noFill/>
          <a:ln/>
        </p:spPr>
        <p:txBody>
          <a:bodyPr wrap="square" lIns="50800" tIns="50800" rIns="50800" bIns="50800" rtlCol="0" anchor="ctr"/>
          <a:lstStyle/>
          <a:p>
            <a:pPr marL="0" indent="0" algn="l">
              <a:buNone/>
            </a:pPr>
            <a:r>
              <a:rPr lang="en-US" sz="1300" dirty="0">
                <a:solidFill>
                  <a:srgbClr val="F5F5F0"/>
                </a:solidFill>
                <a:latin typeface="Gill Sans MT" pitchFamily="34" charset="0"/>
                <a:ea typeface="Gill Sans MT" pitchFamily="34" charset="-122"/>
                <a:cs typeface="Gill Sans MT" pitchFamily="34" charset="-120"/>
              </a:rPr>
              <a:t>What role does institutional quality play in driving supply chain performance alongside AI readiness?</a:t>
            </a:r>
            <a:endParaRPr lang="en-US" sz="1300" dirty="0"/>
          </a:p>
        </p:txBody>
      </p:sp>
      <p:sp>
        <p:nvSpPr>
          <p:cNvPr id="25" name="Text 22"/>
          <p:cNvSpPr/>
          <p:nvPr/>
        </p:nvSpPr>
        <p:spPr>
          <a:xfrm>
            <a:off x="11704320" y="6492240"/>
            <a:ext cx="365760" cy="274320"/>
          </a:xfrm>
          <a:prstGeom prst="rect">
            <a:avLst/>
          </a:prstGeom>
          <a:noFill/>
          <a:ln/>
        </p:spPr>
        <p:txBody>
          <a:bodyPr wrap="square" rtlCol="0" anchor="ctr"/>
          <a:lstStyle/>
          <a:p>
            <a:pPr marL="0" indent="0" algn="r">
              <a:buNone/>
            </a:pPr>
            <a:r>
              <a:rPr lang="en-US" sz="800" dirty="0">
                <a:solidFill>
                  <a:srgbClr val="B8C8D8"/>
                </a:solidFill>
                <a:latin typeface="Gill Sans MT" pitchFamily="34" charset="0"/>
                <a:ea typeface="Gill Sans MT" pitchFamily="34" charset="-122"/>
                <a:cs typeface="Gill Sans MT"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61520" cy="6858000"/>
          </a:xfrm>
          <a:prstGeom prst="rect">
            <a:avLst/>
          </a:prstGeom>
        </p:spPr>
      </p:pic>
      <p:sp>
        <p:nvSpPr>
          <p:cNvPr id="3" name="Shape 0"/>
          <p:cNvSpPr/>
          <p:nvPr/>
        </p:nvSpPr>
        <p:spPr>
          <a:xfrm>
            <a:off x="0" y="0"/>
            <a:ext cx="12161520" cy="1188720"/>
          </a:xfrm>
          <a:prstGeom prst="roundRect">
            <a:avLst>
              <a:gd name="adj" fmla="val 9231"/>
            </a:avLst>
          </a:prstGeom>
          <a:solidFill>
            <a:srgbClr val="050810">
              <a:alpha val="48000"/>
            </a:srgbClr>
          </a:solidFill>
          <a:ln w="3810">
            <a:solidFill>
              <a:srgbClr val="FFFFFF">
                <a:alpha val="12000"/>
              </a:srgbClr>
            </a:solidFill>
            <a:prstDash val="solid"/>
          </a:ln>
          <a:effectLst>
            <a:outerShdw blurRad="152400" dist="50800" dir="2700000" algn="bl" rotWithShape="0">
              <a:srgbClr val="000000">
                <a:alpha val="50000"/>
              </a:srgbClr>
            </a:outerShdw>
          </a:effectLst>
        </p:spPr>
        <p:txBody>
          <a:bodyPr/>
          <a:lstStyle/>
          <a:p>
            <a:endParaRPr lang="en-GB"/>
          </a:p>
        </p:txBody>
      </p:sp>
      <p:sp>
        <p:nvSpPr>
          <p:cNvPr id="4" name="Shape 1"/>
          <p:cNvSpPr/>
          <p:nvPr/>
        </p:nvSpPr>
        <p:spPr>
          <a:xfrm>
            <a:off x="365760" y="137160"/>
            <a:ext cx="2194560" cy="292608"/>
          </a:xfrm>
          <a:prstGeom prst="roundRect">
            <a:avLst>
              <a:gd name="adj" fmla="val 18750"/>
            </a:avLst>
          </a:prstGeom>
          <a:solidFill>
            <a:srgbClr val="000000">
              <a:alpha val="50000"/>
            </a:srgbClr>
          </a:solidFill>
          <a:ln w="19050">
            <a:solidFill>
              <a:srgbClr val="56D68A"/>
            </a:solidFill>
            <a:prstDash val="solid"/>
          </a:ln>
        </p:spPr>
        <p:txBody>
          <a:bodyPr/>
          <a:lstStyle/>
          <a:p>
            <a:endParaRPr lang="en-GB"/>
          </a:p>
        </p:txBody>
      </p:sp>
      <p:sp>
        <p:nvSpPr>
          <p:cNvPr id="5" name="Text 2"/>
          <p:cNvSpPr/>
          <p:nvPr/>
        </p:nvSpPr>
        <p:spPr>
          <a:xfrm>
            <a:off x="365760" y="137160"/>
            <a:ext cx="2194560" cy="292608"/>
          </a:xfrm>
          <a:prstGeom prst="rect">
            <a:avLst/>
          </a:prstGeom>
          <a:noFill/>
          <a:ln/>
        </p:spPr>
        <p:txBody>
          <a:bodyPr wrap="square" rtlCol="0" anchor="ctr"/>
          <a:lstStyle/>
          <a:p>
            <a:pPr marL="0" indent="0" algn="ctr">
              <a:buNone/>
            </a:pPr>
            <a:r>
              <a:rPr lang="en-US" sz="850" b="1" kern="0" spc="200" dirty="0">
                <a:solidFill>
                  <a:srgbClr val="56D68A"/>
                </a:solidFill>
                <a:latin typeface="Gill Sans MT" pitchFamily="34" charset="0"/>
                <a:ea typeface="Gill Sans MT" pitchFamily="34" charset="-122"/>
                <a:cs typeface="Gill Sans MT" pitchFamily="34" charset="-120"/>
              </a:rPr>
              <a:t>THEORETICAL FRAMEWORK</a:t>
            </a:r>
            <a:endParaRPr lang="en-US" sz="850" dirty="0"/>
          </a:p>
        </p:txBody>
      </p:sp>
      <p:sp>
        <p:nvSpPr>
          <p:cNvPr id="6" name="Text 3"/>
          <p:cNvSpPr/>
          <p:nvPr/>
        </p:nvSpPr>
        <p:spPr>
          <a:xfrm>
            <a:off x="365760" y="347472"/>
            <a:ext cx="10058400" cy="685800"/>
          </a:xfrm>
          <a:prstGeom prst="rect">
            <a:avLst/>
          </a:prstGeom>
          <a:noFill/>
          <a:ln/>
        </p:spPr>
        <p:txBody>
          <a:bodyPr wrap="square" lIns="50800" tIns="50800" rIns="50800" bIns="50800" rtlCol="0" anchor="ctr"/>
          <a:lstStyle/>
          <a:p>
            <a:pPr marL="0" indent="0" algn="l">
              <a:buNone/>
            </a:pPr>
            <a:r>
              <a:rPr lang="en-US" sz="2800" b="1" dirty="0">
                <a:solidFill>
                  <a:srgbClr val="FFFFFF"/>
                </a:solidFill>
                <a:latin typeface="Gill Sans MT" pitchFamily="34" charset="0"/>
                <a:ea typeface="Gill Sans MT" pitchFamily="34" charset="-122"/>
                <a:cs typeface="Gill Sans MT" pitchFamily="34" charset="-120"/>
              </a:rPr>
              <a:t>Theoretical Framework</a:t>
            </a:r>
            <a:endParaRPr lang="en-US" sz="2800" dirty="0"/>
          </a:p>
        </p:txBody>
      </p:sp>
      <p:sp>
        <p:nvSpPr>
          <p:cNvPr id="7" name="Shape 4"/>
          <p:cNvSpPr/>
          <p:nvPr/>
        </p:nvSpPr>
        <p:spPr>
          <a:xfrm>
            <a:off x="365760" y="1115568"/>
            <a:ext cx="11430000" cy="0"/>
          </a:xfrm>
          <a:prstGeom prst="line">
            <a:avLst/>
          </a:prstGeom>
          <a:noFill/>
          <a:ln w="19050">
            <a:solidFill>
              <a:srgbClr val="56D68A"/>
            </a:solidFill>
            <a:prstDash val="solid"/>
          </a:ln>
        </p:spPr>
        <p:txBody>
          <a:bodyPr/>
          <a:lstStyle/>
          <a:p>
            <a:endParaRPr lang="en-GB"/>
          </a:p>
        </p:txBody>
      </p:sp>
      <p:sp>
        <p:nvSpPr>
          <p:cNvPr id="8" name="Shape 5"/>
          <p:cNvSpPr/>
          <p:nvPr/>
        </p:nvSpPr>
        <p:spPr>
          <a:xfrm>
            <a:off x="365760" y="1261872"/>
            <a:ext cx="3749040" cy="5440680"/>
          </a:xfrm>
          <a:prstGeom prst="roundRect">
            <a:avLst>
              <a:gd name="adj" fmla="val 3415"/>
            </a:avLst>
          </a:prstGeom>
          <a:solidFill>
            <a:srgbClr val="040E08">
              <a:alpha val="60000"/>
            </a:srgbClr>
          </a:solidFill>
          <a:ln w="10160">
            <a:solidFill>
              <a:srgbClr val="6DAEDB">
                <a:alpha val="7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9" name="Shape 6"/>
          <p:cNvSpPr/>
          <p:nvPr/>
        </p:nvSpPr>
        <p:spPr>
          <a:xfrm>
            <a:off x="365760" y="1261872"/>
            <a:ext cx="3749040" cy="777240"/>
          </a:xfrm>
          <a:prstGeom prst="roundRect">
            <a:avLst>
              <a:gd name="adj" fmla="val 14118"/>
            </a:avLst>
          </a:prstGeom>
          <a:solidFill>
            <a:srgbClr val="6DAEDB">
              <a:alpha val="38000"/>
            </a:srgbClr>
          </a:solidFill>
          <a:ln w="12700">
            <a:solidFill>
              <a:srgbClr val="6DAEDB"/>
            </a:solidFill>
            <a:prstDash val="solid"/>
          </a:ln>
        </p:spPr>
        <p:txBody>
          <a:bodyPr/>
          <a:lstStyle/>
          <a:p>
            <a:endParaRPr lang="en-GB"/>
          </a:p>
        </p:txBody>
      </p:sp>
      <p:sp>
        <p:nvSpPr>
          <p:cNvPr id="10" name="Text 7"/>
          <p:cNvSpPr/>
          <p:nvPr/>
        </p:nvSpPr>
        <p:spPr>
          <a:xfrm>
            <a:off x="530352" y="1289304"/>
            <a:ext cx="3429000" cy="438912"/>
          </a:xfrm>
          <a:prstGeom prst="rect">
            <a:avLst/>
          </a:prstGeom>
          <a:noFill/>
          <a:ln/>
        </p:spPr>
        <p:txBody>
          <a:bodyPr wrap="square" lIns="50800" tIns="50800" rIns="50800" bIns="50800" rtlCol="0" anchor="ctr"/>
          <a:lstStyle/>
          <a:p>
            <a:pPr marL="0" indent="0" algn="l">
              <a:buNone/>
            </a:pPr>
            <a:r>
              <a:rPr lang="en-US" sz="1300" b="1" dirty="0">
                <a:solidFill>
                  <a:srgbClr val="FFFFFF"/>
                </a:solidFill>
                <a:latin typeface="Gill Sans MT" pitchFamily="34" charset="0"/>
                <a:ea typeface="Gill Sans MT" pitchFamily="34" charset="-122"/>
                <a:cs typeface="Gill Sans MT" pitchFamily="34" charset="-120"/>
              </a:rPr>
              <a:t>Technology Adoption Theory</a:t>
            </a:r>
            <a:endParaRPr lang="en-US" sz="1300" dirty="0"/>
          </a:p>
        </p:txBody>
      </p:sp>
      <p:sp>
        <p:nvSpPr>
          <p:cNvPr id="11" name="Text 8"/>
          <p:cNvSpPr/>
          <p:nvPr/>
        </p:nvSpPr>
        <p:spPr>
          <a:xfrm>
            <a:off x="530352" y="1709928"/>
            <a:ext cx="3429000" cy="274320"/>
          </a:xfrm>
          <a:prstGeom prst="rect">
            <a:avLst/>
          </a:prstGeom>
          <a:noFill/>
          <a:ln/>
        </p:spPr>
        <p:txBody>
          <a:bodyPr wrap="square" lIns="50800" tIns="50800" rIns="50800" bIns="50800" rtlCol="0" anchor="ctr"/>
          <a:lstStyle/>
          <a:p>
            <a:pPr marL="0" indent="0" algn="l">
              <a:buNone/>
            </a:pPr>
            <a:r>
              <a:rPr lang="en-US" sz="850" i="1" kern="0" spc="50" dirty="0">
                <a:solidFill>
                  <a:srgbClr val="6DAEDB"/>
                </a:solidFill>
                <a:latin typeface="Gill Sans MT" pitchFamily="34" charset="0"/>
                <a:ea typeface="Gill Sans MT" pitchFamily="34" charset="-122"/>
                <a:cs typeface="Gill Sans MT" pitchFamily="34" charset="-120"/>
              </a:rPr>
              <a:t>TOE Framework • Tornatzky &amp; Fleischer, 1990; Baker, 2012</a:t>
            </a:r>
            <a:endParaRPr lang="en-US" sz="850" dirty="0"/>
          </a:p>
        </p:txBody>
      </p:sp>
      <p:sp>
        <p:nvSpPr>
          <p:cNvPr id="12" name="Text 9"/>
          <p:cNvSpPr/>
          <p:nvPr/>
        </p:nvSpPr>
        <p:spPr>
          <a:xfrm>
            <a:off x="530352" y="2066544"/>
            <a:ext cx="3429000" cy="237744"/>
          </a:xfrm>
          <a:prstGeom prst="rect">
            <a:avLst/>
          </a:prstGeom>
          <a:noFill/>
          <a:ln/>
        </p:spPr>
        <p:txBody>
          <a:bodyPr wrap="square" lIns="50800" tIns="50800" rIns="50800" bIns="50800" rtlCol="0" anchor="ctr"/>
          <a:lstStyle/>
          <a:p>
            <a:pPr marL="0" indent="0" algn="l">
              <a:buNone/>
            </a:pPr>
            <a:r>
              <a:rPr lang="en-US" sz="800" b="1" kern="0" spc="200" dirty="0">
                <a:solidFill>
                  <a:srgbClr val="6DAEDB"/>
                </a:solidFill>
                <a:latin typeface="Gill Sans MT" pitchFamily="34" charset="0"/>
                <a:ea typeface="Gill Sans MT" pitchFamily="34" charset="-122"/>
                <a:cs typeface="Gill Sans MT" pitchFamily="34" charset="-120"/>
              </a:rPr>
              <a:t>THEORY SAYS</a:t>
            </a:r>
            <a:endParaRPr lang="en-US" sz="800" dirty="0"/>
          </a:p>
        </p:txBody>
      </p:sp>
      <p:sp>
        <p:nvSpPr>
          <p:cNvPr id="13" name="Shape 10"/>
          <p:cNvSpPr/>
          <p:nvPr/>
        </p:nvSpPr>
        <p:spPr>
          <a:xfrm>
            <a:off x="530352" y="2304288"/>
            <a:ext cx="3401568" cy="0"/>
          </a:xfrm>
          <a:prstGeom prst="line">
            <a:avLst/>
          </a:prstGeom>
          <a:noFill/>
          <a:ln w="19050">
            <a:solidFill>
              <a:srgbClr val="6DAEDB"/>
            </a:solidFill>
            <a:prstDash val="solid"/>
          </a:ln>
        </p:spPr>
        <p:txBody>
          <a:bodyPr/>
          <a:lstStyle/>
          <a:p>
            <a:endParaRPr lang="en-GB"/>
          </a:p>
        </p:txBody>
      </p:sp>
      <p:sp>
        <p:nvSpPr>
          <p:cNvPr id="14" name="Text 11"/>
          <p:cNvSpPr/>
          <p:nvPr/>
        </p:nvSpPr>
        <p:spPr>
          <a:xfrm>
            <a:off x="530352" y="2359152"/>
            <a:ext cx="3429000" cy="1261872"/>
          </a:xfrm>
          <a:prstGeom prst="rect">
            <a:avLst/>
          </a:prstGeom>
          <a:noFill/>
          <a:ln/>
        </p:spPr>
        <p:txBody>
          <a:bodyPr wrap="square" lIns="50800" tIns="50800" rIns="50800" bIns="50800" rtlCol="0" anchor="t"/>
          <a:lstStyle/>
          <a:p>
            <a:pPr marL="0" indent="0" algn="l">
              <a:buNone/>
            </a:pPr>
            <a:r>
              <a:rPr lang="en-US" sz="1000" dirty="0">
                <a:solidFill>
                  <a:srgbClr val="B8C8D8"/>
                </a:solidFill>
                <a:latin typeface="Gill Sans MT" pitchFamily="34" charset="0"/>
                <a:ea typeface="Gill Sans MT" pitchFamily="34" charset="-122"/>
                <a:cs typeface="Gill Sans MT" pitchFamily="34" charset="-120"/>
              </a:rPr>
              <a:t>Technology adoption and performance are shaped by three contexts: technological capability, organisational readiness, and the external environment. Government AI readiness represents national technological capability, while the institutional and policy environment determines whether that capability translates into better supply chain performance.</a:t>
            </a:r>
            <a:endParaRPr lang="en-US" sz="1000" dirty="0"/>
          </a:p>
        </p:txBody>
      </p:sp>
      <p:sp>
        <p:nvSpPr>
          <p:cNvPr id="15" name="Text 12"/>
          <p:cNvSpPr/>
          <p:nvPr/>
        </p:nvSpPr>
        <p:spPr>
          <a:xfrm>
            <a:off x="530352" y="3694176"/>
            <a:ext cx="3429000" cy="237744"/>
          </a:xfrm>
          <a:prstGeom prst="rect">
            <a:avLst/>
          </a:prstGeom>
          <a:noFill/>
          <a:ln/>
        </p:spPr>
        <p:txBody>
          <a:bodyPr wrap="square" lIns="50800" tIns="50800" rIns="50800" bIns="50800" rtlCol="0" anchor="ctr"/>
          <a:lstStyle/>
          <a:p>
            <a:pPr marL="0" indent="0" algn="l">
              <a:buNone/>
            </a:pPr>
            <a:r>
              <a:rPr lang="en-US" sz="800" b="1" kern="0" spc="200" dirty="0">
                <a:solidFill>
                  <a:srgbClr val="6DAEDB"/>
                </a:solidFill>
                <a:latin typeface="Gill Sans MT" pitchFamily="34" charset="0"/>
                <a:ea typeface="Gill Sans MT" pitchFamily="34" charset="-122"/>
                <a:cs typeface="Gill Sans MT" pitchFamily="34" charset="-120"/>
              </a:rPr>
              <a:t>PROPOSITION</a:t>
            </a:r>
            <a:endParaRPr lang="en-US" sz="800" dirty="0"/>
          </a:p>
        </p:txBody>
      </p:sp>
      <p:sp>
        <p:nvSpPr>
          <p:cNvPr id="16" name="Shape 13"/>
          <p:cNvSpPr/>
          <p:nvPr/>
        </p:nvSpPr>
        <p:spPr>
          <a:xfrm>
            <a:off x="530352" y="3931920"/>
            <a:ext cx="3401568" cy="0"/>
          </a:xfrm>
          <a:prstGeom prst="line">
            <a:avLst/>
          </a:prstGeom>
          <a:noFill/>
          <a:ln w="19050">
            <a:solidFill>
              <a:srgbClr val="6DAEDB"/>
            </a:solidFill>
            <a:prstDash val="solid"/>
          </a:ln>
        </p:spPr>
        <p:txBody>
          <a:bodyPr/>
          <a:lstStyle/>
          <a:p>
            <a:endParaRPr lang="en-GB"/>
          </a:p>
        </p:txBody>
      </p:sp>
      <p:sp>
        <p:nvSpPr>
          <p:cNvPr id="17" name="Text 14"/>
          <p:cNvSpPr/>
          <p:nvPr/>
        </p:nvSpPr>
        <p:spPr>
          <a:xfrm>
            <a:off x="530352" y="3986784"/>
            <a:ext cx="3429000" cy="640080"/>
          </a:xfrm>
          <a:prstGeom prst="rect">
            <a:avLst/>
          </a:prstGeom>
          <a:noFill/>
          <a:ln/>
        </p:spPr>
        <p:txBody>
          <a:bodyPr wrap="square" lIns="50800" tIns="50800" rIns="50800" bIns="50800" rtlCol="0" anchor="t"/>
          <a:lstStyle/>
          <a:p>
            <a:pPr marL="0" indent="0" algn="l">
              <a:buNone/>
            </a:pPr>
            <a:r>
              <a:rPr lang="en-US" sz="1050" dirty="0">
                <a:solidFill>
                  <a:srgbClr val="F5F5F0"/>
                </a:solidFill>
                <a:latin typeface="Gill Sans MT" pitchFamily="34" charset="0"/>
                <a:ea typeface="Gill Sans MT" pitchFamily="34" charset="-122"/>
                <a:cs typeface="Gill Sans MT" pitchFamily="34" charset="-120"/>
              </a:rPr>
              <a:t>AI readiness is a primary macro-level driver of supply chain performance</a:t>
            </a:r>
            <a:endParaRPr lang="en-US" sz="1050" dirty="0"/>
          </a:p>
        </p:txBody>
      </p:sp>
      <p:sp>
        <p:nvSpPr>
          <p:cNvPr id="18" name="Text 15"/>
          <p:cNvSpPr/>
          <p:nvPr/>
        </p:nvSpPr>
        <p:spPr>
          <a:xfrm>
            <a:off x="530352" y="4700016"/>
            <a:ext cx="3429000" cy="237744"/>
          </a:xfrm>
          <a:prstGeom prst="rect">
            <a:avLst/>
          </a:prstGeom>
          <a:noFill/>
          <a:ln/>
        </p:spPr>
        <p:txBody>
          <a:bodyPr wrap="square" lIns="50800" tIns="50800" rIns="50800" bIns="50800" rtlCol="0" anchor="ctr"/>
          <a:lstStyle/>
          <a:p>
            <a:pPr marL="0" indent="0" algn="l">
              <a:buNone/>
            </a:pPr>
            <a:r>
              <a:rPr lang="en-US" sz="800" b="1" kern="0" spc="200" dirty="0">
                <a:solidFill>
                  <a:srgbClr val="6DAEDB"/>
                </a:solidFill>
                <a:latin typeface="Gill Sans MT" pitchFamily="34" charset="0"/>
                <a:ea typeface="Gill Sans MT" pitchFamily="34" charset="-122"/>
                <a:cs typeface="Gill Sans MT" pitchFamily="34" charset="-120"/>
              </a:rPr>
              <a:t>HYPOTHESIS</a:t>
            </a:r>
            <a:endParaRPr lang="en-US" sz="800" dirty="0"/>
          </a:p>
        </p:txBody>
      </p:sp>
      <p:sp>
        <p:nvSpPr>
          <p:cNvPr id="19" name="Shape 16"/>
          <p:cNvSpPr/>
          <p:nvPr/>
        </p:nvSpPr>
        <p:spPr>
          <a:xfrm>
            <a:off x="530352" y="4937760"/>
            <a:ext cx="3401568" cy="0"/>
          </a:xfrm>
          <a:prstGeom prst="line">
            <a:avLst/>
          </a:prstGeom>
          <a:noFill/>
          <a:ln w="19050">
            <a:solidFill>
              <a:srgbClr val="6DAEDB"/>
            </a:solidFill>
            <a:prstDash val="solid"/>
          </a:ln>
        </p:spPr>
        <p:txBody>
          <a:bodyPr/>
          <a:lstStyle/>
          <a:p>
            <a:endParaRPr lang="en-GB"/>
          </a:p>
        </p:txBody>
      </p:sp>
      <p:sp>
        <p:nvSpPr>
          <p:cNvPr id="20" name="Text 17"/>
          <p:cNvSpPr/>
          <p:nvPr/>
        </p:nvSpPr>
        <p:spPr>
          <a:xfrm>
            <a:off x="530352" y="4992624"/>
            <a:ext cx="3429000" cy="713232"/>
          </a:xfrm>
          <a:prstGeom prst="rect">
            <a:avLst/>
          </a:prstGeom>
          <a:noFill/>
          <a:ln/>
        </p:spPr>
        <p:txBody>
          <a:bodyPr wrap="square" lIns="50800" tIns="50800" rIns="50800" bIns="50800" rtlCol="0" anchor="t"/>
          <a:lstStyle/>
          <a:p>
            <a:pPr marL="0" indent="0" algn="l">
              <a:buNone/>
            </a:pPr>
            <a:r>
              <a:rPr lang="en-US" sz="1100" i="1" dirty="0">
                <a:solidFill>
                  <a:srgbClr val="F0C040"/>
                </a:solidFill>
                <a:latin typeface="Gill Sans MT" pitchFamily="34" charset="0"/>
                <a:ea typeface="Gill Sans MT" pitchFamily="34" charset="-122"/>
                <a:cs typeface="Gill Sans MT" pitchFamily="34" charset="-120"/>
              </a:rPr>
              <a:t>H1a: ξ₁ → η₁  (AI Readiness → SC Performance)</a:t>
            </a:r>
            <a:endParaRPr lang="en-US" sz="1100" dirty="0"/>
          </a:p>
        </p:txBody>
      </p:sp>
      <p:sp>
        <p:nvSpPr>
          <p:cNvPr id="21" name="Shape 18"/>
          <p:cNvSpPr/>
          <p:nvPr/>
        </p:nvSpPr>
        <p:spPr>
          <a:xfrm>
            <a:off x="4297680" y="1261872"/>
            <a:ext cx="3749040" cy="5440680"/>
          </a:xfrm>
          <a:prstGeom prst="roundRect">
            <a:avLst>
              <a:gd name="adj" fmla="val 3415"/>
            </a:avLst>
          </a:prstGeom>
          <a:solidFill>
            <a:srgbClr val="040E08">
              <a:alpha val="60000"/>
            </a:srgbClr>
          </a:solidFill>
          <a:ln w="10160">
            <a:solidFill>
              <a:srgbClr val="C9A0E8">
                <a:alpha val="7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2" name="Shape 19"/>
          <p:cNvSpPr/>
          <p:nvPr/>
        </p:nvSpPr>
        <p:spPr>
          <a:xfrm>
            <a:off x="4297680" y="1261872"/>
            <a:ext cx="3749040" cy="777240"/>
          </a:xfrm>
          <a:prstGeom prst="roundRect">
            <a:avLst>
              <a:gd name="adj" fmla="val 14118"/>
            </a:avLst>
          </a:prstGeom>
          <a:solidFill>
            <a:srgbClr val="C9A0E8">
              <a:alpha val="38000"/>
            </a:srgbClr>
          </a:solidFill>
          <a:ln w="12700">
            <a:solidFill>
              <a:srgbClr val="C9A0E8"/>
            </a:solidFill>
            <a:prstDash val="solid"/>
          </a:ln>
        </p:spPr>
        <p:txBody>
          <a:bodyPr/>
          <a:lstStyle/>
          <a:p>
            <a:endParaRPr lang="en-GB"/>
          </a:p>
        </p:txBody>
      </p:sp>
      <p:sp>
        <p:nvSpPr>
          <p:cNvPr id="23" name="Text 20"/>
          <p:cNvSpPr/>
          <p:nvPr/>
        </p:nvSpPr>
        <p:spPr>
          <a:xfrm>
            <a:off x="4462272" y="1289304"/>
            <a:ext cx="3429000" cy="438912"/>
          </a:xfrm>
          <a:prstGeom prst="rect">
            <a:avLst/>
          </a:prstGeom>
          <a:noFill/>
          <a:ln/>
        </p:spPr>
        <p:txBody>
          <a:bodyPr wrap="square" lIns="50800" tIns="50800" rIns="50800" bIns="50800" rtlCol="0" anchor="ctr"/>
          <a:lstStyle/>
          <a:p>
            <a:pPr marL="0" indent="0" algn="l">
              <a:buNone/>
            </a:pPr>
            <a:r>
              <a:rPr lang="en-US" sz="1300" b="1" dirty="0">
                <a:solidFill>
                  <a:srgbClr val="FFFFFF"/>
                </a:solidFill>
                <a:latin typeface="Gill Sans MT" pitchFamily="34" charset="0"/>
                <a:ea typeface="Gill Sans MT" pitchFamily="34" charset="-122"/>
                <a:cs typeface="Gill Sans MT" pitchFamily="34" charset="-120"/>
              </a:rPr>
              <a:t>Institutional Theory</a:t>
            </a:r>
            <a:endParaRPr lang="en-US" sz="1300" dirty="0"/>
          </a:p>
        </p:txBody>
      </p:sp>
      <p:sp>
        <p:nvSpPr>
          <p:cNvPr id="24" name="Text 21"/>
          <p:cNvSpPr/>
          <p:nvPr/>
        </p:nvSpPr>
        <p:spPr>
          <a:xfrm>
            <a:off x="4462272" y="1709928"/>
            <a:ext cx="3429000" cy="274320"/>
          </a:xfrm>
          <a:prstGeom prst="rect">
            <a:avLst/>
          </a:prstGeom>
          <a:noFill/>
          <a:ln/>
        </p:spPr>
        <p:txBody>
          <a:bodyPr wrap="square" lIns="50800" tIns="50800" rIns="50800" bIns="50800" rtlCol="0" anchor="ctr"/>
          <a:lstStyle/>
          <a:p>
            <a:pPr marL="0" indent="0" algn="l">
              <a:buNone/>
            </a:pPr>
            <a:r>
              <a:rPr lang="en-US" sz="850" i="1" kern="0" spc="50" dirty="0">
                <a:solidFill>
                  <a:srgbClr val="C9A0E8"/>
                </a:solidFill>
                <a:latin typeface="Gill Sans MT" pitchFamily="34" charset="0"/>
                <a:ea typeface="Gill Sans MT" pitchFamily="34" charset="-122"/>
                <a:cs typeface="Gill Sans MT" pitchFamily="34" charset="-120"/>
              </a:rPr>
              <a:t>Scott, 2014; North, 1990</a:t>
            </a:r>
            <a:endParaRPr lang="en-US" sz="850" dirty="0"/>
          </a:p>
        </p:txBody>
      </p:sp>
      <p:sp>
        <p:nvSpPr>
          <p:cNvPr id="25" name="Text 22"/>
          <p:cNvSpPr/>
          <p:nvPr/>
        </p:nvSpPr>
        <p:spPr>
          <a:xfrm>
            <a:off x="4462272" y="2066544"/>
            <a:ext cx="3429000" cy="237744"/>
          </a:xfrm>
          <a:prstGeom prst="rect">
            <a:avLst/>
          </a:prstGeom>
          <a:noFill/>
          <a:ln/>
        </p:spPr>
        <p:txBody>
          <a:bodyPr wrap="square" lIns="50800" tIns="50800" rIns="50800" bIns="50800" rtlCol="0" anchor="ctr"/>
          <a:lstStyle/>
          <a:p>
            <a:pPr marL="0" indent="0" algn="l">
              <a:buNone/>
            </a:pPr>
            <a:r>
              <a:rPr lang="en-US" sz="800" b="1" kern="0" spc="200" dirty="0">
                <a:solidFill>
                  <a:srgbClr val="C9A0E8"/>
                </a:solidFill>
                <a:latin typeface="Gill Sans MT" pitchFamily="34" charset="0"/>
                <a:ea typeface="Gill Sans MT" pitchFamily="34" charset="-122"/>
                <a:cs typeface="Gill Sans MT" pitchFamily="34" charset="-120"/>
              </a:rPr>
              <a:t>THEORY SAYS</a:t>
            </a:r>
            <a:endParaRPr lang="en-US" sz="800" dirty="0"/>
          </a:p>
        </p:txBody>
      </p:sp>
      <p:sp>
        <p:nvSpPr>
          <p:cNvPr id="26" name="Shape 23"/>
          <p:cNvSpPr/>
          <p:nvPr/>
        </p:nvSpPr>
        <p:spPr>
          <a:xfrm>
            <a:off x="4462272" y="2304288"/>
            <a:ext cx="3401568" cy="0"/>
          </a:xfrm>
          <a:prstGeom prst="line">
            <a:avLst/>
          </a:prstGeom>
          <a:noFill/>
          <a:ln w="19050">
            <a:solidFill>
              <a:srgbClr val="C9A0E8"/>
            </a:solidFill>
            <a:prstDash val="solid"/>
          </a:ln>
        </p:spPr>
        <p:txBody>
          <a:bodyPr/>
          <a:lstStyle/>
          <a:p>
            <a:endParaRPr lang="en-GB"/>
          </a:p>
        </p:txBody>
      </p:sp>
      <p:sp>
        <p:nvSpPr>
          <p:cNvPr id="27" name="Text 24"/>
          <p:cNvSpPr/>
          <p:nvPr/>
        </p:nvSpPr>
        <p:spPr>
          <a:xfrm>
            <a:off x="4462272" y="2359152"/>
            <a:ext cx="3429000" cy="1261872"/>
          </a:xfrm>
          <a:prstGeom prst="rect">
            <a:avLst/>
          </a:prstGeom>
          <a:noFill/>
          <a:ln/>
        </p:spPr>
        <p:txBody>
          <a:bodyPr wrap="square" lIns="50800" tIns="50800" rIns="50800" bIns="50800" rtlCol="0" anchor="t"/>
          <a:lstStyle/>
          <a:p>
            <a:pPr marL="0" indent="0" algn="l">
              <a:buNone/>
            </a:pPr>
            <a:r>
              <a:rPr lang="en-US" sz="1000" dirty="0">
                <a:solidFill>
                  <a:srgbClr val="B8C8D8"/>
                </a:solidFill>
                <a:latin typeface="Gill Sans MT" pitchFamily="34" charset="0"/>
                <a:ea typeface="Gill Sans MT" pitchFamily="34" charset="-122"/>
                <a:cs typeface="Gill Sans MT" pitchFamily="34" charset="-120"/>
              </a:rPr>
              <a:t>Organisational and national performance are shaped not only by internal resources or technology, but also by the wider institutional environment — rules, regulations, governance quality, norms, and enforcement systems.</a:t>
            </a:r>
            <a:endParaRPr lang="en-US" sz="1000" dirty="0"/>
          </a:p>
        </p:txBody>
      </p:sp>
      <p:sp>
        <p:nvSpPr>
          <p:cNvPr id="28" name="Text 25"/>
          <p:cNvSpPr/>
          <p:nvPr/>
        </p:nvSpPr>
        <p:spPr>
          <a:xfrm>
            <a:off x="4462272" y="3694176"/>
            <a:ext cx="3429000" cy="237744"/>
          </a:xfrm>
          <a:prstGeom prst="rect">
            <a:avLst/>
          </a:prstGeom>
          <a:noFill/>
          <a:ln/>
        </p:spPr>
        <p:txBody>
          <a:bodyPr wrap="square" lIns="50800" tIns="50800" rIns="50800" bIns="50800" rtlCol="0" anchor="ctr"/>
          <a:lstStyle/>
          <a:p>
            <a:pPr marL="0" indent="0" algn="l">
              <a:buNone/>
            </a:pPr>
            <a:r>
              <a:rPr lang="en-US" sz="800" b="1" kern="0" spc="200" dirty="0">
                <a:solidFill>
                  <a:srgbClr val="C9A0E8"/>
                </a:solidFill>
                <a:latin typeface="Gill Sans MT" pitchFamily="34" charset="0"/>
                <a:ea typeface="Gill Sans MT" pitchFamily="34" charset="-122"/>
                <a:cs typeface="Gill Sans MT" pitchFamily="34" charset="-120"/>
              </a:rPr>
              <a:t>PROPOSITION</a:t>
            </a:r>
            <a:endParaRPr lang="en-US" sz="800" dirty="0"/>
          </a:p>
        </p:txBody>
      </p:sp>
      <p:sp>
        <p:nvSpPr>
          <p:cNvPr id="29" name="Shape 26"/>
          <p:cNvSpPr/>
          <p:nvPr/>
        </p:nvSpPr>
        <p:spPr>
          <a:xfrm>
            <a:off x="4462272" y="3931920"/>
            <a:ext cx="3401568" cy="0"/>
          </a:xfrm>
          <a:prstGeom prst="line">
            <a:avLst/>
          </a:prstGeom>
          <a:noFill/>
          <a:ln w="19050">
            <a:solidFill>
              <a:srgbClr val="C9A0E8"/>
            </a:solidFill>
            <a:prstDash val="solid"/>
          </a:ln>
        </p:spPr>
        <p:txBody>
          <a:bodyPr/>
          <a:lstStyle/>
          <a:p>
            <a:endParaRPr lang="en-GB"/>
          </a:p>
        </p:txBody>
      </p:sp>
      <p:sp>
        <p:nvSpPr>
          <p:cNvPr id="30" name="Text 27"/>
          <p:cNvSpPr/>
          <p:nvPr/>
        </p:nvSpPr>
        <p:spPr>
          <a:xfrm>
            <a:off x="4462272" y="3986784"/>
            <a:ext cx="3429000" cy="640080"/>
          </a:xfrm>
          <a:prstGeom prst="rect">
            <a:avLst/>
          </a:prstGeom>
          <a:noFill/>
          <a:ln/>
        </p:spPr>
        <p:txBody>
          <a:bodyPr wrap="square" lIns="50800" tIns="50800" rIns="50800" bIns="50800" rtlCol="0" anchor="t"/>
          <a:lstStyle/>
          <a:p>
            <a:pPr marL="0" indent="0" algn="l">
              <a:buNone/>
            </a:pPr>
            <a:r>
              <a:rPr lang="en-US" sz="1050" dirty="0">
                <a:solidFill>
                  <a:srgbClr val="F5F5F0"/>
                </a:solidFill>
                <a:latin typeface="Gill Sans MT" pitchFamily="34" charset="0"/>
                <a:ea typeface="Gill Sans MT" pitchFamily="34" charset="-122"/>
                <a:cs typeface="Gill Sans MT" pitchFamily="34" charset="-120"/>
              </a:rPr>
              <a:t>Governance quality shapes SC efficiency AND moderates the AI–SC relationship</a:t>
            </a:r>
            <a:endParaRPr lang="en-US" sz="1050" dirty="0"/>
          </a:p>
        </p:txBody>
      </p:sp>
      <p:sp>
        <p:nvSpPr>
          <p:cNvPr id="31" name="Text 28"/>
          <p:cNvSpPr/>
          <p:nvPr/>
        </p:nvSpPr>
        <p:spPr>
          <a:xfrm>
            <a:off x="4462272" y="4700016"/>
            <a:ext cx="3429000" cy="237744"/>
          </a:xfrm>
          <a:prstGeom prst="rect">
            <a:avLst/>
          </a:prstGeom>
          <a:noFill/>
          <a:ln/>
        </p:spPr>
        <p:txBody>
          <a:bodyPr wrap="square" lIns="50800" tIns="50800" rIns="50800" bIns="50800" rtlCol="0" anchor="ctr"/>
          <a:lstStyle/>
          <a:p>
            <a:pPr marL="0" indent="0" algn="l">
              <a:buNone/>
            </a:pPr>
            <a:r>
              <a:rPr lang="en-US" sz="800" b="1" kern="0" spc="200" dirty="0">
                <a:solidFill>
                  <a:srgbClr val="C9A0E8"/>
                </a:solidFill>
                <a:latin typeface="Gill Sans MT" pitchFamily="34" charset="0"/>
                <a:ea typeface="Gill Sans MT" pitchFamily="34" charset="-122"/>
                <a:cs typeface="Gill Sans MT" pitchFamily="34" charset="-120"/>
              </a:rPr>
              <a:t>HYPOTHESIS</a:t>
            </a:r>
            <a:endParaRPr lang="en-US" sz="800" dirty="0"/>
          </a:p>
        </p:txBody>
      </p:sp>
      <p:sp>
        <p:nvSpPr>
          <p:cNvPr id="32" name="Shape 29"/>
          <p:cNvSpPr/>
          <p:nvPr/>
        </p:nvSpPr>
        <p:spPr>
          <a:xfrm>
            <a:off x="4462272" y="4937760"/>
            <a:ext cx="3401568" cy="0"/>
          </a:xfrm>
          <a:prstGeom prst="line">
            <a:avLst/>
          </a:prstGeom>
          <a:noFill/>
          <a:ln w="19050">
            <a:solidFill>
              <a:srgbClr val="C9A0E8"/>
            </a:solidFill>
            <a:prstDash val="solid"/>
          </a:ln>
        </p:spPr>
        <p:txBody>
          <a:bodyPr/>
          <a:lstStyle/>
          <a:p>
            <a:endParaRPr lang="en-GB"/>
          </a:p>
        </p:txBody>
      </p:sp>
      <p:sp>
        <p:nvSpPr>
          <p:cNvPr id="33" name="Text 30"/>
          <p:cNvSpPr/>
          <p:nvPr/>
        </p:nvSpPr>
        <p:spPr>
          <a:xfrm>
            <a:off x="4462272" y="4992624"/>
            <a:ext cx="3429000" cy="713232"/>
          </a:xfrm>
          <a:prstGeom prst="rect">
            <a:avLst/>
          </a:prstGeom>
          <a:noFill/>
          <a:ln/>
        </p:spPr>
        <p:txBody>
          <a:bodyPr wrap="square" lIns="50800" tIns="50800" rIns="50800" bIns="50800" rtlCol="0" anchor="t"/>
          <a:lstStyle/>
          <a:p>
            <a:pPr marL="0" indent="0" algn="l">
              <a:buNone/>
            </a:pPr>
            <a:r>
              <a:rPr lang="en-US" sz="1100" i="1" dirty="0">
                <a:solidFill>
                  <a:srgbClr val="F0C040"/>
                </a:solidFill>
                <a:latin typeface="Gill Sans MT" pitchFamily="34" charset="0"/>
                <a:ea typeface="Gill Sans MT" pitchFamily="34" charset="-122"/>
                <a:cs typeface="Gill Sans MT" pitchFamily="34" charset="-120"/>
              </a:rPr>
              <a:t>H1b: ξ₂ → η₁  | H1c: ξ₁×ξ₂ → η₁ (moderation)</a:t>
            </a:r>
            <a:endParaRPr lang="en-US" sz="1100" dirty="0"/>
          </a:p>
        </p:txBody>
      </p:sp>
      <p:sp>
        <p:nvSpPr>
          <p:cNvPr id="34" name="Shape 31"/>
          <p:cNvSpPr/>
          <p:nvPr/>
        </p:nvSpPr>
        <p:spPr>
          <a:xfrm>
            <a:off x="8229600" y="1261872"/>
            <a:ext cx="3749040" cy="5440680"/>
          </a:xfrm>
          <a:prstGeom prst="roundRect">
            <a:avLst>
              <a:gd name="adj" fmla="val 3415"/>
            </a:avLst>
          </a:prstGeom>
          <a:solidFill>
            <a:srgbClr val="040E08">
              <a:alpha val="60000"/>
            </a:srgbClr>
          </a:solidFill>
          <a:ln w="10160">
            <a:solidFill>
              <a:srgbClr val="56D68A">
                <a:alpha val="7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35" name="Shape 32"/>
          <p:cNvSpPr/>
          <p:nvPr/>
        </p:nvSpPr>
        <p:spPr>
          <a:xfrm>
            <a:off x="8229600" y="1261872"/>
            <a:ext cx="3749040" cy="777240"/>
          </a:xfrm>
          <a:prstGeom prst="roundRect">
            <a:avLst>
              <a:gd name="adj" fmla="val 14118"/>
            </a:avLst>
          </a:prstGeom>
          <a:solidFill>
            <a:srgbClr val="56D68A">
              <a:alpha val="38000"/>
            </a:srgbClr>
          </a:solidFill>
          <a:ln w="12700">
            <a:solidFill>
              <a:srgbClr val="56D68A"/>
            </a:solidFill>
            <a:prstDash val="solid"/>
          </a:ln>
        </p:spPr>
        <p:txBody>
          <a:bodyPr/>
          <a:lstStyle/>
          <a:p>
            <a:endParaRPr lang="en-GB"/>
          </a:p>
        </p:txBody>
      </p:sp>
      <p:sp>
        <p:nvSpPr>
          <p:cNvPr id="36" name="Text 33"/>
          <p:cNvSpPr/>
          <p:nvPr/>
        </p:nvSpPr>
        <p:spPr>
          <a:xfrm>
            <a:off x="8394192" y="1289304"/>
            <a:ext cx="3429000" cy="438912"/>
          </a:xfrm>
          <a:prstGeom prst="rect">
            <a:avLst/>
          </a:prstGeom>
          <a:noFill/>
          <a:ln/>
        </p:spPr>
        <p:txBody>
          <a:bodyPr wrap="square" lIns="50800" tIns="50800" rIns="50800" bIns="50800" rtlCol="0" anchor="ctr"/>
          <a:lstStyle/>
          <a:p>
            <a:pPr marL="0" indent="0" algn="l">
              <a:buNone/>
            </a:pPr>
            <a:r>
              <a:rPr lang="en-US" sz="1300" b="1" dirty="0">
                <a:solidFill>
                  <a:srgbClr val="FFFFFF"/>
                </a:solidFill>
                <a:latin typeface="Gill Sans MT" pitchFamily="34" charset="0"/>
                <a:ea typeface="Gill Sans MT" pitchFamily="34" charset="-122"/>
                <a:cs typeface="Gill Sans MT" pitchFamily="34" charset="-120"/>
              </a:rPr>
              <a:t>SC Performance Framework</a:t>
            </a:r>
            <a:endParaRPr lang="en-US" sz="1300" dirty="0"/>
          </a:p>
        </p:txBody>
      </p:sp>
      <p:sp>
        <p:nvSpPr>
          <p:cNvPr id="37" name="Text 34"/>
          <p:cNvSpPr/>
          <p:nvPr/>
        </p:nvSpPr>
        <p:spPr>
          <a:xfrm>
            <a:off x="8394192" y="1709928"/>
            <a:ext cx="3429000" cy="274320"/>
          </a:xfrm>
          <a:prstGeom prst="rect">
            <a:avLst/>
          </a:prstGeom>
          <a:noFill/>
          <a:ln/>
        </p:spPr>
        <p:txBody>
          <a:bodyPr wrap="square" lIns="50800" tIns="50800" rIns="50800" bIns="50800" rtlCol="0" anchor="ctr"/>
          <a:lstStyle/>
          <a:p>
            <a:pPr marL="0" indent="0" algn="l">
              <a:buNone/>
            </a:pPr>
            <a:r>
              <a:rPr lang="en-US" sz="850" i="1" kern="0" spc="50" dirty="0">
                <a:solidFill>
                  <a:srgbClr val="56D68A"/>
                </a:solidFill>
                <a:latin typeface="Gill Sans MT" pitchFamily="34" charset="0"/>
                <a:ea typeface="Gill Sans MT" pitchFamily="34" charset="-122"/>
                <a:cs typeface="Gill Sans MT" pitchFamily="34" charset="-120"/>
              </a:rPr>
              <a:t>Gunasekaran et al., 2004; Chan &amp; Qi, 2003; Beamon, 1999</a:t>
            </a:r>
            <a:endParaRPr lang="en-US" sz="850" dirty="0"/>
          </a:p>
        </p:txBody>
      </p:sp>
      <p:sp>
        <p:nvSpPr>
          <p:cNvPr id="38" name="Text 35"/>
          <p:cNvSpPr/>
          <p:nvPr/>
        </p:nvSpPr>
        <p:spPr>
          <a:xfrm>
            <a:off x="8394192" y="2066544"/>
            <a:ext cx="3429000" cy="237744"/>
          </a:xfrm>
          <a:prstGeom prst="rect">
            <a:avLst/>
          </a:prstGeom>
          <a:noFill/>
          <a:ln/>
        </p:spPr>
        <p:txBody>
          <a:bodyPr wrap="square" lIns="50800" tIns="50800" rIns="50800" bIns="50800" rtlCol="0" anchor="ctr"/>
          <a:lstStyle/>
          <a:p>
            <a:pPr marL="0" indent="0" algn="l">
              <a:buNone/>
            </a:pPr>
            <a:r>
              <a:rPr lang="en-US" sz="800" b="1" kern="0" spc="200" dirty="0">
                <a:solidFill>
                  <a:srgbClr val="56D68A"/>
                </a:solidFill>
                <a:latin typeface="Gill Sans MT" pitchFamily="34" charset="0"/>
                <a:ea typeface="Gill Sans MT" pitchFamily="34" charset="-122"/>
                <a:cs typeface="Gill Sans MT" pitchFamily="34" charset="-120"/>
              </a:rPr>
              <a:t>THEORY SAYS</a:t>
            </a:r>
            <a:endParaRPr lang="en-US" sz="800" dirty="0"/>
          </a:p>
        </p:txBody>
      </p:sp>
      <p:sp>
        <p:nvSpPr>
          <p:cNvPr id="39" name="Shape 36"/>
          <p:cNvSpPr/>
          <p:nvPr/>
        </p:nvSpPr>
        <p:spPr>
          <a:xfrm>
            <a:off x="8394192" y="2304288"/>
            <a:ext cx="3401568" cy="0"/>
          </a:xfrm>
          <a:prstGeom prst="line">
            <a:avLst/>
          </a:prstGeom>
          <a:noFill/>
          <a:ln w="19050">
            <a:solidFill>
              <a:srgbClr val="56D68A"/>
            </a:solidFill>
            <a:prstDash val="solid"/>
          </a:ln>
        </p:spPr>
        <p:txBody>
          <a:bodyPr/>
          <a:lstStyle/>
          <a:p>
            <a:endParaRPr lang="en-GB"/>
          </a:p>
        </p:txBody>
      </p:sp>
      <p:sp>
        <p:nvSpPr>
          <p:cNvPr id="40" name="Text 37"/>
          <p:cNvSpPr/>
          <p:nvPr/>
        </p:nvSpPr>
        <p:spPr>
          <a:xfrm>
            <a:off x="8394192" y="2359152"/>
            <a:ext cx="3429000" cy="1261872"/>
          </a:xfrm>
          <a:prstGeom prst="rect">
            <a:avLst/>
          </a:prstGeom>
          <a:noFill/>
          <a:ln/>
        </p:spPr>
        <p:txBody>
          <a:bodyPr wrap="square" lIns="50800" tIns="50800" rIns="50800" bIns="50800" rtlCol="0" anchor="t"/>
          <a:lstStyle/>
          <a:p>
            <a:pPr marL="0" indent="0" algn="l">
              <a:buNone/>
            </a:pPr>
            <a:r>
              <a:rPr lang="en-US" sz="1000" dirty="0">
                <a:solidFill>
                  <a:srgbClr val="B8C8D8"/>
                </a:solidFill>
                <a:latin typeface="Gill Sans MT" pitchFamily="34" charset="0"/>
                <a:ea typeface="Gill Sans MT" pitchFamily="34" charset="-122"/>
                <a:cs typeface="Gill Sans MT" pitchFamily="34" charset="-120"/>
              </a:rPr>
              <a:t>Effective supply chain performance is a multidimensional construct measured through logistics capabilities, efficiency, responsiveness, and reliability. Improvements in these dimensions contribute to superior organisational and economic outcomes.</a:t>
            </a:r>
            <a:endParaRPr lang="en-US" sz="1000" dirty="0"/>
          </a:p>
        </p:txBody>
      </p:sp>
      <p:sp>
        <p:nvSpPr>
          <p:cNvPr id="41" name="Text 38"/>
          <p:cNvSpPr/>
          <p:nvPr/>
        </p:nvSpPr>
        <p:spPr>
          <a:xfrm>
            <a:off x="8394192" y="3694176"/>
            <a:ext cx="3429000" cy="237744"/>
          </a:xfrm>
          <a:prstGeom prst="rect">
            <a:avLst/>
          </a:prstGeom>
          <a:noFill/>
          <a:ln/>
        </p:spPr>
        <p:txBody>
          <a:bodyPr wrap="square" lIns="50800" tIns="50800" rIns="50800" bIns="50800" rtlCol="0" anchor="ctr"/>
          <a:lstStyle/>
          <a:p>
            <a:pPr marL="0" indent="0" algn="l">
              <a:buNone/>
            </a:pPr>
            <a:r>
              <a:rPr lang="en-US" sz="800" b="1" kern="0" spc="200" dirty="0">
                <a:solidFill>
                  <a:srgbClr val="56D68A"/>
                </a:solidFill>
                <a:latin typeface="Gill Sans MT" pitchFamily="34" charset="0"/>
                <a:ea typeface="Gill Sans MT" pitchFamily="34" charset="-122"/>
                <a:cs typeface="Gill Sans MT" pitchFamily="34" charset="-120"/>
              </a:rPr>
              <a:t>PROPOSITION</a:t>
            </a:r>
            <a:endParaRPr lang="en-US" sz="800" dirty="0"/>
          </a:p>
        </p:txBody>
      </p:sp>
      <p:sp>
        <p:nvSpPr>
          <p:cNvPr id="42" name="Shape 39"/>
          <p:cNvSpPr/>
          <p:nvPr/>
        </p:nvSpPr>
        <p:spPr>
          <a:xfrm>
            <a:off x="8394192" y="3931920"/>
            <a:ext cx="3401568" cy="0"/>
          </a:xfrm>
          <a:prstGeom prst="line">
            <a:avLst/>
          </a:prstGeom>
          <a:noFill/>
          <a:ln w="19050">
            <a:solidFill>
              <a:srgbClr val="56D68A"/>
            </a:solidFill>
            <a:prstDash val="solid"/>
          </a:ln>
        </p:spPr>
        <p:txBody>
          <a:bodyPr/>
          <a:lstStyle/>
          <a:p>
            <a:endParaRPr lang="en-GB"/>
          </a:p>
        </p:txBody>
      </p:sp>
      <p:sp>
        <p:nvSpPr>
          <p:cNvPr id="43" name="Text 40"/>
          <p:cNvSpPr/>
          <p:nvPr/>
        </p:nvSpPr>
        <p:spPr>
          <a:xfrm>
            <a:off x="8394192" y="3986784"/>
            <a:ext cx="3429000" cy="640080"/>
          </a:xfrm>
          <a:prstGeom prst="rect">
            <a:avLst/>
          </a:prstGeom>
          <a:noFill/>
          <a:ln/>
        </p:spPr>
        <p:txBody>
          <a:bodyPr wrap="square" lIns="50800" tIns="50800" rIns="50800" bIns="50800" rtlCol="0" anchor="t"/>
          <a:lstStyle/>
          <a:p>
            <a:pPr marL="0" indent="0" algn="l">
              <a:buNone/>
            </a:pPr>
            <a:r>
              <a:rPr lang="en-US" sz="1050" dirty="0">
                <a:solidFill>
                  <a:srgbClr val="F5F5F0"/>
                </a:solidFill>
                <a:latin typeface="Gill Sans MT" pitchFamily="34" charset="0"/>
                <a:ea typeface="Gill Sans MT" pitchFamily="34" charset="-122"/>
                <a:cs typeface="Gill Sans MT" pitchFamily="34" charset="-120"/>
              </a:rPr>
              <a:t>SC performance is the transmission mechanism linking AI readiness to economic outcomes</a:t>
            </a:r>
            <a:endParaRPr lang="en-US" sz="1050" dirty="0"/>
          </a:p>
        </p:txBody>
      </p:sp>
      <p:sp>
        <p:nvSpPr>
          <p:cNvPr id="44" name="Text 41"/>
          <p:cNvSpPr/>
          <p:nvPr/>
        </p:nvSpPr>
        <p:spPr>
          <a:xfrm>
            <a:off x="8394192" y="4700016"/>
            <a:ext cx="3429000" cy="237744"/>
          </a:xfrm>
          <a:prstGeom prst="rect">
            <a:avLst/>
          </a:prstGeom>
          <a:noFill/>
          <a:ln/>
        </p:spPr>
        <p:txBody>
          <a:bodyPr wrap="square" lIns="50800" tIns="50800" rIns="50800" bIns="50800" rtlCol="0" anchor="ctr"/>
          <a:lstStyle/>
          <a:p>
            <a:pPr marL="0" indent="0" algn="l">
              <a:buNone/>
            </a:pPr>
            <a:r>
              <a:rPr lang="en-US" sz="800" b="1" kern="0" spc="200" dirty="0">
                <a:solidFill>
                  <a:srgbClr val="56D68A"/>
                </a:solidFill>
                <a:latin typeface="Gill Sans MT" pitchFamily="34" charset="0"/>
                <a:ea typeface="Gill Sans MT" pitchFamily="34" charset="-122"/>
                <a:cs typeface="Gill Sans MT" pitchFamily="34" charset="-120"/>
              </a:rPr>
              <a:t>HYPOTHESIS</a:t>
            </a:r>
            <a:endParaRPr lang="en-US" sz="800" dirty="0"/>
          </a:p>
        </p:txBody>
      </p:sp>
      <p:sp>
        <p:nvSpPr>
          <p:cNvPr id="45" name="Shape 42"/>
          <p:cNvSpPr/>
          <p:nvPr/>
        </p:nvSpPr>
        <p:spPr>
          <a:xfrm>
            <a:off x="8394192" y="4937760"/>
            <a:ext cx="3401568" cy="0"/>
          </a:xfrm>
          <a:prstGeom prst="line">
            <a:avLst/>
          </a:prstGeom>
          <a:noFill/>
          <a:ln w="19050">
            <a:solidFill>
              <a:srgbClr val="56D68A"/>
            </a:solidFill>
            <a:prstDash val="solid"/>
          </a:ln>
        </p:spPr>
        <p:txBody>
          <a:bodyPr/>
          <a:lstStyle/>
          <a:p>
            <a:endParaRPr lang="en-GB"/>
          </a:p>
        </p:txBody>
      </p:sp>
      <p:sp>
        <p:nvSpPr>
          <p:cNvPr id="46" name="Text 43"/>
          <p:cNvSpPr/>
          <p:nvPr/>
        </p:nvSpPr>
        <p:spPr>
          <a:xfrm>
            <a:off x="8394192" y="4992624"/>
            <a:ext cx="3429000" cy="713232"/>
          </a:xfrm>
          <a:prstGeom prst="rect">
            <a:avLst/>
          </a:prstGeom>
          <a:noFill/>
          <a:ln/>
        </p:spPr>
        <p:txBody>
          <a:bodyPr wrap="square" lIns="50800" tIns="50800" rIns="50800" bIns="50800" rtlCol="0" anchor="t"/>
          <a:lstStyle/>
          <a:p>
            <a:pPr marL="0" indent="0" algn="l">
              <a:buNone/>
            </a:pPr>
            <a:r>
              <a:rPr lang="en-US" sz="1100" i="1" dirty="0">
                <a:solidFill>
                  <a:srgbClr val="F0C040"/>
                </a:solidFill>
                <a:latin typeface="Gill Sans MT" pitchFamily="34" charset="0"/>
                <a:ea typeface="Gill Sans MT" pitchFamily="34" charset="-122"/>
                <a:cs typeface="Gill Sans MT" pitchFamily="34" charset="-120"/>
              </a:rPr>
              <a:t>H2a: η₁ mediates ξ₁ → η₂</a:t>
            </a:r>
            <a:endParaRPr lang="en-US" sz="1100" dirty="0"/>
          </a:p>
        </p:txBody>
      </p:sp>
      <p:sp>
        <p:nvSpPr>
          <p:cNvPr id="47" name="Text 44"/>
          <p:cNvSpPr/>
          <p:nvPr/>
        </p:nvSpPr>
        <p:spPr>
          <a:xfrm>
            <a:off x="11704320" y="6492240"/>
            <a:ext cx="365760" cy="274320"/>
          </a:xfrm>
          <a:prstGeom prst="rect">
            <a:avLst/>
          </a:prstGeom>
          <a:noFill/>
          <a:ln/>
        </p:spPr>
        <p:txBody>
          <a:bodyPr wrap="square" rtlCol="0" anchor="ctr"/>
          <a:lstStyle/>
          <a:p>
            <a:pPr marL="0" indent="0" algn="r">
              <a:buNone/>
            </a:pPr>
            <a:r>
              <a:rPr lang="en-US" sz="800" dirty="0">
                <a:solidFill>
                  <a:srgbClr val="B8C8D8"/>
                </a:solidFill>
                <a:latin typeface="Gill Sans MT" pitchFamily="34" charset="0"/>
                <a:ea typeface="Gill Sans MT" pitchFamily="34" charset="-122"/>
                <a:cs typeface="Gill Sans MT"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61520" cy="6858000"/>
          </a:xfrm>
          <a:prstGeom prst="rect">
            <a:avLst/>
          </a:prstGeom>
        </p:spPr>
      </p:pic>
      <p:sp>
        <p:nvSpPr>
          <p:cNvPr id="3" name="Shape 0"/>
          <p:cNvSpPr/>
          <p:nvPr/>
        </p:nvSpPr>
        <p:spPr>
          <a:xfrm>
            <a:off x="0" y="0"/>
            <a:ext cx="12161520" cy="1188720"/>
          </a:xfrm>
          <a:prstGeom prst="roundRect">
            <a:avLst>
              <a:gd name="adj" fmla="val 9231"/>
            </a:avLst>
          </a:prstGeom>
          <a:solidFill>
            <a:srgbClr val="050810">
              <a:alpha val="48000"/>
            </a:srgbClr>
          </a:solidFill>
          <a:ln w="3810">
            <a:solidFill>
              <a:srgbClr val="FFFFFF">
                <a:alpha val="12000"/>
              </a:srgbClr>
            </a:solidFill>
            <a:prstDash val="solid"/>
          </a:ln>
          <a:effectLst>
            <a:outerShdw blurRad="152400" dist="50800" dir="2700000" algn="bl" rotWithShape="0">
              <a:srgbClr val="000000">
                <a:alpha val="50000"/>
              </a:srgbClr>
            </a:outerShdw>
          </a:effectLst>
        </p:spPr>
        <p:txBody>
          <a:bodyPr/>
          <a:lstStyle/>
          <a:p>
            <a:endParaRPr lang="en-GB"/>
          </a:p>
        </p:txBody>
      </p:sp>
      <p:sp>
        <p:nvSpPr>
          <p:cNvPr id="4" name="Shape 1"/>
          <p:cNvSpPr/>
          <p:nvPr/>
        </p:nvSpPr>
        <p:spPr>
          <a:xfrm>
            <a:off x="365760" y="137160"/>
            <a:ext cx="2194560" cy="292608"/>
          </a:xfrm>
          <a:prstGeom prst="roundRect">
            <a:avLst>
              <a:gd name="adj" fmla="val 18750"/>
            </a:avLst>
          </a:prstGeom>
          <a:solidFill>
            <a:srgbClr val="000000">
              <a:alpha val="50000"/>
            </a:srgbClr>
          </a:solidFill>
          <a:ln w="19050">
            <a:solidFill>
              <a:srgbClr val="4ECDC4"/>
            </a:solidFill>
            <a:prstDash val="solid"/>
          </a:ln>
        </p:spPr>
        <p:txBody>
          <a:bodyPr/>
          <a:lstStyle/>
          <a:p>
            <a:endParaRPr lang="en-GB"/>
          </a:p>
        </p:txBody>
      </p:sp>
      <p:sp>
        <p:nvSpPr>
          <p:cNvPr id="5" name="Text 2"/>
          <p:cNvSpPr/>
          <p:nvPr/>
        </p:nvSpPr>
        <p:spPr>
          <a:xfrm>
            <a:off x="365760" y="137160"/>
            <a:ext cx="2194560" cy="292608"/>
          </a:xfrm>
          <a:prstGeom prst="rect">
            <a:avLst/>
          </a:prstGeom>
          <a:noFill/>
          <a:ln/>
        </p:spPr>
        <p:txBody>
          <a:bodyPr wrap="square" rtlCol="0" anchor="ctr"/>
          <a:lstStyle/>
          <a:p>
            <a:pPr marL="0" indent="0" algn="ctr">
              <a:buNone/>
            </a:pPr>
            <a:r>
              <a:rPr lang="en-US" sz="850" b="1" kern="0" spc="200" dirty="0">
                <a:solidFill>
                  <a:srgbClr val="4ECDC4"/>
                </a:solidFill>
                <a:latin typeface="Gill Sans MT" pitchFamily="34" charset="0"/>
                <a:ea typeface="Gill Sans MT" pitchFamily="34" charset="-122"/>
                <a:cs typeface="Gill Sans MT" pitchFamily="34" charset="-120"/>
              </a:rPr>
              <a:t>CONCEPTUAL MODEL</a:t>
            </a:r>
            <a:endParaRPr lang="en-US" sz="850" dirty="0"/>
          </a:p>
        </p:txBody>
      </p:sp>
      <p:sp>
        <p:nvSpPr>
          <p:cNvPr id="6" name="Text 3"/>
          <p:cNvSpPr/>
          <p:nvPr/>
        </p:nvSpPr>
        <p:spPr>
          <a:xfrm>
            <a:off x="365760" y="347472"/>
            <a:ext cx="10972800" cy="685800"/>
          </a:xfrm>
          <a:prstGeom prst="rect">
            <a:avLst/>
          </a:prstGeom>
          <a:noFill/>
          <a:ln/>
        </p:spPr>
        <p:txBody>
          <a:bodyPr wrap="square" lIns="50800" tIns="50800" rIns="50800" bIns="50800" rtlCol="0" anchor="ctr"/>
          <a:lstStyle/>
          <a:p>
            <a:pPr marL="0" indent="0" algn="l">
              <a:buNone/>
            </a:pPr>
            <a:r>
              <a:rPr lang="en-US" sz="2600" b="1" dirty="0">
                <a:solidFill>
                  <a:srgbClr val="FFFFFF"/>
                </a:solidFill>
                <a:latin typeface="Gill Sans MT" pitchFamily="34" charset="0"/>
                <a:ea typeface="Gill Sans MT" pitchFamily="34" charset="-122"/>
                <a:cs typeface="Gill Sans MT" pitchFamily="34" charset="-120"/>
              </a:rPr>
              <a:t>Structural Equation Model — Path Diagram</a:t>
            </a:r>
            <a:endParaRPr lang="en-US" sz="2600" dirty="0"/>
          </a:p>
        </p:txBody>
      </p:sp>
      <p:sp>
        <p:nvSpPr>
          <p:cNvPr id="7" name="Shape 4"/>
          <p:cNvSpPr/>
          <p:nvPr/>
        </p:nvSpPr>
        <p:spPr>
          <a:xfrm>
            <a:off x="365760" y="1115568"/>
            <a:ext cx="11430000" cy="0"/>
          </a:xfrm>
          <a:prstGeom prst="line">
            <a:avLst/>
          </a:prstGeom>
          <a:noFill/>
          <a:ln w="19050">
            <a:solidFill>
              <a:srgbClr val="4ECDC4"/>
            </a:solidFill>
            <a:prstDash val="solid"/>
          </a:ln>
        </p:spPr>
        <p:txBody>
          <a:bodyPr/>
          <a:lstStyle/>
          <a:p>
            <a:endParaRPr lang="en-GB"/>
          </a:p>
        </p:txBody>
      </p:sp>
      <p:sp>
        <p:nvSpPr>
          <p:cNvPr id="8" name="Shape 5"/>
          <p:cNvSpPr/>
          <p:nvPr/>
        </p:nvSpPr>
        <p:spPr>
          <a:xfrm flipV="1">
            <a:off x="3246120" y="1545336"/>
            <a:ext cx="274320" cy="512064"/>
          </a:xfrm>
          <a:prstGeom prst="line">
            <a:avLst/>
          </a:prstGeom>
          <a:noFill/>
          <a:ln w="15240">
            <a:solidFill>
              <a:srgbClr val="C9A0E8"/>
            </a:solidFill>
            <a:prstDash val="dash"/>
            <a:tailEnd type="arrow"/>
          </a:ln>
        </p:spPr>
        <p:txBody>
          <a:bodyPr/>
          <a:lstStyle/>
          <a:p>
            <a:endParaRPr lang="en-GB"/>
          </a:p>
        </p:txBody>
      </p:sp>
      <p:sp>
        <p:nvSpPr>
          <p:cNvPr id="9" name="Shape 6"/>
          <p:cNvSpPr/>
          <p:nvPr/>
        </p:nvSpPr>
        <p:spPr>
          <a:xfrm flipV="1">
            <a:off x="3246120" y="1901952"/>
            <a:ext cx="274320" cy="2167128"/>
          </a:xfrm>
          <a:prstGeom prst="line">
            <a:avLst/>
          </a:prstGeom>
          <a:noFill/>
          <a:ln w="15240">
            <a:solidFill>
              <a:srgbClr val="C9A0E8"/>
            </a:solidFill>
            <a:prstDash val="dash"/>
            <a:tailEnd type="arrow"/>
          </a:ln>
        </p:spPr>
        <p:txBody>
          <a:bodyPr/>
          <a:lstStyle/>
          <a:p>
            <a:endParaRPr lang="en-GB"/>
          </a:p>
        </p:txBody>
      </p:sp>
      <p:sp>
        <p:nvSpPr>
          <p:cNvPr id="10" name="Shape 7"/>
          <p:cNvSpPr/>
          <p:nvPr/>
        </p:nvSpPr>
        <p:spPr>
          <a:xfrm>
            <a:off x="3246120" y="2331720"/>
            <a:ext cx="1600200" cy="777240"/>
          </a:xfrm>
          <a:prstGeom prst="line">
            <a:avLst/>
          </a:prstGeom>
          <a:noFill/>
          <a:ln w="30480">
            <a:solidFill>
              <a:srgbClr val="6DAEDB"/>
            </a:solidFill>
            <a:prstDash val="solid"/>
            <a:tailEnd type="arrow"/>
          </a:ln>
        </p:spPr>
        <p:txBody>
          <a:bodyPr/>
          <a:lstStyle/>
          <a:p>
            <a:endParaRPr lang="en-GB"/>
          </a:p>
        </p:txBody>
      </p:sp>
      <p:sp>
        <p:nvSpPr>
          <p:cNvPr id="11" name="Shape 8"/>
          <p:cNvSpPr/>
          <p:nvPr/>
        </p:nvSpPr>
        <p:spPr>
          <a:xfrm flipV="1">
            <a:off x="3246120" y="3657600"/>
            <a:ext cx="1600200" cy="868680"/>
          </a:xfrm>
          <a:prstGeom prst="line">
            <a:avLst/>
          </a:prstGeom>
          <a:noFill/>
          <a:ln w="30480">
            <a:solidFill>
              <a:srgbClr val="C9A0E8"/>
            </a:solidFill>
            <a:prstDash val="solid"/>
            <a:tailEnd type="arrow"/>
          </a:ln>
        </p:spPr>
        <p:txBody>
          <a:bodyPr/>
          <a:lstStyle/>
          <a:p>
            <a:endParaRPr lang="en-GB"/>
          </a:p>
        </p:txBody>
      </p:sp>
      <p:sp>
        <p:nvSpPr>
          <p:cNvPr id="12" name="Shape 9"/>
          <p:cNvSpPr/>
          <p:nvPr/>
        </p:nvSpPr>
        <p:spPr>
          <a:xfrm>
            <a:off x="4462272" y="1901952"/>
            <a:ext cx="1298448" cy="978408"/>
          </a:xfrm>
          <a:prstGeom prst="line">
            <a:avLst/>
          </a:prstGeom>
          <a:noFill/>
          <a:ln w="22860">
            <a:solidFill>
              <a:srgbClr val="C9A0E8"/>
            </a:solidFill>
            <a:prstDash val="solid"/>
            <a:tailEnd type="arrow"/>
          </a:ln>
        </p:spPr>
        <p:txBody>
          <a:bodyPr/>
          <a:lstStyle/>
          <a:p>
            <a:endParaRPr lang="en-GB"/>
          </a:p>
        </p:txBody>
      </p:sp>
      <p:sp>
        <p:nvSpPr>
          <p:cNvPr id="13" name="Shape 10"/>
          <p:cNvSpPr/>
          <p:nvPr/>
        </p:nvSpPr>
        <p:spPr>
          <a:xfrm>
            <a:off x="7315200" y="3401568"/>
            <a:ext cx="1600200" cy="18288"/>
          </a:xfrm>
          <a:prstGeom prst="line">
            <a:avLst/>
          </a:prstGeom>
          <a:noFill/>
          <a:ln w="27940">
            <a:solidFill>
              <a:srgbClr val="F47A7A"/>
            </a:solidFill>
            <a:prstDash val="dash"/>
            <a:tailEnd type="arrow"/>
          </a:ln>
        </p:spPr>
        <p:txBody>
          <a:bodyPr/>
          <a:lstStyle/>
          <a:p>
            <a:endParaRPr lang="en-GB"/>
          </a:p>
        </p:txBody>
      </p:sp>
      <p:sp>
        <p:nvSpPr>
          <p:cNvPr id="14" name="Shape 11"/>
          <p:cNvSpPr/>
          <p:nvPr/>
        </p:nvSpPr>
        <p:spPr>
          <a:xfrm>
            <a:off x="3246120" y="2852928"/>
            <a:ext cx="5669280" cy="1078992"/>
          </a:xfrm>
          <a:prstGeom prst="line">
            <a:avLst/>
          </a:prstGeom>
          <a:noFill/>
          <a:ln w="22860">
            <a:solidFill>
              <a:srgbClr val="6DAEDB"/>
            </a:solidFill>
            <a:prstDash val="solid"/>
            <a:tailEnd type="arrow"/>
          </a:ln>
        </p:spPr>
        <p:txBody>
          <a:bodyPr/>
          <a:lstStyle/>
          <a:p>
            <a:endParaRPr lang="en-GB"/>
          </a:p>
        </p:txBody>
      </p:sp>
      <p:sp>
        <p:nvSpPr>
          <p:cNvPr id="15" name="Shape 12"/>
          <p:cNvSpPr/>
          <p:nvPr/>
        </p:nvSpPr>
        <p:spPr>
          <a:xfrm>
            <a:off x="777240" y="1805940"/>
            <a:ext cx="2468880" cy="1051560"/>
          </a:xfrm>
          <a:prstGeom prst="roundRect">
            <a:avLst>
              <a:gd name="adj" fmla="val 12174"/>
            </a:avLst>
          </a:prstGeom>
          <a:solidFill>
            <a:srgbClr val="030C18">
              <a:alpha val="65000"/>
            </a:srgbClr>
          </a:solidFill>
          <a:ln w="19050">
            <a:solidFill>
              <a:srgbClr val="6DAEDB">
                <a:alpha val="8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6" name="Text 13"/>
          <p:cNvSpPr/>
          <p:nvPr/>
        </p:nvSpPr>
        <p:spPr>
          <a:xfrm>
            <a:off x="868680" y="1851660"/>
            <a:ext cx="2286000" cy="546811"/>
          </a:xfrm>
          <a:prstGeom prst="rect">
            <a:avLst/>
          </a:prstGeom>
          <a:noFill/>
          <a:ln/>
        </p:spPr>
        <p:txBody>
          <a:bodyPr wrap="square" lIns="50800" tIns="50800" rIns="50800" bIns="50800" rtlCol="0" anchor="ctr"/>
          <a:lstStyle/>
          <a:p>
            <a:pPr marL="0" indent="0" algn="ctr">
              <a:buNone/>
            </a:pPr>
            <a:r>
              <a:rPr lang="en-US" sz="1800" b="1" dirty="0">
                <a:solidFill>
                  <a:srgbClr val="6DAEDB"/>
                </a:solidFill>
                <a:latin typeface="Gill Sans MT" pitchFamily="34" charset="0"/>
                <a:ea typeface="Gill Sans MT" pitchFamily="34" charset="-122"/>
                <a:cs typeface="Gill Sans MT" pitchFamily="34" charset="-120"/>
              </a:rPr>
              <a:t>ξ₁</a:t>
            </a:r>
            <a:endParaRPr lang="en-US" sz="1800" dirty="0"/>
          </a:p>
        </p:txBody>
      </p:sp>
      <p:sp>
        <p:nvSpPr>
          <p:cNvPr id="17" name="Text 14"/>
          <p:cNvSpPr/>
          <p:nvPr/>
        </p:nvSpPr>
        <p:spPr>
          <a:xfrm>
            <a:off x="868680" y="2310689"/>
            <a:ext cx="2286000" cy="294437"/>
          </a:xfrm>
          <a:prstGeom prst="rect">
            <a:avLst/>
          </a:prstGeom>
          <a:noFill/>
          <a:ln/>
        </p:spPr>
        <p:txBody>
          <a:bodyPr wrap="square" lIns="50800" tIns="50800" rIns="50800" bIns="50800" rtlCol="0" anchor="ctr"/>
          <a:lstStyle/>
          <a:p>
            <a:pPr marL="0" indent="0" algn="ctr">
              <a:buNone/>
            </a:pPr>
            <a:r>
              <a:rPr lang="en-US" sz="1100" b="1" dirty="0">
                <a:solidFill>
                  <a:srgbClr val="FFFFFF"/>
                </a:solidFill>
                <a:latin typeface="Gill Sans MT" pitchFamily="34" charset="0"/>
                <a:ea typeface="Gill Sans MT" pitchFamily="34" charset="-122"/>
                <a:cs typeface="Gill Sans MT" pitchFamily="34" charset="-120"/>
              </a:rPr>
              <a:t>AI Readiness</a:t>
            </a:r>
            <a:endParaRPr lang="en-US" sz="1100" dirty="0"/>
          </a:p>
        </p:txBody>
      </p:sp>
      <p:sp>
        <p:nvSpPr>
          <p:cNvPr id="18" name="Text 15"/>
          <p:cNvSpPr/>
          <p:nvPr/>
        </p:nvSpPr>
        <p:spPr>
          <a:xfrm>
            <a:off x="868680" y="2584094"/>
            <a:ext cx="2286000" cy="252374"/>
          </a:xfrm>
          <a:prstGeom prst="rect">
            <a:avLst/>
          </a:prstGeom>
          <a:noFill/>
          <a:ln/>
        </p:spPr>
        <p:txBody>
          <a:bodyPr wrap="square" lIns="50800" tIns="50800" rIns="50800" bIns="50800" rtlCol="0" anchor="ctr"/>
          <a:lstStyle/>
          <a:p>
            <a:pPr marL="0" indent="0" algn="ctr">
              <a:buNone/>
            </a:pPr>
            <a:r>
              <a:rPr lang="en-US" sz="850" i="1" dirty="0">
                <a:solidFill>
                  <a:srgbClr val="6DAEDB"/>
                </a:solidFill>
                <a:latin typeface="Gill Sans MT" pitchFamily="34" charset="0"/>
                <a:ea typeface="Gill Sans MT" pitchFamily="34" charset="-122"/>
                <a:cs typeface="Gill Sans MT" pitchFamily="34" charset="-120"/>
              </a:rPr>
              <a:t>Exogenous</a:t>
            </a:r>
            <a:endParaRPr lang="en-US" sz="850" dirty="0"/>
          </a:p>
        </p:txBody>
      </p:sp>
      <p:sp>
        <p:nvSpPr>
          <p:cNvPr id="19" name="Shape 16"/>
          <p:cNvSpPr/>
          <p:nvPr/>
        </p:nvSpPr>
        <p:spPr>
          <a:xfrm>
            <a:off x="777240" y="4000500"/>
            <a:ext cx="2468880" cy="1051560"/>
          </a:xfrm>
          <a:prstGeom prst="roundRect">
            <a:avLst>
              <a:gd name="adj" fmla="val 12174"/>
            </a:avLst>
          </a:prstGeom>
          <a:solidFill>
            <a:srgbClr val="030C18">
              <a:alpha val="65000"/>
            </a:srgbClr>
          </a:solidFill>
          <a:ln w="19050">
            <a:solidFill>
              <a:srgbClr val="C9A0E8">
                <a:alpha val="8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0" name="Text 17"/>
          <p:cNvSpPr/>
          <p:nvPr/>
        </p:nvSpPr>
        <p:spPr>
          <a:xfrm>
            <a:off x="868680" y="4046220"/>
            <a:ext cx="2286000" cy="546811"/>
          </a:xfrm>
          <a:prstGeom prst="rect">
            <a:avLst/>
          </a:prstGeom>
          <a:noFill/>
          <a:ln/>
        </p:spPr>
        <p:txBody>
          <a:bodyPr wrap="square" lIns="50800" tIns="50800" rIns="50800" bIns="50800" rtlCol="0" anchor="ctr"/>
          <a:lstStyle/>
          <a:p>
            <a:pPr marL="0" indent="0" algn="ctr">
              <a:buNone/>
            </a:pPr>
            <a:r>
              <a:rPr lang="en-US" sz="1800" b="1" dirty="0">
                <a:solidFill>
                  <a:srgbClr val="C9A0E8"/>
                </a:solidFill>
                <a:latin typeface="Gill Sans MT" pitchFamily="34" charset="0"/>
                <a:ea typeface="Gill Sans MT" pitchFamily="34" charset="-122"/>
                <a:cs typeface="Gill Sans MT" pitchFamily="34" charset="-120"/>
              </a:rPr>
              <a:t>ξ₂</a:t>
            </a:r>
            <a:endParaRPr lang="en-US" sz="1800" dirty="0"/>
          </a:p>
        </p:txBody>
      </p:sp>
      <p:sp>
        <p:nvSpPr>
          <p:cNvPr id="21" name="Text 18"/>
          <p:cNvSpPr/>
          <p:nvPr/>
        </p:nvSpPr>
        <p:spPr>
          <a:xfrm>
            <a:off x="868680" y="4505249"/>
            <a:ext cx="2286000" cy="294437"/>
          </a:xfrm>
          <a:prstGeom prst="rect">
            <a:avLst/>
          </a:prstGeom>
          <a:noFill/>
          <a:ln/>
        </p:spPr>
        <p:txBody>
          <a:bodyPr wrap="square" lIns="50800" tIns="50800" rIns="50800" bIns="50800" rtlCol="0" anchor="ctr"/>
          <a:lstStyle/>
          <a:p>
            <a:pPr marL="0" indent="0" algn="ctr">
              <a:buNone/>
            </a:pPr>
            <a:r>
              <a:rPr lang="en-US" sz="1100" b="1" dirty="0">
                <a:solidFill>
                  <a:srgbClr val="FFFFFF"/>
                </a:solidFill>
                <a:latin typeface="Gill Sans MT" pitchFamily="34" charset="0"/>
                <a:ea typeface="Gill Sans MT" pitchFamily="34" charset="-122"/>
                <a:cs typeface="Gill Sans MT" pitchFamily="34" charset="-120"/>
              </a:rPr>
              <a:t>Institutional Quality</a:t>
            </a:r>
            <a:endParaRPr lang="en-US" sz="1100" dirty="0"/>
          </a:p>
        </p:txBody>
      </p:sp>
      <p:sp>
        <p:nvSpPr>
          <p:cNvPr id="22" name="Text 19"/>
          <p:cNvSpPr/>
          <p:nvPr/>
        </p:nvSpPr>
        <p:spPr>
          <a:xfrm>
            <a:off x="868680" y="4778654"/>
            <a:ext cx="2286000" cy="252374"/>
          </a:xfrm>
          <a:prstGeom prst="rect">
            <a:avLst/>
          </a:prstGeom>
          <a:noFill/>
          <a:ln/>
        </p:spPr>
        <p:txBody>
          <a:bodyPr wrap="square" lIns="50800" tIns="50800" rIns="50800" bIns="50800" rtlCol="0" anchor="ctr"/>
          <a:lstStyle/>
          <a:p>
            <a:pPr marL="0" indent="0" algn="ctr">
              <a:buNone/>
            </a:pPr>
            <a:r>
              <a:rPr lang="en-US" sz="850" i="1" dirty="0">
                <a:solidFill>
                  <a:srgbClr val="C9A0E8"/>
                </a:solidFill>
                <a:latin typeface="Gill Sans MT" pitchFamily="34" charset="0"/>
                <a:ea typeface="Gill Sans MT" pitchFamily="34" charset="-122"/>
                <a:cs typeface="Gill Sans MT" pitchFamily="34" charset="-120"/>
              </a:rPr>
              <a:t>Exogenous / Moderator</a:t>
            </a:r>
            <a:endParaRPr lang="en-US" sz="850" dirty="0"/>
          </a:p>
        </p:txBody>
      </p:sp>
      <p:sp>
        <p:nvSpPr>
          <p:cNvPr id="23" name="Shape 20"/>
          <p:cNvSpPr/>
          <p:nvPr/>
        </p:nvSpPr>
        <p:spPr>
          <a:xfrm>
            <a:off x="4846320" y="2875788"/>
            <a:ext cx="2468880" cy="1051560"/>
          </a:xfrm>
          <a:prstGeom prst="roundRect">
            <a:avLst>
              <a:gd name="adj" fmla="val 12174"/>
            </a:avLst>
          </a:prstGeom>
          <a:solidFill>
            <a:srgbClr val="030C18">
              <a:alpha val="65000"/>
            </a:srgbClr>
          </a:solidFill>
          <a:ln w="19050">
            <a:solidFill>
              <a:srgbClr val="56D68A">
                <a:alpha val="8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4" name="Text 21"/>
          <p:cNvSpPr/>
          <p:nvPr/>
        </p:nvSpPr>
        <p:spPr>
          <a:xfrm>
            <a:off x="4937760" y="2921508"/>
            <a:ext cx="2286000" cy="546811"/>
          </a:xfrm>
          <a:prstGeom prst="rect">
            <a:avLst/>
          </a:prstGeom>
          <a:noFill/>
          <a:ln/>
        </p:spPr>
        <p:txBody>
          <a:bodyPr wrap="square" lIns="50800" tIns="50800" rIns="50800" bIns="50800" rtlCol="0" anchor="ctr"/>
          <a:lstStyle/>
          <a:p>
            <a:pPr marL="0" indent="0" algn="ctr">
              <a:buNone/>
            </a:pPr>
            <a:r>
              <a:rPr lang="en-US" sz="1800" b="1" dirty="0">
                <a:solidFill>
                  <a:srgbClr val="56D68A"/>
                </a:solidFill>
                <a:latin typeface="Gill Sans MT" pitchFamily="34" charset="0"/>
                <a:ea typeface="Gill Sans MT" pitchFamily="34" charset="-122"/>
                <a:cs typeface="Gill Sans MT" pitchFamily="34" charset="-120"/>
              </a:rPr>
              <a:t>η₁</a:t>
            </a:r>
            <a:endParaRPr lang="en-US" sz="1800" dirty="0"/>
          </a:p>
        </p:txBody>
      </p:sp>
      <p:sp>
        <p:nvSpPr>
          <p:cNvPr id="25" name="Text 22"/>
          <p:cNvSpPr/>
          <p:nvPr/>
        </p:nvSpPr>
        <p:spPr>
          <a:xfrm>
            <a:off x="4937760" y="3380537"/>
            <a:ext cx="2286000" cy="294437"/>
          </a:xfrm>
          <a:prstGeom prst="rect">
            <a:avLst/>
          </a:prstGeom>
          <a:noFill/>
          <a:ln/>
        </p:spPr>
        <p:txBody>
          <a:bodyPr wrap="square" lIns="50800" tIns="50800" rIns="50800" bIns="50800" rtlCol="0" anchor="ctr"/>
          <a:lstStyle/>
          <a:p>
            <a:pPr marL="0" indent="0" algn="ctr">
              <a:buNone/>
            </a:pPr>
            <a:r>
              <a:rPr lang="en-US" sz="1100" b="1" dirty="0">
                <a:solidFill>
                  <a:srgbClr val="FFFFFF"/>
                </a:solidFill>
                <a:latin typeface="Gill Sans MT" pitchFamily="34" charset="0"/>
                <a:ea typeface="Gill Sans MT" pitchFamily="34" charset="-122"/>
                <a:cs typeface="Gill Sans MT" pitchFamily="34" charset="-120"/>
              </a:rPr>
              <a:t>SC Performance</a:t>
            </a:r>
            <a:endParaRPr lang="en-US" sz="1100" dirty="0"/>
          </a:p>
        </p:txBody>
      </p:sp>
      <p:sp>
        <p:nvSpPr>
          <p:cNvPr id="26" name="Text 23"/>
          <p:cNvSpPr/>
          <p:nvPr/>
        </p:nvSpPr>
        <p:spPr>
          <a:xfrm>
            <a:off x="4937760" y="3653942"/>
            <a:ext cx="2286000" cy="252374"/>
          </a:xfrm>
          <a:prstGeom prst="rect">
            <a:avLst/>
          </a:prstGeom>
          <a:noFill/>
          <a:ln/>
        </p:spPr>
        <p:txBody>
          <a:bodyPr wrap="square" lIns="50800" tIns="50800" rIns="50800" bIns="50800" rtlCol="0" anchor="ctr"/>
          <a:lstStyle/>
          <a:p>
            <a:pPr marL="0" indent="0" algn="ctr">
              <a:buNone/>
            </a:pPr>
            <a:r>
              <a:rPr lang="en-US" sz="850" i="1" dirty="0">
                <a:solidFill>
                  <a:srgbClr val="56D68A"/>
                </a:solidFill>
                <a:latin typeface="Gill Sans MT" pitchFamily="34" charset="0"/>
                <a:ea typeface="Gill Sans MT" pitchFamily="34" charset="-122"/>
                <a:cs typeface="Gill Sans MT" pitchFamily="34" charset="-120"/>
              </a:rPr>
              <a:t>Endogenous / Mediator</a:t>
            </a:r>
            <a:endParaRPr lang="en-US" sz="850" dirty="0"/>
          </a:p>
        </p:txBody>
      </p:sp>
      <p:sp>
        <p:nvSpPr>
          <p:cNvPr id="27" name="Shape 24"/>
          <p:cNvSpPr/>
          <p:nvPr/>
        </p:nvSpPr>
        <p:spPr>
          <a:xfrm>
            <a:off x="8915400" y="2875788"/>
            <a:ext cx="2468880" cy="1051560"/>
          </a:xfrm>
          <a:prstGeom prst="roundRect">
            <a:avLst>
              <a:gd name="adj" fmla="val 12174"/>
            </a:avLst>
          </a:prstGeom>
          <a:solidFill>
            <a:srgbClr val="030C18">
              <a:alpha val="65000"/>
            </a:srgbClr>
          </a:solidFill>
          <a:ln w="19050">
            <a:solidFill>
              <a:srgbClr val="FFB347">
                <a:alpha val="8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8" name="Text 25"/>
          <p:cNvSpPr/>
          <p:nvPr/>
        </p:nvSpPr>
        <p:spPr>
          <a:xfrm>
            <a:off x="9006840" y="2921508"/>
            <a:ext cx="2286000" cy="546811"/>
          </a:xfrm>
          <a:prstGeom prst="rect">
            <a:avLst/>
          </a:prstGeom>
          <a:noFill/>
          <a:ln/>
        </p:spPr>
        <p:txBody>
          <a:bodyPr wrap="square" lIns="50800" tIns="50800" rIns="50800" bIns="50800" rtlCol="0" anchor="ctr"/>
          <a:lstStyle/>
          <a:p>
            <a:pPr marL="0" indent="0" algn="ctr">
              <a:buNone/>
            </a:pPr>
            <a:r>
              <a:rPr lang="en-US" sz="1800" b="1" dirty="0">
                <a:solidFill>
                  <a:srgbClr val="FFB347"/>
                </a:solidFill>
                <a:latin typeface="Gill Sans MT" pitchFamily="34" charset="0"/>
                <a:ea typeface="Gill Sans MT" pitchFamily="34" charset="-122"/>
                <a:cs typeface="Gill Sans MT" pitchFamily="34" charset="-120"/>
              </a:rPr>
              <a:t>η₂</a:t>
            </a:r>
            <a:endParaRPr lang="en-US" sz="1800" dirty="0"/>
          </a:p>
        </p:txBody>
      </p:sp>
      <p:sp>
        <p:nvSpPr>
          <p:cNvPr id="29" name="Text 26"/>
          <p:cNvSpPr/>
          <p:nvPr/>
        </p:nvSpPr>
        <p:spPr>
          <a:xfrm>
            <a:off x="9006840" y="3380537"/>
            <a:ext cx="2286000" cy="294437"/>
          </a:xfrm>
          <a:prstGeom prst="rect">
            <a:avLst/>
          </a:prstGeom>
          <a:noFill/>
          <a:ln/>
        </p:spPr>
        <p:txBody>
          <a:bodyPr wrap="square" lIns="50800" tIns="50800" rIns="50800" bIns="50800" rtlCol="0" anchor="ctr"/>
          <a:lstStyle/>
          <a:p>
            <a:pPr marL="0" indent="0" algn="ctr">
              <a:buNone/>
            </a:pPr>
            <a:r>
              <a:rPr lang="en-US" sz="1100" b="1" dirty="0">
                <a:solidFill>
                  <a:srgbClr val="FFFFFF"/>
                </a:solidFill>
                <a:latin typeface="Gill Sans MT" pitchFamily="34" charset="0"/>
                <a:ea typeface="Gill Sans MT" pitchFamily="34" charset="-122"/>
                <a:cs typeface="Gill Sans MT" pitchFamily="34" charset="-120"/>
              </a:rPr>
              <a:t>Economic Perf.</a:t>
            </a:r>
            <a:endParaRPr lang="en-US" sz="1100" dirty="0"/>
          </a:p>
        </p:txBody>
      </p:sp>
      <p:sp>
        <p:nvSpPr>
          <p:cNvPr id="30" name="Text 27"/>
          <p:cNvSpPr/>
          <p:nvPr/>
        </p:nvSpPr>
        <p:spPr>
          <a:xfrm>
            <a:off x="9006840" y="3653942"/>
            <a:ext cx="2286000" cy="252374"/>
          </a:xfrm>
          <a:prstGeom prst="rect">
            <a:avLst/>
          </a:prstGeom>
          <a:noFill/>
          <a:ln/>
        </p:spPr>
        <p:txBody>
          <a:bodyPr wrap="square" lIns="50800" tIns="50800" rIns="50800" bIns="50800" rtlCol="0" anchor="ctr"/>
          <a:lstStyle/>
          <a:p>
            <a:pPr marL="0" indent="0" algn="ctr">
              <a:buNone/>
            </a:pPr>
            <a:r>
              <a:rPr lang="en-US" sz="850" i="1" dirty="0">
                <a:solidFill>
                  <a:srgbClr val="FFB347"/>
                </a:solidFill>
                <a:latin typeface="Gill Sans MT" pitchFamily="34" charset="0"/>
                <a:ea typeface="Gill Sans MT" pitchFamily="34" charset="-122"/>
                <a:cs typeface="Gill Sans MT" pitchFamily="34" charset="-120"/>
              </a:rPr>
              <a:t>Endogenous</a:t>
            </a:r>
            <a:endParaRPr lang="en-US" sz="850" dirty="0"/>
          </a:p>
        </p:txBody>
      </p:sp>
      <p:sp>
        <p:nvSpPr>
          <p:cNvPr id="31" name="Shape 28"/>
          <p:cNvSpPr/>
          <p:nvPr/>
        </p:nvSpPr>
        <p:spPr>
          <a:xfrm>
            <a:off x="3520440" y="1188720"/>
            <a:ext cx="1143000" cy="713232"/>
          </a:xfrm>
          <a:prstGeom prst="roundRect">
            <a:avLst>
              <a:gd name="adj" fmla="val 7692"/>
            </a:avLst>
          </a:prstGeom>
          <a:solidFill>
            <a:srgbClr val="1A0A30">
              <a:alpha val="60000"/>
            </a:srgbClr>
          </a:solidFill>
          <a:ln w="15240">
            <a:solidFill>
              <a:srgbClr val="C9A0E8">
                <a:alpha val="7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32" name="Text 29"/>
          <p:cNvSpPr/>
          <p:nvPr/>
        </p:nvSpPr>
        <p:spPr>
          <a:xfrm>
            <a:off x="3520440" y="1207008"/>
            <a:ext cx="1143000" cy="347472"/>
          </a:xfrm>
          <a:prstGeom prst="rect">
            <a:avLst/>
          </a:prstGeom>
          <a:noFill/>
          <a:ln/>
        </p:spPr>
        <p:txBody>
          <a:bodyPr wrap="square" lIns="50800" tIns="50800" rIns="50800" bIns="50800" rtlCol="0" anchor="ctr"/>
          <a:lstStyle/>
          <a:p>
            <a:pPr marL="0" indent="0" algn="ctr">
              <a:buNone/>
            </a:pPr>
            <a:r>
              <a:rPr lang="en-US" sz="1100" b="1" dirty="0">
                <a:solidFill>
                  <a:srgbClr val="C9A0E8"/>
                </a:solidFill>
                <a:latin typeface="Gill Sans MT" pitchFamily="34" charset="0"/>
                <a:ea typeface="Gill Sans MT" pitchFamily="34" charset="-122"/>
                <a:cs typeface="Gill Sans MT" pitchFamily="34" charset="-120"/>
              </a:rPr>
              <a:t>ξ₁×ξ₂</a:t>
            </a:r>
            <a:endParaRPr lang="en-US" sz="1100" dirty="0"/>
          </a:p>
        </p:txBody>
      </p:sp>
      <p:sp>
        <p:nvSpPr>
          <p:cNvPr id="33" name="Text 30"/>
          <p:cNvSpPr/>
          <p:nvPr/>
        </p:nvSpPr>
        <p:spPr>
          <a:xfrm>
            <a:off x="3520440" y="1554480"/>
            <a:ext cx="1143000" cy="274320"/>
          </a:xfrm>
          <a:prstGeom prst="rect">
            <a:avLst/>
          </a:prstGeom>
          <a:noFill/>
          <a:ln/>
        </p:spPr>
        <p:txBody>
          <a:bodyPr wrap="square" lIns="50800" tIns="50800" rIns="50800" bIns="50800" rtlCol="0" anchor="ctr"/>
          <a:lstStyle/>
          <a:p>
            <a:pPr marL="0" indent="0" algn="ctr">
              <a:buNone/>
            </a:pPr>
            <a:r>
              <a:rPr lang="en-US" sz="800" i="1" dirty="0">
                <a:solidFill>
                  <a:srgbClr val="B8C8D8"/>
                </a:solidFill>
                <a:latin typeface="Gill Sans MT" pitchFamily="34" charset="0"/>
                <a:ea typeface="Gill Sans MT" pitchFamily="34" charset="-122"/>
                <a:cs typeface="Gill Sans MT" pitchFamily="34" charset="-120"/>
              </a:rPr>
              <a:t>Interaction</a:t>
            </a:r>
            <a:endParaRPr lang="en-US" sz="800" dirty="0"/>
          </a:p>
        </p:txBody>
      </p:sp>
      <p:sp>
        <p:nvSpPr>
          <p:cNvPr id="44" name="Shape 41"/>
          <p:cNvSpPr/>
          <p:nvPr/>
        </p:nvSpPr>
        <p:spPr>
          <a:xfrm>
            <a:off x="237744" y="5221224"/>
            <a:ext cx="3246120" cy="1545336"/>
          </a:xfrm>
          <a:prstGeom prst="roundRect">
            <a:avLst>
              <a:gd name="adj" fmla="val 4255"/>
            </a:avLst>
          </a:prstGeom>
          <a:solidFill>
            <a:srgbClr val="020810">
              <a:alpha val="62000"/>
            </a:srgbClr>
          </a:solidFill>
          <a:ln w="11430">
            <a:solidFill>
              <a:srgbClr val="4ECDC4">
                <a:alpha val="7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45" name="Shape 42"/>
          <p:cNvSpPr/>
          <p:nvPr/>
        </p:nvSpPr>
        <p:spPr>
          <a:xfrm>
            <a:off x="274320" y="5230368"/>
            <a:ext cx="0" cy="1481328"/>
          </a:xfrm>
          <a:prstGeom prst="line">
            <a:avLst/>
          </a:prstGeom>
          <a:noFill/>
          <a:ln w="44450">
            <a:solidFill>
              <a:srgbClr val="4ECDC4"/>
            </a:solidFill>
            <a:prstDash val="solid"/>
          </a:ln>
        </p:spPr>
        <p:txBody>
          <a:bodyPr/>
          <a:lstStyle/>
          <a:p>
            <a:endParaRPr lang="en-GB"/>
          </a:p>
        </p:txBody>
      </p:sp>
      <p:sp>
        <p:nvSpPr>
          <p:cNvPr id="46" name="Text 43"/>
          <p:cNvSpPr/>
          <p:nvPr/>
        </p:nvSpPr>
        <p:spPr>
          <a:xfrm>
            <a:off x="502920" y="5303520"/>
            <a:ext cx="2926080" cy="292608"/>
          </a:xfrm>
          <a:prstGeom prst="rect">
            <a:avLst/>
          </a:prstGeom>
          <a:noFill/>
          <a:ln/>
        </p:spPr>
        <p:txBody>
          <a:bodyPr wrap="square" lIns="50800" tIns="50800" rIns="50800" bIns="50800" rtlCol="0" anchor="ctr"/>
          <a:lstStyle/>
          <a:p>
            <a:pPr marL="0" indent="0" algn="l">
              <a:buNone/>
            </a:pPr>
            <a:r>
              <a:rPr lang="en-US" sz="800" b="1" kern="0" spc="200" dirty="0">
                <a:solidFill>
                  <a:srgbClr val="4ECDC4"/>
                </a:solidFill>
                <a:latin typeface="Gill Sans MT" pitchFamily="34" charset="0"/>
                <a:ea typeface="Gill Sans MT" pitchFamily="34" charset="-122"/>
                <a:cs typeface="Gill Sans MT" pitchFamily="34" charset="-120"/>
              </a:rPr>
              <a:t>LATENT CONSTRUCTS</a:t>
            </a:r>
            <a:endParaRPr lang="en-US" sz="800" dirty="0"/>
          </a:p>
        </p:txBody>
      </p:sp>
      <p:sp>
        <p:nvSpPr>
          <p:cNvPr id="47" name="Shape 44"/>
          <p:cNvSpPr/>
          <p:nvPr/>
        </p:nvSpPr>
        <p:spPr>
          <a:xfrm>
            <a:off x="502920" y="5614416"/>
            <a:ext cx="2697480" cy="0"/>
          </a:xfrm>
          <a:prstGeom prst="line">
            <a:avLst/>
          </a:prstGeom>
          <a:noFill/>
          <a:ln w="8890">
            <a:solidFill>
              <a:srgbClr val="4ECDC4">
                <a:alpha val="50000"/>
              </a:srgbClr>
            </a:solidFill>
            <a:prstDash val="solid"/>
          </a:ln>
        </p:spPr>
        <p:txBody>
          <a:bodyPr/>
          <a:lstStyle/>
          <a:p>
            <a:endParaRPr lang="en-GB"/>
          </a:p>
        </p:txBody>
      </p:sp>
      <p:sp>
        <p:nvSpPr>
          <p:cNvPr id="48" name="Text 45"/>
          <p:cNvSpPr/>
          <p:nvPr/>
        </p:nvSpPr>
        <p:spPr>
          <a:xfrm>
            <a:off x="530352" y="5630239"/>
            <a:ext cx="2834640" cy="402336"/>
          </a:xfrm>
          <a:prstGeom prst="rect">
            <a:avLst/>
          </a:prstGeom>
          <a:noFill/>
          <a:ln/>
        </p:spPr>
        <p:txBody>
          <a:bodyPr wrap="square" rtlCol="0" anchor="ctr"/>
          <a:lstStyle/>
          <a:p>
            <a:pPr marL="0" indent="0">
              <a:buNone/>
            </a:pPr>
            <a:r>
              <a:rPr lang="en-US" sz="800" b="1" dirty="0">
                <a:solidFill>
                  <a:srgbClr val="6DAEDB"/>
                </a:solidFill>
                <a:latin typeface="Gill Sans MT" pitchFamily="34" charset="0"/>
                <a:ea typeface="Gill Sans MT" pitchFamily="34" charset="-122"/>
                <a:cs typeface="Gill Sans MT" pitchFamily="34" charset="-120"/>
              </a:rPr>
              <a:t>ξ₁</a:t>
            </a:r>
            <a:r>
              <a:rPr lang="en-US" sz="800" dirty="0">
                <a:solidFill>
                  <a:srgbClr val="F5F5F0"/>
                </a:solidFill>
                <a:latin typeface="Gill Sans MT" pitchFamily="34" charset="0"/>
                <a:ea typeface="Gill Sans MT" pitchFamily="34" charset="-122"/>
                <a:cs typeface="Gill Sans MT" pitchFamily="34" charset="-120"/>
              </a:rPr>
              <a:t> AI Readiness</a:t>
            </a:r>
            <a:endParaRPr lang="en-US" sz="800" dirty="0"/>
          </a:p>
        </p:txBody>
      </p:sp>
      <p:sp>
        <p:nvSpPr>
          <p:cNvPr id="49" name="Text 46"/>
          <p:cNvSpPr/>
          <p:nvPr/>
        </p:nvSpPr>
        <p:spPr>
          <a:xfrm>
            <a:off x="530352" y="5865409"/>
            <a:ext cx="2834640" cy="402336"/>
          </a:xfrm>
          <a:prstGeom prst="rect">
            <a:avLst/>
          </a:prstGeom>
          <a:noFill/>
          <a:ln/>
        </p:spPr>
        <p:txBody>
          <a:bodyPr wrap="square" rtlCol="0" anchor="ctr"/>
          <a:lstStyle/>
          <a:p>
            <a:pPr marL="0" indent="0">
              <a:buNone/>
            </a:pPr>
            <a:r>
              <a:rPr lang="en-US" sz="800" b="1" dirty="0">
                <a:solidFill>
                  <a:srgbClr val="C9A0E8"/>
                </a:solidFill>
                <a:latin typeface="Gill Sans MT" pitchFamily="34" charset="0"/>
                <a:ea typeface="Gill Sans MT" pitchFamily="34" charset="-122"/>
                <a:cs typeface="Gill Sans MT" pitchFamily="34" charset="-120"/>
              </a:rPr>
              <a:t>ξ₂</a:t>
            </a:r>
            <a:r>
              <a:rPr lang="en-US" sz="800" dirty="0">
                <a:solidFill>
                  <a:srgbClr val="F5F5F0"/>
                </a:solidFill>
                <a:latin typeface="Gill Sans MT" pitchFamily="34" charset="0"/>
                <a:ea typeface="Gill Sans MT" pitchFamily="34" charset="-122"/>
                <a:cs typeface="Gill Sans MT" pitchFamily="34" charset="-120"/>
              </a:rPr>
              <a:t> Institutional Quality</a:t>
            </a:r>
            <a:endParaRPr lang="en-US" sz="800" dirty="0"/>
          </a:p>
        </p:txBody>
      </p:sp>
      <p:sp>
        <p:nvSpPr>
          <p:cNvPr id="50" name="Text 47"/>
          <p:cNvSpPr/>
          <p:nvPr/>
        </p:nvSpPr>
        <p:spPr>
          <a:xfrm>
            <a:off x="512065" y="6135157"/>
            <a:ext cx="2834640" cy="402336"/>
          </a:xfrm>
          <a:prstGeom prst="rect">
            <a:avLst/>
          </a:prstGeom>
          <a:noFill/>
          <a:ln/>
        </p:spPr>
        <p:txBody>
          <a:bodyPr wrap="square" rtlCol="0" anchor="ctr"/>
          <a:lstStyle/>
          <a:p>
            <a:pPr marL="0" indent="0">
              <a:buNone/>
            </a:pPr>
            <a:r>
              <a:rPr lang="en-US" sz="800" b="1" dirty="0">
                <a:solidFill>
                  <a:srgbClr val="56D68A"/>
                </a:solidFill>
                <a:latin typeface="Gill Sans MT" pitchFamily="34" charset="0"/>
                <a:ea typeface="Gill Sans MT" pitchFamily="34" charset="-122"/>
                <a:cs typeface="Gill Sans MT" pitchFamily="34" charset="-120"/>
              </a:rPr>
              <a:t>η₁</a:t>
            </a:r>
            <a:r>
              <a:rPr lang="en-US" sz="800" dirty="0">
                <a:solidFill>
                  <a:srgbClr val="F5F5F0"/>
                </a:solidFill>
                <a:latin typeface="Gill Sans MT" pitchFamily="34" charset="0"/>
                <a:ea typeface="Gill Sans MT" pitchFamily="34" charset="-122"/>
                <a:cs typeface="Gill Sans MT" pitchFamily="34" charset="-120"/>
              </a:rPr>
              <a:t> SC Performance</a:t>
            </a:r>
            <a:endParaRPr lang="en-US" sz="800" dirty="0"/>
          </a:p>
        </p:txBody>
      </p:sp>
      <p:sp>
        <p:nvSpPr>
          <p:cNvPr id="51" name="Text 48"/>
          <p:cNvSpPr/>
          <p:nvPr/>
        </p:nvSpPr>
        <p:spPr>
          <a:xfrm>
            <a:off x="493778" y="6393336"/>
            <a:ext cx="2834640" cy="402336"/>
          </a:xfrm>
          <a:prstGeom prst="rect">
            <a:avLst/>
          </a:prstGeom>
          <a:noFill/>
          <a:ln/>
        </p:spPr>
        <p:txBody>
          <a:bodyPr wrap="square" rtlCol="0" anchor="ctr"/>
          <a:lstStyle/>
          <a:p>
            <a:pPr marL="0" indent="0">
              <a:buNone/>
            </a:pPr>
            <a:r>
              <a:rPr lang="en-US" sz="800" b="1" dirty="0">
                <a:solidFill>
                  <a:srgbClr val="FFB347"/>
                </a:solidFill>
                <a:latin typeface="Gill Sans MT" pitchFamily="34" charset="0"/>
                <a:ea typeface="Gill Sans MT" pitchFamily="34" charset="-122"/>
                <a:cs typeface="Gill Sans MT" pitchFamily="34" charset="-120"/>
              </a:rPr>
              <a:t>η₂</a:t>
            </a:r>
            <a:r>
              <a:rPr lang="en-US" sz="800" dirty="0">
                <a:solidFill>
                  <a:srgbClr val="F5F5F0"/>
                </a:solidFill>
                <a:latin typeface="Gill Sans MT" pitchFamily="34" charset="0"/>
                <a:ea typeface="Gill Sans MT" pitchFamily="34" charset="-122"/>
                <a:cs typeface="Gill Sans MT" pitchFamily="34" charset="-120"/>
              </a:rPr>
              <a:t> Economic Performance</a:t>
            </a:r>
            <a:endParaRPr lang="en-US" sz="800" dirty="0"/>
          </a:p>
        </p:txBody>
      </p:sp>
      <p:sp>
        <p:nvSpPr>
          <p:cNvPr id="52" name="Shape 49"/>
          <p:cNvSpPr/>
          <p:nvPr/>
        </p:nvSpPr>
        <p:spPr>
          <a:xfrm>
            <a:off x="8691372" y="4361688"/>
            <a:ext cx="3067812" cy="2350008"/>
          </a:xfrm>
          <a:prstGeom prst="roundRect">
            <a:avLst>
              <a:gd name="adj" fmla="val 4255"/>
            </a:avLst>
          </a:prstGeom>
          <a:solidFill>
            <a:srgbClr val="020810">
              <a:alpha val="62000"/>
            </a:srgbClr>
          </a:solidFill>
          <a:ln w="11430">
            <a:solidFill>
              <a:srgbClr val="F0C040">
                <a:alpha val="7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53" name="Shape 50"/>
          <p:cNvSpPr/>
          <p:nvPr/>
        </p:nvSpPr>
        <p:spPr>
          <a:xfrm>
            <a:off x="8691372" y="4379976"/>
            <a:ext cx="0" cy="2331720"/>
          </a:xfrm>
          <a:prstGeom prst="line">
            <a:avLst/>
          </a:prstGeom>
          <a:noFill/>
          <a:ln w="44450">
            <a:solidFill>
              <a:srgbClr val="F0C040"/>
            </a:solidFill>
            <a:prstDash val="solid"/>
          </a:ln>
        </p:spPr>
        <p:txBody>
          <a:bodyPr/>
          <a:lstStyle/>
          <a:p>
            <a:endParaRPr lang="en-GB" dirty="0"/>
          </a:p>
        </p:txBody>
      </p:sp>
      <p:sp>
        <p:nvSpPr>
          <p:cNvPr id="54" name="Text 51"/>
          <p:cNvSpPr/>
          <p:nvPr/>
        </p:nvSpPr>
        <p:spPr>
          <a:xfrm>
            <a:off x="8934901" y="4491532"/>
            <a:ext cx="2926080" cy="292608"/>
          </a:xfrm>
          <a:prstGeom prst="rect">
            <a:avLst/>
          </a:prstGeom>
          <a:noFill/>
          <a:ln/>
        </p:spPr>
        <p:txBody>
          <a:bodyPr wrap="square" lIns="50800" tIns="50800" rIns="50800" bIns="50800" rtlCol="0" anchor="ctr"/>
          <a:lstStyle/>
          <a:p>
            <a:pPr marL="0" indent="0" algn="l">
              <a:buNone/>
            </a:pPr>
            <a:r>
              <a:rPr lang="en-US" sz="800" b="1" kern="0" spc="200" dirty="0">
                <a:solidFill>
                  <a:srgbClr val="F0C040"/>
                </a:solidFill>
                <a:latin typeface="Gill Sans MT" pitchFamily="34" charset="0"/>
                <a:ea typeface="Gill Sans MT" pitchFamily="34" charset="-122"/>
                <a:cs typeface="Gill Sans MT" pitchFamily="34" charset="-120"/>
              </a:rPr>
              <a:t>STRUCTURAL PATHS</a:t>
            </a:r>
            <a:endParaRPr lang="en-US" sz="800" dirty="0"/>
          </a:p>
        </p:txBody>
      </p:sp>
      <p:sp>
        <p:nvSpPr>
          <p:cNvPr id="55" name="Shape 52"/>
          <p:cNvSpPr/>
          <p:nvPr/>
        </p:nvSpPr>
        <p:spPr>
          <a:xfrm flipV="1">
            <a:off x="8851392" y="4754880"/>
            <a:ext cx="2697480" cy="23774"/>
          </a:xfrm>
          <a:prstGeom prst="line">
            <a:avLst/>
          </a:prstGeom>
          <a:noFill/>
          <a:ln w="8890">
            <a:solidFill>
              <a:srgbClr val="F0C040">
                <a:alpha val="50000"/>
              </a:srgbClr>
            </a:solidFill>
            <a:prstDash val="solid"/>
          </a:ln>
        </p:spPr>
        <p:txBody>
          <a:bodyPr/>
          <a:lstStyle/>
          <a:p>
            <a:endParaRPr lang="en-GB"/>
          </a:p>
        </p:txBody>
      </p:sp>
      <p:sp>
        <p:nvSpPr>
          <p:cNvPr id="56" name="Text 53"/>
          <p:cNvSpPr/>
          <p:nvPr/>
        </p:nvSpPr>
        <p:spPr>
          <a:xfrm>
            <a:off x="8887968" y="4857292"/>
            <a:ext cx="2907792" cy="402336"/>
          </a:xfrm>
          <a:prstGeom prst="rect">
            <a:avLst/>
          </a:prstGeom>
          <a:noFill/>
          <a:ln/>
        </p:spPr>
        <p:txBody>
          <a:bodyPr wrap="square" rtlCol="0" anchor="ctr"/>
          <a:lstStyle/>
          <a:p>
            <a:pPr marL="0" indent="0">
              <a:buNone/>
            </a:pPr>
            <a:r>
              <a:rPr lang="en-US" sz="800" b="1" dirty="0">
                <a:solidFill>
                  <a:srgbClr val="6DAEDB"/>
                </a:solidFill>
                <a:latin typeface="Gill Sans MT" pitchFamily="34" charset="0"/>
                <a:ea typeface="Gill Sans MT" pitchFamily="34" charset="-122"/>
                <a:cs typeface="Gill Sans MT" pitchFamily="34" charset="-120"/>
              </a:rPr>
              <a:t>ξ₁ → η₁  </a:t>
            </a:r>
            <a:r>
              <a:rPr lang="en-US" sz="800" dirty="0">
                <a:solidFill>
                  <a:srgbClr val="F5F5F0"/>
                </a:solidFill>
                <a:latin typeface="Gill Sans MT" pitchFamily="34" charset="0"/>
                <a:ea typeface="Gill Sans MT" pitchFamily="34" charset="-122"/>
                <a:cs typeface="Gill Sans MT" pitchFamily="34" charset="-120"/>
              </a:rPr>
              <a:t>AI → SC Performance</a:t>
            </a:r>
            <a:endParaRPr lang="en-US" sz="800" dirty="0"/>
          </a:p>
        </p:txBody>
      </p:sp>
      <p:sp>
        <p:nvSpPr>
          <p:cNvPr id="57" name="Text 54"/>
          <p:cNvSpPr/>
          <p:nvPr/>
        </p:nvSpPr>
        <p:spPr>
          <a:xfrm>
            <a:off x="8895432" y="5184648"/>
            <a:ext cx="2907792" cy="402336"/>
          </a:xfrm>
          <a:prstGeom prst="rect">
            <a:avLst/>
          </a:prstGeom>
          <a:noFill/>
          <a:ln/>
        </p:spPr>
        <p:txBody>
          <a:bodyPr wrap="square" rtlCol="0" anchor="ctr"/>
          <a:lstStyle/>
          <a:p>
            <a:pPr marL="0" indent="0">
              <a:buNone/>
            </a:pPr>
            <a:r>
              <a:rPr lang="en-US" sz="800" b="1" dirty="0">
                <a:solidFill>
                  <a:srgbClr val="C9A0E8"/>
                </a:solidFill>
                <a:latin typeface="Gill Sans MT" pitchFamily="34" charset="0"/>
                <a:ea typeface="Gill Sans MT" pitchFamily="34" charset="-122"/>
                <a:cs typeface="Gill Sans MT" pitchFamily="34" charset="-120"/>
              </a:rPr>
              <a:t>ξ₂ → η₁  </a:t>
            </a:r>
            <a:r>
              <a:rPr lang="en-US" sz="800" dirty="0">
                <a:solidFill>
                  <a:srgbClr val="F5F5F0"/>
                </a:solidFill>
                <a:latin typeface="Gill Sans MT" pitchFamily="34" charset="0"/>
                <a:ea typeface="Gill Sans MT" pitchFamily="34" charset="-122"/>
                <a:cs typeface="Gill Sans MT" pitchFamily="34" charset="-120"/>
              </a:rPr>
              <a:t>Institutions → SC</a:t>
            </a:r>
            <a:endParaRPr lang="en-US" sz="800" dirty="0"/>
          </a:p>
        </p:txBody>
      </p:sp>
      <p:sp>
        <p:nvSpPr>
          <p:cNvPr id="58" name="Text 55"/>
          <p:cNvSpPr/>
          <p:nvPr/>
        </p:nvSpPr>
        <p:spPr>
          <a:xfrm>
            <a:off x="8874252" y="5573268"/>
            <a:ext cx="2907792" cy="402336"/>
          </a:xfrm>
          <a:prstGeom prst="rect">
            <a:avLst/>
          </a:prstGeom>
          <a:noFill/>
          <a:ln/>
        </p:spPr>
        <p:txBody>
          <a:bodyPr wrap="square" rtlCol="0" anchor="ctr"/>
          <a:lstStyle/>
          <a:p>
            <a:pPr marL="0" indent="0">
              <a:buNone/>
            </a:pPr>
            <a:r>
              <a:rPr lang="en-US" sz="800" b="1" dirty="0">
                <a:solidFill>
                  <a:srgbClr val="C9A0E8"/>
                </a:solidFill>
                <a:latin typeface="Gill Sans MT" pitchFamily="34" charset="0"/>
                <a:ea typeface="Gill Sans MT" pitchFamily="34" charset="-122"/>
                <a:cs typeface="Gill Sans MT" pitchFamily="34" charset="-120"/>
              </a:rPr>
              <a:t>ξ₁×ξ₂→η₁  </a:t>
            </a:r>
            <a:r>
              <a:rPr lang="en-US" sz="800" dirty="0">
                <a:solidFill>
                  <a:srgbClr val="F5F5F0"/>
                </a:solidFill>
                <a:latin typeface="Gill Sans MT" pitchFamily="34" charset="0"/>
                <a:ea typeface="Gill Sans MT" pitchFamily="34" charset="-122"/>
                <a:cs typeface="Gill Sans MT" pitchFamily="34" charset="-120"/>
              </a:rPr>
              <a:t>Interaction → SC</a:t>
            </a:r>
            <a:endParaRPr lang="en-US" sz="800" dirty="0"/>
          </a:p>
        </p:txBody>
      </p:sp>
      <p:sp>
        <p:nvSpPr>
          <p:cNvPr id="59" name="Text 56"/>
          <p:cNvSpPr/>
          <p:nvPr/>
        </p:nvSpPr>
        <p:spPr>
          <a:xfrm>
            <a:off x="8895432" y="5879592"/>
            <a:ext cx="2907792" cy="402336"/>
          </a:xfrm>
          <a:prstGeom prst="rect">
            <a:avLst/>
          </a:prstGeom>
          <a:noFill/>
          <a:ln/>
        </p:spPr>
        <p:txBody>
          <a:bodyPr wrap="square" rtlCol="0" anchor="ctr"/>
          <a:lstStyle/>
          <a:p>
            <a:pPr marL="0" indent="0">
              <a:buNone/>
            </a:pPr>
            <a:r>
              <a:rPr lang="en-US" sz="800" b="1" dirty="0">
                <a:solidFill>
                  <a:srgbClr val="F47A7A"/>
                </a:solidFill>
                <a:latin typeface="Gill Sans MT" pitchFamily="34" charset="0"/>
                <a:ea typeface="Gill Sans MT" pitchFamily="34" charset="-122"/>
                <a:cs typeface="Gill Sans MT" pitchFamily="34" charset="-120"/>
              </a:rPr>
              <a:t>η₁ → η₂  </a:t>
            </a:r>
            <a:r>
              <a:rPr lang="en-US" sz="800" dirty="0">
                <a:solidFill>
                  <a:srgbClr val="F5F5F0"/>
                </a:solidFill>
                <a:latin typeface="Gill Sans MT" pitchFamily="34" charset="0"/>
                <a:ea typeface="Gill Sans MT" pitchFamily="34" charset="-122"/>
                <a:cs typeface="Gill Sans MT" pitchFamily="34" charset="-120"/>
              </a:rPr>
              <a:t>SC → Economy  </a:t>
            </a:r>
            <a:endParaRPr lang="en-US" sz="800" dirty="0"/>
          </a:p>
        </p:txBody>
      </p:sp>
      <p:sp>
        <p:nvSpPr>
          <p:cNvPr id="60" name="Text 57"/>
          <p:cNvSpPr/>
          <p:nvPr/>
        </p:nvSpPr>
        <p:spPr>
          <a:xfrm>
            <a:off x="8851392" y="6199632"/>
            <a:ext cx="2907792" cy="402336"/>
          </a:xfrm>
          <a:prstGeom prst="rect">
            <a:avLst/>
          </a:prstGeom>
          <a:noFill/>
          <a:ln/>
        </p:spPr>
        <p:txBody>
          <a:bodyPr wrap="square" rtlCol="0" anchor="ctr"/>
          <a:lstStyle/>
          <a:p>
            <a:pPr marL="0" indent="0">
              <a:buNone/>
            </a:pPr>
            <a:r>
              <a:rPr lang="en-US" sz="800" b="1" dirty="0">
                <a:solidFill>
                  <a:srgbClr val="6DAEDB"/>
                </a:solidFill>
                <a:latin typeface="Gill Sans MT" pitchFamily="34" charset="0"/>
                <a:ea typeface="Gill Sans MT" pitchFamily="34" charset="-122"/>
                <a:cs typeface="Gill Sans MT" pitchFamily="34" charset="-120"/>
              </a:rPr>
              <a:t>ξ₁ → η₂  </a:t>
            </a:r>
            <a:r>
              <a:rPr lang="en-US" sz="800" dirty="0">
                <a:solidFill>
                  <a:srgbClr val="F5F5F0"/>
                </a:solidFill>
                <a:latin typeface="Gill Sans MT" pitchFamily="34" charset="0"/>
                <a:ea typeface="Gill Sans MT" pitchFamily="34" charset="-122"/>
                <a:cs typeface="Gill Sans MT" pitchFamily="34" charset="-120"/>
              </a:rPr>
              <a:t>AI → Economy  (direct)</a:t>
            </a:r>
            <a:endParaRPr lang="en-US" sz="800" dirty="0"/>
          </a:p>
        </p:txBody>
      </p:sp>
      <p:sp>
        <p:nvSpPr>
          <p:cNvPr id="61" name="Shape 58"/>
          <p:cNvSpPr/>
          <p:nvPr/>
        </p:nvSpPr>
        <p:spPr>
          <a:xfrm>
            <a:off x="0" y="7088559"/>
            <a:ext cx="12070080" cy="566928"/>
          </a:xfrm>
          <a:prstGeom prst="roundRect">
            <a:avLst>
              <a:gd name="adj" fmla="val 31111"/>
            </a:avLst>
          </a:prstGeom>
          <a:solidFill>
            <a:srgbClr val="030818">
              <a:alpha val="55000"/>
            </a:srgbClr>
          </a:solidFill>
          <a:ln w="3810">
            <a:solidFill>
              <a:srgbClr val="B8C8D8">
                <a:alpha val="15000"/>
              </a:srgbClr>
            </a:solidFill>
            <a:prstDash val="solid"/>
          </a:ln>
          <a:effectLst>
            <a:outerShdw blurRad="190500" dist="63500" dir="2700000" algn="bl" rotWithShape="0">
              <a:srgbClr val="000000">
                <a:alpha val="45000"/>
              </a:srgbClr>
            </a:outerShdw>
          </a:effectLst>
        </p:spPr>
        <p:txBody>
          <a:bodyPr/>
          <a:lstStyle/>
          <a:p>
            <a:endParaRPr lang="en-GB" dirty="0"/>
          </a:p>
        </p:txBody>
      </p:sp>
      <p:sp>
        <p:nvSpPr>
          <p:cNvPr id="62" name="Text 59"/>
          <p:cNvSpPr/>
          <p:nvPr/>
        </p:nvSpPr>
        <p:spPr>
          <a:xfrm>
            <a:off x="472036" y="7209633"/>
            <a:ext cx="11430000" cy="365760"/>
          </a:xfrm>
          <a:prstGeom prst="rect">
            <a:avLst/>
          </a:prstGeom>
          <a:noFill/>
          <a:ln/>
        </p:spPr>
        <p:txBody>
          <a:bodyPr wrap="square" lIns="50800" tIns="50800" rIns="50800" bIns="50800" rtlCol="0" anchor="ctr"/>
          <a:lstStyle/>
          <a:p>
            <a:pPr marL="0" indent="0" algn="ctr">
              <a:buNone/>
            </a:pPr>
            <a:r>
              <a:rPr lang="en-US" sz="900" i="1" dirty="0">
                <a:solidFill>
                  <a:srgbClr val="B8C8D8"/>
                </a:solidFill>
                <a:latin typeface="Gill Sans MT" pitchFamily="34" charset="0"/>
                <a:ea typeface="Gill Sans MT" pitchFamily="34" charset="-122"/>
                <a:cs typeface="Gill Sans MT" pitchFamily="34" charset="-120"/>
              </a:rPr>
              <a:t>All constructs z-score standardised  |  n = 164 countries  |  OLS hierarchical regression</a:t>
            </a:r>
            <a:endParaRPr lang="en-US" sz="900" dirty="0"/>
          </a:p>
        </p:txBody>
      </p:sp>
      <p:sp>
        <p:nvSpPr>
          <p:cNvPr id="63" name="Text 60"/>
          <p:cNvSpPr/>
          <p:nvPr/>
        </p:nvSpPr>
        <p:spPr>
          <a:xfrm>
            <a:off x="11704320" y="6492240"/>
            <a:ext cx="365760" cy="274320"/>
          </a:xfrm>
          <a:prstGeom prst="rect">
            <a:avLst/>
          </a:prstGeom>
          <a:noFill/>
          <a:ln/>
        </p:spPr>
        <p:txBody>
          <a:bodyPr wrap="square" rtlCol="0" anchor="ctr"/>
          <a:lstStyle/>
          <a:p>
            <a:pPr marL="0" indent="0" algn="r">
              <a:buNone/>
            </a:pPr>
            <a:r>
              <a:rPr lang="en-US" sz="800" dirty="0">
                <a:solidFill>
                  <a:srgbClr val="B8C8D8"/>
                </a:solidFill>
                <a:latin typeface="Gill Sans MT" pitchFamily="34" charset="0"/>
                <a:ea typeface="Gill Sans MT" pitchFamily="34" charset="-122"/>
                <a:cs typeface="Gill Sans MT"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61520" cy="6858000"/>
          </a:xfrm>
          <a:prstGeom prst="rect">
            <a:avLst/>
          </a:prstGeom>
        </p:spPr>
      </p:pic>
      <p:sp>
        <p:nvSpPr>
          <p:cNvPr id="3" name="Shape 0"/>
          <p:cNvSpPr/>
          <p:nvPr/>
        </p:nvSpPr>
        <p:spPr>
          <a:xfrm>
            <a:off x="0" y="0"/>
            <a:ext cx="12161520" cy="1188720"/>
          </a:xfrm>
          <a:prstGeom prst="roundRect">
            <a:avLst>
              <a:gd name="adj" fmla="val 9231"/>
            </a:avLst>
          </a:prstGeom>
          <a:solidFill>
            <a:srgbClr val="050810">
              <a:alpha val="48000"/>
            </a:srgbClr>
          </a:solidFill>
          <a:ln w="3810">
            <a:solidFill>
              <a:srgbClr val="FFFFFF">
                <a:alpha val="12000"/>
              </a:srgbClr>
            </a:solidFill>
            <a:prstDash val="solid"/>
          </a:ln>
          <a:effectLst>
            <a:outerShdw blurRad="152400" dist="50800" dir="2700000" algn="bl" rotWithShape="0">
              <a:srgbClr val="000000">
                <a:alpha val="50000"/>
              </a:srgbClr>
            </a:outerShdw>
          </a:effectLst>
        </p:spPr>
        <p:txBody>
          <a:bodyPr/>
          <a:lstStyle/>
          <a:p>
            <a:endParaRPr lang="en-GB"/>
          </a:p>
        </p:txBody>
      </p:sp>
      <p:sp>
        <p:nvSpPr>
          <p:cNvPr id="4" name="Shape 1"/>
          <p:cNvSpPr/>
          <p:nvPr/>
        </p:nvSpPr>
        <p:spPr>
          <a:xfrm>
            <a:off x="365760" y="137160"/>
            <a:ext cx="2194560" cy="292608"/>
          </a:xfrm>
          <a:prstGeom prst="roundRect">
            <a:avLst>
              <a:gd name="adj" fmla="val 18750"/>
            </a:avLst>
          </a:prstGeom>
          <a:solidFill>
            <a:srgbClr val="000000">
              <a:alpha val="50000"/>
            </a:srgbClr>
          </a:solidFill>
          <a:ln w="19050">
            <a:solidFill>
              <a:srgbClr val="6DAEDB"/>
            </a:solidFill>
            <a:prstDash val="solid"/>
          </a:ln>
        </p:spPr>
        <p:txBody>
          <a:bodyPr/>
          <a:lstStyle/>
          <a:p>
            <a:endParaRPr lang="en-GB"/>
          </a:p>
        </p:txBody>
      </p:sp>
      <p:sp>
        <p:nvSpPr>
          <p:cNvPr id="5" name="Text 2"/>
          <p:cNvSpPr/>
          <p:nvPr/>
        </p:nvSpPr>
        <p:spPr>
          <a:xfrm>
            <a:off x="365760" y="137160"/>
            <a:ext cx="2194560" cy="292608"/>
          </a:xfrm>
          <a:prstGeom prst="rect">
            <a:avLst/>
          </a:prstGeom>
          <a:noFill/>
          <a:ln/>
        </p:spPr>
        <p:txBody>
          <a:bodyPr wrap="square" rtlCol="0" anchor="ctr"/>
          <a:lstStyle/>
          <a:p>
            <a:pPr marL="0" indent="0" algn="ctr">
              <a:buNone/>
            </a:pPr>
            <a:r>
              <a:rPr lang="en-US" sz="850" b="1" kern="0" spc="200" dirty="0">
                <a:solidFill>
                  <a:srgbClr val="6DAEDB"/>
                </a:solidFill>
                <a:latin typeface="Gill Sans MT" pitchFamily="34" charset="0"/>
                <a:ea typeface="Gill Sans MT" pitchFamily="34" charset="-122"/>
                <a:cs typeface="Gill Sans MT" pitchFamily="34" charset="-120"/>
              </a:rPr>
              <a:t>METHODOLOGY</a:t>
            </a:r>
            <a:endParaRPr lang="en-US" sz="850" dirty="0"/>
          </a:p>
        </p:txBody>
      </p:sp>
      <p:sp>
        <p:nvSpPr>
          <p:cNvPr id="6" name="Text 3"/>
          <p:cNvSpPr/>
          <p:nvPr/>
        </p:nvSpPr>
        <p:spPr>
          <a:xfrm>
            <a:off x="365760" y="347472"/>
            <a:ext cx="8229600" cy="685800"/>
          </a:xfrm>
          <a:prstGeom prst="rect">
            <a:avLst/>
          </a:prstGeom>
          <a:noFill/>
          <a:ln/>
        </p:spPr>
        <p:txBody>
          <a:bodyPr wrap="square" lIns="50800" tIns="50800" rIns="50800" bIns="50800" rtlCol="0" anchor="ctr"/>
          <a:lstStyle/>
          <a:p>
            <a:pPr marL="0" indent="0" algn="l">
              <a:buNone/>
            </a:pPr>
            <a:r>
              <a:rPr lang="en-US" sz="3000" b="1" dirty="0">
                <a:solidFill>
                  <a:srgbClr val="FFFFFF"/>
                </a:solidFill>
                <a:latin typeface="Gill Sans MT" pitchFamily="34" charset="0"/>
                <a:ea typeface="Gill Sans MT" pitchFamily="34" charset="-122"/>
                <a:cs typeface="Gill Sans MT" pitchFamily="34" charset="-120"/>
              </a:rPr>
              <a:t>Research Design</a:t>
            </a:r>
            <a:endParaRPr lang="en-US" sz="3000" dirty="0"/>
          </a:p>
        </p:txBody>
      </p:sp>
      <p:sp>
        <p:nvSpPr>
          <p:cNvPr id="7" name="Shape 4"/>
          <p:cNvSpPr/>
          <p:nvPr/>
        </p:nvSpPr>
        <p:spPr>
          <a:xfrm>
            <a:off x="365760" y="1115568"/>
            <a:ext cx="11430000" cy="0"/>
          </a:xfrm>
          <a:prstGeom prst="line">
            <a:avLst/>
          </a:prstGeom>
          <a:noFill/>
          <a:ln w="19050">
            <a:solidFill>
              <a:srgbClr val="6DAEDB"/>
            </a:solidFill>
            <a:prstDash val="solid"/>
          </a:ln>
        </p:spPr>
        <p:txBody>
          <a:bodyPr/>
          <a:lstStyle/>
          <a:p>
            <a:endParaRPr lang="en-GB"/>
          </a:p>
        </p:txBody>
      </p:sp>
      <p:sp>
        <p:nvSpPr>
          <p:cNvPr id="8" name="Shape 5"/>
          <p:cNvSpPr/>
          <p:nvPr/>
        </p:nvSpPr>
        <p:spPr>
          <a:xfrm>
            <a:off x="365760" y="1298448"/>
            <a:ext cx="7086600" cy="2121408"/>
          </a:xfrm>
          <a:prstGeom prst="roundRect">
            <a:avLst>
              <a:gd name="adj" fmla="val 6034"/>
            </a:avLst>
          </a:prstGeom>
          <a:solidFill>
            <a:srgbClr val="040C1A">
              <a:alpha val="62000"/>
            </a:srgbClr>
          </a:solidFill>
          <a:ln w="10160">
            <a:solidFill>
              <a:srgbClr val="6DAEDB">
                <a:alpha val="6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9" name="Shape 6"/>
          <p:cNvSpPr/>
          <p:nvPr/>
        </p:nvSpPr>
        <p:spPr>
          <a:xfrm>
            <a:off x="365760" y="1298448"/>
            <a:ext cx="0" cy="2121408"/>
          </a:xfrm>
          <a:prstGeom prst="line">
            <a:avLst/>
          </a:prstGeom>
          <a:noFill/>
          <a:ln w="50800">
            <a:solidFill>
              <a:srgbClr val="6DAEDB"/>
            </a:solidFill>
            <a:prstDash val="solid"/>
          </a:ln>
        </p:spPr>
        <p:txBody>
          <a:bodyPr/>
          <a:lstStyle/>
          <a:p>
            <a:endParaRPr lang="en-GB"/>
          </a:p>
        </p:txBody>
      </p:sp>
      <p:sp>
        <p:nvSpPr>
          <p:cNvPr id="10" name="Text 7"/>
          <p:cNvSpPr/>
          <p:nvPr/>
        </p:nvSpPr>
        <p:spPr>
          <a:xfrm>
            <a:off x="621792" y="1408176"/>
            <a:ext cx="6675120" cy="1883664"/>
          </a:xfrm>
          <a:prstGeom prst="rect">
            <a:avLst/>
          </a:prstGeom>
          <a:noFill/>
          <a:ln/>
        </p:spPr>
        <p:txBody>
          <a:bodyPr wrap="square" lIns="50800" tIns="50800" rIns="50800" bIns="50800" rtlCol="0" anchor="t"/>
          <a:lstStyle/>
          <a:p>
            <a:pPr marL="0" indent="0" algn="l">
              <a:buNone/>
            </a:pPr>
            <a:r>
              <a:rPr lang="en-US" sz="1250" dirty="0">
                <a:solidFill>
                  <a:srgbClr val="F5F5F0"/>
                </a:solidFill>
                <a:latin typeface="Gill Sans MT" pitchFamily="34" charset="0"/>
                <a:ea typeface="Gill Sans MT" pitchFamily="34" charset="-122"/>
                <a:cs typeface="Gill Sans MT" pitchFamily="34" charset="-120"/>
              </a:rPr>
              <a:t>A cross-national post-positivist pilot study drawing on secondary macro-level data from five open-access databases. Constructs are operationalised as z-standardised composites across 164 countries, estimated via OLS hierarchical regression — a deliberate pilot approximation of full latent-variable SEM — to validate structural relationships prior to full-scale Amos estimation.</a:t>
            </a:r>
            <a:endParaRPr lang="en-US" sz="1250" dirty="0"/>
          </a:p>
        </p:txBody>
      </p:sp>
      <p:sp>
        <p:nvSpPr>
          <p:cNvPr id="11" name="Shape 8"/>
          <p:cNvSpPr/>
          <p:nvPr/>
        </p:nvSpPr>
        <p:spPr>
          <a:xfrm>
            <a:off x="7662672" y="1316736"/>
            <a:ext cx="2121408" cy="950976"/>
          </a:xfrm>
          <a:prstGeom prst="roundRect">
            <a:avLst>
              <a:gd name="adj" fmla="val 11538"/>
            </a:avLst>
          </a:prstGeom>
          <a:solidFill>
            <a:srgbClr val="04080E">
              <a:alpha val="60000"/>
            </a:srgbClr>
          </a:solidFill>
          <a:ln w="10160">
            <a:solidFill>
              <a:srgbClr val="4ECDC4">
                <a:alpha val="6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2" name="Text 9"/>
          <p:cNvSpPr/>
          <p:nvPr/>
        </p:nvSpPr>
        <p:spPr>
          <a:xfrm>
            <a:off x="7790688" y="1371600"/>
            <a:ext cx="1883664" cy="457200"/>
          </a:xfrm>
          <a:prstGeom prst="rect">
            <a:avLst/>
          </a:prstGeom>
          <a:noFill/>
          <a:ln/>
        </p:spPr>
        <p:txBody>
          <a:bodyPr wrap="square" lIns="50800" tIns="50800" rIns="50800" bIns="50800" rtlCol="0" anchor="ctr"/>
          <a:lstStyle/>
          <a:p>
            <a:pPr marL="0" indent="0" algn="l">
              <a:buNone/>
            </a:pPr>
            <a:r>
              <a:rPr lang="en-US" sz="1450" b="1" dirty="0">
                <a:solidFill>
                  <a:srgbClr val="4ECDC4"/>
                </a:solidFill>
                <a:latin typeface="Gill Sans MT" pitchFamily="34" charset="0"/>
                <a:ea typeface="Gill Sans MT" pitchFamily="34" charset="-122"/>
                <a:cs typeface="Gill Sans MT" pitchFamily="34" charset="-120"/>
              </a:rPr>
              <a:t>164 Countries</a:t>
            </a:r>
            <a:endParaRPr lang="en-US" sz="1450" dirty="0"/>
          </a:p>
        </p:txBody>
      </p:sp>
      <p:sp>
        <p:nvSpPr>
          <p:cNvPr id="13" name="Text 10"/>
          <p:cNvSpPr/>
          <p:nvPr/>
        </p:nvSpPr>
        <p:spPr>
          <a:xfrm>
            <a:off x="7790688" y="1828800"/>
            <a:ext cx="1883664" cy="329184"/>
          </a:xfrm>
          <a:prstGeom prst="rect">
            <a:avLst/>
          </a:prstGeom>
          <a:noFill/>
          <a:ln/>
        </p:spPr>
        <p:txBody>
          <a:bodyPr wrap="square" lIns="50800" tIns="50800" rIns="50800" bIns="50800" rtlCol="0" anchor="ctr"/>
          <a:lstStyle/>
          <a:p>
            <a:pPr marL="0" indent="0" algn="l">
              <a:buNone/>
            </a:pPr>
            <a:r>
              <a:rPr lang="en-US" sz="950" i="1" dirty="0">
                <a:solidFill>
                  <a:srgbClr val="B8C8D8"/>
                </a:solidFill>
                <a:latin typeface="Gill Sans MT" pitchFamily="34" charset="0"/>
                <a:ea typeface="Gill Sans MT" pitchFamily="34" charset="-122"/>
                <a:cs typeface="Gill Sans MT" pitchFamily="34" charset="-120"/>
              </a:rPr>
              <a:t>Cross-national scope</a:t>
            </a:r>
            <a:endParaRPr lang="en-US" sz="950" dirty="0"/>
          </a:p>
        </p:txBody>
      </p:sp>
      <p:sp>
        <p:nvSpPr>
          <p:cNvPr id="14" name="Shape 11"/>
          <p:cNvSpPr/>
          <p:nvPr/>
        </p:nvSpPr>
        <p:spPr>
          <a:xfrm>
            <a:off x="9912096" y="1316736"/>
            <a:ext cx="2121408" cy="950976"/>
          </a:xfrm>
          <a:prstGeom prst="roundRect">
            <a:avLst>
              <a:gd name="adj" fmla="val 11538"/>
            </a:avLst>
          </a:prstGeom>
          <a:solidFill>
            <a:srgbClr val="04080E">
              <a:alpha val="60000"/>
            </a:srgbClr>
          </a:solidFill>
          <a:ln w="10160">
            <a:solidFill>
              <a:srgbClr val="6DAEDB">
                <a:alpha val="6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5" name="Text 12"/>
          <p:cNvSpPr/>
          <p:nvPr/>
        </p:nvSpPr>
        <p:spPr>
          <a:xfrm>
            <a:off x="10040112" y="1371600"/>
            <a:ext cx="1883664" cy="457200"/>
          </a:xfrm>
          <a:prstGeom prst="rect">
            <a:avLst/>
          </a:prstGeom>
          <a:noFill/>
          <a:ln/>
        </p:spPr>
        <p:txBody>
          <a:bodyPr wrap="square" lIns="50800" tIns="50800" rIns="50800" bIns="50800" rtlCol="0" anchor="ctr"/>
          <a:lstStyle/>
          <a:p>
            <a:pPr marL="0" indent="0" algn="l">
              <a:buNone/>
            </a:pPr>
            <a:r>
              <a:rPr lang="en-US" sz="1450" b="1" dirty="0">
                <a:solidFill>
                  <a:srgbClr val="6DAEDB"/>
                </a:solidFill>
                <a:latin typeface="Gill Sans MT" pitchFamily="34" charset="0"/>
                <a:ea typeface="Gill Sans MT" pitchFamily="34" charset="-122"/>
                <a:cs typeface="Gill Sans MT" pitchFamily="34" charset="-120"/>
              </a:rPr>
              <a:t>5 Databases</a:t>
            </a:r>
            <a:endParaRPr lang="en-US" sz="1450" dirty="0"/>
          </a:p>
        </p:txBody>
      </p:sp>
      <p:sp>
        <p:nvSpPr>
          <p:cNvPr id="16" name="Text 13"/>
          <p:cNvSpPr/>
          <p:nvPr/>
        </p:nvSpPr>
        <p:spPr>
          <a:xfrm>
            <a:off x="10040112" y="1828800"/>
            <a:ext cx="1883664" cy="329184"/>
          </a:xfrm>
          <a:prstGeom prst="rect">
            <a:avLst/>
          </a:prstGeom>
          <a:noFill/>
          <a:ln/>
        </p:spPr>
        <p:txBody>
          <a:bodyPr wrap="square" lIns="50800" tIns="50800" rIns="50800" bIns="50800" rtlCol="0" anchor="ctr"/>
          <a:lstStyle/>
          <a:p>
            <a:pPr marL="0" indent="0" algn="l">
              <a:buNone/>
            </a:pPr>
            <a:r>
              <a:rPr lang="en-US" sz="800" i="1" dirty="0">
                <a:solidFill>
                  <a:srgbClr val="B8C8D8"/>
                </a:solidFill>
                <a:latin typeface="Gill Sans MT" pitchFamily="34" charset="0"/>
                <a:ea typeface="Gill Sans MT" pitchFamily="34" charset="-122"/>
                <a:cs typeface="Gill Sans MT" pitchFamily="34" charset="-120"/>
              </a:rPr>
              <a:t>Oxford · ITU· WB-LPI · WB-WGI </a:t>
            </a:r>
            <a:r>
              <a:rPr lang="en-US" sz="800" i="1" dirty="0" err="1">
                <a:solidFill>
                  <a:srgbClr val="B8C8D8"/>
                </a:solidFill>
                <a:latin typeface="Gill Sans MT" pitchFamily="34" charset="0"/>
                <a:ea typeface="Gill Sans MT" pitchFamily="34" charset="-122"/>
                <a:cs typeface="Gill Sans MT" pitchFamily="34" charset="-120"/>
              </a:rPr>
              <a:t>WB-WGI</a:t>
            </a:r>
            <a:endParaRPr lang="en-US" sz="800" dirty="0"/>
          </a:p>
        </p:txBody>
      </p:sp>
      <p:sp>
        <p:nvSpPr>
          <p:cNvPr id="17" name="Shape 14"/>
          <p:cNvSpPr/>
          <p:nvPr/>
        </p:nvSpPr>
        <p:spPr>
          <a:xfrm>
            <a:off x="7662672" y="2414016"/>
            <a:ext cx="2121408" cy="950976"/>
          </a:xfrm>
          <a:prstGeom prst="roundRect">
            <a:avLst>
              <a:gd name="adj" fmla="val 11538"/>
            </a:avLst>
          </a:prstGeom>
          <a:solidFill>
            <a:srgbClr val="04080E">
              <a:alpha val="60000"/>
            </a:srgbClr>
          </a:solidFill>
          <a:ln w="10160">
            <a:solidFill>
              <a:srgbClr val="F0C040">
                <a:alpha val="6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8" name="Text 15"/>
          <p:cNvSpPr/>
          <p:nvPr/>
        </p:nvSpPr>
        <p:spPr>
          <a:xfrm>
            <a:off x="7790688" y="2468880"/>
            <a:ext cx="1883664" cy="457200"/>
          </a:xfrm>
          <a:prstGeom prst="rect">
            <a:avLst/>
          </a:prstGeom>
          <a:noFill/>
          <a:ln/>
        </p:spPr>
        <p:txBody>
          <a:bodyPr wrap="square" lIns="50800" tIns="50800" rIns="50800" bIns="50800" rtlCol="0" anchor="ctr"/>
          <a:lstStyle/>
          <a:p>
            <a:pPr marL="0" indent="0" algn="l">
              <a:buNone/>
            </a:pPr>
            <a:r>
              <a:rPr lang="en-US" sz="1450" b="1" dirty="0">
                <a:solidFill>
                  <a:srgbClr val="F0C040"/>
                </a:solidFill>
                <a:latin typeface="Gill Sans MT" pitchFamily="34" charset="0"/>
                <a:ea typeface="Gill Sans MT" pitchFamily="34" charset="-122"/>
                <a:cs typeface="Gill Sans MT" pitchFamily="34" charset="-120"/>
              </a:rPr>
              <a:t>2022 – 23</a:t>
            </a:r>
            <a:endParaRPr lang="en-US" sz="1450" dirty="0"/>
          </a:p>
        </p:txBody>
      </p:sp>
      <p:sp>
        <p:nvSpPr>
          <p:cNvPr id="19" name="Text 16"/>
          <p:cNvSpPr/>
          <p:nvPr/>
        </p:nvSpPr>
        <p:spPr>
          <a:xfrm>
            <a:off x="7790688" y="2926080"/>
            <a:ext cx="1883664" cy="329184"/>
          </a:xfrm>
          <a:prstGeom prst="rect">
            <a:avLst/>
          </a:prstGeom>
          <a:noFill/>
          <a:ln/>
        </p:spPr>
        <p:txBody>
          <a:bodyPr wrap="square" lIns="50800" tIns="50800" rIns="50800" bIns="50800" rtlCol="0" anchor="ctr"/>
          <a:lstStyle/>
          <a:p>
            <a:pPr marL="0" indent="0" algn="l">
              <a:buNone/>
            </a:pPr>
            <a:r>
              <a:rPr lang="en-US" sz="950" i="1" dirty="0">
                <a:solidFill>
                  <a:srgbClr val="B8C8D8"/>
                </a:solidFill>
                <a:latin typeface="Gill Sans MT" pitchFamily="34" charset="0"/>
                <a:ea typeface="Gill Sans MT" pitchFamily="34" charset="-122"/>
                <a:cs typeface="Gill Sans MT" pitchFamily="34" charset="-120"/>
              </a:rPr>
              <a:t>Cross-sectional horizon</a:t>
            </a:r>
            <a:endParaRPr lang="en-US" sz="950" dirty="0"/>
          </a:p>
        </p:txBody>
      </p:sp>
      <p:sp>
        <p:nvSpPr>
          <p:cNvPr id="20" name="Shape 17"/>
          <p:cNvSpPr/>
          <p:nvPr/>
        </p:nvSpPr>
        <p:spPr>
          <a:xfrm>
            <a:off x="9912096" y="2414016"/>
            <a:ext cx="2121408" cy="950976"/>
          </a:xfrm>
          <a:prstGeom prst="roundRect">
            <a:avLst>
              <a:gd name="adj" fmla="val 11538"/>
            </a:avLst>
          </a:prstGeom>
          <a:solidFill>
            <a:srgbClr val="04080E">
              <a:alpha val="60000"/>
            </a:srgbClr>
          </a:solidFill>
          <a:ln w="10160">
            <a:solidFill>
              <a:srgbClr val="FFB347">
                <a:alpha val="6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1" name="Text 18"/>
          <p:cNvSpPr/>
          <p:nvPr/>
        </p:nvSpPr>
        <p:spPr>
          <a:xfrm>
            <a:off x="10040112" y="2468880"/>
            <a:ext cx="1883664" cy="457200"/>
          </a:xfrm>
          <a:prstGeom prst="rect">
            <a:avLst/>
          </a:prstGeom>
          <a:noFill/>
          <a:ln/>
        </p:spPr>
        <p:txBody>
          <a:bodyPr wrap="square" lIns="50800" tIns="50800" rIns="50800" bIns="50800" rtlCol="0" anchor="ctr"/>
          <a:lstStyle/>
          <a:p>
            <a:pPr marL="0" indent="0" algn="l">
              <a:buNone/>
            </a:pPr>
            <a:r>
              <a:rPr lang="en-US" sz="1450" b="1" dirty="0">
                <a:solidFill>
                  <a:srgbClr val="FFB347"/>
                </a:solidFill>
                <a:latin typeface="Gill Sans MT" pitchFamily="34" charset="0"/>
                <a:ea typeface="Gill Sans MT" pitchFamily="34" charset="-122"/>
                <a:cs typeface="Gill Sans MT" pitchFamily="34" charset="-120"/>
              </a:rPr>
              <a:t>IBM SPSS v29</a:t>
            </a:r>
            <a:endParaRPr lang="en-US" sz="1450" dirty="0"/>
          </a:p>
        </p:txBody>
      </p:sp>
      <p:sp>
        <p:nvSpPr>
          <p:cNvPr id="22" name="Text 19"/>
          <p:cNvSpPr/>
          <p:nvPr/>
        </p:nvSpPr>
        <p:spPr>
          <a:xfrm>
            <a:off x="10040112" y="2926080"/>
            <a:ext cx="1883664" cy="329184"/>
          </a:xfrm>
          <a:prstGeom prst="rect">
            <a:avLst/>
          </a:prstGeom>
          <a:noFill/>
          <a:ln/>
        </p:spPr>
        <p:txBody>
          <a:bodyPr wrap="square" lIns="50800" tIns="50800" rIns="50800" bIns="50800" rtlCol="0" anchor="ctr"/>
          <a:lstStyle/>
          <a:p>
            <a:pPr marL="0" indent="0" algn="l">
              <a:buNone/>
            </a:pPr>
            <a:r>
              <a:rPr lang="en-US" sz="950" i="1" dirty="0">
                <a:solidFill>
                  <a:srgbClr val="B8C8D8"/>
                </a:solidFill>
                <a:latin typeface="Gill Sans MT" pitchFamily="34" charset="0"/>
                <a:ea typeface="Gill Sans MT" pitchFamily="34" charset="-122"/>
                <a:cs typeface="Gill Sans MT" pitchFamily="34" charset="-120"/>
              </a:rPr>
              <a:t>+ Python pipeline</a:t>
            </a:r>
            <a:endParaRPr lang="en-US" sz="950" dirty="0"/>
          </a:p>
        </p:txBody>
      </p:sp>
      <p:sp>
        <p:nvSpPr>
          <p:cNvPr id="23" name="Shape 20"/>
          <p:cNvSpPr/>
          <p:nvPr/>
        </p:nvSpPr>
        <p:spPr>
          <a:xfrm>
            <a:off x="365760" y="3639312"/>
            <a:ext cx="2834640" cy="2423160"/>
          </a:xfrm>
          <a:prstGeom prst="roundRect">
            <a:avLst>
              <a:gd name="adj" fmla="val 4528"/>
            </a:avLst>
          </a:prstGeom>
          <a:solidFill>
            <a:srgbClr val="040810">
              <a:alpha val="58000"/>
            </a:srgbClr>
          </a:solidFill>
          <a:ln w="7620">
            <a:solidFill>
              <a:srgbClr val="6DAEDB">
                <a:alpha val="58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4" name="Shape 21"/>
          <p:cNvSpPr/>
          <p:nvPr/>
        </p:nvSpPr>
        <p:spPr>
          <a:xfrm>
            <a:off x="365760" y="3639312"/>
            <a:ext cx="2834640" cy="475488"/>
          </a:xfrm>
          <a:prstGeom prst="roundRect">
            <a:avLst>
              <a:gd name="adj" fmla="val 23077"/>
            </a:avLst>
          </a:prstGeom>
          <a:solidFill>
            <a:srgbClr val="6DAEDB">
              <a:alpha val="35000"/>
            </a:srgbClr>
          </a:solidFill>
          <a:ln w="12700">
            <a:solidFill>
              <a:srgbClr val="6DAEDB"/>
            </a:solidFill>
            <a:prstDash val="solid"/>
          </a:ln>
        </p:spPr>
        <p:txBody>
          <a:bodyPr/>
          <a:lstStyle/>
          <a:p>
            <a:endParaRPr lang="en-GB"/>
          </a:p>
        </p:txBody>
      </p:sp>
      <p:sp>
        <p:nvSpPr>
          <p:cNvPr id="25" name="Text 22"/>
          <p:cNvSpPr/>
          <p:nvPr/>
        </p:nvSpPr>
        <p:spPr>
          <a:xfrm>
            <a:off x="502920" y="3694176"/>
            <a:ext cx="2560320" cy="365760"/>
          </a:xfrm>
          <a:prstGeom prst="rect">
            <a:avLst/>
          </a:prstGeom>
          <a:noFill/>
          <a:ln/>
        </p:spPr>
        <p:txBody>
          <a:bodyPr wrap="square" lIns="50800" tIns="50800" rIns="50800" bIns="50800" rtlCol="0" anchor="ctr"/>
          <a:lstStyle/>
          <a:p>
            <a:pPr marL="0" indent="0" algn="l">
              <a:buNone/>
            </a:pPr>
            <a:r>
              <a:rPr lang="en-US" sz="900" b="1" kern="0" spc="200" dirty="0">
                <a:solidFill>
                  <a:srgbClr val="FFFFFF"/>
                </a:solidFill>
                <a:latin typeface="Gill Sans MT" pitchFamily="34" charset="0"/>
                <a:ea typeface="Gill Sans MT" pitchFamily="34" charset="-122"/>
                <a:cs typeface="Gill Sans MT" pitchFamily="34" charset="-120"/>
              </a:rPr>
              <a:t>PHILOSOPHY</a:t>
            </a:r>
            <a:endParaRPr lang="en-US" sz="900" dirty="0"/>
          </a:p>
        </p:txBody>
      </p:sp>
      <p:sp>
        <p:nvSpPr>
          <p:cNvPr id="26" name="Text 23"/>
          <p:cNvSpPr/>
          <p:nvPr/>
        </p:nvSpPr>
        <p:spPr>
          <a:xfrm>
            <a:off x="502920" y="4242816"/>
            <a:ext cx="2560320" cy="502920"/>
          </a:xfrm>
          <a:prstGeom prst="rect">
            <a:avLst/>
          </a:prstGeom>
          <a:noFill/>
          <a:ln/>
        </p:spPr>
        <p:txBody>
          <a:bodyPr wrap="square" lIns="50800" tIns="50800" rIns="50800" bIns="50800" rtlCol="0" anchor="ctr"/>
          <a:lstStyle/>
          <a:p>
            <a:pPr marL="0" indent="0" algn="l">
              <a:buNone/>
            </a:pPr>
            <a:r>
              <a:rPr lang="en-US" sz="1550" b="1" dirty="0">
                <a:solidFill>
                  <a:srgbClr val="6DAEDB"/>
                </a:solidFill>
                <a:latin typeface="Gill Sans MT" pitchFamily="34" charset="0"/>
                <a:ea typeface="Gill Sans MT" pitchFamily="34" charset="-122"/>
                <a:cs typeface="Gill Sans MT" pitchFamily="34" charset="-120"/>
              </a:rPr>
              <a:t>Post-Positivist</a:t>
            </a:r>
            <a:endParaRPr lang="en-US" sz="1550" dirty="0"/>
          </a:p>
        </p:txBody>
      </p:sp>
      <p:sp>
        <p:nvSpPr>
          <p:cNvPr id="27" name="Shape 24"/>
          <p:cNvSpPr/>
          <p:nvPr/>
        </p:nvSpPr>
        <p:spPr>
          <a:xfrm>
            <a:off x="502920" y="4791456"/>
            <a:ext cx="2560320" cy="0"/>
          </a:xfrm>
          <a:prstGeom prst="line">
            <a:avLst/>
          </a:prstGeom>
          <a:noFill/>
          <a:ln w="19050">
            <a:solidFill>
              <a:srgbClr val="6DAEDB"/>
            </a:solidFill>
            <a:prstDash val="solid"/>
          </a:ln>
        </p:spPr>
        <p:txBody>
          <a:bodyPr/>
          <a:lstStyle/>
          <a:p>
            <a:endParaRPr lang="en-GB"/>
          </a:p>
        </p:txBody>
      </p:sp>
      <p:sp>
        <p:nvSpPr>
          <p:cNvPr id="28" name="Text 25"/>
          <p:cNvSpPr/>
          <p:nvPr/>
        </p:nvSpPr>
        <p:spPr>
          <a:xfrm>
            <a:off x="502920" y="4901184"/>
            <a:ext cx="2560320" cy="1051560"/>
          </a:xfrm>
          <a:prstGeom prst="rect">
            <a:avLst/>
          </a:prstGeom>
          <a:noFill/>
          <a:ln/>
        </p:spPr>
        <p:txBody>
          <a:bodyPr wrap="square" lIns="50800" tIns="50800" rIns="50800" bIns="50800" rtlCol="0" anchor="t"/>
          <a:lstStyle/>
          <a:p>
            <a:pPr marL="0" indent="0" algn="l">
              <a:buNone/>
            </a:pPr>
            <a:r>
              <a:rPr lang="en-US" sz="1100" dirty="0">
                <a:solidFill>
                  <a:srgbClr val="B8C8D8"/>
                </a:solidFill>
                <a:latin typeface="Gill Sans MT" pitchFamily="34" charset="0"/>
                <a:ea typeface="Gill Sans MT" pitchFamily="34" charset="-122"/>
                <a:cs typeface="Gill Sans MT" pitchFamily="34" charset="-120"/>
              </a:rPr>
              <a:t>Objective reality · latent constructs · proxy variables</a:t>
            </a:r>
            <a:endParaRPr lang="en-US" sz="1100" dirty="0"/>
          </a:p>
        </p:txBody>
      </p:sp>
      <p:sp>
        <p:nvSpPr>
          <p:cNvPr id="29" name="Shape 26"/>
          <p:cNvSpPr/>
          <p:nvPr/>
        </p:nvSpPr>
        <p:spPr>
          <a:xfrm>
            <a:off x="3310128" y="3639312"/>
            <a:ext cx="2834640" cy="2423160"/>
          </a:xfrm>
          <a:prstGeom prst="roundRect">
            <a:avLst>
              <a:gd name="adj" fmla="val 4528"/>
            </a:avLst>
          </a:prstGeom>
          <a:solidFill>
            <a:srgbClr val="040810">
              <a:alpha val="58000"/>
            </a:srgbClr>
          </a:solidFill>
          <a:ln w="7620">
            <a:solidFill>
              <a:srgbClr val="4ECDC4">
                <a:alpha val="58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30" name="Shape 27"/>
          <p:cNvSpPr/>
          <p:nvPr/>
        </p:nvSpPr>
        <p:spPr>
          <a:xfrm>
            <a:off x="3310128" y="3639312"/>
            <a:ext cx="2834640" cy="475488"/>
          </a:xfrm>
          <a:prstGeom prst="roundRect">
            <a:avLst>
              <a:gd name="adj" fmla="val 23077"/>
            </a:avLst>
          </a:prstGeom>
          <a:solidFill>
            <a:srgbClr val="4ECDC4">
              <a:alpha val="35000"/>
            </a:srgbClr>
          </a:solidFill>
          <a:ln w="12700">
            <a:solidFill>
              <a:srgbClr val="4ECDC4"/>
            </a:solidFill>
            <a:prstDash val="solid"/>
          </a:ln>
        </p:spPr>
        <p:txBody>
          <a:bodyPr/>
          <a:lstStyle/>
          <a:p>
            <a:endParaRPr lang="en-GB"/>
          </a:p>
        </p:txBody>
      </p:sp>
      <p:sp>
        <p:nvSpPr>
          <p:cNvPr id="31" name="Text 28"/>
          <p:cNvSpPr/>
          <p:nvPr/>
        </p:nvSpPr>
        <p:spPr>
          <a:xfrm>
            <a:off x="3447288" y="3694176"/>
            <a:ext cx="2560320" cy="365760"/>
          </a:xfrm>
          <a:prstGeom prst="rect">
            <a:avLst/>
          </a:prstGeom>
          <a:noFill/>
          <a:ln/>
        </p:spPr>
        <p:txBody>
          <a:bodyPr wrap="square" lIns="50800" tIns="50800" rIns="50800" bIns="50800" rtlCol="0" anchor="ctr"/>
          <a:lstStyle/>
          <a:p>
            <a:pPr marL="0" indent="0" algn="l">
              <a:buNone/>
            </a:pPr>
            <a:r>
              <a:rPr lang="en-US" sz="900" b="1" kern="0" spc="200" dirty="0">
                <a:solidFill>
                  <a:srgbClr val="FFFFFF"/>
                </a:solidFill>
                <a:latin typeface="Gill Sans MT" pitchFamily="34" charset="0"/>
                <a:ea typeface="Gill Sans MT" pitchFamily="34" charset="-122"/>
                <a:cs typeface="Gill Sans MT" pitchFamily="34" charset="-120"/>
              </a:rPr>
              <a:t>APPROACH</a:t>
            </a:r>
            <a:endParaRPr lang="en-US" sz="900" dirty="0"/>
          </a:p>
        </p:txBody>
      </p:sp>
      <p:sp>
        <p:nvSpPr>
          <p:cNvPr id="32" name="Text 29"/>
          <p:cNvSpPr/>
          <p:nvPr/>
        </p:nvSpPr>
        <p:spPr>
          <a:xfrm>
            <a:off x="3447288" y="4242816"/>
            <a:ext cx="2560320" cy="502920"/>
          </a:xfrm>
          <a:prstGeom prst="rect">
            <a:avLst/>
          </a:prstGeom>
          <a:noFill/>
          <a:ln/>
        </p:spPr>
        <p:txBody>
          <a:bodyPr wrap="square" lIns="50800" tIns="50800" rIns="50800" bIns="50800" rtlCol="0" anchor="ctr"/>
          <a:lstStyle/>
          <a:p>
            <a:pPr marL="0" indent="0" algn="l">
              <a:buNone/>
            </a:pPr>
            <a:r>
              <a:rPr lang="en-US" sz="1550" b="1" dirty="0">
                <a:solidFill>
                  <a:srgbClr val="4ECDC4"/>
                </a:solidFill>
                <a:latin typeface="Gill Sans MT" pitchFamily="34" charset="0"/>
                <a:ea typeface="Gill Sans MT" pitchFamily="34" charset="-122"/>
                <a:cs typeface="Gill Sans MT" pitchFamily="34" charset="-120"/>
              </a:rPr>
              <a:t>Deductive</a:t>
            </a:r>
            <a:endParaRPr lang="en-US" sz="1550" dirty="0"/>
          </a:p>
        </p:txBody>
      </p:sp>
      <p:sp>
        <p:nvSpPr>
          <p:cNvPr id="33" name="Shape 30"/>
          <p:cNvSpPr/>
          <p:nvPr/>
        </p:nvSpPr>
        <p:spPr>
          <a:xfrm>
            <a:off x="3447288" y="4791456"/>
            <a:ext cx="2560320" cy="0"/>
          </a:xfrm>
          <a:prstGeom prst="line">
            <a:avLst/>
          </a:prstGeom>
          <a:noFill/>
          <a:ln w="19050">
            <a:solidFill>
              <a:srgbClr val="4ECDC4"/>
            </a:solidFill>
            <a:prstDash val="solid"/>
          </a:ln>
        </p:spPr>
        <p:txBody>
          <a:bodyPr/>
          <a:lstStyle/>
          <a:p>
            <a:endParaRPr lang="en-GB"/>
          </a:p>
        </p:txBody>
      </p:sp>
      <p:sp>
        <p:nvSpPr>
          <p:cNvPr id="34" name="Text 31"/>
          <p:cNvSpPr/>
          <p:nvPr/>
        </p:nvSpPr>
        <p:spPr>
          <a:xfrm>
            <a:off x="3447288" y="4901184"/>
            <a:ext cx="2560320" cy="1051560"/>
          </a:xfrm>
          <a:prstGeom prst="rect">
            <a:avLst/>
          </a:prstGeom>
          <a:noFill/>
          <a:ln/>
        </p:spPr>
        <p:txBody>
          <a:bodyPr wrap="square" lIns="50800" tIns="50800" rIns="50800" bIns="50800" rtlCol="0" anchor="t"/>
          <a:lstStyle/>
          <a:p>
            <a:pPr marL="0" indent="0" algn="l">
              <a:buNone/>
            </a:pPr>
            <a:r>
              <a:rPr lang="en-US" sz="1100" dirty="0">
                <a:solidFill>
                  <a:srgbClr val="B8C8D8"/>
                </a:solidFill>
                <a:latin typeface="Gill Sans MT" pitchFamily="34" charset="0"/>
                <a:ea typeface="Gill Sans MT" pitchFamily="34" charset="-122"/>
                <a:cs typeface="Gill Sans MT" pitchFamily="34" charset="-120"/>
              </a:rPr>
              <a:t>Theory → Hypotheses → Empirical test → Revision</a:t>
            </a:r>
            <a:endParaRPr lang="en-US" sz="1100" dirty="0"/>
          </a:p>
        </p:txBody>
      </p:sp>
      <p:sp>
        <p:nvSpPr>
          <p:cNvPr id="35" name="Shape 32"/>
          <p:cNvSpPr/>
          <p:nvPr/>
        </p:nvSpPr>
        <p:spPr>
          <a:xfrm>
            <a:off x="6254496" y="3639312"/>
            <a:ext cx="2834640" cy="2423160"/>
          </a:xfrm>
          <a:prstGeom prst="roundRect">
            <a:avLst>
              <a:gd name="adj" fmla="val 4528"/>
            </a:avLst>
          </a:prstGeom>
          <a:solidFill>
            <a:srgbClr val="040810">
              <a:alpha val="58000"/>
            </a:srgbClr>
          </a:solidFill>
          <a:ln w="7620">
            <a:solidFill>
              <a:srgbClr val="56D68A">
                <a:alpha val="58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36" name="Shape 33"/>
          <p:cNvSpPr/>
          <p:nvPr/>
        </p:nvSpPr>
        <p:spPr>
          <a:xfrm>
            <a:off x="6254496" y="3639312"/>
            <a:ext cx="2834640" cy="475488"/>
          </a:xfrm>
          <a:prstGeom prst="roundRect">
            <a:avLst>
              <a:gd name="adj" fmla="val 23077"/>
            </a:avLst>
          </a:prstGeom>
          <a:solidFill>
            <a:srgbClr val="56D68A">
              <a:alpha val="35000"/>
            </a:srgbClr>
          </a:solidFill>
          <a:ln w="12700">
            <a:solidFill>
              <a:srgbClr val="56D68A"/>
            </a:solidFill>
            <a:prstDash val="solid"/>
          </a:ln>
        </p:spPr>
        <p:txBody>
          <a:bodyPr/>
          <a:lstStyle/>
          <a:p>
            <a:endParaRPr lang="en-GB"/>
          </a:p>
        </p:txBody>
      </p:sp>
      <p:sp>
        <p:nvSpPr>
          <p:cNvPr id="37" name="Text 34"/>
          <p:cNvSpPr/>
          <p:nvPr/>
        </p:nvSpPr>
        <p:spPr>
          <a:xfrm>
            <a:off x="6391656" y="3694176"/>
            <a:ext cx="2560320" cy="365760"/>
          </a:xfrm>
          <a:prstGeom prst="rect">
            <a:avLst/>
          </a:prstGeom>
          <a:noFill/>
          <a:ln/>
        </p:spPr>
        <p:txBody>
          <a:bodyPr wrap="square" lIns="50800" tIns="50800" rIns="50800" bIns="50800" rtlCol="0" anchor="ctr"/>
          <a:lstStyle/>
          <a:p>
            <a:pPr marL="0" indent="0" algn="l">
              <a:buNone/>
            </a:pPr>
            <a:r>
              <a:rPr lang="en-US" sz="900" b="1" kern="0" spc="200" dirty="0">
                <a:solidFill>
                  <a:srgbClr val="FFFFFF"/>
                </a:solidFill>
                <a:latin typeface="Gill Sans MT" pitchFamily="34" charset="0"/>
                <a:ea typeface="Gill Sans MT" pitchFamily="34" charset="-122"/>
                <a:cs typeface="Gill Sans MT" pitchFamily="34" charset="-120"/>
              </a:rPr>
              <a:t>STRATEGY</a:t>
            </a:r>
            <a:endParaRPr lang="en-US" sz="900" dirty="0"/>
          </a:p>
        </p:txBody>
      </p:sp>
      <p:sp>
        <p:nvSpPr>
          <p:cNvPr id="38" name="Text 35"/>
          <p:cNvSpPr/>
          <p:nvPr/>
        </p:nvSpPr>
        <p:spPr>
          <a:xfrm>
            <a:off x="6391656" y="4242816"/>
            <a:ext cx="2560320" cy="502920"/>
          </a:xfrm>
          <a:prstGeom prst="rect">
            <a:avLst/>
          </a:prstGeom>
          <a:noFill/>
          <a:ln/>
        </p:spPr>
        <p:txBody>
          <a:bodyPr wrap="square" lIns="50800" tIns="50800" rIns="50800" bIns="50800" rtlCol="0" anchor="ctr"/>
          <a:lstStyle/>
          <a:p>
            <a:pPr marL="0" indent="0" algn="l">
              <a:buNone/>
            </a:pPr>
            <a:r>
              <a:rPr lang="en-US" sz="1550" b="1" dirty="0">
                <a:solidFill>
                  <a:srgbClr val="56D68A"/>
                </a:solidFill>
                <a:latin typeface="Gill Sans MT" pitchFamily="34" charset="0"/>
                <a:ea typeface="Gill Sans MT" pitchFamily="34" charset="-122"/>
                <a:cs typeface="Gill Sans MT" pitchFamily="34" charset="-120"/>
              </a:rPr>
              <a:t>Comparative SEM</a:t>
            </a:r>
            <a:endParaRPr lang="en-US" sz="1550" dirty="0"/>
          </a:p>
        </p:txBody>
      </p:sp>
      <p:sp>
        <p:nvSpPr>
          <p:cNvPr id="39" name="Shape 36"/>
          <p:cNvSpPr/>
          <p:nvPr/>
        </p:nvSpPr>
        <p:spPr>
          <a:xfrm>
            <a:off x="6391656" y="4791456"/>
            <a:ext cx="2560320" cy="0"/>
          </a:xfrm>
          <a:prstGeom prst="line">
            <a:avLst/>
          </a:prstGeom>
          <a:noFill/>
          <a:ln w="19050">
            <a:solidFill>
              <a:srgbClr val="56D68A"/>
            </a:solidFill>
            <a:prstDash val="solid"/>
          </a:ln>
        </p:spPr>
        <p:txBody>
          <a:bodyPr/>
          <a:lstStyle/>
          <a:p>
            <a:endParaRPr lang="en-GB"/>
          </a:p>
        </p:txBody>
      </p:sp>
      <p:sp>
        <p:nvSpPr>
          <p:cNvPr id="40" name="Text 37"/>
          <p:cNvSpPr/>
          <p:nvPr/>
        </p:nvSpPr>
        <p:spPr>
          <a:xfrm>
            <a:off x="6391656" y="4901184"/>
            <a:ext cx="2560320" cy="1051560"/>
          </a:xfrm>
          <a:prstGeom prst="rect">
            <a:avLst/>
          </a:prstGeom>
          <a:noFill/>
          <a:ln/>
        </p:spPr>
        <p:txBody>
          <a:bodyPr wrap="square" lIns="50800" tIns="50800" rIns="50800" bIns="50800" rtlCol="0" anchor="t"/>
          <a:lstStyle/>
          <a:p>
            <a:pPr marL="0" indent="0" algn="l">
              <a:buNone/>
            </a:pPr>
            <a:r>
              <a:rPr lang="en-US" sz="1100" dirty="0">
                <a:solidFill>
                  <a:srgbClr val="B8C8D8"/>
                </a:solidFill>
                <a:latin typeface="Gill Sans MT" pitchFamily="34" charset="0"/>
                <a:ea typeface="Gill Sans MT" pitchFamily="34" charset="-122"/>
                <a:cs typeface="Gill Sans MT" pitchFamily="34" charset="-120"/>
              </a:rPr>
              <a:t>Structural paths across heterogeneous national contexts</a:t>
            </a:r>
            <a:endParaRPr lang="en-US" sz="1100" dirty="0"/>
          </a:p>
        </p:txBody>
      </p:sp>
      <p:sp>
        <p:nvSpPr>
          <p:cNvPr id="41" name="Shape 38"/>
          <p:cNvSpPr/>
          <p:nvPr/>
        </p:nvSpPr>
        <p:spPr>
          <a:xfrm>
            <a:off x="9198864" y="3639312"/>
            <a:ext cx="2834640" cy="2423160"/>
          </a:xfrm>
          <a:prstGeom prst="roundRect">
            <a:avLst>
              <a:gd name="adj" fmla="val 4528"/>
            </a:avLst>
          </a:prstGeom>
          <a:solidFill>
            <a:srgbClr val="040810">
              <a:alpha val="58000"/>
            </a:srgbClr>
          </a:solidFill>
          <a:ln w="7620">
            <a:solidFill>
              <a:srgbClr val="F0C040">
                <a:alpha val="58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42" name="Shape 39"/>
          <p:cNvSpPr/>
          <p:nvPr/>
        </p:nvSpPr>
        <p:spPr>
          <a:xfrm>
            <a:off x="9198864" y="3639312"/>
            <a:ext cx="2834640" cy="475488"/>
          </a:xfrm>
          <a:prstGeom prst="roundRect">
            <a:avLst>
              <a:gd name="adj" fmla="val 23077"/>
            </a:avLst>
          </a:prstGeom>
          <a:solidFill>
            <a:srgbClr val="F0C040">
              <a:alpha val="35000"/>
            </a:srgbClr>
          </a:solidFill>
          <a:ln w="12700">
            <a:solidFill>
              <a:srgbClr val="F0C040"/>
            </a:solidFill>
            <a:prstDash val="solid"/>
          </a:ln>
        </p:spPr>
        <p:txBody>
          <a:bodyPr/>
          <a:lstStyle/>
          <a:p>
            <a:endParaRPr lang="en-GB"/>
          </a:p>
        </p:txBody>
      </p:sp>
      <p:sp>
        <p:nvSpPr>
          <p:cNvPr id="43" name="Text 40"/>
          <p:cNvSpPr/>
          <p:nvPr/>
        </p:nvSpPr>
        <p:spPr>
          <a:xfrm>
            <a:off x="9336024" y="3694176"/>
            <a:ext cx="2560320" cy="365760"/>
          </a:xfrm>
          <a:prstGeom prst="rect">
            <a:avLst/>
          </a:prstGeom>
          <a:noFill/>
          <a:ln/>
        </p:spPr>
        <p:txBody>
          <a:bodyPr wrap="square" lIns="50800" tIns="50800" rIns="50800" bIns="50800" rtlCol="0" anchor="ctr"/>
          <a:lstStyle/>
          <a:p>
            <a:pPr marL="0" indent="0" algn="l">
              <a:buNone/>
            </a:pPr>
            <a:r>
              <a:rPr lang="en-US" sz="900" b="1" kern="0" spc="200" dirty="0">
                <a:solidFill>
                  <a:srgbClr val="FFFFFF"/>
                </a:solidFill>
                <a:latin typeface="Gill Sans MT" pitchFamily="34" charset="0"/>
                <a:ea typeface="Gill Sans MT" pitchFamily="34" charset="-122"/>
                <a:cs typeface="Gill Sans MT" pitchFamily="34" charset="-120"/>
              </a:rPr>
              <a:t>DATA</a:t>
            </a:r>
            <a:endParaRPr lang="en-US" sz="900" dirty="0"/>
          </a:p>
        </p:txBody>
      </p:sp>
      <p:sp>
        <p:nvSpPr>
          <p:cNvPr id="44" name="Text 41"/>
          <p:cNvSpPr/>
          <p:nvPr/>
        </p:nvSpPr>
        <p:spPr>
          <a:xfrm>
            <a:off x="9336024" y="4242816"/>
            <a:ext cx="2560320" cy="502920"/>
          </a:xfrm>
          <a:prstGeom prst="rect">
            <a:avLst/>
          </a:prstGeom>
          <a:noFill/>
          <a:ln/>
        </p:spPr>
        <p:txBody>
          <a:bodyPr wrap="square" lIns="50800" tIns="50800" rIns="50800" bIns="50800" rtlCol="0" anchor="ctr"/>
          <a:lstStyle/>
          <a:p>
            <a:pPr marL="0" indent="0" algn="l">
              <a:buNone/>
            </a:pPr>
            <a:r>
              <a:rPr lang="en-US" sz="1550" b="1" dirty="0">
                <a:solidFill>
                  <a:srgbClr val="F0C040"/>
                </a:solidFill>
                <a:latin typeface="Gill Sans MT" pitchFamily="34" charset="0"/>
                <a:ea typeface="Gill Sans MT" pitchFamily="34" charset="-122"/>
                <a:cs typeface="Gill Sans MT" pitchFamily="34" charset="-120"/>
              </a:rPr>
              <a:t>Secondary Macro</a:t>
            </a:r>
            <a:endParaRPr lang="en-US" sz="1550" dirty="0"/>
          </a:p>
        </p:txBody>
      </p:sp>
      <p:sp>
        <p:nvSpPr>
          <p:cNvPr id="45" name="Shape 42"/>
          <p:cNvSpPr/>
          <p:nvPr/>
        </p:nvSpPr>
        <p:spPr>
          <a:xfrm>
            <a:off x="9336024" y="4791456"/>
            <a:ext cx="2560320" cy="0"/>
          </a:xfrm>
          <a:prstGeom prst="line">
            <a:avLst/>
          </a:prstGeom>
          <a:noFill/>
          <a:ln w="19050">
            <a:solidFill>
              <a:srgbClr val="F0C040"/>
            </a:solidFill>
            <a:prstDash val="solid"/>
          </a:ln>
        </p:spPr>
        <p:txBody>
          <a:bodyPr/>
          <a:lstStyle/>
          <a:p>
            <a:endParaRPr lang="en-GB"/>
          </a:p>
        </p:txBody>
      </p:sp>
      <p:sp>
        <p:nvSpPr>
          <p:cNvPr id="46" name="Text 43"/>
          <p:cNvSpPr/>
          <p:nvPr/>
        </p:nvSpPr>
        <p:spPr>
          <a:xfrm>
            <a:off x="9336024" y="4901184"/>
            <a:ext cx="2560320" cy="1051560"/>
          </a:xfrm>
          <a:prstGeom prst="rect">
            <a:avLst/>
          </a:prstGeom>
          <a:noFill/>
          <a:ln/>
        </p:spPr>
        <p:txBody>
          <a:bodyPr wrap="square" lIns="50800" tIns="50800" rIns="50800" bIns="50800" rtlCol="0" anchor="t"/>
          <a:lstStyle/>
          <a:p>
            <a:pPr marL="0" indent="0" algn="l">
              <a:buNone/>
            </a:pPr>
            <a:r>
              <a:rPr lang="en-US" sz="1100" dirty="0">
                <a:solidFill>
                  <a:srgbClr val="B8C8D8"/>
                </a:solidFill>
                <a:latin typeface="Gill Sans MT" pitchFamily="34" charset="0"/>
                <a:ea typeface="Gill Sans MT" pitchFamily="34" charset="-122"/>
                <a:cs typeface="Gill Sans MT" pitchFamily="34" charset="-120"/>
              </a:rPr>
              <a:t>Open-access · 48 variables · Harmonised composites</a:t>
            </a:r>
            <a:endParaRPr lang="en-US" sz="1100" dirty="0"/>
          </a:p>
        </p:txBody>
      </p:sp>
      <p:sp>
        <p:nvSpPr>
          <p:cNvPr id="47" name="Text 44"/>
          <p:cNvSpPr/>
          <p:nvPr/>
        </p:nvSpPr>
        <p:spPr>
          <a:xfrm>
            <a:off x="11704320" y="6492240"/>
            <a:ext cx="365760" cy="274320"/>
          </a:xfrm>
          <a:prstGeom prst="rect">
            <a:avLst/>
          </a:prstGeom>
          <a:noFill/>
          <a:ln/>
        </p:spPr>
        <p:txBody>
          <a:bodyPr wrap="square" rtlCol="0" anchor="ctr"/>
          <a:lstStyle/>
          <a:p>
            <a:pPr marL="0" indent="0" algn="r">
              <a:buNone/>
            </a:pPr>
            <a:r>
              <a:rPr lang="en-US" sz="800" dirty="0">
                <a:solidFill>
                  <a:srgbClr val="B8C8D8"/>
                </a:solidFill>
                <a:latin typeface="Gill Sans MT" pitchFamily="34" charset="0"/>
                <a:ea typeface="Gill Sans MT" pitchFamily="34" charset="-122"/>
                <a:cs typeface="Gill Sans MT"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61520" cy="6858000"/>
          </a:xfrm>
          <a:prstGeom prst="rect">
            <a:avLst/>
          </a:prstGeom>
        </p:spPr>
      </p:pic>
      <p:sp>
        <p:nvSpPr>
          <p:cNvPr id="3" name="Shape 0"/>
          <p:cNvSpPr/>
          <p:nvPr/>
        </p:nvSpPr>
        <p:spPr>
          <a:xfrm>
            <a:off x="0" y="0"/>
            <a:ext cx="12161520" cy="1188720"/>
          </a:xfrm>
          <a:prstGeom prst="roundRect">
            <a:avLst>
              <a:gd name="adj" fmla="val 9231"/>
            </a:avLst>
          </a:prstGeom>
          <a:solidFill>
            <a:srgbClr val="050810">
              <a:alpha val="48000"/>
            </a:srgbClr>
          </a:solidFill>
          <a:ln w="3810">
            <a:solidFill>
              <a:srgbClr val="FFFFFF">
                <a:alpha val="12000"/>
              </a:srgbClr>
            </a:solidFill>
            <a:prstDash val="solid"/>
          </a:ln>
          <a:effectLst>
            <a:outerShdw blurRad="152400" dist="50800" dir="2700000" algn="bl" rotWithShape="0">
              <a:srgbClr val="000000">
                <a:alpha val="50000"/>
              </a:srgbClr>
            </a:outerShdw>
          </a:effectLst>
        </p:spPr>
        <p:txBody>
          <a:bodyPr/>
          <a:lstStyle/>
          <a:p>
            <a:endParaRPr lang="en-GB"/>
          </a:p>
        </p:txBody>
      </p:sp>
      <p:sp>
        <p:nvSpPr>
          <p:cNvPr id="4" name="Shape 1"/>
          <p:cNvSpPr/>
          <p:nvPr/>
        </p:nvSpPr>
        <p:spPr>
          <a:xfrm>
            <a:off x="365760" y="137160"/>
            <a:ext cx="2194560" cy="292608"/>
          </a:xfrm>
          <a:prstGeom prst="roundRect">
            <a:avLst>
              <a:gd name="adj" fmla="val 18750"/>
            </a:avLst>
          </a:prstGeom>
          <a:solidFill>
            <a:srgbClr val="000000">
              <a:alpha val="50000"/>
            </a:srgbClr>
          </a:solidFill>
          <a:ln w="19050">
            <a:solidFill>
              <a:srgbClr val="FFB347"/>
            </a:solidFill>
            <a:prstDash val="solid"/>
          </a:ln>
        </p:spPr>
        <p:txBody>
          <a:bodyPr/>
          <a:lstStyle/>
          <a:p>
            <a:endParaRPr lang="en-GB"/>
          </a:p>
        </p:txBody>
      </p:sp>
      <p:sp>
        <p:nvSpPr>
          <p:cNvPr id="5" name="Text 2"/>
          <p:cNvSpPr/>
          <p:nvPr/>
        </p:nvSpPr>
        <p:spPr>
          <a:xfrm>
            <a:off x="365760" y="137160"/>
            <a:ext cx="2194560" cy="292608"/>
          </a:xfrm>
          <a:prstGeom prst="rect">
            <a:avLst/>
          </a:prstGeom>
          <a:noFill/>
          <a:ln/>
        </p:spPr>
        <p:txBody>
          <a:bodyPr wrap="square" rtlCol="0" anchor="ctr"/>
          <a:lstStyle/>
          <a:p>
            <a:pPr marL="0" indent="0" algn="ctr">
              <a:buNone/>
            </a:pPr>
            <a:r>
              <a:rPr lang="en-US" sz="850" b="1" kern="0" spc="200" dirty="0">
                <a:solidFill>
                  <a:srgbClr val="FFB347"/>
                </a:solidFill>
                <a:latin typeface="Gill Sans MT" pitchFamily="34" charset="0"/>
                <a:ea typeface="Gill Sans MT" pitchFamily="34" charset="-122"/>
                <a:cs typeface="Gill Sans MT" pitchFamily="34" charset="-120"/>
              </a:rPr>
              <a:t>DATA SOURCES</a:t>
            </a:r>
            <a:endParaRPr lang="en-US" sz="850" dirty="0"/>
          </a:p>
        </p:txBody>
      </p:sp>
      <p:sp>
        <p:nvSpPr>
          <p:cNvPr id="6" name="Text 3"/>
          <p:cNvSpPr/>
          <p:nvPr/>
        </p:nvSpPr>
        <p:spPr>
          <a:xfrm>
            <a:off x="365760" y="347472"/>
            <a:ext cx="10058400" cy="685800"/>
          </a:xfrm>
          <a:prstGeom prst="rect">
            <a:avLst/>
          </a:prstGeom>
          <a:noFill/>
          <a:ln/>
        </p:spPr>
        <p:txBody>
          <a:bodyPr wrap="square" lIns="50800" tIns="50800" rIns="50800" bIns="50800" rtlCol="0" anchor="ctr"/>
          <a:lstStyle/>
          <a:p>
            <a:pPr marL="0" indent="0" algn="l">
              <a:buNone/>
            </a:pPr>
            <a:r>
              <a:rPr lang="en-US" sz="2800" b="1" dirty="0">
                <a:solidFill>
                  <a:srgbClr val="FFFFFF"/>
                </a:solidFill>
                <a:latin typeface="Gill Sans MT" pitchFamily="34" charset="0"/>
                <a:ea typeface="Gill Sans MT" pitchFamily="34" charset="-122"/>
                <a:cs typeface="Gill Sans MT" pitchFamily="34" charset="-120"/>
              </a:rPr>
              <a:t>Data Sources &amp; Latent Constructs</a:t>
            </a:r>
            <a:endParaRPr lang="en-US" sz="2800" dirty="0"/>
          </a:p>
        </p:txBody>
      </p:sp>
      <p:sp>
        <p:nvSpPr>
          <p:cNvPr id="7" name="Shape 4"/>
          <p:cNvSpPr/>
          <p:nvPr/>
        </p:nvSpPr>
        <p:spPr>
          <a:xfrm>
            <a:off x="365760" y="1115568"/>
            <a:ext cx="11430000" cy="0"/>
          </a:xfrm>
          <a:prstGeom prst="line">
            <a:avLst/>
          </a:prstGeom>
          <a:noFill/>
          <a:ln w="19050">
            <a:solidFill>
              <a:srgbClr val="FFB347"/>
            </a:solidFill>
            <a:prstDash val="solid"/>
          </a:ln>
        </p:spPr>
        <p:txBody>
          <a:bodyPr/>
          <a:lstStyle/>
          <a:p>
            <a:endParaRPr lang="en-GB"/>
          </a:p>
        </p:txBody>
      </p:sp>
      <p:sp>
        <p:nvSpPr>
          <p:cNvPr id="8" name="Shape 5"/>
          <p:cNvSpPr/>
          <p:nvPr/>
        </p:nvSpPr>
        <p:spPr>
          <a:xfrm>
            <a:off x="365760" y="1261872"/>
            <a:ext cx="2834640" cy="5074920"/>
          </a:xfrm>
          <a:prstGeom prst="roundRect">
            <a:avLst>
              <a:gd name="adj" fmla="val 4516"/>
            </a:avLst>
          </a:prstGeom>
          <a:solidFill>
            <a:srgbClr val="04080E">
              <a:alpha val="60000"/>
            </a:srgbClr>
          </a:solidFill>
          <a:ln w="10160">
            <a:solidFill>
              <a:srgbClr val="6DAEDB">
                <a:alpha val="7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9" name="Shape 6"/>
          <p:cNvSpPr/>
          <p:nvPr/>
        </p:nvSpPr>
        <p:spPr>
          <a:xfrm>
            <a:off x="365760" y="1261872"/>
            <a:ext cx="2834640" cy="749808"/>
          </a:xfrm>
          <a:prstGeom prst="roundRect">
            <a:avLst>
              <a:gd name="adj" fmla="val 14634"/>
            </a:avLst>
          </a:prstGeom>
          <a:solidFill>
            <a:srgbClr val="6DAEDB">
              <a:alpha val="40000"/>
            </a:srgbClr>
          </a:solidFill>
          <a:ln w="12700">
            <a:solidFill>
              <a:srgbClr val="6DAEDB"/>
            </a:solidFill>
            <a:prstDash val="solid"/>
          </a:ln>
        </p:spPr>
        <p:txBody>
          <a:bodyPr/>
          <a:lstStyle/>
          <a:p>
            <a:endParaRPr lang="en-GB"/>
          </a:p>
        </p:txBody>
      </p:sp>
      <p:sp>
        <p:nvSpPr>
          <p:cNvPr id="10" name="Text 7"/>
          <p:cNvSpPr/>
          <p:nvPr/>
        </p:nvSpPr>
        <p:spPr>
          <a:xfrm>
            <a:off x="457200" y="1298448"/>
            <a:ext cx="822960" cy="640080"/>
          </a:xfrm>
          <a:prstGeom prst="rect">
            <a:avLst/>
          </a:prstGeom>
          <a:noFill/>
          <a:ln/>
        </p:spPr>
        <p:txBody>
          <a:bodyPr wrap="square" lIns="50800" tIns="50800" rIns="50800" bIns="50800" rtlCol="0" anchor="ctr"/>
          <a:lstStyle/>
          <a:p>
            <a:pPr marL="0" indent="0" algn="ctr">
              <a:buNone/>
            </a:pPr>
            <a:r>
              <a:rPr lang="en-US" sz="2400" b="1" dirty="0">
                <a:solidFill>
                  <a:srgbClr val="FFFFFF"/>
                </a:solidFill>
                <a:latin typeface="Gill Sans MT" pitchFamily="34" charset="0"/>
                <a:ea typeface="Gill Sans MT" pitchFamily="34" charset="-122"/>
                <a:cs typeface="Gill Sans MT" pitchFamily="34" charset="-120"/>
              </a:rPr>
              <a:t>ξ₁</a:t>
            </a:r>
            <a:endParaRPr lang="en-US" sz="2400" dirty="0"/>
          </a:p>
        </p:txBody>
      </p:sp>
      <p:sp>
        <p:nvSpPr>
          <p:cNvPr id="11" name="Text 8"/>
          <p:cNvSpPr/>
          <p:nvPr/>
        </p:nvSpPr>
        <p:spPr>
          <a:xfrm>
            <a:off x="1280160" y="1298448"/>
            <a:ext cx="1828800" cy="402336"/>
          </a:xfrm>
          <a:prstGeom prst="rect">
            <a:avLst/>
          </a:prstGeom>
          <a:noFill/>
          <a:ln/>
        </p:spPr>
        <p:txBody>
          <a:bodyPr wrap="square" lIns="50800" tIns="50800" rIns="50800" bIns="50800" rtlCol="0" anchor="ctr"/>
          <a:lstStyle/>
          <a:p>
            <a:pPr marL="0" indent="0" algn="l">
              <a:buNone/>
            </a:pPr>
            <a:r>
              <a:rPr lang="en-US" sz="1200" b="1" dirty="0">
                <a:solidFill>
                  <a:srgbClr val="FFFFFF"/>
                </a:solidFill>
                <a:latin typeface="Gill Sans MT" pitchFamily="34" charset="0"/>
                <a:ea typeface="Gill Sans MT" pitchFamily="34" charset="-122"/>
                <a:cs typeface="Gill Sans MT" pitchFamily="34" charset="-120"/>
              </a:rPr>
              <a:t>AI Readiness</a:t>
            </a:r>
            <a:endParaRPr lang="en-US" sz="1200" dirty="0"/>
          </a:p>
        </p:txBody>
      </p:sp>
      <p:sp>
        <p:nvSpPr>
          <p:cNvPr id="12" name="Text 9"/>
          <p:cNvSpPr/>
          <p:nvPr/>
        </p:nvSpPr>
        <p:spPr>
          <a:xfrm>
            <a:off x="1280160" y="1682496"/>
            <a:ext cx="1828800" cy="256032"/>
          </a:xfrm>
          <a:prstGeom prst="rect">
            <a:avLst/>
          </a:prstGeom>
          <a:noFill/>
          <a:ln/>
        </p:spPr>
        <p:txBody>
          <a:bodyPr wrap="square" lIns="50800" tIns="50800" rIns="50800" bIns="50800" rtlCol="0" anchor="ctr"/>
          <a:lstStyle/>
          <a:p>
            <a:pPr marL="0" indent="0" algn="l">
              <a:buNone/>
            </a:pPr>
            <a:r>
              <a:rPr lang="en-US" sz="850" i="1" dirty="0">
                <a:solidFill>
                  <a:srgbClr val="B8C8D8"/>
                </a:solidFill>
                <a:latin typeface="Gill Sans MT" pitchFamily="34" charset="0"/>
                <a:ea typeface="Gill Sans MT" pitchFamily="34" charset="-122"/>
                <a:cs typeface="Gill Sans MT" pitchFamily="34" charset="-120"/>
              </a:rPr>
              <a:t>Exogenous</a:t>
            </a:r>
            <a:endParaRPr lang="en-US" sz="850" dirty="0"/>
          </a:p>
        </p:txBody>
      </p:sp>
      <p:sp>
        <p:nvSpPr>
          <p:cNvPr id="13" name="Text 10"/>
          <p:cNvSpPr/>
          <p:nvPr/>
        </p:nvSpPr>
        <p:spPr>
          <a:xfrm>
            <a:off x="530352" y="2212848"/>
            <a:ext cx="2514600" cy="256032"/>
          </a:xfrm>
          <a:prstGeom prst="rect">
            <a:avLst/>
          </a:prstGeom>
          <a:noFill/>
          <a:ln/>
        </p:spPr>
        <p:txBody>
          <a:bodyPr wrap="square" lIns="50800" tIns="50800" rIns="50800" bIns="50800" rtlCol="0" anchor="ctr"/>
          <a:lstStyle/>
          <a:p>
            <a:pPr marL="0" indent="0" algn="l">
              <a:buNone/>
            </a:pPr>
            <a:r>
              <a:rPr lang="en-US" sz="850" b="1" kern="0" spc="150" dirty="0">
                <a:solidFill>
                  <a:srgbClr val="6DAEDB"/>
                </a:solidFill>
                <a:latin typeface="Gill Sans MT" pitchFamily="34" charset="0"/>
                <a:ea typeface="Gill Sans MT" pitchFamily="34" charset="-122"/>
                <a:cs typeface="Gill Sans MT" pitchFamily="34" charset="-120"/>
              </a:rPr>
              <a:t>Source</a:t>
            </a:r>
            <a:endParaRPr lang="en-US" sz="850" dirty="0"/>
          </a:p>
        </p:txBody>
      </p:sp>
      <p:sp>
        <p:nvSpPr>
          <p:cNvPr id="14" name="Shape 11"/>
          <p:cNvSpPr/>
          <p:nvPr/>
        </p:nvSpPr>
        <p:spPr>
          <a:xfrm>
            <a:off x="530352" y="2468880"/>
            <a:ext cx="2487168" cy="0"/>
          </a:xfrm>
          <a:prstGeom prst="line">
            <a:avLst/>
          </a:prstGeom>
          <a:noFill/>
          <a:ln w="19050">
            <a:solidFill>
              <a:srgbClr val="6DAEDB"/>
            </a:solidFill>
            <a:prstDash val="solid"/>
          </a:ln>
        </p:spPr>
        <p:txBody>
          <a:bodyPr/>
          <a:lstStyle/>
          <a:p>
            <a:endParaRPr lang="en-GB"/>
          </a:p>
        </p:txBody>
      </p:sp>
      <p:sp>
        <p:nvSpPr>
          <p:cNvPr id="15" name="Text 12"/>
          <p:cNvSpPr/>
          <p:nvPr/>
        </p:nvSpPr>
        <p:spPr>
          <a:xfrm>
            <a:off x="530352" y="2542032"/>
            <a:ext cx="2514600" cy="548640"/>
          </a:xfrm>
          <a:prstGeom prst="rect">
            <a:avLst/>
          </a:prstGeom>
          <a:noFill/>
          <a:ln/>
        </p:spPr>
        <p:txBody>
          <a:bodyPr wrap="square" lIns="50800" tIns="50800" rIns="50800" bIns="50800" rtlCol="0" anchor="t"/>
          <a:lstStyle/>
          <a:p>
            <a:pPr marL="0" indent="0" algn="l">
              <a:buNone/>
            </a:pPr>
            <a:r>
              <a:rPr lang="en-US" sz="1100" dirty="0">
                <a:solidFill>
                  <a:srgbClr val="F5F5F0"/>
                </a:solidFill>
                <a:latin typeface="Gill Sans MT" pitchFamily="34" charset="0"/>
                <a:ea typeface="Gill Sans MT" pitchFamily="34" charset="-122"/>
                <a:cs typeface="Gill Sans MT" pitchFamily="34" charset="-120"/>
              </a:rPr>
              <a:t>Oxford Insights AI Index + ITU</a:t>
            </a:r>
            <a:endParaRPr lang="en-US" sz="1100" dirty="0"/>
          </a:p>
        </p:txBody>
      </p:sp>
      <p:sp>
        <p:nvSpPr>
          <p:cNvPr id="16" name="Text 13"/>
          <p:cNvSpPr/>
          <p:nvPr/>
        </p:nvSpPr>
        <p:spPr>
          <a:xfrm>
            <a:off x="530352" y="3200400"/>
            <a:ext cx="2514600" cy="256032"/>
          </a:xfrm>
          <a:prstGeom prst="rect">
            <a:avLst/>
          </a:prstGeom>
          <a:noFill/>
          <a:ln/>
        </p:spPr>
        <p:txBody>
          <a:bodyPr wrap="square" lIns="50800" tIns="50800" rIns="50800" bIns="50800" rtlCol="0" anchor="ctr"/>
          <a:lstStyle/>
          <a:p>
            <a:pPr marL="0" indent="0" algn="l">
              <a:buNone/>
            </a:pPr>
            <a:r>
              <a:rPr lang="en-US" sz="850" b="1" kern="0" spc="150" dirty="0">
                <a:solidFill>
                  <a:srgbClr val="6DAEDB"/>
                </a:solidFill>
                <a:latin typeface="Gill Sans MT" pitchFamily="34" charset="0"/>
                <a:ea typeface="Gill Sans MT" pitchFamily="34" charset="-122"/>
                <a:cs typeface="Gill Sans MT" pitchFamily="34" charset="-120"/>
              </a:rPr>
              <a:t>Indicators</a:t>
            </a:r>
            <a:endParaRPr lang="en-US" sz="850" dirty="0"/>
          </a:p>
        </p:txBody>
      </p:sp>
      <p:sp>
        <p:nvSpPr>
          <p:cNvPr id="17" name="Shape 14"/>
          <p:cNvSpPr/>
          <p:nvPr/>
        </p:nvSpPr>
        <p:spPr>
          <a:xfrm>
            <a:off x="530352" y="3456432"/>
            <a:ext cx="2487168" cy="0"/>
          </a:xfrm>
          <a:prstGeom prst="line">
            <a:avLst/>
          </a:prstGeom>
          <a:noFill/>
          <a:ln w="19050">
            <a:solidFill>
              <a:srgbClr val="6DAEDB"/>
            </a:solidFill>
            <a:prstDash val="solid"/>
          </a:ln>
        </p:spPr>
        <p:txBody>
          <a:bodyPr/>
          <a:lstStyle/>
          <a:p>
            <a:endParaRPr lang="en-GB"/>
          </a:p>
        </p:txBody>
      </p:sp>
      <p:sp>
        <p:nvSpPr>
          <p:cNvPr id="18" name="Text 15"/>
          <p:cNvSpPr/>
          <p:nvPr/>
        </p:nvSpPr>
        <p:spPr>
          <a:xfrm>
            <a:off x="530352" y="3547872"/>
            <a:ext cx="2514600" cy="2606040"/>
          </a:xfrm>
          <a:prstGeom prst="rect">
            <a:avLst/>
          </a:prstGeom>
          <a:noFill/>
          <a:ln/>
        </p:spPr>
        <p:txBody>
          <a:bodyPr wrap="square" lIns="50800" tIns="50800" rIns="50800" bIns="50800" rtlCol="0" anchor="t"/>
          <a:lstStyle/>
          <a:p>
            <a:pPr marL="0" indent="0" algn="l">
              <a:buNone/>
            </a:pPr>
            <a:r>
              <a:rPr lang="en-US" sz="1100" dirty="0">
                <a:solidFill>
                  <a:srgbClr val="B8C8D8"/>
                </a:solidFill>
                <a:latin typeface="Gill Sans MT" pitchFamily="34" charset="0"/>
                <a:ea typeface="Gill Sans MT" pitchFamily="34" charset="-122"/>
                <a:cs typeface="Gill Sans MT" pitchFamily="34" charset="-120"/>
              </a:rPr>
              <a:t>AI Index Score</a:t>
            </a:r>
            <a:endParaRPr lang="en-US" sz="1100" dirty="0"/>
          </a:p>
          <a:p>
            <a:pPr marL="0" indent="0" algn="l">
              <a:buNone/>
            </a:pPr>
            <a:r>
              <a:rPr lang="en-US" sz="1100" dirty="0">
                <a:solidFill>
                  <a:srgbClr val="B8C8D8"/>
                </a:solidFill>
                <a:latin typeface="Gill Sans MT" pitchFamily="34" charset="0"/>
                <a:ea typeface="Gill Sans MT" pitchFamily="34" charset="-122"/>
                <a:cs typeface="Gill Sans MT" pitchFamily="34" charset="-120"/>
              </a:rPr>
              <a:t>Internet Penetration</a:t>
            </a:r>
            <a:endParaRPr lang="en-US" sz="1100" dirty="0"/>
          </a:p>
          <a:p>
            <a:pPr marL="0" indent="0" algn="l">
              <a:buNone/>
            </a:pPr>
            <a:r>
              <a:rPr lang="en-US" sz="1100" dirty="0">
                <a:solidFill>
                  <a:srgbClr val="B8C8D8"/>
                </a:solidFill>
                <a:latin typeface="Gill Sans MT" pitchFamily="34" charset="0"/>
                <a:ea typeface="Gill Sans MT" pitchFamily="34" charset="-122"/>
                <a:cs typeface="Gill Sans MT" pitchFamily="34" charset="-120"/>
              </a:rPr>
              <a:t>R&amp;D Expenditure</a:t>
            </a:r>
            <a:endParaRPr lang="en-US" sz="1100" dirty="0"/>
          </a:p>
        </p:txBody>
      </p:sp>
      <p:sp>
        <p:nvSpPr>
          <p:cNvPr id="19" name="Shape 16"/>
          <p:cNvSpPr/>
          <p:nvPr/>
        </p:nvSpPr>
        <p:spPr>
          <a:xfrm>
            <a:off x="3310128" y="1261872"/>
            <a:ext cx="2834640" cy="5074920"/>
          </a:xfrm>
          <a:prstGeom prst="roundRect">
            <a:avLst>
              <a:gd name="adj" fmla="val 4516"/>
            </a:avLst>
          </a:prstGeom>
          <a:solidFill>
            <a:srgbClr val="04080E">
              <a:alpha val="60000"/>
            </a:srgbClr>
          </a:solidFill>
          <a:ln w="10160">
            <a:solidFill>
              <a:srgbClr val="56D68A">
                <a:alpha val="7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0" name="Shape 17"/>
          <p:cNvSpPr/>
          <p:nvPr/>
        </p:nvSpPr>
        <p:spPr>
          <a:xfrm>
            <a:off x="3310128" y="1261872"/>
            <a:ext cx="2834640" cy="749808"/>
          </a:xfrm>
          <a:prstGeom prst="roundRect">
            <a:avLst>
              <a:gd name="adj" fmla="val 14634"/>
            </a:avLst>
          </a:prstGeom>
          <a:solidFill>
            <a:srgbClr val="56D68A">
              <a:alpha val="40000"/>
            </a:srgbClr>
          </a:solidFill>
          <a:ln w="12700">
            <a:solidFill>
              <a:srgbClr val="56D68A"/>
            </a:solidFill>
            <a:prstDash val="solid"/>
          </a:ln>
        </p:spPr>
        <p:txBody>
          <a:bodyPr/>
          <a:lstStyle/>
          <a:p>
            <a:endParaRPr lang="en-GB"/>
          </a:p>
        </p:txBody>
      </p:sp>
      <p:sp>
        <p:nvSpPr>
          <p:cNvPr id="21" name="Text 18"/>
          <p:cNvSpPr/>
          <p:nvPr/>
        </p:nvSpPr>
        <p:spPr>
          <a:xfrm>
            <a:off x="3401568" y="1298448"/>
            <a:ext cx="822960" cy="640080"/>
          </a:xfrm>
          <a:prstGeom prst="rect">
            <a:avLst/>
          </a:prstGeom>
          <a:noFill/>
          <a:ln/>
        </p:spPr>
        <p:txBody>
          <a:bodyPr wrap="square" lIns="50800" tIns="50800" rIns="50800" bIns="50800" rtlCol="0" anchor="ctr"/>
          <a:lstStyle/>
          <a:p>
            <a:pPr marL="0" indent="0" algn="ctr">
              <a:buNone/>
            </a:pPr>
            <a:r>
              <a:rPr lang="en-US" sz="2400" b="1" dirty="0">
                <a:solidFill>
                  <a:srgbClr val="FFFFFF"/>
                </a:solidFill>
                <a:latin typeface="Gill Sans MT" pitchFamily="34" charset="0"/>
                <a:ea typeface="Gill Sans MT" pitchFamily="34" charset="-122"/>
                <a:cs typeface="Gill Sans MT" pitchFamily="34" charset="-120"/>
              </a:rPr>
              <a:t>η₁</a:t>
            </a:r>
            <a:endParaRPr lang="en-US" sz="2400" dirty="0"/>
          </a:p>
        </p:txBody>
      </p:sp>
      <p:sp>
        <p:nvSpPr>
          <p:cNvPr id="22" name="Text 19"/>
          <p:cNvSpPr/>
          <p:nvPr/>
        </p:nvSpPr>
        <p:spPr>
          <a:xfrm>
            <a:off x="4224528" y="1298448"/>
            <a:ext cx="1828800" cy="402336"/>
          </a:xfrm>
          <a:prstGeom prst="rect">
            <a:avLst/>
          </a:prstGeom>
          <a:noFill/>
          <a:ln/>
        </p:spPr>
        <p:txBody>
          <a:bodyPr wrap="square" lIns="50800" tIns="50800" rIns="50800" bIns="50800" rtlCol="0" anchor="ctr"/>
          <a:lstStyle/>
          <a:p>
            <a:pPr marL="0" indent="0" algn="l">
              <a:buNone/>
            </a:pPr>
            <a:r>
              <a:rPr lang="en-US" sz="1200" b="1" dirty="0">
                <a:solidFill>
                  <a:srgbClr val="FFFFFF"/>
                </a:solidFill>
                <a:latin typeface="Gill Sans MT" pitchFamily="34" charset="0"/>
                <a:ea typeface="Gill Sans MT" pitchFamily="34" charset="-122"/>
                <a:cs typeface="Gill Sans MT" pitchFamily="34" charset="-120"/>
              </a:rPr>
              <a:t>SC Performance</a:t>
            </a:r>
            <a:endParaRPr lang="en-US" sz="1200" dirty="0"/>
          </a:p>
        </p:txBody>
      </p:sp>
      <p:sp>
        <p:nvSpPr>
          <p:cNvPr id="23" name="Text 20"/>
          <p:cNvSpPr/>
          <p:nvPr/>
        </p:nvSpPr>
        <p:spPr>
          <a:xfrm>
            <a:off x="4224528" y="1682496"/>
            <a:ext cx="1828800" cy="256032"/>
          </a:xfrm>
          <a:prstGeom prst="rect">
            <a:avLst/>
          </a:prstGeom>
          <a:noFill/>
          <a:ln/>
        </p:spPr>
        <p:txBody>
          <a:bodyPr wrap="square" lIns="50800" tIns="50800" rIns="50800" bIns="50800" rtlCol="0" anchor="ctr"/>
          <a:lstStyle/>
          <a:p>
            <a:pPr marL="0" indent="0" algn="l">
              <a:buNone/>
            </a:pPr>
            <a:r>
              <a:rPr lang="en-US" sz="850" i="1" dirty="0">
                <a:solidFill>
                  <a:srgbClr val="B8C8D8"/>
                </a:solidFill>
                <a:latin typeface="Gill Sans MT" pitchFamily="34" charset="0"/>
                <a:ea typeface="Gill Sans MT" pitchFamily="34" charset="-122"/>
                <a:cs typeface="Gill Sans MT" pitchFamily="34" charset="-120"/>
              </a:rPr>
              <a:t>Endogenous / Mediator</a:t>
            </a:r>
            <a:endParaRPr lang="en-US" sz="850" dirty="0"/>
          </a:p>
        </p:txBody>
      </p:sp>
      <p:sp>
        <p:nvSpPr>
          <p:cNvPr id="24" name="Text 21"/>
          <p:cNvSpPr/>
          <p:nvPr/>
        </p:nvSpPr>
        <p:spPr>
          <a:xfrm>
            <a:off x="3474720" y="2212848"/>
            <a:ext cx="2514600" cy="256032"/>
          </a:xfrm>
          <a:prstGeom prst="rect">
            <a:avLst/>
          </a:prstGeom>
          <a:noFill/>
          <a:ln/>
        </p:spPr>
        <p:txBody>
          <a:bodyPr wrap="square" lIns="50800" tIns="50800" rIns="50800" bIns="50800" rtlCol="0" anchor="ctr"/>
          <a:lstStyle/>
          <a:p>
            <a:pPr marL="0" indent="0" algn="l">
              <a:buNone/>
            </a:pPr>
            <a:r>
              <a:rPr lang="en-US" sz="850" b="1" kern="0" spc="150" dirty="0">
                <a:solidFill>
                  <a:srgbClr val="56D68A"/>
                </a:solidFill>
                <a:latin typeface="Gill Sans MT" pitchFamily="34" charset="0"/>
                <a:ea typeface="Gill Sans MT" pitchFamily="34" charset="-122"/>
                <a:cs typeface="Gill Sans MT" pitchFamily="34" charset="-120"/>
              </a:rPr>
              <a:t>Source</a:t>
            </a:r>
            <a:endParaRPr lang="en-US" sz="850" dirty="0"/>
          </a:p>
        </p:txBody>
      </p:sp>
      <p:sp>
        <p:nvSpPr>
          <p:cNvPr id="25" name="Shape 22"/>
          <p:cNvSpPr/>
          <p:nvPr/>
        </p:nvSpPr>
        <p:spPr>
          <a:xfrm>
            <a:off x="3474720" y="2468880"/>
            <a:ext cx="2487168" cy="0"/>
          </a:xfrm>
          <a:prstGeom prst="line">
            <a:avLst/>
          </a:prstGeom>
          <a:noFill/>
          <a:ln w="19050">
            <a:solidFill>
              <a:srgbClr val="56D68A"/>
            </a:solidFill>
            <a:prstDash val="solid"/>
          </a:ln>
        </p:spPr>
        <p:txBody>
          <a:bodyPr/>
          <a:lstStyle/>
          <a:p>
            <a:endParaRPr lang="en-GB"/>
          </a:p>
        </p:txBody>
      </p:sp>
      <p:sp>
        <p:nvSpPr>
          <p:cNvPr id="26" name="Text 23"/>
          <p:cNvSpPr/>
          <p:nvPr/>
        </p:nvSpPr>
        <p:spPr>
          <a:xfrm>
            <a:off x="3474720" y="2542032"/>
            <a:ext cx="2514600" cy="548640"/>
          </a:xfrm>
          <a:prstGeom prst="rect">
            <a:avLst/>
          </a:prstGeom>
          <a:noFill/>
          <a:ln/>
        </p:spPr>
        <p:txBody>
          <a:bodyPr wrap="square" lIns="50800" tIns="50800" rIns="50800" bIns="50800" rtlCol="0" anchor="t"/>
          <a:lstStyle/>
          <a:p>
            <a:pPr marL="0" indent="0" algn="l">
              <a:buNone/>
            </a:pPr>
            <a:r>
              <a:rPr lang="en-US" sz="1100" dirty="0">
                <a:solidFill>
                  <a:srgbClr val="F5F5F0"/>
                </a:solidFill>
                <a:latin typeface="Gill Sans MT" pitchFamily="34" charset="0"/>
                <a:ea typeface="Gill Sans MT" pitchFamily="34" charset="-122"/>
                <a:cs typeface="Gill Sans MT" pitchFamily="34" charset="-120"/>
              </a:rPr>
              <a:t>World Bank LPI</a:t>
            </a:r>
            <a:endParaRPr lang="en-US" sz="1100" dirty="0"/>
          </a:p>
        </p:txBody>
      </p:sp>
      <p:sp>
        <p:nvSpPr>
          <p:cNvPr id="27" name="Text 24"/>
          <p:cNvSpPr/>
          <p:nvPr/>
        </p:nvSpPr>
        <p:spPr>
          <a:xfrm>
            <a:off x="3474720" y="3200400"/>
            <a:ext cx="2514600" cy="256032"/>
          </a:xfrm>
          <a:prstGeom prst="rect">
            <a:avLst/>
          </a:prstGeom>
          <a:noFill/>
          <a:ln/>
        </p:spPr>
        <p:txBody>
          <a:bodyPr wrap="square" lIns="50800" tIns="50800" rIns="50800" bIns="50800" rtlCol="0" anchor="ctr"/>
          <a:lstStyle/>
          <a:p>
            <a:pPr marL="0" indent="0" algn="l">
              <a:buNone/>
            </a:pPr>
            <a:r>
              <a:rPr lang="en-US" sz="850" b="1" kern="0" spc="150" dirty="0">
                <a:solidFill>
                  <a:srgbClr val="56D68A"/>
                </a:solidFill>
                <a:latin typeface="Gill Sans MT" pitchFamily="34" charset="0"/>
                <a:ea typeface="Gill Sans MT" pitchFamily="34" charset="-122"/>
                <a:cs typeface="Gill Sans MT" pitchFamily="34" charset="-120"/>
              </a:rPr>
              <a:t>Indicators</a:t>
            </a:r>
            <a:endParaRPr lang="en-US" sz="850" dirty="0"/>
          </a:p>
        </p:txBody>
      </p:sp>
      <p:sp>
        <p:nvSpPr>
          <p:cNvPr id="28" name="Shape 25"/>
          <p:cNvSpPr/>
          <p:nvPr/>
        </p:nvSpPr>
        <p:spPr>
          <a:xfrm>
            <a:off x="3474720" y="3456432"/>
            <a:ext cx="2487168" cy="0"/>
          </a:xfrm>
          <a:prstGeom prst="line">
            <a:avLst/>
          </a:prstGeom>
          <a:noFill/>
          <a:ln w="19050">
            <a:solidFill>
              <a:srgbClr val="56D68A"/>
            </a:solidFill>
            <a:prstDash val="solid"/>
          </a:ln>
        </p:spPr>
        <p:txBody>
          <a:bodyPr/>
          <a:lstStyle/>
          <a:p>
            <a:endParaRPr lang="en-GB"/>
          </a:p>
        </p:txBody>
      </p:sp>
      <p:sp>
        <p:nvSpPr>
          <p:cNvPr id="29" name="Text 26"/>
          <p:cNvSpPr/>
          <p:nvPr/>
        </p:nvSpPr>
        <p:spPr>
          <a:xfrm>
            <a:off x="3474720" y="3547872"/>
            <a:ext cx="2514600" cy="2606040"/>
          </a:xfrm>
          <a:prstGeom prst="rect">
            <a:avLst/>
          </a:prstGeom>
          <a:noFill/>
          <a:ln/>
        </p:spPr>
        <p:txBody>
          <a:bodyPr wrap="square" lIns="50800" tIns="50800" rIns="50800" bIns="50800" rtlCol="0" anchor="t"/>
          <a:lstStyle/>
          <a:p>
            <a:pPr marL="0" indent="0" algn="l">
              <a:buNone/>
            </a:pPr>
            <a:r>
              <a:rPr lang="en-US" sz="1100" dirty="0">
                <a:solidFill>
                  <a:srgbClr val="B8C8D8"/>
                </a:solidFill>
                <a:latin typeface="Gill Sans MT" pitchFamily="34" charset="0"/>
                <a:ea typeface="Gill Sans MT" pitchFamily="34" charset="-122"/>
                <a:cs typeface="Gill Sans MT" pitchFamily="34" charset="-120"/>
              </a:rPr>
              <a:t>Infrastructure</a:t>
            </a:r>
            <a:endParaRPr lang="en-US" sz="1100" dirty="0"/>
          </a:p>
          <a:p>
            <a:pPr marL="0" indent="0" algn="l">
              <a:buNone/>
            </a:pPr>
            <a:r>
              <a:rPr lang="en-US" sz="1100" dirty="0">
                <a:solidFill>
                  <a:srgbClr val="B8C8D8"/>
                </a:solidFill>
                <a:latin typeface="Gill Sans MT" pitchFamily="34" charset="0"/>
                <a:ea typeface="Gill Sans MT" pitchFamily="34" charset="-122"/>
                <a:cs typeface="Gill Sans MT" pitchFamily="34" charset="-120"/>
              </a:rPr>
              <a:t>Customs</a:t>
            </a:r>
            <a:endParaRPr lang="en-US" sz="1100" dirty="0"/>
          </a:p>
          <a:p>
            <a:pPr marL="0" indent="0" algn="l">
              <a:buNone/>
            </a:pPr>
            <a:r>
              <a:rPr lang="en-US" sz="1100" dirty="0">
                <a:solidFill>
                  <a:srgbClr val="B8C8D8"/>
                </a:solidFill>
                <a:latin typeface="Gill Sans MT" pitchFamily="34" charset="0"/>
                <a:ea typeface="Gill Sans MT" pitchFamily="34" charset="-122"/>
                <a:cs typeface="Gill Sans MT" pitchFamily="34" charset="-120"/>
              </a:rPr>
              <a:t>Timeliness, Tracking</a:t>
            </a:r>
            <a:endParaRPr lang="en-US" sz="1100" dirty="0"/>
          </a:p>
          <a:p>
            <a:pPr marL="0" indent="0" algn="l">
              <a:buNone/>
            </a:pPr>
            <a:r>
              <a:rPr lang="en-US" sz="1100" dirty="0">
                <a:solidFill>
                  <a:srgbClr val="B8C8D8"/>
                </a:solidFill>
                <a:latin typeface="Gill Sans MT" pitchFamily="34" charset="0"/>
                <a:ea typeface="Gill Sans MT" pitchFamily="34" charset="-122"/>
                <a:cs typeface="Gill Sans MT" pitchFamily="34" charset="-120"/>
              </a:rPr>
              <a:t>Intl. Shipments</a:t>
            </a:r>
            <a:endParaRPr lang="en-US" sz="1100" dirty="0"/>
          </a:p>
        </p:txBody>
      </p:sp>
      <p:sp>
        <p:nvSpPr>
          <p:cNvPr id="30" name="Shape 27"/>
          <p:cNvSpPr/>
          <p:nvPr/>
        </p:nvSpPr>
        <p:spPr>
          <a:xfrm>
            <a:off x="6254496" y="1261872"/>
            <a:ext cx="2834640" cy="5074920"/>
          </a:xfrm>
          <a:prstGeom prst="roundRect">
            <a:avLst>
              <a:gd name="adj" fmla="val 4516"/>
            </a:avLst>
          </a:prstGeom>
          <a:solidFill>
            <a:srgbClr val="04080E">
              <a:alpha val="60000"/>
            </a:srgbClr>
          </a:solidFill>
          <a:ln w="10160">
            <a:solidFill>
              <a:srgbClr val="FFB347">
                <a:alpha val="7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31" name="Shape 28"/>
          <p:cNvSpPr/>
          <p:nvPr/>
        </p:nvSpPr>
        <p:spPr>
          <a:xfrm>
            <a:off x="6254496" y="1261872"/>
            <a:ext cx="2834640" cy="749808"/>
          </a:xfrm>
          <a:prstGeom prst="roundRect">
            <a:avLst>
              <a:gd name="adj" fmla="val 14634"/>
            </a:avLst>
          </a:prstGeom>
          <a:solidFill>
            <a:srgbClr val="FFB347">
              <a:alpha val="40000"/>
            </a:srgbClr>
          </a:solidFill>
          <a:ln w="12700">
            <a:solidFill>
              <a:srgbClr val="FFB347"/>
            </a:solidFill>
            <a:prstDash val="solid"/>
          </a:ln>
        </p:spPr>
        <p:txBody>
          <a:bodyPr/>
          <a:lstStyle/>
          <a:p>
            <a:endParaRPr lang="en-GB"/>
          </a:p>
        </p:txBody>
      </p:sp>
      <p:sp>
        <p:nvSpPr>
          <p:cNvPr id="32" name="Text 29"/>
          <p:cNvSpPr/>
          <p:nvPr/>
        </p:nvSpPr>
        <p:spPr>
          <a:xfrm>
            <a:off x="6345936" y="1298448"/>
            <a:ext cx="822960" cy="640080"/>
          </a:xfrm>
          <a:prstGeom prst="rect">
            <a:avLst/>
          </a:prstGeom>
          <a:noFill/>
          <a:ln/>
        </p:spPr>
        <p:txBody>
          <a:bodyPr wrap="square" lIns="50800" tIns="50800" rIns="50800" bIns="50800" rtlCol="0" anchor="ctr"/>
          <a:lstStyle/>
          <a:p>
            <a:pPr marL="0" indent="0" algn="ctr">
              <a:buNone/>
            </a:pPr>
            <a:r>
              <a:rPr lang="en-US" sz="2400" b="1" dirty="0">
                <a:solidFill>
                  <a:srgbClr val="FFFFFF"/>
                </a:solidFill>
                <a:latin typeface="Gill Sans MT" pitchFamily="34" charset="0"/>
                <a:ea typeface="Gill Sans MT" pitchFamily="34" charset="-122"/>
                <a:cs typeface="Gill Sans MT" pitchFamily="34" charset="-120"/>
              </a:rPr>
              <a:t>η₂</a:t>
            </a:r>
            <a:endParaRPr lang="en-US" sz="2400" dirty="0"/>
          </a:p>
        </p:txBody>
      </p:sp>
      <p:sp>
        <p:nvSpPr>
          <p:cNvPr id="33" name="Text 30"/>
          <p:cNvSpPr/>
          <p:nvPr/>
        </p:nvSpPr>
        <p:spPr>
          <a:xfrm>
            <a:off x="7168896" y="1298448"/>
            <a:ext cx="1828800" cy="402336"/>
          </a:xfrm>
          <a:prstGeom prst="rect">
            <a:avLst/>
          </a:prstGeom>
          <a:noFill/>
          <a:ln/>
        </p:spPr>
        <p:txBody>
          <a:bodyPr wrap="square" lIns="50800" tIns="50800" rIns="50800" bIns="50800" rtlCol="0" anchor="ctr"/>
          <a:lstStyle/>
          <a:p>
            <a:pPr marL="0" indent="0" algn="l">
              <a:buNone/>
            </a:pPr>
            <a:r>
              <a:rPr lang="en-US" sz="1200" b="1" dirty="0">
                <a:solidFill>
                  <a:srgbClr val="FFFFFF"/>
                </a:solidFill>
                <a:latin typeface="Gill Sans MT" pitchFamily="34" charset="0"/>
                <a:ea typeface="Gill Sans MT" pitchFamily="34" charset="-122"/>
                <a:cs typeface="Gill Sans MT" pitchFamily="34" charset="-120"/>
              </a:rPr>
              <a:t>Economic Perf.</a:t>
            </a:r>
            <a:endParaRPr lang="en-US" sz="1200" dirty="0"/>
          </a:p>
        </p:txBody>
      </p:sp>
      <p:sp>
        <p:nvSpPr>
          <p:cNvPr id="34" name="Text 31"/>
          <p:cNvSpPr/>
          <p:nvPr/>
        </p:nvSpPr>
        <p:spPr>
          <a:xfrm>
            <a:off x="7168896" y="1682496"/>
            <a:ext cx="1828800" cy="256032"/>
          </a:xfrm>
          <a:prstGeom prst="rect">
            <a:avLst/>
          </a:prstGeom>
          <a:noFill/>
          <a:ln/>
        </p:spPr>
        <p:txBody>
          <a:bodyPr wrap="square" lIns="50800" tIns="50800" rIns="50800" bIns="50800" rtlCol="0" anchor="ctr"/>
          <a:lstStyle/>
          <a:p>
            <a:pPr marL="0" indent="0" algn="l">
              <a:buNone/>
            </a:pPr>
            <a:r>
              <a:rPr lang="en-US" sz="850" i="1" dirty="0">
                <a:solidFill>
                  <a:srgbClr val="B8C8D8"/>
                </a:solidFill>
                <a:latin typeface="Gill Sans MT" pitchFamily="34" charset="0"/>
                <a:ea typeface="Gill Sans MT" pitchFamily="34" charset="-122"/>
                <a:cs typeface="Gill Sans MT" pitchFamily="34" charset="-120"/>
              </a:rPr>
              <a:t>Endogenous</a:t>
            </a:r>
            <a:endParaRPr lang="en-US" sz="850" dirty="0"/>
          </a:p>
        </p:txBody>
      </p:sp>
      <p:sp>
        <p:nvSpPr>
          <p:cNvPr id="35" name="Text 32"/>
          <p:cNvSpPr/>
          <p:nvPr/>
        </p:nvSpPr>
        <p:spPr>
          <a:xfrm>
            <a:off x="6419088" y="2212848"/>
            <a:ext cx="2514600" cy="256032"/>
          </a:xfrm>
          <a:prstGeom prst="rect">
            <a:avLst/>
          </a:prstGeom>
          <a:noFill/>
          <a:ln/>
        </p:spPr>
        <p:txBody>
          <a:bodyPr wrap="square" lIns="50800" tIns="50800" rIns="50800" bIns="50800" rtlCol="0" anchor="ctr"/>
          <a:lstStyle/>
          <a:p>
            <a:pPr marL="0" indent="0" algn="l">
              <a:buNone/>
            </a:pPr>
            <a:r>
              <a:rPr lang="en-US" sz="850" b="1" kern="0" spc="150" dirty="0">
                <a:solidFill>
                  <a:srgbClr val="FFB347"/>
                </a:solidFill>
                <a:latin typeface="Gill Sans MT" pitchFamily="34" charset="0"/>
                <a:ea typeface="Gill Sans MT" pitchFamily="34" charset="-122"/>
                <a:cs typeface="Gill Sans MT" pitchFamily="34" charset="-120"/>
              </a:rPr>
              <a:t>Source</a:t>
            </a:r>
            <a:endParaRPr lang="en-US" sz="850" dirty="0"/>
          </a:p>
        </p:txBody>
      </p:sp>
      <p:sp>
        <p:nvSpPr>
          <p:cNvPr id="36" name="Shape 33"/>
          <p:cNvSpPr/>
          <p:nvPr/>
        </p:nvSpPr>
        <p:spPr>
          <a:xfrm>
            <a:off x="6419088" y="2468880"/>
            <a:ext cx="2487168" cy="0"/>
          </a:xfrm>
          <a:prstGeom prst="line">
            <a:avLst/>
          </a:prstGeom>
          <a:noFill/>
          <a:ln w="19050">
            <a:solidFill>
              <a:srgbClr val="FFB347"/>
            </a:solidFill>
            <a:prstDash val="solid"/>
          </a:ln>
        </p:spPr>
        <p:txBody>
          <a:bodyPr/>
          <a:lstStyle/>
          <a:p>
            <a:endParaRPr lang="en-GB"/>
          </a:p>
        </p:txBody>
      </p:sp>
      <p:sp>
        <p:nvSpPr>
          <p:cNvPr id="37" name="Text 34"/>
          <p:cNvSpPr/>
          <p:nvPr/>
        </p:nvSpPr>
        <p:spPr>
          <a:xfrm>
            <a:off x="6419088" y="2542032"/>
            <a:ext cx="2514600" cy="548640"/>
          </a:xfrm>
          <a:prstGeom prst="rect">
            <a:avLst/>
          </a:prstGeom>
          <a:noFill/>
          <a:ln/>
        </p:spPr>
        <p:txBody>
          <a:bodyPr wrap="square" lIns="50800" tIns="50800" rIns="50800" bIns="50800" rtlCol="0" anchor="t"/>
          <a:lstStyle/>
          <a:p>
            <a:pPr marL="0" indent="0" algn="l">
              <a:buNone/>
            </a:pPr>
            <a:r>
              <a:rPr lang="en-US" sz="1100" dirty="0">
                <a:solidFill>
                  <a:srgbClr val="F5F5F0"/>
                </a:solidFill>
                <a:latin typeface="Gill Sans MT" pitchFamily="34" charset="0"/>
                <a:ea typeface="Gill Sans MT" pitchFamily="34" charset="-122"/>
                <a:cs typeface="Gill Sans MT" pitchFamily="34" charset="-120"/>
              </a:rPr>
              <a:t>World Bank WDI</a:t>
            </a:r>
            <a:endParaRPr lang="en-US" sz="1100" dirty="0"/>
          </a:p>
        </p:txBody>
      </p:sp>
      <p:sp>
        <p:nvSpPr>
          <p:cNvPr id="38" name="Text 35"/>
          <p:cNvSpPr/>
          <p:nvPr/>
        </p:nvSpPr>
        <p:spPr>
          <a:xfrm>
            <a:off x="6419088" y="3200400"/>
            <a:ext cx="2514600" cy="256032"/>
          </a:xfrm>
          <a:prstGeom prst="rect">
            <a:avLst/>
          </a:prstGeom>
          <a:noFill/>
          <a:ln/>
        </p:spPr>
        <p:txBody>
          <a:bodyPr wrap="square" lIns="50800" tIns="50800" rIns="50800" bIns="50800" rtlCol="0" anchor="ctr"/>
          <a:lstStyle/>
          <a:p>
            <a:pPr marL="0" indent="0" algn="l">
              <a:buNone/>
            </a:pPr>
            <a:r>
              <a:rPr lang="en-US" sz="850" b="1" kern="0" spc="150" dirty="0">
                <a:solidFill>
                  <a:srgbClr val="FFB347"/>
                </a:solidFill>
                <a:latin typeface="Gill Sans MT" pitchFamily="34" charset="0"/>
                <a:ea typeface="Gill Sans MT" pitchFamily="34" charset="-122"/>
                <a:cs typeface="Gill Sans MT" pitchFamily="34" charset="-120"/>
              </a:rPr>
              <a:t>Indicators</a:t>
            </a:r>
            <a:endParaRPr lang="en-US" sz="850" dirty="0"/>
          </a:p>
        </p:txBody>
      </p:sp>
      <p:sp>
        <p:nvSpPr>
          <p:cNvPr id="39" name="Shape 36"/>
          <p:cNvSpPr/>
          <p:nvPr/>
        </p:nvSpPr>
        <p:spPr>
          <a:xfrm>
            <a:off x="6419088" y="3456432"/>
            <a:ext cx="2487168" cy="0"/>
          </a:xfrm>
          <a:prstGeom prst="line">
            <a:avLst/>
          </a:prstGeom>
          <a:noFill/>
          <a:ln w="19050">
            <a:solidFill>
              <a:srgbClr val="FFB347"/>
            </a:solidFill>
            <a:prstDash val="solid"/>
          </a:ln>
        </p:spPr>
        <p:txBody>
          <a:bodyPr/>
          <a:lstStyle/>
          <a:p>
            <a:endParaRPr lang="en-GB"/>
          </a:p>
        </p:txBody>
      </p:sp>
      <p:sp>
        <p:nvSpPr>
          <p:cNvPr id="40" name="Text 37"/>
          <p:cNvSpPr/>
          <p:nvPr/>
        </p:nvSpPr>
        <p:spPr>
          <a:xfrm>
            <a:off x="6419088" y="3547872"/>
            <a:ext cx="2514600" cy="2606040"/>
          </a:xfrm>
          <a:prstGeom prst="rect">
            <a:avLst/>
          </a:prstGeom>
          <a:noFill/>
          <a:ln/>
        </p:spPr>
        <p:txBody>
          <a:bodyPr wrap="square" lIns="50800" tIns="50800" rIns="50800" bIns="50800" rtlCol="0" anchor="t"/>
          <a:lstStyle/>
          <a:p>
            <a:pPr marL="0" indent="0" algn="l">
              <a:buNone/>
            </a:pPr>
            <a:r>
              <a:rPr lang="en-US" sz="1100" dirty="0">
                <a:solidFill>
                  <a:srgbClr val="B8C8D8"/>
                </a:solidFill>
                <a:latin typeface="Gill Sans MT" pitchFamily="34" charset="0"/>
                <a:ea typeface="Gill Sans MT" pitchFamily="34" charset="-122"/>
                <a:cs typeface="Gill Sans MT" pitchFamily="34" charset="-120"/>
              </a:rPr>
              <a:t>GDP per Capita</a:t>
            </a:r>
            <a:endParaRPr lang="en-US" sz="1100" dirty="0"/>
          </a:p>
          <a:p>
            <a:pPr marL="0" indent="0" algn="l">
              <a:buNone/>
            </a:pPr>
            <a:r>
              <a:rPr lang="en-US" sz="1100" dirty="0">
                <a:solidFill>
                  <a:srgbClr val="B8C8D8"/>
                </a:solidFill>
                <a:latin typeface="Gill Sans MT" pitchFamily="34" charset="0"/>
                <a:ea typeface="Gill Sans MT" pitchFamily="34" charset="-122"/>
                <a:cs typeface="Gill Sans MT" pitchFamily="34" charset="-120"/>
              </a:rPr>
              <a:t>Exports % GDP</a:t>
            </a:r>
            <a:endParaRPr lang="en-US" sz="1100" dirty="0"/>
          </a:p>
          <a:p>
            <a:pPr marL="0" indent="0" algn="l">
              <a:buNone/>
            </a:pPr>
            <a:r>
              <a:rPr lang="en-US" sz="1100" dirty="0">
                <a:solidFill>
                  <a:srgbClr val="B8C8D8"/>
                </a:solidFill>
                <a:latin typeface="Gill Sans MT" pitchFamily="34" charset="0"/>
                <a:ea typeface="Gill Sans MT" pitchFamily="34" charset="-122"/>
                <a:cs typeface="Gill Sans MT" pitchFamily="34" charset="-120"/>
              </a:rPr>
              <a:t>Trade Openness</a:t>
            </a:r>
            <a:endParaRPr lang="en-US" sz="1100" dirty="0"/>
          </a:p>
        </p:txBody>
      </p:sp>
      <p:sp>
        <p:nvSpPr>
          <p:cNvPr id="41" name="Shape 38"/>
          <p:cNvSpPr/>
          <p:nvPr/>
        </p:nvSpPr>
        <p:spPr>
          <a:xfrm>
            <a:off x="9198864" y="1261872"/>
            <a:ext cx="2834640" cy="5074920"/>
          </a:xfrm>
          <a:prstGeom prst="roundRect">
            <a:avLst>
              <a:gd name="adj" fmla="val 4516"/>
            </a:avLst>
          </a:prstGeom>
          <a:solidFill>
            <a:srgbClr val="04080E">
              <a:alpha val="60000"/>
            </a:srgbClr>
          </a:solidFill>
          <a:ln w="10160">
            <a:solidFill>
              <a:srgbClr val="C9A0E8">
                <a:alpha val="7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42" name="Shape 39"/>
          <p:cNvSpPr/>
          <p:nvPr/>
        </p:nvSpPr>
        <p:spPr>
          <a:xfrm>
            <a:off x="9198864" y="1261872"/>
            <a:ext cx="2834640" cy="749808"/>
          </a:xfrm>
          <a:prstGeom prst="roundRect">
            <a:avLst>
              <a:gd name="adj" fmla="val 14634"/>
            </a:avLst>
          </a:prstGeom>
          <a:solidFill>
            <a:srgbClr val="C9A0E8">
              <a:alpha val="40000"/>
            </a:srgbClr>
          </a:solidFill>
          <a:ln w="12700">
            <a:solidFill>
              <a:srgbClr val="C9A0E8"/>
            </a:solidFill>
            <a:prstDash val="solid"/>
          </a:ln>
        </p:spPr>
        <p:txBody>
          <a:bodyPr/>
          <a:lstStyle/>
          <a:p>
            <a:endParaRPr lang="en-GB"/>
          </a:p>
        </p:txBody>
      </p:sp>
      <p:sp>
        <p:nvSpPr>
          <p:cNvPr id="43" name="Text 40"/>
          <p:cNvSpPr/>
          <p:nvPr/>
        </p:nvSpPr>
        <p:spPr>
          <a:xfrm>
            <a:off x="9290304" y="1298448"/>
            <a:ext cx="822960" cy="640080"/>
          </a:xfrm>
          <a:prstGeom prst="rect">
            <a:avLst/>
          </a:prstGeom>
          <a:noFill/>
          <a:ln/>
        </p:spPr>
        <p:txBody>
          <a:bodyPr wrap="square" lIns="50800" tIns="50800" rIns="50800" bIns="50800" rtlCol="0" anchor="ctr"/>
          <a:lstStyle/>
          <a:p>
            <a:pPr marL="0" indent="0" algn="ctr">
              <a:buNone/>
            </a:pPr>
            <a:r>
              <a:rPr lang="en-US" sz="2400" b="1" dirty="0">
                <a:solidFill>
                  <a:srgbClr val="FFFFFF"/>
                </a:solidFill>
                <a:latin typeface="Gill Sans MT" pitchFamily="34" charset="0"/>
                <a:ea typeface="Gill Sans MT" pitchFamily="34" charset="-122"/>
                <a:cs typeface="Gill Sans MT" pitchFamily="34" charset="-120"/>
              </a:rPr>
              <a:t>ξ₂</a:t>
            </a:r>
            <a:endParaRPr lang="en-US" sz="2400" dirty="0"/>
          </a:p>
        </p:txBody>
      </p:sp>
      <p:sp>
        <p:nvSpPr>
          <p:cNvPr id="44" name="Text 41"/>
          <p:cNvSpPr/>
          <p:nvPr/>
        </p:nvSpPr>
        <p:spPr>
          <a:xfrm>
            <a:off x="10113264" y="1298448"/>
            <a:ext cx="1828800" cy="402336"/>
          </a:xfrm>
          <a:prstGeom prst="rect">
            <a:avLst/>
          </a:prstGeom>
          <a:noFill/>
          <a:ln/>
        </p:spPr>
        <p:txBody>
          <a:bodyPr wrap="square" lIns="50800" tIns="50800" rIns="50800" bIns="50800" rtlCol="0" anchor="ctr"/>
          <a:lstStyle/>
          <a:p>
            <a:pPr marL="0" indent="0" algn="l">
              <a:buNone/>
            </a:pPr>
            <a:r>
              <a:rPr lang="en-US" sz="1200" b="1" dirty="0">
                <a:solidFill>
                  <a:srgbClr val="FFFFFF"/>
                </a:solidFill>
                <a:latin typeface="Gill Sans MT" pitchFamily="34" charset="0"/>
                <a:ea typeface="Gill Sans MT" pitchFamily="34" charset="-122"/>
                <a:cs typeface="Gill Sans MT" pitchFamily="34" charset="-120"/>
              </a:rPr>
              <a:t>Institutional Quality</a:t>
            </a:r>
            <a:endParaRPr lang="en-US" sz="1200" dirty="0"/>
          </a:p>
        </p:txBody>
      </p:sp>
      <p:sp>
        <p:nvSpPr>
          <p:cNvPr id="45" name="Text 42"/>
          <p:cNvSpPr/>
          <p:nvPr/>
        </p:nvSpPr>
        <p:spPr>
          <a:xfrm>
            <a:off x="10113264" y="1682496"/>
            <a:ext cx="1828800" cy="256032"/>
          </a:xfrm>
          <a:prstGeom prst="rect">
            <a:avLst/>
          </a:prstGeom>
          <a:noFill/>
          <a:ln/>
        </p:spPr>
        <p:txBody>
          <a:bodyPr wrap="square" lIns="50800" tIns="50800" rIns="50800" bIns="50800" rtlCol="0" anchor="ctr"/>
          <a:lstStyle/>
          <a:p>
            <a:pPr marL="0" indent="0" algn="l">
              <a:buNone/>
            </a:pPr>
            <a:r>
              <a:rPr lang="en-US" sz="850" i="1" dirty="0">
                <a:solidFill>
                  <a:srgbClr val="B8C8D8"/>
                </a:solidFill>
                <a:latin typeface="Gill Sans MT" pitchFamily="34" charset="0"/>
                <a:ea typeface="Gill Sans MT" pitchFamily="34" charset="-122"/>
                <a:cs typeface="Gill Sans MT" pitchFamily="34" charset="-120"/>
              </a:rPr>
              <a:t>Exogenous / Moderator</a:t>
            </a:r>
            <a:endParaRPr lang="en-US" sz="850" dirty="0"/>
          </a:p>
        </p:txBody>
      </p:sp>
      <p:sp>
        <p:nvSpPr>
          <p:cNvPr id="46" name="Text 43"/>
          <p:cNvSpPr/>
          <p:nvPr/>
        </p:nvSpPr>
        <p:spPr>
          <a:xfrm>
            <a:off x="9363456" y="2212848"/>
            <a:ext cx="2514600" cy="256032"/>
          </a:xfrm>
          <a:prstGeom prst="rect">
            <a:avLst/>
          </a:prstGeom>
          <a:noFill/>
          <a:ln/>
        </p:spPr>
        <p:txBody>
          <a:bodyPr wrap="square" lIns="50800" tIns="50800" rIns="50800" bIns="50800" rtlCol="0" anchor="ctr"/>
          <a:lstStyle/>
          <a:p>
            <a:pPr marL="0" indent="0" algn="l">
              <a:buNone/>
            </a:pPr>
            <a:r>
              <a:rPr lang="en-US" sz="850" b="1" kern="0" spc="150" dirty="0">
                <a:solidFill>
                  <a:srgbClr val="C9A0E8"/>
                </a:solidFill>
                <a:latin typeface="Gill Sans MT" pitchFamily="34" charset="0"/>
                <a:ea typeface="Gill Sans MT" pitchFamily="34" charset="-122"/>
                <a:cs typeface="Gill Sans MT" pitchFamily="34" charset="-120"/>
              </a:rPr>
              <a:t>Source</a:t>
            </a:r>
            <a:endParaRPr lang="en-US" sz="850" dirty="0"/>
          </a:p>
        </p:txBody>
      </p:sp>
      <p:sp>
        <p:nvSpPr>
          <p:cNvPr id="47" name="Shape 44"/>
          <p:cNvSpPr/>
          <p:nvPr/>
        </p:nvSpPr>
        <p:spPr>
          <a:xfrm>
            <a:off x="9363456" y="2468880"/>
            <a:ext cx="2487168" cy="0"/>
          </a:xfrm>
          <a:prstGeom prst="line">
            <a:avLst/>
          </a:prstGeom>
          <a:noFill/>
          <a:ln w="19050">
            <a:solidFill>
              <a:srgbClr val="C9A0E8"/>
            </a:solidFill>
            <a:prstDash val="solid"/>
          </a:ln>
        </p:spPr>
        <p:txBody>
          <a:bodyPr/>
          <a:lstStyle/>
          <a:p>
            <a:endParaRPr lang="en-GB"/>
          </a:p>
        </p:txBody>
      </p:sp>
      <p:sp>
        <p:nvSpPr>
          <p:cNvPr id="48" name="Text 45"/>
          <p:cNvSpPr/>
          <p:nvPr/>
        </p:nvSpPr>
        <p:spPr>
          <a:xfrm>
            <a:off x="9363456" y="2542032"/>
            <a:ext cx="2514600" cy="548640"/>
          </a:xfrm>
          <a:prstGeom prst="rect">
            <a:avLst/>
          </a:prstGeom>
          <a:noFill/>
          <a:ln/>
        </p:spPr>
        <p:txBody>
          <a:bodyPr wrap="square" lIns="50800" tIns="50800" rIns="50800" bIns="50800" rtlCol="0" anchor="t"/>
          <a:lstStyle/>
          <a:p>
            <a:pPr marL="0" indent="0" algn="l">
              <a:buNone/>
            </a:pPr>
            <a:r>
              <a:rPr lang="en-US" sz="1100" dirty="0">
                <a:solidFill>
                  <a:srgbClr val="F5F5F0"/>
                </a:solidFill>
                <a:latin typeface="Gill Sans MT" pitchFamily="34" charset="0"/>
                <a:ea typeface="Gill Sans MT" pitchFamily="34" charset="-122"/>
                <a:cs typeface="Gill Sans MT" pitchFamily="34" charset="-120"/>
              </a:rPr>
              <a:t>World Bank WGI</a:t>
            </a:r>
            <a:endParaRPr lang="en-US" sz="1100" dirty="0"/>
          </a:p>
        </p:txBody>
      </p:sp>
      <p:sp>
        <p:nvSpPr>
          <p:cNvPr id="49" name="Text 46"/>
          <p:cNvSpPr/>
          <p:nvPr/>
        </p:nvSpPr>
        <p:spPr>
          <a:xfrm>
            <a:off x="9363456" y="3200400"/>
            <a:ext cx="2514600" cy="256032"/>
          </a:xfrm>
          <a:prstGeom prst="rect">
            <a:avLst/>
          </a:prstGeom>
          <a:noFill/>
          <a:ln/>
        </p:spPr>
        <p:txBody>
          <a:bodyPr wrap="square" lIns="50800" tIns="50800" rIns="50800" bIns="50800" rtlCol="0" anchor="ctr"/>
          <a:lstStyle/>
          <a:p>
            <a:pPr marL="0" indent="0" algn="l">
              <a:buNone/>
            </a:pPr>
            <a:r>
              <a:rPr lang="en-US" sz="850" b="1" kern="0" spc="150" dirty="0">
                <a:solidFill>
                  <a:srgbClr val="C9A0E8"/>
                </a:solidFill>
                <a:latin typeface="Gill Sans MT" pitchFamily="34" charset="0"/>
                <a:ea typeface="Gill Sans MT" pitchFamily="34" charset="-122"/>
                <a:cs typeface="Gill Sans MT" pitchFamily="34" charset="-120"/>
              </a:rPr>
              <a:t>Indicators</a:t>
            </a:r>
            <a:endParaRPr lang="en-US" sz="850" dirty="0"/>
          </a:p>
        </p:txBody>
      </p:sp>
      <p:sp>
        <p:nvSpPr>
          <p:cNvPr id="50" name="Shape 47"/>
          <p:cNvSpPr/>
          <p:nvPr/>
        </p:nvSpPr>
        <p:spPr>
          <a:xfrm>
            <a:off x="9363456" y="3456432"/>
            <a:ext cx="2487168" cy="0"/>
          </a:xfrm>
          <a:prstGeom prst="line">
            <a:avLst/>
          </a:prstGeom>
          <a:noFill/>
          <a:ln w="19050">
            <a:solidFill>
              <a:srgbClr val="C9A0E8"/>
            </a:solidFill>
            <a:prstDash val="solid"/>
          </a:ln>
        </p:spPr>
        <p:txBody>
          <a:bodyPr/>
          <a:lstStyle/>
          <a:p>
            <a:endParaRPr lang="en-GB"/>
          </a:p>
        </p:txBody>
      </p:sp>
      <p:sp>
        <p:nvSpPr>
          <p:cNvPr id="51" name="Text 48"/>
          <p:cNvSpPr/>
          <p:nvPr/>
        </p:nvSpPr>
        <p:spPr>
          <a:xfrm>
            <a:off x="9363456" y="3547872"/>
            <a:ext cx="2514600" cy="2606040"/>
          </a:xfrm>
          <a:prstGeom prst="rect">
            <a:avLst/>
          </a:prstGeom>
          <a:noFill/>
          <a:ln/>
        </p:spPr>
        <p:txBody>
          <a:bodyPr wrap="square" lIns="50800" tIns="50800" rIns="50800" bIns="50800" rtlCol="0" anchor="t"/>
          <a:lstStyle/>
          <a:p>
            <a:pPr marL="0" indent="0" algn="l">
              <a:buNone/>
            </a:pPr>
            <a:r>
              <a:rPr lang="en-US" sz="1100" dirty="0">
                <a:solidFill>
                  <a:srgbClr val="B8C8D8"/>
                </a:solidFill>
                <a:latin typeface="Gill Sans MT" pitchFamily="34" charset="0"/>
                <a:ea typeface="Gill Sans MT" pitchFamily="34" charset="-122"/>
                <a:cs typeface="Gill Sans MT" pitchFamily="34" charset="-120"/>
              </a:rPr>
              <a:t>Govt. Effectiveness</a:t>
            </a:r>
            <a:endParaRPr lang="en-US" sz="1100" dirty="0"/>
          </a:p>
          <a:p>
            <a:pPr marL="0" indent="0" algn="l">
              <a:buNone/>
            </a:pPr>
            <a:r>
              <a:rPr lang="en-US" sz="1100" dirty="0">
                <a:solidFill>
                  <a:srgbClr val="B8C8D8"/>
                </a:solidFill>
                <a:latin typeface="Gill Sans MT" pitchFamily="34" charset="0"/>
                <a:ea typeface="Gill Sans MT" pitchFamily="34" charset="-122"/>
                <a:cs typeface="Gill Sans MT" pitchFamily="34" charset="-120"/>
              </a:rPr>
              <a:t>Rule of Law</a:t>
            </a:r>
            <a:endParaRPr lang="en-US" sz="1100" dirty="0"/>
          </a:p>
          <a:p>
            <a:pPr marL="0" indent="0" algn="l">
              <a:buNone/>
            </a:pPr>
            <a:r>
              <a:rPr lang="en-US" sz="1100" dirty="0">
                <a:solidFill>
                  <a:srgbClr val="B8C8D8"/>
                </a:solidFill>
                <a:latin typeface="Gill Sans MT" pitchFamily="34" charset="0"/>
                <a:ea typeface="Gill Sans MT" pitchFamily="34" charset="-122"/>
                <a:cs typeface="Gill Sans MT" pitchFamily="34" charset="-120"/>
              </a:rPr>
              <a:t>Regulatory Quality</a:t>
            </a:r>
            <a:endParaRPr lang="en-US" sz="1100" dirty="0"/>
          </a:p>
          <a:p>
            <a:pPr marL="0" indent="0" algn="l">
              <a:buNone/>
            </a:pPr>
            <a:r>
              <a:rPr lang="en-US" sz="1100" dirty="0">
                <a:solidFill>
                  <a:srgbClr val="B8C8D8"/>
                </a:solidFill>
                <a:latin typeface="Gill Sans MT" pitchFamily="34" charset="0"/>
                <a:ea typeface="Gill Sans MT" pitchFamily="34" charset="-122"/>
                <a:cs typeface="Gill Sans MT" pitchFamily="34" charset="-120"/>
              </a:rPr>
              <a:t>Corruption Control</a:t>
            </a:r>
            <a:endParaRPr lang="en-US" sz="1100" dirty="0"/>
          </a:p>
        </p:txBody>
      </p:sp>
      <p:sp>
        <p:nvSpPr>
          <p:cNvPr id="52" name="Shape 49"/>
          <p:cNvSpPr/>
          <p:nvPr/>
        </p:nvSpPr>
        <p:spPr>
          <a:xfrm>
            <a:off x="365760" y="6473952"/>
            <a:ext cx="11430000" cy="329184"/>
          </a:xfrm>
          <a:prstGeom prst="roundRect">
            <a:avLst>
              <a:gd name="adj" fmla="val 38889"/>
            </a:avLst>
          </a:prstGeom>
          <a:solidFill>
            <a:srgbClr val="030810">
              <a:alpha val="55000"/>
            </a:srgbClr>
          </a:solidFill>
          <a:ln w="3810">
            <a:solidFill>
              <a:srgbClr val="B8C8D8">
                <a:alpha val="12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53" name="Text 50"/>
          <p:cNvSpPr/>
          <p:nvPr/>
        </p:nvSpPr>
        <p:spPr>
          <a:xfrm>
            <a:off x="457200" y="6483096"/>
            <a:ext cx="11247120" cy="320040"/>
          </a:xfrm>
          <a:prstGeom prst="rect">
            <a:avLst/>
          </a:prstGeom>
          <a:noFill/>
          <a:ln/>
        </p:spPr>
        <p:txBody>
          <a:bodyPr wrap="square" lIns="50800" tIns="50800" rIns="50800" bIns="50800" rtlCol="0" anchor="ctr"/>
          <a:lstStyle/>
          <a:p>
            <a:pPr marL="0" indent="0" algn="ctr">
              <a:buNone/>
            </a:pPr>
            <a:r>
              <a:rPr lang="en-US" sz="900" i="1" dirty="0">
                <a:solidFill>
                  <a:srgbClr val="B8C8D8"/>
                </a:solidFill>
                <a:latin typeface="Gill Sans MT" pitchFamily="34" charset="0"/>
                <a:ea typeface="Gill Sans MT" pitchFamily="34" charset="-122"/>
                <a:cs typeface="Gill Sans MT" pitchFamily="34" charset="-120"/>
              </a:rPr>
              <a:t>All variables z-score standardised prior to SEM  |  Final harmonised dataset: 164 countries × 48 variables</a:t>
            </a:r>
            <a:endParaRPr lang="en-US" sz="900" dirty="0"/>
          </a:p>
        </p:txBody>
      </p:sp>
      <p:sp>
        <p:nvSpPr>
          <p:cNvPr id="54" name="Text 51"/>
          <p:cNvSpPr/>
          <p:nvPr/>
        </p:nvSpPr>
        <p:spPr>
          <a:xfrm>
            <a:off x="11704320" y="6492240"/>
            <a:ext cx="365760" cy="274320"/>
          </a:xfrm>
          <a:prstGeom prst="rect">
            <a:avLst/>
          </a:prstGeom>
          <a:noFill/>
          <a:ln/>
        </p:spPr>
        <p:txBody>
          <a:bodyPr wrap="square" rtlCol="0" anchor="ctr"/>
          <a:lstStyle/>
          <a:p>
            <a:pPr marL="0" indent="0" algn="r">
              <a:buNone/>
            </a:pPr>
            <a:r>
              <a:rPr lang="en-US" sz="800" dirty="0">
                <a:solidFill>
                  <a:srgbClr val="B8C8D8"/>
                </a:solidFill>
                <a:latin typeface="Gill Sans MT" pitchFamily="34" charset="0"/>
                <a:ea typeface="Gill Sans MT" pitchFamily="34" charset="-122"/>
                <a:cs typeface="Gill Sans MT"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61520" cy="6858000"/>
          </a:xfrm>
          <a:prstGeom prst="rect">
            <a:avLst/>
          </a:prstGeom>
        </p:spPr>
      </p:pic>
      <p:sp>
        <p:nvSpPr>
          <p:cNvPr id="3" name="Shape 0"/>
          <p:cNvSpPr/>
          <p:nvPr/>
        </p:nvSpPr>
        <p:spPr>
          <a:xfrm>
            <a:off x="0" y="0"/>
            <a:ext cx="12161520" cy="1188720"/>
          </a:xfrm>
          <a:prstGeom prst="roundRect">
            <a:avLst>
              <a:gd name="adj" fmla="val 9231"/>
            </a:avLst>
          </a:prstGeom>
          <a:solidFill>
            <a:srgbClr val="050810">
              <a:alpha val="48000"/>
            </a:srgbClr>
          </a:solidFill>
          <a:ln w="3810">
            <a:solidFill>
              <a:srgbClr val="FFFFFF">
                <a:alpha val="12000"/>
              </a:srgbClr>
            </a:solidFill>
            <a:prstDash val="solid"/>
          </a:ln>
          <a:effectLst>
            <a:outerShdw blurRad="152400" dist="50800" dir="2700000" algn="bl" rotWithShape="0">
              <a:srgbClr val="000000">
                <a:alpha val="50000"/>
              </a:srgbClr>
            </a:outerShdw>
          </a:effectLst>
        </p:spPr>
        <p:txBody>
          <a:bodyPr/>
          <a:lstStyle/>
          <a:p>
            <a:endParaRPr lang="en-GB"/>
          </a:p>
        </p:txBody>
      </p:sp>
      <p:sp>
        <p:nvSpPr>
          <p:cNvPr id="4" name="Shape 1"/>
          <p:cNvSpPr/>
          <p:nvPr/>
        </p:nvSpPr>
        <p:spPr>
          <a:xfrm>
            <a:off x="365760" y="137160"/>
            <a:ext cx="2194560" cy="292608"/>
          </a:xfrm>
          <a:prstGeom prst="roundRect">
            <a:avLst>
              <a:gd name="adj" fmla="val 18750"/>
            </a:avLst>
          </a:prstGeom>
          <a:solidFill>
            <a:srgbClr val="000000">
              <a:alpha val="50000"/>
            </a:srgbClr>
          </a:solidFill>
          <a:ln w="19050">
            <a:solidFill>
              <a:srgbClr val="6DAEDB"/>
            </a:solidFill>
            <a:prstDash val="solid"/>
          </a:ln>
        </p:spPr>
        <p:txBody>
          <a:bodyPr/>
          <a:lstStyle/>
          <a:p>
            <a:endParaRPr lang="en-GB"/>
          </a:p>
        </p:txBody>
      </p:sp>
      <p:sp>
        <p:nvSpPr>
          <p:cNvPr id="5" name="Text 2"/>
          <p:cNvSpPr/>
          <p:nvPr/>
        </p:nvSpPr>
        <p:spPr>
          <a:xfrm>
            <a:off x="365760" y="137160"/>
            <a:ext cx="2194560" cy="292608"/>
          </a:xfrm>
          <a:prstGeom prst="rect">
            <a:avLst/>
          </a:prstGeom>
          <a:noFill/>
          <a:ln/>
        </p:spPr>
        <p:txBody>
          <a:bodyPr wrap="square" rtlCol="0" anchor="ctr"/>
          <a:lstStyle/>
          <a:p>
            <a:pPr marL="0" indent="0" algn="ctr">
              <a:buNone/>
            </a:pPr>
            <a:r>
              <a:rPr lang="en-US" sz="850" b="1" kern="0" spc="200" dirty="0">
                <a:solidFill>
                  <a:srgbClr val="6DAEDB"/>
                </a:solidFill>
                <a:latin typeface="Gill Sans MT" pitchFamily="34" charset="0"/>
                <a:ea typeface="Gill Sans MT" pitchFamily="34" charset="-122"/>
                <a:cs typeface="Gill Sans MT" pitchFamily="34" charset="-120"/>
              </a:rPr>
              <a:t>RESULTS — DESCRIPTIVE STATS</a:t>
            </a:r>
            <a:endParaRPr lang="en-US" sz="850" dirty="0"/>
          </a:p>
        </p:txBody>
      </p:sp>
      <p:sp>
        <p:nvSpPr>
          <p:cNvPr id="6" name="Text 3"/>
          <p:cNvSpPr/>
          <p:nvPr/>
        </p:nvSpPr>
        <p:spPr>
          <a:xfrm>
            <a:off x="365760" y="347472"/>
            <a:ext cx="11430000" cy="685800"/>
          </a:xfrm>
          <a:prstGeom prst="rect">
            <a:avLst/>
          </a:prstGeom>
          <a:noFill/>
          <a:ln/>
        </p:spPr>
        <p:txBody>
          <a:bodyPr wrap="square" lIns="50800" tIns="50800" rIns="50800" bIns="50800" rtlCol="0" anchor="ctr"/>
          <a:lstStyle/>
          <a:p>
            <a:pPr marL="0" indent="0" algn="l">
              <a:buNone/>
            </a:pPr>
            <a:r>
              <a:rPr lang="en-US" sz="2400" b="1" dirty="0">
                <a:solidFill>
                  <a:srgbClr val="FFFFFF"/>
                </a:solidFill>
                <a:latin typeface="Gill Sans MT" pitchFamily="34" charset="0"/>
                <a:ea typeface="Gill Sans MT" pitchFamily="34" charset="-122"/>
                <a:cs typeface="Gill Sans MT" pitchFamily="34" charset="-120"/>
              </a:rPr>
              <a:t>Descriptive Statistics — Latent Constructs (n = 164)</a:t>
            </a:r>
            <a:endParaRPr lang="en-US" sz="2400" dirty="0"/>
          </a:p>
        </p:txBody>
      </p:sp>
      <p:sp>
        <p:nvSpPr>
          <p:cNvPr id="7" name="Shape 4"/>
          <p:cNvSpPr/>
          <p:nvPr/>
        </p:nvSpPr>
        <p:spPr>
          <a:xfrm>
            <a:off x="365760" y="1115568"/>
            <a:ext cx="11430000" cy="0"/>
          </a:xfrm>
          <a:prstGeom prst="line">
            <a:avLst/>
          </a:prstGeom>
          <a:noFill/>
          <a:ln w="19050">
            <a:solidFill>
              <a:srgbClr val="6DAEDB"/>
            </a:solidFill>
            <a:prstDash val="solid"/>
          </a:ln>
        </p:spPr>
        <p:txBody>
          <a:bodyPr/>
          <a:lstStyle/>
          <a:p>
            <a:endParaRPr lang="en-GB"/>
          </a:p>
        </p:txBody>
      </p:sp>
      <p:sp>
        <p:nvSpPr>
          <p:cNvPr id="8" name="Shape 5"/>
          <p:cNvSpPr/>
          <p:nvPr/>
        </p:nvSpPr>
        <p:spPr>
          <a:xfrm>
            <a:off x="320040" y="1234440"/>
            <a:ext cx="7955280" cy="457200"/>
          </a:xfrm>
          <a:prstGeom prst="roundRect">
            <a:avLst>
              <a:gd name="adj" fmla="val 28000"/>
            </a:avLst>
          </a:prstGeom>
          <a:solidFill>
            <a:srgbClr val="051830">
              <a:alpha val="60000"/>
            </a:srgbClr>
          </a:solidFill>
          <a:ln w="6350">
            <a:solidFill>
              <a:srgbClr val="6DAEDB">
                <a:alpha val="5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9" name="Text 6"/>
          <p:cNvSpPr/>
          <p:nvPr/>
        </p:nvSpPr>
        <p:spPr>
          <a:xfrm>
            <a:off x="365760" y="1252728"/>
            <a:ext cx="2286000" cy="420624"/>
          </a:xfrm>
          <a:prstGeom prst="rect">
            <a:avLst/>
          </a:prstGeom>
          <a:noFill/>
          <a:ln/>
        </p:spPr>
        <p:txBody>
          <a:bodyPr wrap="square" lIns="50800" tIns="50800" rIns="50800" bIns="50800" rtlCol="0" anchor="ctr"/>
          <a:lstStyle/>
          <a:p>
            <a:pPr marL="0" indent="0" algn="l">
              <a:buNone/>
            </a:pPr>
            <a:r>
              <a:rPr lang="en-US" sz="1000" b="1" kern="0" spc="50" dirty="0">
                <a:solidFill>
                  <a:srgbClr val="6DAEDB"/>
                </a:solidFill>
                <a:latin typeface="Gill Sans MT" pitchFamily="34" charset="0"/>
                <a:ea typeface="Gill Sans MT" pitchFamily="34" charset="-122"/>
                <a:cs typeface="Gill Sans MT" pitchFamily="34" charset="-120"/>
              </a:rPr>
              <a:t>Construct</a:t>
            </a:r>
            <a:endParaRPr lang="en-US" sz="1000" dirty="0"/>
          </a:p>
        </p:txBody>
      </p:sp>
      <p:sp>
        <p:nvSpPr>
          <p:cNvPr id="10" name="Text 7"/>
          <p:cNvSpPr/>
          <p:nvPr/>
        </p:nvSpPr>
        <p:spPr>
          <a:xfrm>
            <a:off x="2651760" y="1252728"/>
            <a:ext cx="640080" cy="420624"/>
          </a:xfrm>
          <a:prstGeom prst="rect">
            <a:avLst/>
          </a:prstGeom>
          <a:noFill/>
          <a:ln/>
        </p:spPr>
        <p:txBody>
          <a:bodyPr wrap="square" lIns="50800" tIns="50800" rIns="50800" bIns="50800" rtlCol="0" anchor="ctr"/>
          <a:lstStyle/>
          <a:p>
            <a:pPr marL="0" indent="0" algn="ctr">
              <a:buNone/>
            </a:pPr>
            <a:r>
              <a:rPr lang="en-US" sz="1000" b="1" kern="0" spc="50" dirty="0">
                <a:solidFill>
                  <a:srgbClr val="6DAEDB"/>
                </a:solidFill>
                <a:latin typeface="Gill Sans MT" pitchFamily="34" charset="0"/>
                <a:ea typeface="Gill Sans MT" pitchFamily="34" charset="-122"/>
                <a:cs typeface="Gill Sans MT" pitchFamily="34" charset="-120"/>
              </a:rPr>
              <a:t>N</a:t>
            </a:r>
            <a:endParaRPr lang="en-US" sz="1000" dirty="0"/>
          </a:p>
        </p:txBody>
      </p:sp>
      <p:sp>
        <p:nvSpPr>
          <p:cNvPr id="11" name="Text 8"/>
          <p:cNvSpPr/>
          <p:nvPr/>
        </p:nvSpPr>
        <p:spPr>
          <a:xfrm>
            <a:off x="3291840" y="1252728"/>
            <a:ext cx="777240" cy="420624"/>
          </a:xfrm>
          <a:prstGeom prst="rect">
            <a:avLst/>
          </a:prstGeom>
          <a:noFill/>
          <a:ln/>
        </p:spPr>
        <p:txBody>
          <a:bodyPr wrap="square" lIns="50800" tIns="50800" rIns="50800" bIns="50800" rtlCol="0" anchor="ctr"/>
          <a:lstStyle/>
          <a:p>
            <a:pPr marL="0" indent="0" algn="ctr">
              <a:buNone/>
            </a:pPr>
            <a:r>
              <a:rPr lang="en-US" sz="1000" b="1" kern="0" spc="50" dirty="0">
                <a:solidFill>
                  <a:srgbClr val="6DAEDB"/>
                </a:solidFill>
                <a:latin typeface="Gill Sans MT" pitchFamily="34" charset="0"/>
                <a:ea typeface="Gill Sans MT" pitchFamily="34" charset="-122"/>
                <a:cs typeface="Gill Sans MT" pitchFamily="34" charset="-120"/>
              </a:rPr>
              <a:t>Mean</a:t>
            </a:r>
            <a:endParaRPr lang="en-US" sz="1000" dirty="0"/>
          </a:p>
        </p:txBody>
      </p:sp>
      <p:sp>
        <p:nvSpPr>
          <p:cNvPr id="12" name="Text 9"/>
          <p:cNvSpPr/>
          <p:nvPr/>
        </p:nvSpPr>
        <p:spPr>
          <a:xfrm>
            <a:off x="4069080" y="1252728"/>
            <a:ext cx="777240" cy="420624"/>
          </a:xfrm>
          <a:prstGeom prst="rect">
            <a:avLst/>
          </a:prstGeom>
          <a:noFill/>
          <a:ln/>
        </p:spPr>
        <p:txBody>
          <a:bodyPr wrap="square" lIns="50800" tIns="50800" rIns="50800" bIns="50800" rtlCol="0" anchor="ctr"/>
          <a:lstStyle/>
          <a:p>
            <a:pPr marL="0" indent="0" algn="ctr">
              <a:buNone/>
            </a:pPr>
            <a:r>
              <a:rPr lang="en-US" sz="1000" b="1" kern="0" spc="50" dirty="0">
                <a:solidFill>
                  <a:srgbClr val="6DAEDB"/>
                </a:solidFill>
                <a:latin typeface="Gill Sans MT" pitchFamily="34" charset="0"/>
                <a:ea typeface="Gill Sans MT" pitchFamily="34" charset="-122"/>
                <a:cs typeface="Gill Sans MT" pitchFamily="34" charset="-120"/>
              </a:rPr>
              <a:t>SD</a:t>
            </a:r>
            <a:endParaRPr lang="en-US" sz="1000" dirty="0"/>
          </a:p>
        </p:txBody>
      </p:sp>
      <p:sp>
        <p:nvSpPr>
          <p:cNvPr id="13" name="Text 10"/>
          <p:cNvSpPr/>
          <p:nvPr/>
        </p:nvSpPr>
        <p:spPr>
          <a:xfrm>
            <a:off x="4846320" y="1252728"/>
            <a:ext cx="777240" cy="420624"/>
          </a:xfrm>
          <a:prstGeom prst="rect">
            <a:avLst/>
          </a:prstGeom>
          <a:noFill/>
          <a:ln/>
        </p:spPr>
        <p:txBody>
          <a:bodyPr wrap="square" lIns="50800" tIns="50800" rIns="50800" bIns="50800" rtlCol="0" anchor="ctr"/>
          <a:lstStyle/>
          <a:p>
            <a:pPr marL="0" indent="0" algn="ctr">
              <a:buNone/>
            </a:pPr>
            <a:r>
              <a:rPr lang="en-US" sz="1000" b="1" kern="0" spc="50" dirty="0">
                <a:solidFill>
                  <a:srgbClr val="6DAEDB"/>
                </a:solidFill>
                <a:latin typeface="Gill Sans MT" pitchFamily="34" charset="0"/>
                <a:ea typeface="Gill Sans MT" pitchFamily="34" charset="-122"/>
                <a:cs typeface="Gill Sans MT" pitchFamily="34" charset="-120"/>
              </a:rPr>
              <a:t>Min</a:t>
            </a:r>
            <a:endParaRPr lang="en-US" sz="1000" dirty="0"/>
          </a:p>
        </p:txBody>
      </p:sp>
      <p:sp>
        <p:nvSpPr>
          <p:cNvPr id="14" name="Text 11"/>
          <p:cNvSpPr/>
          <p:nvPr/>
        </p:nvSpPr>
        <p:spPr>
          <a:xfrm>
            <a:off x="5623560" y="1252728"/>
            <a:ext cx="777240" cy="420624"/>
          </a:xfrm>
          <a:prstGeom prst="rect">
            <a:avLst/>
          </a:prstGeom>
          <a:noFill/>
          <a:ln/>
        </p:spPr>
        <p:txBody>
          <a:bodyPr wrap="square" lIns="50800" tIns="50800" rIns="50800" bIns="50800" rtlCol="0" anchor="ctr"/>
          <a:lstStyle/>
          <a:p>
            <a:pPr marL="0" indent="0" algn="ctr">
              <a:buNone/>
            </a:pPr>
            <a:r>
              <a:rPr lang="en-US" sz="1000" b="1" kern="0" spc="50" dirty="0">
                <a:solidFill>
                  <a:srgbClr val="6DAEDB"/>
                </a:solidFill>
                <a:latin typeface="Gill Sans MT" pitchFamily="34" charset="0"/>
                <a:ea typeface="Gill Sans MT" pitchFamily="34" charset="-122"/>
                <a:cs typeface="Gill Sans MT" pitchFamily="34" charset="-120"/>
              </a:rPr>
              <a:t>Max</a:t>
            </a:r>
            <a:endParaRPr lang="en-US" sz="1000" dirty="0"/>
          </a:p>
        </p:txBody>
      </p:sp>
      <p:sp>
        <p:nvSpPr>
          <p:cNvPr id="15" name="Text 12"/>
          <p:cNvSpPr/>
          <p:nvPr/>
        </p:nvSpPr>
        <p:spPr>
          <a:xfrm>
            <a:off x="6400800" y="1252728"/>
            <a:ext cx="914400" cy="420624"/>
          </a:xfrm>
          <a:prstGeom prst="rect">
            <a:avLst/>
          </a:prstGeom>
          <a:noFill/>
          <a:ln/>
        </p:spPr>
        <p:txBody>
          <a:bodyPr wrap="square" lIns="50800" tIns="50800" rIns="50800" bIns="50800" rtlCol="0" anchor="ctr"/>
          <a:lstStyle/>
          <a:p>
            <a:pPr marL="0" indent="0" algn="ctr">
              <a:buNone/>
            </a:pPr>
            <a:r>
              <a:rPr lang="en-US" sz="1000" b="1" kern="0" spc="50" dirty="0">
                <a:solidFill>
                  <a:srgbClr val="6DAEDB"/>
                </a:solidFill>
                <a:latin typeface="Gill Sans MT" pitchFamily="34" charset="0"/>
                <a:ea typeface="Gill Sans MT" pitchFamily="34" charset="-122"/>
                <a:cs typeface="Gill Sans MT" pitchFamily="34" charset="-120"/>
              </a:rPr>
              <a:t>Skewness</a:t>
            </a:r>
            <a:endParaRPr lang="en-US" sz="1000" dirty="0"/>
          </a:p>
        </p:txBody>
      </p:sp>
      <p:sp>
        <p:nvSpPr>
          <p:cNvPr id="16" name="Text 13"/>
          <p:cNvSpPr/>
          <p:nvPr/>
        </p:nvSpPr>
        <p:spPr>
          <a:xfrm>
            <a:off x="7315200" y="1252728"/>
            <a:ext cx="914400" cy="420624"/>
          </a:xfrm>
          <a:prstGeom prst="rect">
            <a:avLst/>
          </a:prstGeom>
          <a:noFill/>
          <a:ln/>
        </p:spPr>
        <p:txBody>
          <a:bodyPr wrap="square" lIns="50800" tIns="50800" rIns="50800" bIns="50800" rtlCol="0" anchor="ctr"/>
          <a:lstStyle/>
          <a:p>
            <a:pPr marL="0" indent="0" algn="ctr">
              <a:buNone/>
            </a:pPr>
            <a:r>
              <a:rPr lang="en-US" sz="1000" b="1" kern="0" spc="50" dirty="0">
                <a:solidFill>
                  <a:srgbClr val="6DAEDB"/>
                </a:solidFill>
                <a:latin typeface="Gill Sans MT" pitchFamily="34" charset="0"/>
                <a:ea typeface="Gill Sans MT" pitchFamily="34" charset="-122"/>
                <a:cs typeface="Gill Sans MT" pitchFamily="34" charset="-120"/>
              </a:rPr>
              <a:t>Kurtosis</a:t>
            </a:r>
            <a:endParaRPr lang="en-US" sz="1000" dirty="0"/>
          </a:p>
        </p:txBody>
      </p:sp>
      <p:sp>
        <p:nvSpPr>
          <p:cNvPr id="17" name="Shape 14"/>
          <p:cNvSpPr/>
          <p:nvPr/>
        </p:nvSpPr>
        <p:spPr>
          <a:xfrm>
            <a:off x="320040" y="1755648"/>
            <a:ext cx="7955280" cy="475488"/>
          </a:xfrm>
          <a:prstGeom prst="roundRect">
            <a:avLst>
              <a:gd name="adj" fmla="val 11538"/>
            </a:avLst>
          </a:prstGeom>
          <a:solidFill>
            <a:srgbClr val="040C18">
              <a:alpha val="52000"/>
            </a:srgbClr>
          </a:solidFill>
          <a:ln w="2540">
            <a:solidFill>
              <a:srgbClr val="FFFFFF">
                <a:alpha val="8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8" name="Shape 15"/>
          <p:cNvSpPr/>
          <p:nvPr/>
        </p:nvSpPr>
        <p:spPr>
          <a:xfrm>
            <a:off x="320040" y="1755648"/>
            <a:ext cx="54864" cy="475488"/>
          </a:xfrm>
          <a:prstGeom prst="line">
            <a:avLst/>
          </a:prstGeom>
          <a:noFill/>
          <a:ln w="50800">
            <a:solidFill>
              <a:srgbClr val="6DAEDB"/>
            </a:solidFill>
            <a:prstDash val="solid"/>
          </a:ln>
        </p:spPr>
        <p:txBody>
          <a:bodyPr/>
          <a:lstStyle/>
          <a:p>
            <a:endParaRPr lang="en-GB"/>
          </a:p>
        </p:txBody>
      </p:sp>
      <p:sp>
        <p:nvSpPr>
          <p:cNvPr id="19" name="Text 16"/>
          <p:cNvSpPr/>
          <p:nvPr/>
        </p:nvSpPr>
        <p:spPr>
          <a:xfrm>
            <a:off x="457200" y="1801368"/>
            <a:ext cx="2194560" cy="384048"/>
          </a:xfrm>
          <a:prstGeom prst="rect">
            <a:avLst/>
          </a:prstGeom>
          <a:noFill/>
          <a:ln/>
        </p:spPr>
        <p:txBody>
          <a:bodyPr wrap="square" lIns="50800" tIns="50800" rIns="50800" bIns="50800" rtlCol="0" anchor="ctr"/>
          <a:lstStyle/>
          <a:p>
            <a:pPr marL="0" indent="0" algn="l">
              <a:buNone/>
            </a:pPr>
            <a:r>
              <a:rPr lang="en-US" sz="1100" b="1" dirty="0">
                <a:solidFill>
                  <a:srgbClr val="6DAEDB"/>
                </a:solidFill>
                <a:latin typeface="Gill Sans MT" pitchFamily="34" charset="0"/>
                <a:ea typeface="Gill Sans MT" pitchFamily="34" charset="-122"/>
                <a:cs typeface="Gill Sans MT" pitchFamily="34" charset="-120"/>
              </a:rPr>
              <a:t>ξ₁  AI Readiness</a:t>
            </a:r>
            <a:endParaRPr lang="en-US" sz="1100" dirty="0"/>
          </a:p>
        </p:txBody>
      </p:sp>
      <p:sp>
        <p:nvSpPr>
          <p:cNvPr id="20" name="Text 17"/>
          <p:cNvSpPr/>
          <p:nvPr/>
        </p:nvSpPr>
        <p:spPr>
          <a:xfrm>
            <a:off x="2651760" y="1801368"/>
            <a:ext cx="64008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164</a:t>
            </a:r>
            <a:endParaRPr lang="en-US" sz="1100" dirty="0"/>
          </a:p>
        </p:txBody>
      </p:sp>
      <p:sp>
        <p:nvSpPr>
          <p:cNvPr id="21" name="Text 18"/>
          <p:cNvSpPr/>
          <p:nvPr/>
        </p:nvSpPr>
        <p:spPr>
          <a:xfrm>
            <a:off x="3291840" y="1801368"/>
            <a:ext cx="77724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0.042</a:t>
            </a:r>
            <a:endParaRPr lang="en-US" sz="1100" dirty="0"/>
          </a:p>
        </p:txBody>
      </p:sp>
      <p:sp>
        <p:nvSpPr>
          <p:cNvPr id="22" name="Text 19"/>
          <p:cNvSpPr/>
          <p:nvPr/>
        </p:nvSpPr>
        <p:spPr>
          <a:xfrm>
            <a:off x="4069080" y="1801368"/>
            <a:ext cx="77724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0.975</a:t>
            </a:r>
            <a:endParaRPr lang="en-US" sz="1100" dirty="0"/>
          </a:p>
        </p:txBody>
      </p:sp>
      <p:sp>
        <p:nvSpPr>
          <p:cNvPr id="23" name="Text 20"/>
          <p:cNvSpPr/>
          <p:nvPr/>
        </p:nvSpPr>
        <p:spPr>
          <a:xfrm>
            <a:off x="4846320" y="1801368"/>
            <a:ext cx="77724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−2.159</a:t>
            </a:r>
            <a:endParaRPr lang="en-US" sz="1100" dirty="0"/>
          </a:p>
        </p:txBody>
      </p:sp>
      <p:sp>
        <p:nvSpPr>
          <p:cNvPr id="24" name="Text 21"/>
          <p:cNvSpPr/>
          <p:nvPr/>
        </p:nvSpPr>
        <p:spPr>
          <a:xfrm>
            <a:off x="5623560" y="1801368"/>
            <a:ext cx="77724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1.624</a:t>
            </a:r>
            <a:endParaRPr lang="en-US" sz="1100" dirty="0"/>
          </a:p>
        </p:txBody>
      </p:sp>
      <p:sp>
        <p:nvSpPr>
          <p:cNvPr id="25" name="Text 22"/>
          <p:cNvSpPr/>
          <p:nvPr/>
        </p:nvSpPr>
        <p:spPr>
          <a:xfrm>
            <a:off x="6400800" y="1801368"/>
            <a:ext cx="91440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−0.361</a:t>
            </a:r>
            <a:endParaRPr lang="en-US" sz="1100" dirty="0"/>
          </a:p>
        </p:txBody>
      </p:sp>
      <p:sp>
        <p:nvSpPr>
          <p:cNvPr id="26" name="Text 23"/>
          <p:cNvSpPr/>
          <p:nvPr/>
        </p:nvSpPr>
        <p:spPr>
          <a:xfrm>
            <a:off x="7315200" y="1801368"/>
            <a:ext cx="91440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−0.982</a:t>
            </a:r>
            <a:endParaRPr lang="en-US" sz="1100" dirty="0"/>
          </a:p>
        </p:txBody>
      </p:sp>
      <p:sp>
        <p:nvSpPr>
          <p:cNvPr id="27" name="Shape 24"/>
          <p:cNvSpPr/>
          <p:nvPr/>
        </p:nvSpPr>
        <p:spPr>
          <a:xfrm>
            <a:off x="320040" y="2286000"/>
            <a:ext cx="7955280" cy="475488"/>
          </a:xfrm>
          <a:prstGeom prst="roundRect">
            <a:avLst>
              <a:gd name="adj" fmla="val 11538"/>
            </a:avLst>
          </a:prstGeom>
          <a:solidFill>
            <a:srgbClr val="060E22">
              <a:alpha val="52000"/>
            </a:srgbClr>
          </a:solidFill>
          <a:ln w="2540">
            <a:solidFill>
              <a:srgbClr val="FFFFFF">
                <a:alpha val="8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8" name="Shape 25"/>
          <p:cNvSpPr/>
          <p:nvPr/>
        </p:nvSpPr>
        <p:spPr>
          <a:xfrm>
            <a:off x="320040" y="2286000"/>
            <a:ext cx="54864" cy="475488"/>
          </a:xfrm>
          <a:prstGeom prst="line">
            <a:avLst/>
          </a:prstGeom>
          <a:noFill/>
          <a:ln w="50800">
            <a:solidFill>
              <a:srgbClr val="56D68A"/>
            </a:solidFill>
            <a:prstDash val="solid"/>
          </a:ln>
        </p:spPr>
        <p:txBody>
          <a:bodyPr/>
          <a:lstStyle/>
          <a:p>
            <a:endParaRPr lang="en-GB"/>
          </a:p>
        </p:txBody>
      </p:sp>
      <p:sp>
        <p:nvSpPr>
          <p:cNvPr id="29" name="Text 26"/>
          <p:cNvSpPr/>
          <p:nvPr/>
        </p:nvSpPr>
        <p:spPr>
          <a:xfrm>
            <a:off x="457200" y="2331720"/>
            <a:ext cx="2194560" cy="384048"/>
          </a:xfrm>
          <a:prstGeom prst="rect">
            <a:avLst/>
          </a:prstGeom>
          <a:noFill/>
          <a:ln/>
        </p:spPr>
        <p:txBody>
          <a:bodyPr wrap="square" lIns="50800" tIns="50800" rIns="50800" bIns="50800" rtlCol="0" anchor="ctr"/>
          <a:lstStyle/>
          <a:p>
            <a:pPr marL="0" indent="0" algn="l">
              <a:buNone/>
            </a:pPr>
            <a:r>
              <a:rPr lang="en-US" sz="1100" b="1" dirty="0">
                <a:solidFill>
                  <a:srgbClr val="56D68A"/>
                </a:solidFill>
                <a:latin typeface="Gill Sans MT" pitchFamily="34" charset="0"/>
                <a:ea typeface="Gill Sans MT" pitchFamily="34" charset="-122"/>
                <a:cs typeface="Gill Sans MT" pitchFamily="34" charset="-120"/>
              </a:rPr>
              <a:t>η₁  SC Performance</a:t>
            </a:r>
            <a:endParaRPr lang="en-US" sz="1100" dirty="0"/>
          </a:p>
        </p:txBody>
      </p:sp>
      <p:sp>
        <p:nvSpPr>
          <p:cNvPr id="30" name="Text 27"/>
          <p:cNvSpPr/>
          <p:nvPr/>
        </p:nvSpPr>
        <p:spPr>
          <a:xfrm>
            <a:off x="2651760" y="2331720"/>
            <a:ext cx="64008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164</a:t>
            </a:r>
            <a:endParaRPr lang="en-US" sz="1100" dirty="0"/>
          </a:p>
        </p:txBody>
      </p:sp>
      <p:sp>
        <p:nvSpPr>
          <p:cNvPr id="31" name="Text 28"/>
          <p:cNvSpPr/>
          <p:nvPr/>
        </p:nvSpPr>
        <p:spPr>
          <a:xfrm>
            <a:off x="3291840" y="2331720"/>
            <a:ext cx="77724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0.072</a:t>
            </a:r>
            <a:endParaRPr lang="en-US" sz="1100" dirty="0"/>
          </a:p>
        </p:txBody>
      </p:sp>
      <p:sp>
        <p:nvSpPr>
          <p:cNvPr id="32" name="Text 29"/>
          <p:cNvSpPr/>
          <p:nvPr/>
        </p:nvSpPr>
        <p:spPr>
          <a:xfrm>
            <a:off x="4069080" y="2331720"/>
            <a:ext cx="77724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1.018</a:t>
            </a:r>
            <a:endParaRPr lang="en-US" sz="1100" dirty="0"/>
          </a:p>
        </p:txBody>
      </p:sp>
      <p:sp>
        <p:nvSpPr>
          <p:cNvPr id="33" name="Text 30"/>
          <p:cNvSpPr/>
          <p:nvPr/>
        </p:nvSpPr>
        <p:spPr>
          <a:xfrm>
            <a:off x="4846320" y="2331720"/>
            <a:ext cx="77724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−1.704</a:t>
            </a:r>
            <a:endParaRPr lang="en-US" sz="1100" dirty="0"/>
          </a:p>
        </p:txBody>
      </p:sp>
      <p:sp>
        <p:nvSpPr>
          <p:cNvPr id="34" name="Text 31"/>
          <p:cNvSpPr/>
          <p:nvPr/>
        </p:nvSpPr>
        <p:spPr>
          <a:xfrm>
            <a:off x="5623560" y="2331720"/>
            <a:ext cx="77724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2.526</a:t>
            </a:r>
            <a:endParaRPr lang="en-US" sz="1100" dirty="0"/>
          </a:p>
        </p:txBody>
      </p:sp>
      <p:sp>
        <p:nvSpPr>
          <p:cNvPr id="35" name="Text 32"/>
          <p:cNvSpPr/>
          <p:nvPr/>
        </p:nvSpPr>
        <p:spPr>
          <a:xfrm>
            <a:off x="6400800" y="2331720"/>
            <a:ext cx="91440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0.562</a:t>
            </a:r>
            <a:endParaRPr lang="en-US" sz="1100" dirty="0"/>
          </a:p>
        </p:txBody>
      </p:sp>
      <p:sp>
        <p:nvSpPr>
          <p:cNvPr id="36" name="Text 33"/>
          <p:cNvSpPr/>
          <p:nvPr/>
        </p:nvSpPr>
        <p:spPr>
          <a:xfrm>
            <a:off x="7315200" y="2331720"/>
            <a:ext cx="91440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−0.671</a:t>
            </a:r>
            <a:endParaRPr lang="en-US" sz="1100" dirty="0"/>
          </a:p>
        </p:txBody>
      </p:sp>
      <p:sp>
        <p:nvSpPr>
          <p:cNvPr id="37" name="Shape 34"/>
          <p:cNvSpPr/>
          <p:nvPr/>
        </p:nvSpPr>
        <p:spPr>
          <a:xfrm>
            <a:off x="320040" y="2816352"/>
            <a:ext cx="7955280" cy="475488"/>
          </a:xfrm>
          <a:prstGeom prst="roundRect">
            <a:avLst>
              <a:gd name="adj" fmla="val 11538"/>
            </a:avLst>
          </a:prstGeom>
          <a:solidFill>
            <a:srgbClr val="040C18">
              <a:alpha val="52000"/>
            </a:srgbClr>
          </a:solidFill>
          <a:ln w="2540">
            <a:solidFill>
              <a:srgbClr val="FFFFFF">
                <a:alpha val="8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38" name="Shape 35"/>
          <p:cNvSpPr/>
          <p:nvPr/>
        </p:nvSpPr>
        <p:spPr>
          <a:xfrm>
            <a:off x="320040" y="2816352"/>
            <a:ext cx="54864" cy="475488"/>
          </a:xfrm>
          <a:prstGeom prst="line">
            <a:avLst/>
          </a:prstGeom>
          <a:noFill/>
          <a:ln w="50800">
            <a:solidFill>
              <a:srgbClr val="FFB347"/>
            </a:solidFill>
            <a:prstDash val="solid"/>
          </a:ln>
        </p:spPr>
        <p:txBody>
          <a:bodyPr/>
          <a:lstStyle/>
          <a:p>
            <a:endParaRPr lang="en-GB"/>
          </a:p>
        </p:txBody>
      </p:sp>
      <p:sp>
        <p:nvSpPr>
          <p:cNvPr id="39" name="Text 36"/>
          <p:cNvSpPr/>
          <p:nvPr/>
        </p:nvSpPr>
        <p:spPr>
          <a:xfrm>
            <a:off x="457200" y="2862072"/>
            <a:ext cx="2194560" cy="384048"/>
          </a:xfrm>
          <a:prstGeom prst="rect">
            <a:avLst/>
          </a:prstGeom>
          <a:noFill/>
          <a:ln/>
        </p:spPr>
        <p:txBody>
          <a:bodyPr wrap="square" lIns="50800" tIns="50800" rIns="50800" bIns="50800" rtlCol="0" anchor="ctr"/>
          <a:lstStyle/>
          <a:p>
            <a:pPr marL="0" indent="0" algn="l">
              <a:buNone/>
            </a:pPr>
            <a:r>
              <a:rPr lang="en-US" sz="1100" b="1" dirty="0">
                <a:solidFill>
                  <a:srgbClr val="FFB347"/>
                </a:solidFill>
                <a:latin typeface="Gill Sans MT" pitchFamily="34" charset="0"/>
                <a:ea typeface="Gill Sans MT" pitchFamily="34" charset="-122"/>
                <a:cs typeface="Gill Sans MT" pitchFamily="34" charset="-120"/>
              </a:rPr>
              <a:t>η₂  Economic Perf.</a:t>
            </a:r>
            <a:endParaRPr lang="en-US" sz="1100" dirty="0"/>
          </a:p>
        </p:txBody>
      </p:sp>
      <p:sp>
        <p:nvSpPr>
          <p:cNvPr id="40" name="Text 37"/>
          <p:cNvSpPr/>
          <p:nvPr/>
        </p:nvSpPr>
        <p:spPr>
          <a:xfrm>
            <a:off x="2651760" y="2862072"/>
            <a:ext cx="64008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164</a:t>
            </a:r>
            <a:endParaRPr lang="en-US" sz="1100" dirty="0"/>
          </a:p>
        </p:txBody>
      </p:sp>
      <p:sp>
        <p:nvSpPr>
          <p:cNvPr id="41" name="Text 38"/>
          <p:cNvSpPr/>
          <p:nvPr/>
        </p:nvSpPr>
        <p:spPr>
          <a:xfrm>
            <a:off x="3291840" y="2862072"/>
            <a:ext cx="77724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0.013</a:t>
            </a:r>
            <a:endParaRPr lang="en-US" sz="1100" dirty="0"/>
          </a:p>
        </p:txBody>
      </p:sp>
      <p:sp>
        <p:nvSpPr>
          <p:cNvPr id="42" name="Text 39"/>
          <p:cNvSpPr/>
          <p:nvPr/>
        </p:nvSpPr>
        <p:spPr>
          <a:xfrm>
            <a:off x="4069080" y="2862072"/>
            <a:ext cx="77724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0.867</a:t>
            </a:r>
            <a:endParaRPr lang="en-US" sz="1100" dirty="0"/>
          </a:p>
        </p:txBody>
      </p:sp>
      <p:sp>
        <p:nvSpPr>
          <p:cNvPr id="43" name="Text 40"/>
          <p:cNvSpPr/>
          <p:nvPr/>
        </p:nvSpPr>
        <p:spPr>
          <a:xfrm>
            <a:off x="4846320" y="2862072"/>
            <a:ext cx="77724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−1.158</a:t>
            </a:r>
            <a:endParaRPr lang="en-US" sz="1100" dirty="0"/>
          </a:p>
        </p:txBody>
      </p:sp>
      <p:sp>
        <p:nvSpPr>
          <p:cNvPr id="44" name="Text 41"/>
          <p:cNvSpPr/>
          <p:nvPr/>
        </p:nvSpPr>
        <p:spPr>
          <a:xfrm>
            <a:off x="5623560" y="2862072"/>
            <a:ext cx="77724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4.908</a:t>
            </a:r>
            <a:endParaRPr lang="en-US" sz="1100" dirty="0"/>
          </a:p>
        </p:txBody>
      </p:sp>
      <p:sp>
        <p:nvSpPr>
          <p:cNvPr id="45" name="Text 42"/>
          <p:cNvSpPr/>
          <p:nvPr/>
        </p:nvSpPr>
        <p:spPr>
          <a:xfrm>
            <a:off x="6400800" y="2862072"/>
            <a:ext cx="914400" cy="384048"/>
          </a:xfrm>
          <a:prstGeom prst="rect">
            <a:avLst/>
          </a:prstGeom>
          <a:noFill/>
          <a:ln/>
        </p:spPr>
        <p:txBody>
          <a:bodyPr wrap="square" lIns="50800" tIns="50800" rIns="50800" bIns="50800" rtlCol="0" anchor="ctr"/>
          <a:lstStyle/>
          <a:p>
            <a:pPr marL="0" indent="0" algn="ctr">
              <a:buNone/>
            </a:pPr>
            <a:r>
              <a:rPr lang="en-US" sz="1100" b="1" dirty="0">
                <a:solidFill>
                  <a:srgbClr val="FFB347"/>
                </a:solidFill>
                <a:latin typeface="Gill Sans MT" pitchFamily="34" charset="0"/>
                <a:ea typeface="Gill Sans MT" pitchFamily="34" charset="-122"/>
                <a:cs typeface="Gill Sans MT" pitchFamily="34" charset="-120"/>
              </a:rPr>
              <a:t>2.368 ⚠</a:t>
            </a:r>
            <a:endParaRPr lang="en-US" sz="1100" dirty="0"/>
          </a:p>
        </p:txBody>
      </p:sp>
      <p:sp>
        <p:nvSpPr>
          <p:cNvPr id="46" name="Text 43"/>
          <p:cNvSpPr/>
          <p:nvPr/>
        </p:nvSpPr>
        <p:spPr>
          <a:xfrm>
            <a:off x="7315200" y="2862072"/>
            <a:ext cx="914400" cy="384048"/>
          </a:xfrm>
          <a:prstGeom prst="rect">
            <a:avLst/>
          </a:prstGeom>
          <a:noFill/>
          <a:ln/>
        </p:spPr>
        <p:txBody>
          <a:bodyPr wrap="square" lIns="50800" tIns="50800" rIns="50800" bIns="50800" rtlCol="0" anchor="ctr"/>
          <a:lstStyle/>
          <a:p>
            <a:pPr marL="0" indent="0" algn="ctr">
              <a:buNone/>
            </a:pPr>
            <a:r>
              <a:rPr lang="en-US" sz="1100" b="1" dirty="0">
                <a:solidFill>
                  <a:srgbClr val="FFB347"/>
                </a:solidFill>
                <a:latin typeface="Gill Sans MT" pitchFamily="34" charset="0"/>
                <a:ea typeface="Gill Sans MT" pitchFamily="34" charset="-122"/>
                <a:cs typeface="Gill Sans MT" pitchFamily="34" charset="-120"/>
              </a:rPr>
              <a:t>8.157 ⚠</a:t>
            </a:r>
            <a:endParaRPr lang="en-US" sz="1100" dirty="0"/>
          </a:p>
        </p:txBody>
      </p:sp>
      <p:sp>
        <p:nvSpPr>
          <p:cNvPr id="47" name="Shape 44"/>
          <p:cNvSpPr/>
          <p:nvPr/>
        </p:nvSpPr>
        <p:spPr>
          <a:xfrm>
            <a:off x="320040" y="3346704"/>
            <a:ext cx="7955280" cy="475488"/>
          </a:xfrm>
          <a:prstGeom prst="roundRect">
            <a:avLst>
              <a:gd name="adj" fmla="val 11538"/>
            </a:avLst>
          </a:prstGeom>
          <a:solidFill>
            <a:srgbClr val="060E22">
              <a:alpha val="52000"/>
            </a:srgbClr>
          </a:solidFill>
          <a:ln w="2540">
            <a:solidFill>
              <a:srgbClr val="FFFFFF">
                <a:alpha val="8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48" name="Shape 45"/>
          <p:cNvSpPr/>
          <p:nvPr/>
        </p:nvSpPr>
        <p:spPr>
          <a:xfrm>
            <a:off x="320040" y="3346704"/>
            <a:ext cx="54864" cy="475488"/>
          </a:xfrm>
          <a:prstGeom prst="line">
            <a:avLst/>
          </a:prstGeom>
          <a:noFill/>
          <a:ln w="50800">
            <a:solidFill>
              <a:srgbClr val="C9A0E8"/>
            </a:solidFill>
            <a:prstDash val="solid"/>
          </a:ln>
        </p:spPr>
        <p:txBody>
          <a:bodyPr/>
          <a:lstStyle/>
          <a:p>
            <a:endParaRPr lang="en-GB"/>
          </a:p>
        </p:txBody>
      </p:sp>
      <p:sp>
        <p:nvSpPr>
          <p:cNvPr id="49" name="Text 46"/>
          <p:cNvSpPr/>
          <p:nvPr/>
        </p:nvSpPr>
        <p:spPr>
          <a:xfrm>
            <a:off x="457200" y="3392424"/>
            <a:ext cx="2194560" cy="384048"/>
          </a:xfrm>
          <a:prstGeom prst="rect">
            <a:avLst/>
          </a:prstGeom>
          <a:noFill/>
          <a:ln/>
        </p:spPr>
        <p:txBody>
          <a:bodyPr wrap="square" lIns="50800" tIns="50800" rIns="50800" bIns="50800" rtlCol="0" anchor="ctr"/>
          <a:lstStyle/>
          <a:p>
            <a:pPr marL="0" indent="0" algn="l">
              <a:buNone/>
            </a:pPr>
            <a:r>
              <a:rPr lang="en-US" sz="1100" b="1" dirty="0">
                <a:solidFill>
                  <a:srgbClr val="C9A0E8"/>
                </a:solidFill>
                <a:latin typeface="Gill Sans MT" pitchFamily="34" charset="0"/>
                <a:ea typeface="Gill Sans MT" pitchFamily="34" charset="-122"/>
                <a:cs typeface="Gill Sans MT" pitchFamily="34" charset="-120"/>
              </a:rPr>
              <a:t>ξ₂  Institutions</a:t>
            </a:r>
            <a:endParaRPr lang="en-US" sz="1100" dirty="0"/>
          </a:p>
        </p:txBody>
      </p:sp>
      <p:sp>
        <p:nvSpPr>
          <p:cNvPr id="50" name="Text 47"/>
          <p:cNvSpPr/>
          <p:nvPr/>
        </p:nvSpPr>
        <p:spPr>
          <a:xfrm>
            <a:off x="2651760" y="3392424"/>
            <a:ext cx="64008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164</a:t>
            </a:r>
            <a:endParaRPr lang="en-US" sz="1100" dirty="0"/>
          </a:p>
        </p:txBody>
      </p:sp>
      <p:sp>
        <p:nvSpPr>
          <p:cNvPr id="51" name="Text 48"/>
          <p:cNvSpPr/>
          <p:nvPr/>
        </p:nvSpPr>
        <p:spPr>
          <a:xfrm>
            <a:off x="3291840" y="3392424"/>
            <a:ext cx="77724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−0.023</a:t>
            </a:r>
            <a:endParaRPr lang="en-US" sz="1100" dirty="0"/>
          </a:p>
        </p:txBody>
      </p:sp>
      <p:sp>
        <p:nvSpPr>
          <p:cNvPr id="52" name="Text 49"/>
          <p:cNvSpPr/>
          <p:nvPr/>
        </p:nvSpPr>
        <p:spPr>
          <a:xfrm>
            <a:off x="4069080" y="3392424"/>
            <a:ext cx="77724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0.949</a:t>
            </a:r>
            <a:endParaRPr lang="en-US" sz="1100" dirty="0"/>
          </a:p>
        </p:txBody>
      </p:sp>
      <p:sp>
        <p:nvSpPr>
          <p:cNvPr id="53" name="Text 50"/>
          <p:cNvSpPr/>
          <p:nvPr/>
        </p:nvSpPr>
        <p:spPr>
          <a:xfrm>
            <a:off x="4846320" y="3392424"/>
            <a:ext cx="77724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−1.683</a:t>
            </a:r>
            <a:endParaRPr lang="en-US" sz="1100" dirty="0"/>
          </a:p>
        </p:txBody>
      </p:sp>
      <p:sp>
        <p:nvSpPr>
          <p:cNvPr id="54" name="Text 51"/>
          <p:cNvSpPr/>
          <p:nvPr/>
        </p:nvSpPr>
        <p:spPr>
          <a:xfrm>
            <a:off x="5623560" y="3392424"/>
            <a:ext cx="77724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2.137</a:t>
            </a:r>
            <a:endParaRPr lang="en-US" sz="1100" dirty="0"/>
          </a:p>
        </p:txBody>
      </p:sp>
      <p:sp>
        <p:nvSpPr>
          <p:cNvPr id="55" name="Text 52"/>
          <p:cNvSpPr/>
          <p:nvPr/>
        </p:nvSpPr>
        <p:spPr>
          <a:xfrm>
            <a:off x="6400800" y="3392424"/>
            <a:ext cx="91440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0.439</a:t>
            </a:r>
            <a:endParaRPr lang="en-US" sz="1100" dirty="0"/>
          </a:p>
        </p:txBody>
      </p:sp>
      <p:sp>
        <p:nvSpPr>
          <p:cNvPr id="56" name="Text 53"/>
          <p:cNvSpPr/>
          <p:nvPr/>
        </p:nvSpPr>
        <p:spPr>
          <a:xfrm>
            <a:off x="7315200" y="3392424"/>
            <a:ext cx="914400" cy="384048"/>
          </a:xfrm>
          <a:prstGeom prst="rect">
            <a:avLst/>
          </a:prstGeom>
          <a:noFill/>
          <a:ln/>
        </p:spPr>
        <p:txBody>
          <a:bodyPr wrap="square" lIns="50800" tIns="50800" rIns="50800" bIns="50800" rtlCol="0" anchor="ctr"/>
          <a:lstStyle/>
          <a:p>
            <a:pPr marL="0" indent="0" algn="ctr">
              <a:buNone/>
            </a:pPr>
            <a:r>
              <a:rPr lang="en-US" sz="1100" dirty="0">
                <a:solidFill>
                  <a:srgbClr val="F5F5F0"/>
                </a:solidFill>
                <a:latin typeface="Gill Sans MT" pitchFamily="34" charset="0"/>
                <a:ea typeface="Gill Sans MT" pitchFamily="34" charset="-122"/>
                <a:cs typeface="Gill Sans MT" pitchFamily="34" charset="-120"/>
              </a:rPr>
              <a:t>−0.661</a:t>
            </a:r>
            <a:endParaRPr lang="en-US" sz="1100" dirty="0"/>
          </a:p>
        </p:txBody>
      </p:sp>
      <p:sp>
        <p:nvSpPr>
          <p:cNvPr id="57" name="Shape 54"/>
          <p:cNvSpPr/>
          <p:nvPr/>
        </p:nvSpPr>
        <p:spPr>
          <a:xfrm>
            <a:off x="365760" y="4069080"/>
            <a:ext cx="2834640" cy="2331720"/>
          </a:xfrm>
          <a:prstGeom prst="roundRect">
            <a:avLst>
              <a:gd name="adj" fmla="val 5490"/>
            </a:avLst>
          </a:prstGeom>
          <a:solidFill>
            <a:srgbClr val="040810">
              <a:alpha val="55000"/>
            </a:srgbClr>
          </a:solidFill>
          <a:ln w="8890">
            <a:solidFill>
              <a:srgbClr val="56D68A">
                <a:alpha val="6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58" name="Text 55"/>
          <p:cNvSpPr/>
          <p:nvPr/>
        </p:nvSpPr>
        <p:spPr>
          <a:xfrm>
            <a:off x="548640" y="4160520"/>
            <a:ext cx="2487168" cy="411480"/>
          </a:xfrm>
          <a:prstGeom prst="rect">
            <a:avLst/>
          </a:prstGeom>
          <a:noFill/>
          <a:ln/>
        </p:spPr>
        <p:txBody>
          <a:bodyPr wrap="square" lIns="50800" tIns="50800" rIns="50800" bIns="50800" rtlCol="0" anchor="ctr"/>
          <a:lstStyle/>
          <a:p>
            <a:pPr marL="0" indent="0" algn="l">
              <a:buNone/>
            </a:pPr>
            <a:r>
              <a:rPr lang="en-US" sz="1200" b="1" dirty="0">
                <a:solidFill>
                  <a:srgbClr val="56D68A"/>
                </a:solidFill>
                <a:latin typeface="Gill Sans MT" pitchFamily="34" charset="0"/>
                <a:ea typeface="Gill Sans MT" pitchFamily="34" charset="-122"/>
                <a:cs typeface="Gill Sans MT" pitchFamily="34" charset="-120"/>
              </a:rPr>
              <a:t>Three Constructs ~Normal</a:t>
            </a:r>
            <a:endParaRPr lang="en-US" sz="1200" dirty="0"/>
          </a:p>
        </p:txBody>
      </p:sp>
      <p:sp>
        <p:nvSpPr>
          <p:cNvPr id="59" name="Shape 56"/>
          <p:cNvSpPr/>
          <p:nvPr/>
        </p:nvSpPr>
        <p:spPr>
          <a:xfrm>
            <a:off x="548640" y="4590288"/>
            <a:ext cx="2468880" cy="0"/>
          </a:xfrm>
          <a:prstGeom prst="line">
            <a:avLst/>
          </a:prstGeom>
          <a:noFill/>
          <a:ln w="19050">
            <a:solidFill>
              <a:srgbClr val="56D68A"/>
            </a:solidFill>
            <a:prstDash val="solid"/>
          </a:ln>
        </p:spPr>
        <p:txBody>
          <a:bodyPr/>
          <a:lstStyle/>
          <a:p>
            <a:endParaRPr lang="en-GB"/>
          </a:p>
        </p:txBody>
      </p:sp>
      <p:sp>
        <p:nvSpPr>
          <p:cNvPr id="60" name="Text 57"/>
          <p:cNvSpPr/>
          <p:nvPr/>
        </p:nvSpPr>
        <p:spPr>
          <a:xfrm>
            <a:off x="548640" y="4663440"/>
            <a:ext cx="2487168" cy="1600200"/>
          </a:xfrm>
          <a:prstGeom prst="rect">
            <a:avLst/>
          </a:prstGeom>
          <a:noFill/>
          <a:ln/>
        </p:spPr>
        <p:txBody>
          <a:bodyPr wrap="square" lIns="50800" tIns="50800" rIns="50800" bIns="50800" rtlCol="0" anchor="t"/>
          <a:lstStyle/>
          <a:p>
            <a:pPr marL="0" indent="0" algn="l">
              <a:buNone/>
            </a:pPr>
            <a:r>
              <a:rPr lang="en-US" sz="1100" dirty="0">
                <a:solidFill>
                  <a:srgbClr val="B8C8D8"/>
                </a:solidFill>
                <a:latin typeface="Gill Sans MT" pitchFamily="34" charset="0"/>
                <a:ea typeface="Gill Sans MT" pitchFamily="34" charset="-122"/>
                <a:cs typeface="Gill Sans MT" pitchFamily="34" charset="-120"/>
              </a:rPr>
              <a:t>ξ₁, η₁, ξ₂ — skewness ∈ [−0.36, 0.56]. Safe for SEM estimation (Kline, 2023)</a:t>
            </a:r>
            <a:endParaRPr lang="en-US" sz="1100" dirty="0"/>
          </a:p>
        </p:txBody>
      </p:sp>
      <p:sp>
        <p:nvSpPr>
          <p:cNvPr id="61" name="Shape 58"/>
          <p:cNvSpPr/>
          <p:nvPr/>
        </p:nvSpPr>
        <p:spPr>
          <a:xfrm>
            <a:off x="3310128" y="4069080"/>
            <a:ext cx="2834640" cy="2331720"/>
          </a:xfrm>
          <a:prstGeom prst="roundRect">
            <a:avLst>
              <a:gd name="adj" fmla="val 5490"/>
            </a:avLst>
          </a:prstGeom>
          <a:solidFill>
            <a:srgbClr val="040810">
              <a:alpha val="55000"/>
            </a:srgbClr>
          </a:solidFill>
          <a:ln w="8890">
            <a:solidFill>
              <a:srgbClr val="FFB347">
                <a:alpha val="6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62" name="Text 59"/>
          <p:cNvSpPr/>
          <p:nvPr/>
        </p:nvSpPr>
        <p:spPr>
          <a:xfrm>
            <a:off x="3493008" y="4160520"/>
            <a:ext cx="2487168" cy="411480"/>
          </a:xfrm>
          <a:prstGeom prst="rect">
            <a:avLst/>
          </a:prstGeom>
          <a:noFill/>
          <a:ln/>
        </p:spPr>
        <p:txBody>
          <a:bodyPr wrap="square" lIns="50800" tIns="50800" rIns="50800" bIns="50800" rtlCol="0" anchor="ctr"/>
          <a:lstStyle/>
          <a:p>
            <a:pPr marL="0" indent="0" algn="l">
              <a:buNone/>
            </a:pPr>
            <a:r>
              <a:rPr lang="en-US" sz="1200" b="1" dirty="0">
                <a:solidFill>
                  <a:srgbClr val="FFB347"/>
                </a:solidFill>
                <a:latin typeface="Gill Sans MT" pitchFamily="34" charset="0"/>
                <a:ea typeface="Gill Sans MT" pitchFamily="34" charset="-122"/>
                <a:cs typeface="Gill Sans MT" pitchFamily="34" charset="-120"/>
              </a:rPr>
              <a:t>η₂ Outlier-Driven</a:t>
            </a:r>
            <a:endParaRPr lang="en-US" sz="1200" dirty="0"/>
          </a:p>
        </p:txBody>
      </p:sp>
      <p:sp>
        <p:nvSpPr>
          <p:cNvPr id="63" name="Shape 60"/>
          <p:cNvSpPr/>
          <p:nvPr/>
        </p:nvSpPr>
        <p:spPr>
          <a:xfrm>
            <a:off x="3493008" y="4590288"/>
            <a:ext cx="2468880" cy="0"/>
          </a:xfrm>
          <a:prstGeom prst="line">
            <a:avLst/>
          </a:prstGeom>
          <a:noFill/>
          <a:ln w="19050">
            <a:solidFill>
              <a:srgbClr val="FFB347"/>
            </a:solidFill>
            <a:prstDash val="solid"/>
          </a:ln>
        </p:spPr>
        <p:txBody>
          <a:bodyPr/>
          <a:lstStyle/>
          <a:p>
            <a:endParaRPr lang="en-GB"/>
          </a:p>
        </p:txBody>
      </p:sp>
      <p:sp>
        <p:nvSpPr>
          <p:cNvPr id="64" name="Text 61"/>
          <p:cNvSpPr/>
          <p:nvPr/>
        </p:nvSpPr>
        <p:spPr>
          <a:xfrm>
            <a:off x="3493008" y="4663440"/>
            <a:ext cx="2487168" cy="1600200"/>
          </a:xfrm>
          <a:prstGeom prst="rect">
            <a:avLst/>
          </a:prstGeom>
          <a:noFill/>
          <a:ln/>
        </p:spPr>
        <p:txBody>
          <a:bodyPr wrap="square" lIns="50800" tIns="50800" rIns="50800" bIns="50800" rtlCol="0" anchor="t"/>
          <a:lstStyle/>
          <a:p>
            <a:pPr marL="0" indent="0" algn="l">
              <a:buNone/>
            </a:pPr>
            <a:r>
              <a:rPr lang="en-US" sz="1100" dirty="0">
                <a:solidFill>
                  <a:srgbClr val="B8C8D8"/>
                </a:solidFill>
                <a:latin typeface="Gill Sans MT" pitchFamily="34" charset="0"/>
                <a:ea typeface="Gill Sans MT" pitchFamily="34" charset="-122"/>
                <a:cs typeface="Gill Sans MT" pitchFamily="34" charset="-120"/>
              </a:rPr>
              <a:t>Skew = 2.368, Kurt = 8.157. Singapore &amp; Luxembourg pull the right tail. HC3 robust SE applied.</a:t>
            </a:r>
            <a:endParaRPr lang="en-US" sz="1100" dirty="0"/>
          </a:p>
        </p:txBody>
      </p:sp>
      <p:sp>
        <p:nvSpPr>
          <p:cNvPr id="65" name="Shape 62"/>
          <p:cNvSpPr/>
          <p:nvPr/>
        </p:nvSpPr>
        <p:spPr>
          <a:xfrm>
            <a:off x="6254496" y="4069080"/>
            <a:ext cx="2834640" cy="2331720"/>
          </a:xfrm>
          <a:prstGeom prst="roundRect">
            <a:avLst>
              <a:gd name="adj" fmla="val 5490"/>
            </a:avLst>
          </a:prstGeom>
          <a:solidFill>
            <a:srgbClr val="040810">
              <a:alpha val="55000"/>
            </a:srgbClr>
          </a:solidFill>
          <a:ln w="8890">
            <a:solidFill>
              <a:srgbClr val="6DAEDB">
                <a:alpha val="6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66" name="Text 63"/>
          <p:cNvSpPr/>
          <p:nvPr/>
        </p:nvSpPr>
        <p:spPr>
          <a:xfrm>
            <a:off x="6437376" y="4160520"/>
            <a:ext cx="2487168" cy="411480"/>
          </a:xfrm>
          <a:prstGeom prst="rect">
            <a:avLst/>
          </a:prstGeom>
          <a:noFill/>
          <a:ln/>
        </p:spPr>
        <p:txBody>
          <a:bodyPr wrap="square" lIns="50800" tIns="50800" rIns="50800" bIns="50800" rtlCol="0" anchor="ctr"/>
          <a:lstStyle/>
          <a:p>
            <a:pPr marL="0" indent="0" algn="l">
              <a:buNone/>
            </a:pPr>
            <a:r>
              <a:rPr lang="en-US" sz="1200" b="1" dirty="0">
                <a:solidFill>
                  <a:srgbClr val="6DAEDB"/>
                </a:solidFill>
                <a:latin typeface="Gill Sans MT" pitchFamily="34" charset="0"/>
                <a:ea typeface="Gill Sans MT" pitchFamily="34" charset="-122"/>
                <a:cs typeface="Gill Sans MT" pitchFamily="34" charset="-120"/>
              </a:rPr>
              <a:t>Means ≈ 0, SD ≈ 1</a:t>
            </a:r>
            <a:endParaRPr lang="en-US" sz="1200" dirty="0"/>
          </a:p>
        </p:txBody>
      </p:sp>
      <p:sp>
        <p:nvSpPr>
          <p:cNvPr id="67" name="Shape 64"/>
          <p:cNvSpPr/>
          <p:nvPr/>
        </p:nvSpPr>
        <p:spPr>
          <a:xfrm>
            <a:off x="6437376" y="4590288"/>
            <a:ext cx="2468880" cy="0"/>
          </a:xfrm>
          <a:prstGeom prst="line">
            <a:avLst/>
          </a:prstGeom>
          <a:noFill/>
          <a:ln w="19050">
            <a:solidFill>
              <a:srgbClr val="6DAEDB"/>
            </a:solidFill>
            <a:prstDash val="solid"/>
          </a:ln>
        </p:spPr>
        <p:txBody>
          <a:bodyPr/>
          <a:lstStyle/>
          <a:p>
            <a:endParaRPr lang="en-GB"/>
          </a:p>
        </p:txBody>
      </p:sp>
      <p:sp>
        <p:nvSpPr>
          <p:cNvPr id="68" name="Text 65"/>
          <p:cNvSpPr/>
          <p:nvPr/>
        </p:nvSpPr>
        <p:spPr>
          <a:xfrm>
            <a:off x="6437376" y="4663440"/>
            <a:ext cx="2487168" cy="1600200"/>
          </a:xfrm>
          <a:prstGeom prst="rect">
            <a:avLst/>
          </a:prstGeom>
          <a:noFill/>
          <a:ln/>
        </p:spPr>
        <p:txBody>
          <a:bodyPr wrap="square" lIns="50800" tIns="50800" rIns="50800" bIns="50800" rtlCol="0" anchor="t"/>
          <a:lstStyle/>
          <a:p>
            <a:pPr marL="0" indent="0" algn="l">
              <a:buNone/>
            </a:pPr>
            <a:r>
              <a:rPr lang="en-US" sz="1100" dirty="0">
                <a:solidFill>
                  <a:srgbClr val="B8C8D8"/>
                </a:solidFill>
                <a:latin typeface="Gill Sans MT" pitchFamily="34" charset="0"/>
                <a:ea typeface="Gill Sans MT" pitchFamily="34" charset="-122"/>
                <a:cs typeface="Gill Sans MT" pitchFamily="34" charset="-120"/>
              </a:rPr>
              <a:t>z-score standardisation by design — not a data error. Ensures cross-scale comparability.</a:t>
            </a:r>
            <a:endParaRPr lang="en-US" sz="1100" dirty="0"/>
          </a:p>
        </p:txBody>
      </p:sp>
      <p:sp>
        <p:nvSpPr>
          <p:cNvPr id="69" name="Shape 66"/>
          <p:cNvSpPr/>
          <p:nvPr/>
        </p:nvSpPr>
        <p:spPr>
          <a:xfrm>
            <a:off x="9198864" y="4069080"/>
            <a:ext cx="2834640" cy="2331720"/>
          </a:xfrm>
          <a:prstGeom prst="roundRect">
            <a:avLst>
              <a:gd name="adj" fmla="val 5490"/>
            </a:avLst>
          </a:prstGeom>
          <a:solidFill>
            <a:srgbClr val="040810">
              <a:alpha val="55000"/>
            </a:srgbClr>
          </a:solidFill>
          <a:ln w="8890">
            <a:solidFill>
              <a:srgbClr val="4ECDC4">
                <a:alpha val="6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70" name="Text 67"/>
          <p:cNvSpPr/>
          <p:nvPr/>
        </p:nvSpPr>
        <p:spPr>
          <a:xfrm>
            <a:off x="9381744" y="4160520"/>
            <a:ext cx="2487168" cy="411480"/>
          </a:xfrm>
          <a:prstGeom prst="rect">
            <a:avLst/>
          </a:prstGeom>
          <a:noFill/>
          <a:ln/>
        </p:spPr>
        <p:txBody>
          <a:bodyPr wrap="square" lIns="50800" tIns="50800" rIns="50800" bIns="50800" rtlCol="0" anchor="ctr"/>
          <a:lstStyle/>
          <a:p>
            <a:pPr marL="0" indent="0" algn="l">
              <a:buNone/>
            </a:pPr>
            <a:r>
              <a:rPr lang="en-US" sz="1200" b="1" dirty="0">
                <a:solidFill>
                  <a:srgbClr val="4ECDC4"/>
                </a:solidFill>
                <a:latin typeface="Gill Sans MT" pitchFamily="34" charset="0"/>
                <a:ea typeface="Gill Sans MT" pitchFamily="34" charset="-122"/>
                <a:cs typeface="Gill Sans MT" pitchFamily="34" charset="-120"/>
              </a:rPr>
              <a:t>All r Significant</a:t>
            </a:r>
            <a:endParaRPr lang="en-US" sz="1200" dirty="0"/>
          </a:p>
        </p:txBody>
      </p:sp>
      <p:sp>
        <p:nvSpPr>
          <p:cNvPr id="71" name="Shape 68"/>
          <p:cNvSpPr/>
          <p:nvPr/>
        </p:nvSpPr>
        <p:spPr>
          <a:xfrm>
            <a:off x="9381744" y="4590288"/>
            <a:ext cx="2468880" cy="0"/>
          </a:xfrm>
          <a:prstGeom prst="line">
            <a:avLst/>
          </a:prstGeom>
          <a:noFill/>
          <a:ln w="19050">
            <a:solidFill>
              <a:srgbClr val="4ECDC4"/>
            </a:solidFill>
            <a:prstDash val="solid"/>
          </a:ln>
        </p:spPr>
        <p:txBody>
          <a:bodyPr/>
          <a:lstStyle/>
          <a:p>
            <a:endParaRPr lang="en-GB"/>
          </a:p>
        </p:txBody>
      </p:sp>
      <p:sp>
        <p:nvSpPr>
          <p:cNvPr id="72" name="Text 69"/>
          <p:cNvSpPr/>
          <p:nvPr/>
        </p:nvSpPr>
        <p:spPr>
          <a:xfrm>
            <a:off x="9381744" y="4663440"/>
            <a:ext cx="2487168" cy="1600200"/>
          </a:xfrm>
          <a:prstGeom prst="rect">
            <a:avLst/>
          </a:prstGeom>
          <a:noFill/>
          <a:ln/>
        </p:spPr>
        <p:txBody>
          <a:bodyPr wrap="square" lIns="50800" tIns="50800" rIns="50800" bIns="50800" rtlCol="0" anchor="t"/>
          <a:lstStyle/>
          <a:p>
            <a:pPr marL="0" indent="0" algn="l">
              <a:buNone/>
            </a:pPr>
            <a:r>
              <a:rPr lang="en-US" sz="1100" dirty="0">
                <a:solidFill>
                  <a:srgbClr val="B8C8D8"/>
                </a:solidFill>
                <a:latin typeface="Gill Sans MT" pitchFamily="34" charset="0"/>
                <a:ea typeface="Gill Sans MT" pitchFamily="34" charset="-122"/>
                <a:cs typeface="Gill Sans MT" pitchFamily="34" charset="-120"/>
              </a:rPr>
              <a:t>All 6 pairwise correlations: p &lt; .001. Strong empirical foundations for structural model.</a:t>
            </a:r>
            <a:endParaRPr lang="en-US" sz="1100" dirty="0"/>
          </a:p>
        </p:txBody>
      </p:sp>
      <p:sp>
        <p:nvSpPr>
          <p:cNvPr id="73" name="Text 70"/>
          <p:cNvSpPr/>
          <p:nvPr/>
        </p:nvSpPr>
        <p:spPr>
          <a:xfrm>
            <a:off x="11704320" y="6492240"/>
            <a:ext cx="365760" cy="274320"/>
          </a:xfrm>
          <a:prstGeom prst="rect">
            <a:avLst/>
          </a:prstGeom>
          <a:noFill/>
          <a:ln/>
        </p:spPr>
        <p:txBody>
          <a:bodyPr wrap="square" rtlCol="0" anchor="ctr"/>
          <a:lstStyle/>
          <a:p>
            <a:pPr marL="0" indent="0" algn="r">
              <a:buNone/>
            </a:pPr>
            <a:r>
              <a:rPr lang="en-US" sz="800" dirty="0">
                <a:solidFill>
                  <a:srgbClr val="B8C8D8"/>
                </a:solidFill>
                <a:latin typeface="Gill Sans MT" pitchFamily="34" charset="0"/>
                <a:ea typeface="Gill Sans MT" pitchFamily="34" charset="-122"/>
                <a:cs typeface="Gill Sans MT"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61520" cy="6858000"/>
          </a:xfrm>
          <a:prstGeom prst="rect">
            <a:avLst/>
          </a:prstGeom>
        </p:spPr>
      </p:pic>
      <p:sp>
        <p:nvSpPr>
          <p:cNvPr id="3" name="Shape 0"/>
          <p:cNvSpPr/>
          <p:nvPr/>
        </p:nvSpPr>
        <p:spPr>
          <a:xfrm>
            <a:off x="0" y="0"/>
            <a:ext cx="12161520" cy="1188720"/>
          </a:xfrm>
          <a:prstGeom prst="roundRect">
            <a:avLst>
              <a:gd name="adj" fmla="val 9231"/>
            </a:avLst>
          </a:prstGeom>
          <a:solidFill>
            <a:srgbClr val="050810">
              <a:alpha val="48000"/>
            </a:srgbClr>
          </a:solidFill>
          <a:ln w="3810">
            <a:solidFill>
              <a:srgbClr val="FFFFFF">
                <a:alpha val="12000"/>
              </a:srgbClr>
            </a:solidFill>
            <a:prstDash val="solid"/>
          </a:ln>
          <a:effectLst>
            <a:outerShdw blurRad="152400" dist="50800" dir="2700000" algn="bl" rotWithShape="0">
              <a:srgbClr val="000000">
                <a:alpha val="50000"/>
              </a:srgbClr>
            </a:outerShdw>
          </a:effectLst>
        </p:spPr>
        <p:txBody>
          <a:bodyPr/>
          <a:lstStyle/>
          <a:p>
            <a:endParaRPr lang="en-GB"/>
          </a:p>
        </p:txBody>
      </p:sp>
      <p:sp>
        <p:nvSpPr>
          <p:cNvPr id="4" name="Shape 1"/>
          <p:cNvSpPr/>
          <p:nvPr/>
        </p:nvSpPr>
        <p:spPr>
          <a:xfrm>
            <a:off x="365760" y="137160"/>
            <a:ext cx="2194560" cy="292608"/>
          </a:xfrm>
          <a:prstGeom prst="roundRect">
            <a:avLst>
              <a:gd name="adj" fmla="val 18750"/>
            </a:avLst>
          </a:prstGeom>
          <a:solidFill>
            <a:srgbClr val="000000">
              <a:alpha val="50000"/>
            </a:srgbClr>
          </a:solidFill>
          <a:ln w="19050">
            <a:solidFill>
              <a:srgbClr val="4ECDC4"/>
            </a:solidFill>
            <a:prstDash val="solid"/>
          </a:ln>
        </p:spPr>
        <p:txBody>
          <a:bodyPr/>
          <a:lstStyle/>
          <a:p>
            <a:endParaRPr lang="en-GB"/>
          </a:p>
        </p:txBody>
      </p:sp>
      <p:sp>
        <p:nvSpPr>
          <p:cNvPr id="5" name="Text 2"/>
          <p:cNvSpPr/>
          <p:nvPr/>
        </p:nvSpPr>
        <p:spPr>
          <a:xfrm>
            <a:off x="365760" y="137160"/>
            <a:ext cx="2194560" cy="292608"/>
          </a:xfrm>
          <a:prstGeom prst="rect">
            <a:avLst/>
          </a:prstGeom>
          <a:noFill/>
          <a:ln/>
        </p:spPr>
        <p:txBody>
          <a:bodyPr wrap="square" rtlCol="0" anchor="ctr"/>
          <a:lstStyle/>
          <a:p>
            <a:pPr marL="0" indent="0" algn="ctr">
              <a:buNone/>
            </a:pPr>
            <a:r>
              <a:rPr lang="en-US" sz="850" b="1" kern="0" spc="200" dirty="0">
                <a:solidFill>
                  <a:srgbClr val="4ECDC4"/>
                </a:solidFill>
                <a:latin typeface="Gill Sans MT" pitchFamily="34" charset="0"/>
                <a:ea typeface="Gill Sans MT" pitchFamily="34" charset="-122"/>
                <a:cs typeface="Gill Sans MT" pitchFamily="34" charset="-120"/>
              </a:rPr>
              <a:t>RESULTS — CORRELATIONS</a:t>
            </a:r>
            <a:endParaRPr lang="en-US" sz="850" dirty="0"/>
          </a:p>
        </p:txBody>
      </p:sp>
      <p:sp>
        <p:nvSpPr>
          <p:cNvPr id="6" name="Text 3"/>
          <p:cNvSpPr/>
          <p:nvPr/>
        </p:nvSpPr>
        <p:spPr>
          <a:xfrm>
            <a:off x="365760" y="347472"/>
            <a:ext cx="10058400" cy="685800"/>
          </a:xfrm>
          <a:prstGeom prst="rect">
            <a:avLst/>
          </a:prstGeom>
          <a:noFill/>
          <a:ln/>
        </p:spPr>
        <p:txBody>
          <a:bodyPr wrap="square" lIns="50800" tIns="50800" rIns="50800" bIns="50800" rtlCol="0" anchor="ctr"/>
          <a:lstStyle/>
          <a:p>
            <a:pPr marL="0" indent="0" algn="l">
              <a:buNone/>
            </a:pPr>
            <a:r>
              <a:rPr lang="en-US" sz="2800" b="1" dirty="0">
                <a:solidFill>
                  <a:srgbClr val="FFFFFF"/>
                </a:solidFill>
                <a:latin typeface="Gill Sans MT" pitchFamily="34" charset="0"/>
                <a:ea typeface="Gill Sans MT" pitchFamily="34" charset="-122"/>
                <a:cs typeface="Gill Sans MT" pitchFamily="34" charset="-120"/>
              </a:rPr>
              <a:t>Pearson Correlation Matrix</a:t>
            </a:r>
            <a:endParaRPr lang="en-US" sz="2800" dirty="0"/>
          </a:p>
        </p:txBody>
      </p:sp>
      <p:sp>
        <p:nvSpPr>
          <p:cNvPr id="7" name="Shape 4"/>
          <p:cNvSpPr/>
          <p:nvPr/>
        </p:nvSpPr>
        <p:spPr>
          <a:xfrm>
            <a:off x="365760" y="1115568"/>
            <a:ext cx="11430000" cy="0"/>
          </a:xfrm>
          <a:prstGeom prst="line">
            <a:avLst/>
          </a:prstGeom>
          <a:noFill/>
          <a:ln w="19050">
            <a:solidFill>
              <a:srgbClr val="4ECDC4"/>
            </a:solidFill>
            <a:prstDash val="solid"/>
          </a:ln>
        </p:spPr>
        <p:txBody>
          <a:bodyPr/>
          <a:lstStyle/>
          <a:p>
            <a:endParaRPr lang="en-GB"/>
          </a:p>
        </p:txBody>
      </p:sp>
      <p:pic>
        <p:nvPicPr>
          <p:cNvPr id="8" name="Image 1" descr="preencoded.png"/>
          <p:cNvPicPr>
            <a:picLocks noChangeAspect="1"/>
          </p:cNvPicPr>
          <p:nvPr/>
        </p:nvPicPr>
        <p:blipFill>
          <a:blip r:embed="rId4"/>
          <a:stretch>
            <a:fillRect/>
          </a:stretch>
        </p:blipFill>
        <p:spPr>
          <a:xfrm>
            <a:off x="320040" y="1261872"/>
            <a:ext cx="5943600" cy="4754880"/>
          </a:xfrm>
          <a:prstGeom prst="rect">
            <a:avLst/>
          </a:prstGeom>
        </p:spPr>
      </p:pic>
      <p:sp>
        <p:nvSpPr>
          <p:cNvPr id="9" name="Shape 5"/>
          <p:cNvSpPr/>
          <p:nvPr/>
        </p:nvSpPr>
        <p:spPr>
          <a:xfrm>
            <a:off x="6492240" y="1298448"/>
            <a:ext cx="5486400" cy="841248"/>
          </a:xfrm>
          <a:prstGeom prst="roundRect">
            <a:avLst>
              <a:gd name="adj" fmla="val 15217"/>
            </a:avLst>
          </a:prstGeom>
          <a:solidFill>
            <a:srgbClr val="030C10">
              <a:alpha val="58000"/>
            </a:srgbClr>
          </a:solidFill>
          <a:ln w="7620">
            <a:solidFill>
              <a:srgbClr val="C9A0E8">
                <a:alpha val="5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0" name="Text 6"/>
          <p:cNvSpPr/>
          <p:nvPr/>
        </p:nvSpPr>
        <p:spPr>
          <a:xfrm>
            <a:off x="6656832" y="1353312"/>
            <a:ext cx="1463040" cy="329184"/>
          </a:xfrm>
          <a:prstGeom prst="rect">
            <a:avLst/>
          </a:prstGeom>
          <a:noFill/>
          <a:ln/>
        </p:spPr>
        <p:txBody>
          <a:bodyPr wrap="square" lIns="50800" tIns="50800" rIns="50800" bIns="50800" rtlCol="0" anchor="ctr"/>
          <a:lstStyle/>
          <a:p>
            <a:pPr marL="0" indent="0" algn="l">
              <a:buNone/>
            </a:pPr>
            <a:r>
              <a:rPr lang="en-US" sz="1300" b="1" dirty="0">
                <a:solidFill>
                  <a:srgbClr val="F0C040"/>
                </a:solidFill>
                <a:latin typeface="Gill Sans MT" pitchFamily="34" charset="0"/>
                <a:ea typeface="Gill Sans MT" pitchFamily="34" charset="-122"/>
                <a:cs typeface="Gill Sans MT" pitchFamily="34" charset="-120"/>
              </a:rPr>
              <a:t>ξ₂ ↔ η₁</a:t>
            </a:r>
            <a:endParaRPr lang="en-US" sz="1300" dirty="0"/>
          </a:p>
        </p:txBody>
      </p:sp>
      <p:sp>
        <p:nvSpPr>
          <p:cNvPr id="11" name="Text 7"/>
          <p:cNvSpPr/>
          <p:nvPr/>
        </p:nvSpPr>
        <p:spPr>
          <a:xfrm>
            <a:off x="8183880" y="1353312"/>
            <a:ext cx="1463040" cy="329184"/>
          </a:xfrm>
          <a:prstGeom prst="rect">
            <a:avLst/>
          </a:prstGeom>
          <a:noFill/>
          <a:ln/>
        </p:spPr>
        <p:txBody>
          <a:bodyPr wrap="square" lIns="50800" tIns="50800" rIns="50800" bIns="50800" rtlCol="0" anchor="ctr"/>
          <a:lstStyle/>
          <a:p>
            <a:pPr marL="0" indent="0" algn="l">
              <a:buNone/>
            </a:pPr>
            <a:r>
              <a:rPr lang="en-US" sz="1300" b="1" dirty="0">
                <a:solidFill>
                  <a:srgbClr val="56D68A"/>
                </a:solidFill>
                <a:latin typeface="Gill Sans MT" pitchFamily="34" charset="0"/>
                <a:ea typeface="Gill Sans MT" pitchFamily="34" charset="-122"/>
                <a:cs typeface="Gill Sans MT" pitchFamily="34" charset="-120"/>
              </a:rPr>
              <a:t>r = 0.844</a:t>
            </a:r>
            <a:endParaRPr lang="en-US" sz="1300" dirty="0"/>
          </a:p>
        </p:txBody>
      </p:sp>
      <p:sp>
        <p:nvSpPr>
          <p:cNvPr id="12" name="Text 8"/>
          <p:cNvSpPr/>
          <p:nvPr/>
        </p:nvSpPr>
        <p:spPr>
          <a:xfrm>
            <a:off x="6656832" y="1737360"/>
            <a:ext cx="4315968" cy="329184"/>
          </a:xfrm>
          <a:prstGeom prst="rect">
            <a:avLst/>
          </a:prstGeom>
          <a:noFill/>
          <a:ln/>
        </p:spPr>
        <p:txBody>
          <a:bodyPr wrap="square" lIns="50800" tIns="50800" rIns="50800" bIns="50800" rtlCol="0" anchor="ctr"/>
          <a:lstStyle/>
          <a:p>
            <a:pPr marL="0" indent="0" algn="l">
              <a:buNone/>
            </a:pPr>
            <a:r>
              <a:rPr lang="en-US" sz="1050" dirty="0">
                <a:solidFill>
                  <a:srgbClr val="B8C8D8"/>
                </a:solidFill>
                <a:latin typeface="Gill Sans MT" pitchFamily="34" charset="0"/>
                <a:ea typeface="Gill Sans MT" pitchFamily="34" charset="-122"/>
                <a:cs typeface="Gill Sans MT" pitchFamily="34" charset="-120"/>
              </a:rPr>
              <a:t>Strongest link — institutions dominate SC performance</a:t>
            </a:r>
            <a:endParaRPr lang="en-US" sz="1050" dirty="0"/>
          </a:p>
        </p:txBody>
      </p:sp>
      <p:sp>
        <p:nvSpPr>
          <p:cNvPr id="13" name="Shape 9"/>
          <p:cNvSpPr/>
          <p:nvPr/>
        </p:nvSpPr>
        <p:spPr>
          <a:xfrm>
            <a:off x="6492240" y="2267712"/>
            <a:ext cx="5486400" cy="841248"/>
          </a:xfrm>
          <a:prstGeom prst="roundRect">
            <a:avLst>
              <a:gd name="adj" fmla="val 15217"/>
            </a:avLst>
          </a:prstGeom>
          <a:solidFill>
            <a:srgbClr val="030C10">
              <a:alpha val="58000"/>
            </a:srgbClr>
          </a:solidFill>
          <a:ln w="7620">
            <a:solidFill>
              <a:srgbClr val="6DAEDB">
                <a:alpha val="5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4" name="Text 10"/>
          <p:cNvSpPr/>
          <p:nvPr/>
        </p:nvSpPr>
        <p:spPr>
          <a:xfrm>
            <a:off x="6656832" y="2322576"/>
            <a:ext cx="1463040" cy="329184"/>
          </a:xfrm>
          <a:prstGeom prst="rect">
            <a:avLst/>
          </a:prstGeom>
          <a:noFill/>
          <a:ln/>
        </p:spPr>
        <p:txBody>
          <a:bodyPr wrap="square" lIns="50800" tIns="50800" rIns="50800" bIns="50800" rtlCol="0" anchor="ctr"/>
          <a:lstStyle/>
          <a:p>
            <a:pPr marL="0" indent="0" algn="l">
              <a:buNone/>
            </a:pPr>
            <a:r>
              <a:rPr lang="en-US" sz="1300" b="1" dirty="0">
                <a:solidFill>
                  <a:srgbClr val="F0C040"/>
                </a:solidFill>
                <a:latin typeface="Gill Sans MT" pitchFamily="34" charset="0"/>
                <a:ea typeface="Gill Sans MT" pitchFamily="34" charset="-122"/>
                <a:cs typeface="Gill Sans MT" pitchFamily="34" charset="-120"/>
              </a:rPr>
              <a:t>ξ₁ ↔ ξ₂</a:t>
            </a:r>
            <a:endParaRPr lang="en-US" sz="1300" dirty="0"/>
          </a:p>
        </p:txBody>
      </p:sp>
      <p:sp>
        <p:nvSpPr>
          <p:cNvPr id="15" name="Text 11"/>
          <p:cNvSpPr/>
          <p:nvPr/>
        </p:nvSpPr>
        <p:spPr>
          <a:xfrm>
            <a:off x="8183880" y="2322576"/>
            <a:ext cx="1463040" cy="329184"/>
          </a:xfrm>
          <a:prstGeom prst="rect">
            <a:avLst/>
          </a:prstGeom>
          <a:noFill/>
          <a:ln/>
        </p:spPr>
        <p:txBody>
          <a:bodyPr wrap="square" lIns="50800" tIns="50800" rIns="50800" bIns="50800" rtlCol="0" anchor="ctr"/>
          <a:lstStyle/>
          <a:p>
            <a:pPr marL="0" indent="0" algn="l">
              <a:buNone/>
            </a:pPr>
            <a:r>
              <a:rPr lang="en-US" sz="1300" b="1" dirty="0">
                <a:solidFill>
                  <a:srgbClr val="56D68A"/>
                </a:solidFill>
                <a:latin typeface="Gill Sans MT" pitchFamily="34" charset="0"/>
                <a:ea typeface="Gill Sans MT" pitchFamily="34" charset="-122"/>
                <a:cs typeface="Gill Sans MT" pitchFamily="34" charset="-120"/>
              </a:rPr>
              <a:t>r = 0.799</a:t>
            </a:r>
            <a:endParaRPr lang="en-US" sz="1300" dirty="0"/>
          </a:p>
        </p:txBody>
      </p:sp>
      <p:sp>
        <p:nvSpPr>
          <p:cNvPr id="16" name="Text 12"/>
          <p:cNvSpPr/>
          <p:nvPr/>
        </p:nvSpPr>
        <p:spPr>
          <a:xfrm>
            <a:off x="6656832" y="2706624"/>
            <a:ext cx="4315968" cy="329184"/>
          </a:xfrm>
          <a:prstGeom prst="rect">
            <a:avLst/>
          </a:prstGeom>
          <a:noFill/>
          <a:ln/>
        </p:spPr>
        <p:txBody>
          <a:bodyPr wrap="square" lIns="50800" tIns="50800" rIns="50800" bIns="50800" rtlCol="0" anchor="ctr"/>
          <a:lstStyle/>
          <a:p>
            <a:pPr marL="0" indent="0" algn="l">
              <a:buNone/>
            </a:pPr>
            <a:r>
              <a:rPr lang="en-US" sz="1050" dirty="0">
                <a:solidFill>
                  <a:srgbClr val="B8C8D8"/>
                </a:solidFill>
                <a:latin typeface="Gill Sans MT" pitchFamily="34" charset="0"/>
                <a:ea typeface="Gill Sans MT" pitchFamily="34" charset="-122"/>
                <a:cs typeface="Gill Sans MT" pitchFamily="34" charset="-120"/>
              </a:rPr>
              <a:t>AI readiness &amp; institutions highly co-evolved globally</a:t>
            </a:r>
            <a:endParaRPr lang="en-US" sz="1050" dirty="0"/>
          </a:p>
        </p:txBody>
      </p:sp>
      <p:sp>
        <p:nvSpPr>
          <p:cNvPr id="17" name="Shape 13"/>
          <p:cNvSpPr/>
          <p:nvPr/>
        </p:nvSpPr>
        <p:spPr>
          <a:xfrm>
            <a:off x="6492240" y="3236976"/>
            <a:ext cx="5486400" cy="841248"/>
          </a:xfrm>
          <a:prstGeom prst="roundRect">
            <a:avLst>
              <a:gd name="adj" fmla="val 15217"/>
            </a:avLst>
          </a:prstGeom>
          <a:solidFill>
            <a:srgbClr val="030C10">
              <a:alpha val="58000"/>
            </a:srgbClr>
          </a:solidFill>
          <a:ln w="7620">
            <a:solidFill>
              <a:srgbClr val="4ECDC4">
                <a:alpha val="5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8" name="Text 14"/>
          <p:cNvSpPr/>
          <p:nvPr/>
        </p:nvSpPr>
        <p:spPr>
          <a:xfrm>
            <a:off x="6656832" y="3291840"/>
            <a:ext cx="1463040" cy="329184"/>
          </a:xfrm>
          <a:prstGeom prst="rect">
            <a:avLst/>
          </a:prstGeom>
          <a:noFill/>
          <a:ln/>
        </p:spPr>
        <p:txBody>
          <a:bodyPr wrap="square" lIns="50800" tIns="50800" rIns="50800" bIns="50800" rtlCol="0" anchor="ctr"/>
          <a:lstStyle/>
          <a:p>
            <a:pPr marL="0" indent="0" algn="l">
              <a:buNone/>
            </a:pPr>
            <a:r>
              <a:rPr lang="en-US" sz="1300" b="1" dirty="0">
                <a:solidFill>
                  <a:srgbClr val="F0C040"/>
                </a:solidFill>
                <a:latin typeface="Gill Sans MT" pitchFamily="34" charset="0"/>
                <a:ea typeface="Gill Sans MT" pitchFamily="34" charset="-122"/>
                <a:cs typeface="Gill Sans MT" pitchFamily="34" charset="-120"/>
              </a:rPr>
              <a:t>ξ₁ ↔ η₁</a:t>
            </a:r>
            <a:endParaRPr lang="en-US" sz="1300" dirty="0"/>
          </a:p>
        </p:txBody>
      </p:sp>
      <p:sp>
        <p:nvSpPr>
          <p:cNvPr id="19" name="Text 15"/>
          <p:cNvSpPr/>
          <p:nvPr/>
        </p:nvSpPr>
        <p:spPr>
          <a:xfrm>
            <a:off x="8183880" y="3291840"/>
            <a:ext cx="1463040" cy="329184"/>
          </a:xfrm>
          <a:prstGeom prst="rect">
            <a:avLst/>
          </a:prstGeom>
          <a:noFill/>
          <a:ln/>
        </p:spPr>
        <p:txBody>
          <a:bodyPr wrap="square" lIns="50800" tIns="50800" rIns="50800" bIns="50800" rtlCol="0" anchor="ctr"/>
          <a:lstStyle/>
          <a:p>
            <a:pPr marL="0" indent="0" algn="l">
              <a:buNone/>
            </a:pPr>
            <a:r>
              <a:rPr lang="en-US" sz="1300" b="1" dirty="0">
                <a:solidFill>
                  <a:srgbClr val="56D68A"/>
                </a:solidFill>
                <a:latin typeface="Gill Sans MT" pitchFamily="34" charset="0"/>
                <a:ea typeface="Gill Sans MT" pitchFamily="34" charset="-122"/>
                <a:cs typeface="Gill Sans MT" pitchFamily="34" charset="-120"/>
              </a:rPr>
              <a:t>r = 0.786</a:t>
            </a:r>
            <a:endParaRPr lang="en-US" sz="1300" dirty="0"/>
          </a:p>
        </p:txBody>
      </p:sp>
      <p:sp>
        <p:nvSpPr>
          <p:cNvPr id="20" name="Text 16"/>
          <p:cNvSpPr/>
          <p:nvPr/>
        </p:nvSpPr>
        <p:spPr>
          <a:xfrm>
            <a:off x="6656832" y="3675888"/>
            <a:ext cx="4315968" cy="329184"/>
          </a:xfrm>
          <a:prstGeom prst="rect">
            <a:avLst/>
          </a:prstGeom>
          <a:noFill/>
          <a:ln/>
        </p:spPr>
        <p:txBody>
          <a:bodyPr wrap="square" lIns="50800" tIns="50800" rIns="50800" bIns="50800" rtlCol="0" anchor="ctr"/>
          <a:lstStyle/>
          <a:p>
            <a:pPr marL="0" indent="0" algn="l">
              <a:buNone/>
            </a:pPr>
            <a:r>
              <a:rPr lang="en-US" sz="1050" dirty="0">
                <a:solidFill>
                  <a:srgbClr val="B8C8D8"/>
                </a:solidFill>
                <a:latin typeface="Gill Sans MT" pitchFamily="34" charset="0"/>
                <a:ea typeface="Gill Sans MT" pitchFamily="34" charset="-122"/>
                <a:cs typeface="Gill Sans MT" pitchFamily="34" charset="-120"/>
              </a:rPr>
              <a:t>Strong AI readiness → SC relationship confirmed</a:t>
            </a:r>
            <a:endParaRPr lang="en-US" sz="1050" dirty="0"/>
          </a:p>
        </p:txBody>
      </p:sp>
      <p:sp>
        <p:nvSpPr>
          <p:cNvPr id="21" name="Shape 17"/>
          <p:cNvSpPr/>
          <p:nvPr/>
        </p:nvSpPr>
        <p:spPr>
          <a:xfrm>
            <a:off x="6492240" y="4206240"/>
            <a:ext cx="5486400" cy="841248"/>
          </a:xfrm>
          <a:prstGeom prst="roundRect">
            <a:avLst>
              <a:gd name="adj" fmla="val 15217"/>
            </a:avLst>
          </a:prstGeom>
          <a:solidFill>
            <a:srgbClr val="030C10">
              <a:alpha val="58000"/>
            </a:srgbClr>
          </a:solidFill>
          <a:ln w="7620">
            <a:solidFill>
              <a:srgbClr val="F0C040">
                <a:alpha val="5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2" name="Text 18"/>
          <p:cNvSpPr/>
          <p:nvPr/>
        </p:nvSpPr>
        <p:spPr>
          <a:xfrm>
            <a:off x="6656832" y="4261104"/>
            <a:ext cx="1463040" cy="329184"/>
          </a:xfrm>
          <a:prstGeom prst="rect">
            <a:avLst/>
          </a:prstGeom>
          <a:noFill/>
          <a:ln/>
        </p:spPr>
        <p:txBody>
          <a:bodyPr wrap="square" lIns="50800" tIns="50800" rIns="50800" bIns="50800" rtlCol="0" anchor="ctr"/>
          <a:lstStyle/>
          <a:p>
            <a:pPr marL="0" indent="0" algn="l">
              <a:buNone/>
            </a:pPr>
            <a:r>
              <a:rPr lang="en-US" sz="1300" b="1" dirty="0">
                <a:solidFill>
                  <a:srgbClr val="F0C040"/>
                </a:solidFill>
                <a:latin typeface="Gill Sans MT" pitchFamily="34" charset="0"/>
                <a:ea typeface="Gill Sans MT" pitchFamily="34" charset="-122"/>
                <a:cs typeface="Gill Sans MT" pitchFamily="34" charset="-120"/>
              </a:rPr>
              <a:t>ξ₁ ↔ η₂</a:t>
            </a:r>
            <a:endParaRPr lang="en-US" sz="1300" dirty="0"/>
          </a:p>
        </p:txBody>
      </p:sp>
      <p:sp>
        <p:nvSpPr>
          <p:cNvPr id="23" name="Text 19"/>
          <p:cNvSpPr/>
          <p:nvPr/>
        </p:nvSpPr>
        <p:spPr>
          <a:xfrm>
            <a:off x="8183880" y="4261104"/>
            <a:ext cx="1463040" cy="329184"/>
          </a:xfrm>
          <a:prstGeom prst="rect">
            <a:avLst/>
          </a:prstGeom>
          <a:noFill/>
          <a:ln/>
        </p:spPr>
        <p:txBody>
          <a:bodyPr wrap="square" lIns="50800" tIns="50800" rIns="50800" bIns="50800" rtlCol="0" anchor="ctr"/>
          <a:lstStyle/>
          <a:p>
            <a:pPr marL="0" indent="0" algn="l">
              <a:buNone/>
            </a:pPr>
            <a:r>
              <a:rPr lang="en-US" sz="1300" b="1" dirty="0">
                <a:solidFill>
                  <a:srgbClr val="56D68A"/>
                </a:solidFill>
                <a:latin typeface="Gill Sans MT" pitchFamily="34" charset="0"/>
                <a:ea typeface="Gill Sans MT" pitchFamily="34" charset="-122"/>
                <a:cs typeface="Gill Sans MT" pitchFamily="34" charset="-120"/>
              </a:rPr>
              <a:t>r = 0.550</a:t>
            </a:r>
            <a:endParaRPr lang="en-US" sz="1300" dirty="0"/>
          </a:p>
        </p:txBody>
      </p:sp>
      <p:sp>
        <p:nvSpPr>
          <p:cNvPr id="24" name="Text 20"/>
          <p:cNvSpPr/>
          <p:nvPr/>
        </p:nvSpPr>
        <p:spPr>
          <a:xfrm>
            <a:off x="6656832" y="4645152"/>
            <a:ext cx="4315968" cy="329184"/>
          </a:xfrm>
          <a:prstGeom prst="rect">
            <a:avLst/>
          </a:prstGeom>
          <a:noFill/>
          <a:ln/>
        </p:spPr>
        <p:txBody>
          <a:bodyPr wrap="square" lIns="50800" tIns="50800" rIns="50800" bIns="50800" rtlCol="0" anchor="ctr"/>
          <a:lstStyle/>
          <a:p>
            <a:pPr marL="0" indent="0" algn="l">
              <a:buNone/>
            </a:pPr>
            <a:r>
              <a:rPr lang="en-US" sz="1050" dirty="0">
                <a:solidFill>
                  <a:srgbClr val="B8C8D8"/>
                </a:solidFill>
                <a:latin typeface="Gill Sans MT" pitchFamily="34" charset="0"/>
                <a:ea typeface="Gill Sans MT" pitchFamily="34" charset="-122"/>
                <a:cs typeface="Gill Sans MT" pitchFamily="34" charset="-120"/>
              </a:rPr>
              <a:t>Moderate — suggests direct AI → Economy route</a:t>
            </a:r>
            <a:endParaRPr lang="en-US" sz="1050" dirty="0"/>
          </a:p>
        </p:txBody>
      </p:sp>
      <p:sp>
        <p:nvSpPr>
          <p:cNvPr id="25" name="Shape 21"/>
          <p:cNvSpPr/>
          <p:nvPr/>
        </p:nvSpPr>
        <p:spPr>
          <a:xfrm>
            <a:off x="6492240" y="5175504"/>
            <a:ext cx="5486400" cy="841248"/>
          </a:xfrm>
          <a:prstGeom prst="roundRect">
            <a:avLst>
              <a:gd name="adj" fmla="val 15217"/>
            </a:avLst>
          </a:prstGeom>
          <a:solidFill>
            <a:srgbClr val="030C10">
              <a:alpha val="58000"/>
            </a:srgbClr>
          </a:solidFill>
          <a:ln w="7620">
            <a:solidFill>
              <a:srgbClr val="56D68A">
                <a:alpha val="5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6" name="Text 22"/>
          <p:cNvSpPr/>
          <p:nvPr/>
        </p:nvSpPr>
        <p:spPr>
          <a:xfrm>
            <a:off x="6656832" y="5230368"/>
            <a:ext cx="1463040" cy="329184"/>
          </a:xfrm>
          <a:prstGeom prst="rect">
            <a:avLst/>
          </a:prstGeom>
          <a:noFill/>
          <a:ln/>
        </p:spPr>
        <p:txBody>
          <a:bodyPr wrap="square" lIns="50800" tIns="50800" rIns="50800" bIns="50800" rtlCol="0" anchor="ctr"/>
          <a:lstStyle/>
          <a:p>
            <a:pPr marL="0" indent="0" algn="l">
              <a:buNone/>
            </a:pPr>
            <a:r>
              <a:rPr lang="en-US" sz="1300" b="1" dirty="0">
                <a:solidFill>
                  <a:srgbClr val="F0C040"/>
                </a:solidFill>
                <a:latin typeface="Gill Sans MT" pitchFamily="34" charset="0"/>
                <a:ea typeface="Gill Sans MT" pitchFamily="34" charset="-122"/>
                <a:cs typeface="Gill Sans MT" pitchFamily="34" charset="-120"/>
              </a:rPr>
              <a:t>η₁ ↔ η₂</a:t>
            </a:r>
            <a:endParaRPr lang="en-US" sz="1300" dirty="0"/>
          </a:p>
        </p:txBody>
      </p:sp>
      <p:sp>
        <p:nvSpPr>
          <p:cNvPr id="27" name="Text 23"/>
          <p:cNvSpPr/>
          <p:nvPr/>
        </p:nvSpPr>
        <p:spPr>
          <a:xfrm>
            <a:off x="8183880" y="5230368"/>
            <a:ext cx="1463040" cy="329184"/>
          </a:xfrm>
          <a:prstGeom prst="rect">
            <a:avLst/>
          </a:prstGeom>
          <a:noFill/>
          <a:ln/>
        </p:spPr>
        <p:txBody>
          <a:bodyPr wrap="square" lIns="50800" tIns="50800" rIns="50800" bIns="50800" rtlCol="0" anchor="ctr"/>
          <a:lstStyle/>
          <a:p>
            <a:pPr marL="0" indent="0" algn="l">
              <a:buNone/>
            </a:pPr>
            <a:r>
              <a:rPr lang="en-US" sz="1300" b="1" dirty="0">
                <a:solidFill>
                  <a:srgbClr val="56D68A"/>
                </a:solidFill>
                <a:latin typeface="Gill Sans MT" pitchFamily="34" charset="0"/>
                <a:ea typeface="Gill Sans MT" pitchFamily="34" charset="-122"/>
                <a:cs typeface="Gill Sans MT" pitchFamily="34" charset="-120"/>
              </a:rPr>
              <a:t>r = 0.562</a:t>
            </a:r>
            <a:endParaRPr lang="en-US" sz="1300" dirty="0"/>
          </a:p>
        </p:txBody>
      </p:sp>
      <p:sp>
        <p:nvSpPr>
          <p:cNvPr id="28" name="Text 24"/>
          <p:cNvSpPr/>
          <p:nvPr/>
        </p:nvSpPr>
        <p:spPr>
          <a:xfrm>
            <a:off x="6656832" y="5614416"/>
            <a:ext cx="4315968" cy="329184"/>
          </a:xfrm>
          <a:prstGeom prst="rect">
            <a:avLst/>
          </a:prstGeom>
          <a:noFill/>
          <a:ln/>
        </p:spPr>
        <p:txBody>
          <a:bodyPr wrap="square" lIns="50800" tIns="50800" rIns="50800" bIns="50800" rtlCol="0" anchor="ctr"/>
          <a:lstStyle/>
          <a:p>
            <a:pPr marL="0" indent="0" algn="l">
              <a:buNone/>
            </a:pPr>
            <a:r>
              <a:rPr lang="en-US" sz="1050" dirty="0">
                <a:solidFill>
                  <a:srgbClr val="B8C8D8"/>
                </a:solidFill>
                <a:latin typeface="Gill Sans MT" pitchFamily="34" charset="0"/>
                <a:ea typeface="Gill Sans MT" pitchFamily="34" charset="-122"/>
                <a:cs typeface="Gill Sans MT" pitchFamily="34" charset="-120"/>
              </a:rPr>
              <a:t>Moderate — partial, not full mediation signal</a:t>
            </a:r>
            <a:endParaRPr lang="en-US" sz="1050" dirty="0"/>
          </a:p>
        </p:txBody>
      </p:sp>
      <p:sp>
        <p:nvSpPr>
          <p:cNvPr id="29" name="Shape 25"/>
          <p:cNvSpPr/>
          <p:nvPr/>
        </p:nvSpPr>
        <p:spPr>
          <a:xfrm>
            <a:off x="6492240" y="6172200"/>
            <a:ext cx="5486400" cy="384048"/>
          </a:xfrm>
          <a:prstGeom prst="roundRect">
            <a:avLst>
              <a:gd name="adj" fmla="val 33333"/>
            </a:avLst>
          </a:prstGeom>
          <a:solidFill>
            <a:srgbClr val="030C10">
              <a:alpha val="52000"/>
            </a:srgbClr>
          </a:solidFill>
          <a:ln w="3810">
            <a:solidFill>
              <a:srgbClr val="B8C8D8">
                <a:alpha val="1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30" name="Text 26"/>
          <p:cNvSpPr/>
          <p:nvPr/>
        </p:nvSpPr>
        <p:spPr>
          <a:xfrm>
            <a:off x="6565392" y="6181344"/>
            <a:ext cx="5349240" cy="365760"/>
          </a:xfrm>
          <a:prstGeom prst="rect">
            <a:avLst/>
          </a:prstGeom>
          <a:noFill/>
          <a:ln/>
        </p:spPr>
        <p:txBody>
          <a:bodyPr wrap="square" lIns="50800" tIns="50800" rIns="50800" bIns="50800" rtlCol="0" anchor="ctr"/>
          <a:lstStyle/>
          <a:p>
            <a:pPr marL="0" indent="0" algn="l">
              <a:buNone/>
            </a:pPr>
            <a:r>
              <a:rPr lang="en-US" sz="900" i="1" dirty="0">
                <a:solidFill>
                  <a:srgbClr val="B8C8D8"/>
                </a:solidFill>
                <a:latin typeface="Gill Sans MT" pitchFamily="34" charset="0"/>
                <a:ea typeface="Gill Sans MT" pitchFamily="34" charset="-122"/>
                <a:cs typeface="Gill Sans MT" pitchFamily="34" charset="-120"/>
              </a:rPr>
              <a:t>All 6 pairwise correlations significant at p &lt; .001 (two-tailed). N = 164 listwise.</a:t>
            </a:r>
            <a:endParaRPr lang="en-US" sz="900" dirty="0"/>
          </a:p>
        </p:txBody>
      </p:sp>
      <p:sp>
        <p:nvSpPr>
          <p:cNvPr id="31" name="Text 27"/>
          <p:cNvSpPr/>
          <p:nvPr/>
        </p:nvSpPr>
        <p:spPr>
          <a:xfrm>
            <a:off x="11704320" y="6492240"/>
            <a:ext cx="365760" cy="274320"/>
          </a:xfrm>
          <a:prstGeom prst="rect">
            <a:avLst/>
          </a:prstGeom>
          <a:noFill/>
          <a:ln/>
        </p:spPr>
        <p:txBody>
          <a:bodyPr wrap="square" rtlCol="0" anchor="ctr"/>
          <a:lstStyle/>
          <a:p>
            <a:pPr marL="0" indent="0" algn="r">
              <a:buNone/>
            </a:pPr>
            <a:r>
              <a:rPr lang="en-US" sz="800" dirty="0">
                <a:solidFill>
                  <a:srgbClr val="B8C8D8"/>
                </a:solidFill>
                <a:latin typeface="Gill Sans MT" pitchFamily="34" charset="0"/>
                <a:ea typeface="Gill Sans MT" pitchFamily="34" charset="-122"/>
                <a:cs typeface="Gill Sans MT"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30480" y="137160"/>
            <a:ext cx="12161520" cy="6858000"/>
          </a:xfrm>
          <a:prstGeom prst="rect">
            <a:avLst/>
          </a:prstGeom>
        </p:spPr>
      </p:pic>
      <p:sp>
        <p:nvSpPr>
          <p:cNvPr id="3" name="Shape 0"/>
          <p:cNvSpPr/>
          <p:nvPr/>
        </p:nvSpPr>
        <p:spPr>
          <a:xfrm>
            <a:off x="0" y="0"/>
            <a:ext cx="12161520" cy="1188720"/>
          </a:xfrm>
          <a:prstGeom prst="roundRect">
            <a:avLst>
              <a:gd name="adj" fmla="val 9231"/>
            </a:avLst>
          </a:prstGeom>
          <a:solidFill>
            <a:srgbClr val="050810">
              <a:alpha val="48000"/>
            </a:srgbClr>
          </a:solidFill>
          <a:ln w="3810">
            <a:solidFill>
              <a:srgbClr val="FFFFFF">
                <a:alpha val="12000"/>
              </a:srgbClr>
            </a:solidFill>
            <a:prstDash val="solid"/>
          </a:ln>
          <a:effectLst>
            <a:outerShdw blurRad="152400" dist="50800" dir="2700000" algn="bl" rotWithShape="0">
              <a:srgbClr val="000000">
                <a:alpha val="50000"/>
              </a:srgbClr>
            </a:outerShdw>
          </a:effectLst>
        </p:spPr>
        <p:txBody>
          <a:bodyPr/>
          <a:lstStyle/>
          <a:p>
            <a:endParaRPr lang="en-GB"/>
          </a:p>
        </p:txBody>
      </p:sp>
      <p:sp>
        <p:nvSpPr>
          <p:cNvPr id="4" name="Shape 1"/>
          <p:cNvSpPr/>
          <p:nvPr/>
        </p:nvSpPr>
        <p:spPr>
          <a:xfrm>
            <a:off x="365760" y="137160"/>
            <a:ext cx="2194560" cy="292608"/>
          </a:xfrm>
          <a:prstGeom prst="roundRect">
            <a:avLst>
              <a:gd name="adj" fmla="val 18750"/>
            </a:avLst>
          </a:prstGeom>
          <a:solidFill>
            <a:srgbClr val="000000">
              <a:alpha val="50000"/>
            </a:srgbClr>
          </a:solidFill>
          <a:ln w="19050">
            <a:solidFill>
              <a:srgbClr val="C9A0E8"/>
            </a:solidFill>
            <a:prstDash val="solid"/>
          </a:ln>
        </p:spPr>
        <p:txBody>
          <a:bodyPr/>
          <a:lstStyle/>
          <a:p>
            <a:endParaRPr lang="en-GB"/>
          </a:p>
        </p:txBody>
      </p:sp>
      <p:sp>
        <p:nvSpPr>
          <p:cNvPr id="5" name="Text 2"/>
          <p:cNvSpPr/>
          <p:nvPr/>
        </p:nvSpPr>
        <p:spPr>
          <a:xfrm>
            <a:off x="365760" y="137160"/>
            <a:ext cx="2194560" cy="292608"/>
          </a:xfrm>
          <a:prstGeom prst="rect">
            <a:avLst/>
          </a:prstGeom>
          <a:noFill/>
          <a:ln/>
        </p:spPr>
        <p:txBody>
          <a:bodyPr wrap="square" rtlCol="0" anchor="ctr"/>
          <a:lstStyle/>
          <a:p>
            <a:pPr marL="0" indent="0" algn="ctr">
              <a:buNone/>
            </a:pPr>
            <a:r>
              <a:rPr lang="en-US" sz="850" b="1" kern="0" spc="200" dirty="0">
                <a:solidFill>
                  <a:srgbClr val="C9A0E8"/>
                </a:solidFill>
                <a:latin typeface="Gill Sans MT" pitchFamily="34" charset="0"/>
                <a:ea typeface="Gill Sans MT" pitchFamily="34" charset="-122"/>
                <a:cs typeface="Gill Sans MT" pitchFamily="34" charset="-120"/>
              </a:rPr>
              <a:t>RESULTS — MEASUREMENT MODEL</a:t>
            </a:r>
            <a:endParaRPr lang="en-US" sz="850" dirty="0"/>
          </a:p>
        </p:txBody>
      </p:sp>
      <p:sp>
        <p:nvSpPr>
          <p:cNvPr id="6" name="Text 3"/>
          <p:cNvSpPr/>
          <p:nvPr/>
        </p:nvSpPr>
        <p:spPr>
          <a:xfrm>
            <a:off x="365760" y="347472"/>
            <a:ext cx="11430000" cy="685800"/>
          </a:xfrm>
          <a:prstGeom prst="rect">
            <a:avLst/>
          </a:prstGeom>
          <a:noFill/>
          <a:ln/>
        </p:spPr>
        <p:txBody>
          <a:bodyPr wrap="square" lIns="50800" tIns="50800" rIns="50800" bIns="50800" rtlCol="0" anchor="ctr"/>
          <a:lstStyle/>
          <a:p>
            <a:pPr marL="0" indent="0" algn="l">
              <a:buNone/>
            </a:pPr>
            <a:r>
              <a:rPr lang="en-US" sz="2500" b="1" dirty="0">
                <a:solidFill>
                  <a:srgbClr val="FFFFFF"/>
                </a:solidFill>
                <a:latin typeface="Gill Sans MT" pitchFamily="34" charset="0"/>
                <a:ea typeface="Gill Sans MT" pitchFamily="34" charset="-122"/>
                <a:cs typeface="Gill Sans MT" pitchFamily="34" charset="-120"/>
              </a:rPr>
              <a:t>Measurement Model — Reliability &amp; Validity</a:t>
            </a:r>
            <a:endParaRPr lang="en-US" sz="2500" dirty="0"/>
          </a:p>
        </p:txBody>
      </p:sp>
      <p:sp>
        <p:nvSpPr>
          <p:cNvPr id="7" name="Shape 4"/>
          <p:cNvSpPr/>
          <p:nvPr/>
        </p:nvSpPr>
        <p:spPr>
          <a:xfrm>
            <a:off x="365760" y="1115568"/>
            <a:ext cx="11430000" cy="0"/>
          </a:xfrm>
          <a:prstGeom prst="line">
            <a:avLst/>
          </a:prstGeom>
          <a:noFill/>
          <a:ln w="19050">
            <a:solidFill>
              <a:srgbClr val="C9A0E8"/>
            </a:solidFill>
            <a:prstDash val="solid"/>
          </a:ln>
        </p:spPr>
        <p:txBody>
          <a:bodyPr/>
          <a:lstStyle/>
          <a:p>
            <a:endParaRPr lang="en-GB"/>
          </a:p>
        </p:txBody>
      </p:sp>
      <p:pic>
        <p:nvPicPr>
          <p:cNvPr id="8" name="Image 1" descr="preencoded.png"/>
          <p:cNvPicPr>
            <a:picLocks noChangeAspect="1"/>
          </p:cNvPicPr>
          <p:nvPr/>
        </p:nvPicPr>
        <p:blipFill>
          <a:blip r:embed="rId4"/>
          <a:stretch>
            <a:fillRect/>
          </a:stretch>
        </p:blipFill>
        <p:spPr>
          <a:xfrm>
            <a:off x="320040" y="1261872"/>
            <a:ext cx="7680960" cy="4114800"/>
          </a:xfrm>
          <a:prstGeom prst="rect">
            <a:avLst/>
          </a:prstGeom>
        </p:spPr>
      </p:pic>
      <p:sp>
        <p:nvSpPr>
          <p:cNvPr id="9" name="Shape 5"/>
          <p:cNvSpPr/>
          <p:nvPr/>
        </p:nvSpPr>
        <p:spPr>
          <a:xfrm>
            <a:off x="8183880" y="1298448"/>
            <a:ext cx="3749040" cy="1417320"/>
          </a:xfrm>
          <a:prstGeom prst="roundRect">
            <a:avLst>
              <a:gd name="adj" fmla="val 9032"/>
            </a:avLst>
          </a:prstGeom>
          <a:solidFill>
            <a:srgbClr val="100520">
              <a:alpha val="58000"/>
            </a:srgbClr>
          </a:solidFill>
          <a:ln w="10160">
            <a:solidFill>
              <a:srgbClr val="56D68A">
                <a:alpha val="6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0" name="Text 6"/>
          <p:cNvSpPr/>
          <p:nvPr/>
        </p:nvSpPr>
        <p:spPr>
          <a:xfrm>
            <a:off x="8321040" y="1371600"/>
            <a:ext cx="502920" cy="1261872"/>
          </a:xfrm>
          <a:prstGeom prst="rect">
            <a:avLst/>
          </a:prstGeom>
          <a:noFill/>
          <a:ln/>
        </p:spPr>
        <p:txBody>
          <a:bodyPr wrap="square" lIns="50800" tIns="50800" rIns="50800" bIns="50800" rtlCol="0" anchor="ctr"/>
          <a:lstStyle/>
          <a:p>
            <a:pPr marL="0" indent="0" algn="ctr">
              <a:buNone/>
            </a:pPr>
            <a:r>
              <a:rPr lang="en-US" sz="2200" b="1" dirty="0">
                <a:solidFill>
                  <a:srgbClr val="56D68A"/>
                </a:solidFill>
                <a:latin typeface="Gill Sans MT" pitchFamily="34" charset="0"/>
                <a:ea typeface="Gill Sans MT" pitchFamily="34" charset="-122"/>
                <a:cs typeface="Gill Sans MT" pitchFamily="34" charset="-120"/>
              </a:rPr>
              <a:t>✓</a:t>
            </a:r>
            <a:endParaRPr lang="en-US" sz="2200" dirty="0"/>
          </a:p>
        </p:txBody>
      </p:sp>
      <p:sp>
        <p:nvSpPr>
          <p:cNvPr id="11" name="Shape 7"/>
          <p:cNvSpPr/>
          <p:nvPr/>
        </p:nvSpPr>
        <p:spPr>
          <a:xfrm>
            <a:off x="8869680" y="1389888"/>
            <a:ext cx="0" cy="1234440"/>
          </a:xfrm>
          <a:prstGeom prst="line">
            <a:avLst/>
          </a:prstGeom>
          <a:noFill/>
          <a:ln w="10160">
            <a:solidFill>
              <a:srgbClr val="56D68A">
                <a:alpha val="40000"/>
              </a:srgbClr>
            </a:solidFill>
            <a:prstDash val="solid"/>
          </a:ln>
        </p:spPr>
        <p:txBody>
          <a:bodyPr/>
          <a:lstStyle/>
          <a:p>
            <a:endParaRPr lang="en-GB"/>
          </a:p>
        </p:txBody>
      </p:sp>
      <p:sp>
        <p:nvSpPr>
          <p:cNvPr id="12" name="Text 8"/>
          <p:cNvSpPr/>
          <p:nvPr/>
        </p:nvSpPr>
        <p:spPr>
          <a:xfrm>
            <a:off x="8979408" y="1389888"/>
            <a:ext cx="2834640" cy="365760"/>
          </a:xfrm>
          <a:prstGeom prst="rect">
            <a:avLst/>
          </a:prstGeom>
          <a:noFill/>
          <a:ln/>
        </p:spPr>
        <p:txBody>
          <a:bodyPr wrap="square" lIns="50800" tIns="50800" rIns="50800" bIns="50800" rtlCol="0" anchor="ctr"/>
          <a:lstStyle/>
          <a:p>
            <a:pPr marL="0" indent="0" algn="l">
              <a:buNone/>
            </a:pPr>
            <a:r>
              <a:rPr lang="en-US" sz="1100" b="1" dirty="0">
                <a:solidFill>
                  <a:srgbClr val="FFFFFF"/>
                </a:solidFill>
                <a:latin typeface="Gill Sans MT" pitchFamily="34" charset="0"/>
                <a:ea typeface="Gill Sans MT" pitchFamily="34" charset="-122"/>
                <a:cs typeface="Gill Sans MT" pitchFamily="34" charset="-120"/>
              </a:rPr>
              <a:t>Internal Consistency</a:t>
            </a:r>
            <a:endParaRPr lang="en-US" sz="1100" dirty="0"/>
          </a:p>
        </p:txBody>
      </p:sp>
      <p:sp>
        <p:nvSpPr>
          <p:cNvPr id="13" name="Text 9"/>
          <p:cNvSpPr/>
          <p:nvPr/>
        </p:nvSpPr>
        <p:spPr>
          <a:xfrm>
            <a:off x="8979408" y="1773936"/>
            <a:ext cx="2834640" cy="365760"/>
          </a:xfrm>
          <a:prstGeom prst="rect">
            <a:avLst/>
          </a:prstGeom>
          <a:noFill/>
          <a:ln/>
        </p:spPr>
        <p:txBody>
          <a:bodyPr wrap="square" lIns="50800" tIns="50800" rIns="50800" bIns="50800" rtlCol="0" anchor="ctr"/>
          <a:lstStyle/>
          <a:p>
            <a:pPr marL="0" indent="0" algn="l">
              <a:buNone/>
            </a:pPr>
            <a:r>
              <a:rPr lang="en-US" sz="1400" b="1" dirty="0">
                <a:solidFill>
                  <a:srgbClr val="56D68A"/>
                </a:solidFill>
                <a:latin typeface="Gill Sans MT" pitchFamily="34" charset="0"/>
                <a:ea typeface="Gill Sans MT" pitchFamily="34" charset="-122"/>
                <a:cs typeface="Gill Sans MT" pitchFamily="34" charset="-120"/>
              </a:rPr>
              <a:t>All α ≥ 0.819</a:t>
            </a:r>
            <a:endParaRPr lang="en-US" sz="1400" dirty="0"/>
          </a:p>
        </p:txBody>
      </p:sp>
      <p:sp>
        <p:nvSpPr>
          <p:cNvPr id="14" name="Text 10"/>
          <p:cNvSpPr/>
          <p:nvPr/>
        </p:nvSpPr>
        <p:spPr>
          <a:xfrm>
            <a:off x="8979408" y="2157984"/>
            <a:ext cx="2834640" cy="411480"/>
          </a:xfrm>
          <a:prstGeom prst="rect">
            <a:avLst/>
          </a:prstGeom>
          <a:noFill/>
          <a:ln/>
        </p:spPr>
        <p:txBody>
          <a:bodyPr wrap="square" lIns="50800" tIns="50800" rIns="50800" bIns="50800" rtlCol="0" anchor="ctr"/>
          <a:lstStyle/>
          <a:p>
            <a:pPr marL="0" indent="0" algn="l">
              <a:buNone/>
            </a:pPr>
            <a:r>
              <a:rPr lang="en-US" sz="1050" dirty="0">
                <a:solidFill>
                  <a:srgbClr val="B8C8D8"/>
                </a:solidFill>
                <a:latin typeface="Gill Sans MT" pitchFamily="34" charset="0"/>
                <a:ea typeface="Gill Sans MT" pitchFamily="34" charset="-122"/>
                <a:cs typeface="Gill Sans MT" pitchFamily="34" charset="-120"/>
              </a:rPr>
              <a:t>ξ₂ = 0.982 (exceptional)</a:t>
            </a:r>
            <a:endParaRPr lang="en-US" sz="1050" dirty="0"/>
          </a:p>
        </p:txBody>
      </p:sp>
      <p:sp>
        <p:nvSpPr>
          <p:cNvPr id="15" name="Shape 11"/>
          <p:cNvSpPr/>
          <p:nvPr/>
        </p:nvSpPr>
        <p:spPr>
          <a:xfrm>
            <a:off x="8183880" y="2871216"/>
            <a:ext cx="3749040" cy="1417320"/>
          </a:xfrm>
          <a:prstGeom prst="roundRect">
            <a:avLst>
              <a:gd name="adj" fmla="val 9032"/>
            </a:avLst>
          </a:prstGeom>
          <a:solidFill>
            <a:srgbClr val="100520">
              <a:alpha val="58000"/>
            </a:srgbClr>
          </a:solidFill>
          <a:ln w="10160">
            <a:solidFill>
              <a:srgbClr val="F0C040">
                <a:alpha val="6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6" name="Text 12"/>
          <p:cNvSpPr/>
          <p:nvPr/>
        </p:nvSpPr>
        <p:spPr>
          <a:xfrm>
            <a:off x="8321040" y="2944368"/>
            <a:ext cx="502920" cy="1261872"/>
          </a:xfrm>
          <a:prstGeom prst="rect">
            <a:avLst/>
          </a:prstGeom>
          <a:noFill/>
          <a:ln/>
        </p:spPr>
        <p:txBody>
          <a:bodyPr wrap="square" lIns="50800" tIns="50800" rIns="50800" bIns="50800" rtlCol="0" anchor="ctr"/>
          <a:lstStyle/>
          <a:p>
            <a:pPr marL="0" indent="0" algn="ctr">
              <a:buNone/>
            </a:pPr>
            <a:r>
              <a:rPr lang="en-US" sz="2200" b="1" dirty="0">
                <a:solidFill>
                  <a:srgbClr val="F0C040"/>
                </a:solidFill>
                <a:latin typeface="Gill Sans MT" pitchFamily="34" charset="0"/>
                <a:ea typeface="Gill Sans MT" pitchFamily="34" charset="-122"/>
                <a:cs typeface="Gill Sans MT" pitchFamily="34" charset="-120"/>
              </a:rPr>
              <a:t>✓</a:t>
            </a:r>
            <a:endParaRPr lang="en-US" sz="2200" dirty="0"/>
          </a:p>
        </p:txBody>
      </p:sp>
      <p:sp>
        <p:nvSpPr>
          <p:cNvPr id="17" name="Shape 13"/>
          <p:cNvSpPr/>
          <p:nvPr/>
        </p:nvSpPr>
        <p:spPr>
          <a:xfrm>
            <a:off x="8869680" y="2962656"/>
            <a:ext cx="0" cy="1234440"/>
          </a:xfrm>
          <a:prstGeom prst="line">
            <a:avLst/>
          </a:prstGeom>
          <a:noFill/>
          <a:ln w="10160">
            <a:solidFill>
              <a:srgbClr val="F0C040">
                <a:alpha val="40000"/>
              </a:srgbClr>
            </a:solidFill>
            <a:prstDash val="solid"/>
          </a:ln>
        </p:spPr>
        <p:txBody>
          <a:bodyPr/>
          <a:lstStyle/>
          <a:p>
            <a:endParaRPr lang="en-GB"/>
          </a:p>
        </p:txBody>
      </p:sp>
      <p:sp>
        <p:nvSpPr>
          <p:cNvPr id="18" name="Text 14"/>
          <p:cNvSpPr/>
          <p:nvPr/>
        </p:nvSpPr>
        <p:spPr>
          <a:xfrm>
            <a:off x="8979408" y="2962656"/>
            <a:ext cx="2834640" cy="365760"/>
          </a:xfrm>
          <a:prstGeom prst="rect">
            <a:avLst/>
          </a:prstGeom>
          <a:noFill/>
          <a:ln/>
        </p:spPr>
        <p:txBody>
          <a:bodyPr wrap="square" lIns="50800" tIns="50800" rIns="50800" bIns="50800" rtlCol="0" anchor="ctr"/>
          <a:lstStyle/>
          <a:p>
            <a:pPr marL="0" indent="0" algn="l">
              <a:buNone/>
            </a:pPr>
            <a:r>
              <a:rPr lang="en-US" sz="1100" b="1" dirty="0">
                <a:solidFill>
                  <a:srgbClr val="FFFFFF"/>
                </a:solidFill>
                <a:latin typeface="Gill Sans MT" pitchFamily="34" charset="0"/>
                <a:ea typeface="Gill Sans MT" pitchFamily="34" charset="-122"/>
                <a:cs typeface="Gill Sans MT" pitchFamily="34" charset="-120"/>
              </a:rPr>
              <a:t>Convergent Validity</a:t>
            </a:r>
            <a:endParaRPr lang="en-US" sz="1100" dirty="0"/>
          </a:p>
        </p:txBody>
      </p:sp>
      <p:sp>
        <p:nvSpPr>
          <p:cNvPr id="19" name="Text 15"/>
          <p:cNvSpPr/>
          <p:nvPr/>
        </p:nvSpPr>
        <p:spPr>
          <a:xfrm>
            <a:off x="8979408" y="3346704"/>
            <a:ext cx="2834640" cy="365760"/>
          </a:xfrm>
          <a:prstGeom prst="rect">
            <a:avLst/>
          </a:prstGeom>
          <a:noFill/>
          <a:ln/>
        </p:spPr>
        <p:txBody>
          <a:bodyPr wrap="square" lIns="50800" tIns="50800" rIns="50800" bIns="50800" rtlCol="0" anchor="ctr"/>
          <a:lstStyle/>
          <a:p>
            <a:pPr marL="0" indent="0" algn="l">
              <a:buNone/>
            </a:pPr>
            <a:r>
              <a:rPr lang="en-US" sz="1400" b="1" dirty="0">
                <a:solidFill>
                  <a:srgbClr val="F0C040"/>
                </a:solidFill>
                <a:latin typeface="Gill Sans MT" pitchFamily="34" charset="0"/>
                <a:ea typeface="Gill Sans MT" pitchFamily="34" charset="-122"/>
                <a:cs typeface="Gill Sans MT" pitchFamily="34" charset="-120"/>
              </a:rPr>
              <a:t>All AVE (Average Variance Extracted) ≥ 0.501</a:t>
            </a:r>
            <a:endParaRPr lang="en-US" sz="1400" dirty="0"/>
          </a:p>
        </p:txBody>
      </p:sp>
      <p:sp>
        <p:nvSpPr>
          <p:cNvPr id="20" name="Text 16"/>
          <p:cNvSpPr/>
          <p:nvPr/>
        </p:nvSpPr>
        <p:spPr>
          <a:xfrm>
            <a:off x="8979408" y="3730752"/>
            <a:ext cx="2834640" cy="411480"/>
          </a:xfrm>
          <a:prstGeom prst="rect">
            <a:avLst/>
          </a:prstGeom>
          <a:noFill/>
          <a:ln/>
        </p:spPr>
        <p:txBody>
          <a:bodyPr wrap="square" lIns="50800" tIns="50800" rIns="50800" bIns="50800" rtlCol="0" anchor="ctr"/>
          <a:lstStyle/>
          <a:p>
            <a:pPr marL="0" indent="0" algn="l">
              <a:buNone/>
            </a:pPr>
            <a:r>
              <a:rPr lang="en-US" sz="1050" dirty="0">
                <a:solidFill>
                  <a:srgbClr val="B8C8D8"/>
                </a:solidFill>
                <a:latin typeface="Gill Sans MT" pitchFamily="34" charset="0"/>
                <a:ea typeface="Gill Sans MT" pitchFamily="34" charset="-122"/>
                <a:cs typeface="Gill Sans MT" pitchFamily="34" charset="-120"/>
              </a:rPr>
              <a:t>η₂ borderline — passes threshold</a:t>
            </a:r>
            <a:endParaRPr lang="en-US" sz="1050" dirty="0"/>
          </a:p>
        </p:txBody>
      </p:sp>
      <p:sp>
        <p:nvSpPr>
          <p:cNvPr id="21" name="Shape 17"/>
          <p:cNvSpPr/>
          <p:nvPr/>
        </p:nvSpPr>
        <p:spPr>
          <a:xfrm>
            <a:off x="8183880" y="4443984"/>
            <a:ext cx="3749040" cy="1417320"/>
          </a:xfrm>
          <a:prstGeom prst="roundRect">
            <a:avLst>
              <a:gd name="adj" fmla="val 9032"/>
            </a:avLst>
          </a:prstGeom>
          <a:solidFill>
            <a:srgbClr val="100520">
              <a:alpha val="58000"/>
            </a:srgbClr>
          </a:solidFill>
          <a:ln w="10160">
            <a:solidFill>
              <a:srgbClr val="4ECDC4">
                <a:alpha val="6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2" name="Text 18"/>
          <p:cNvSpPr/>
          <p:nvPr/>
        </p:nvSpPr>
        <p:spPr>
          <a:xfrm>
            <a:off x="8321040" y="4517136"/>
            <a:ext cx="502920" cy="1261872"/>
          </a:xfrm>
          <a:prstGeom prst="rect">
            <a:avLst/>
          </a:prstGeom>
          <a:noFill/>
          <a:ln/>
        </p:spPr>
        <p:txBody>
          <a:bodyPr wrap="square" lIns="50800" tIns="50800" rIns="50800" bIns="50800" rtlCol="0" anchor="ctr"/>
          <a:lstStyle/>
          <a:p>
            <a:pPr marL="0" indent="0" algn="ctr">
              <a:buNone/>
            </a:pPr>
            <a:r>
              <a:rPr lang="en-US" sz="2200" b="1" dirty="0">
                <a:solidFill>
                  <a:srgbClr val="4ECDC4"/>
                </a:solidFill>
                <a:latin typeface="Gill Sans MT" pitchFamily="34" charset="0"/>
                <a:ea typeface="Gill Sans MT" pitchFamily="34" charset="-122"/>
                <a:cs typeface="Gill Sans MT" pitchFamily="34" charset="-120"/>
              </a:rPr>
              <a:t>✓</a:t>
            </a:r>
            <a:endParaRPr lang="en-US" sz="2200" dirty="0"/>
          </a:p>
        </p:txBody>
      </p:sp>
      <p:sp>
        <p:nvSpPr>
          <p:cNvPr id="23" name="Shape 19"/>
          <p:cNvSpPr/>
          <p:nvPr/>
        </p:nvSpPr>
        <p:spPr>
          <a:xfrm>
            <a:off x="8869680" y="4535424"/>
            <a:ext cx="0" cy="1234440"/>
          </a:xfrm>
          <a:prstGeom prst="line">
            <a:avLst/>
          </a:prstGeom>
          <a:noFill/>
          <a:ln w="10160">
            <a:solidFill>
              <a:srgbClr val="4ECDC4">
                <a:alpha val="40000"/>
              </a:srgbClr>
            </a:solidFill>
            <a:prstDash val="solid"/>
          </a:ln>
        </p:spPr>
        <p:txBody>
          <a:bodyPr/>
          <a:lstStyle/>
          <a:p>
            <a:endParaRPr lang="en-GB"/>
          </a:p>
        </p:txBody>
      </p:sp>
      <p:sp>
        <p:nvSpPr>
          <p:cNvPr id="24" name="Text 20"/>
          <p:cNvSpPr/>
          <p:nvPr/>
        </p:nvSpPr>
        <p:spPr>
          <a:xfrm>
            <a:off x="8979408" y="4535424"/>
            <a:ext cx="2834640" cy="365760"/>
          </a:xfrm>
          <a:prstGeom prst="rect">
            <a:avLst/>
          </a:prstGeom>
          <a:noFill/>
          <a:ln/>
        </p:spPr>
        <p:txBody>
          <a:bodyPr wrap="square" lIns="50800" tIns="50800" rIns="50800" bIns="50800" rtlCol="0" anchor="ctr"/>
          <a:lstStyle/>
          <a:p>
            <a:pPr marL="0" indent="0" algn="l">
              <a:buNone/>
            </a:pPr>
            <a:r>
              <a:rPr lang="en-US" sz="1100" b="1" dirty="0">
                <a:solidFill>
                  <a:srgbClr val="FFFFFF"/>
                </a:solidFill>
                <a:latin typeface="Gill Sans MT" pitchFamily="34" charset="0"/>
                <a:ea typeface="Gill Sans MT" pitchFamily="34" charset="-122"/>
                <a:cs typeface="Gill Sans MT" pitchFamily="34" charset="-120"/>
              </a:rPr>
              <a:t>Discriminant Validity</a:t>
            </a:r>
            <a:endParaRPr lang="en-US" sz="1100" dirty="0"/>
          </a:p>
        </p:txBody>
      </p:sp>
      <p:sp>
        <p:nvSpPr>
          <p:cNvPr id="25" name="Text 21"/>
          <p:cNvSpPr/>
          <p:nvPr/>
        </p:nvSpPr>
        <p:spPr>
          <a:xfrm>
            <a:off x="8979408" y="4919472"/>
            <a:ext cx="2834640" cy="365760"/>
          </a:xfrm>
          <a:prstGeom prst="rect">
            <a:avLst/>
          </a:prstGeom>
          <a:noFill/>
          <a:ln/>
        </p:spPr>
        <p:txBody>
          <a:bodyPr wrap="square" lIns="50800" tIns="50800" rIns="50800" bIns="50800" rtlCol="0" anchor="ctr"/>
          <a:lstStyle/>
          <a:p>
            <a:pPr marL="0" indent="0" algn="l">
              <a:buNone/>
            </a:pPr>
            <a:r>
              <a:rPr lang="en-US" sz="1400" b="1" dirty="0">
                <a:solidFill>
                  <a:srgbClr val="4ECDC4"/>
                </a:solidFill>
                <a:latin typeface="Gill Sans MT" pitchFamily="34" charset="0"/>
                <a:ea typeface="Gill Sans MT" pitchFamily="34" charset="-122"/>
                <a:cs typeface="Gill Sans MT" pitchFamily="34" charset="-120"/>
              </a:rPr>
              <a:t>√AVE &gt; all r</a:t>
            </a:r>
            <a:endParaRPr lang="en-US" sz="1400" dirty="0"/>
          </a:p>
        </p:txBody>
      </p:sp>
      <p:sp>
        <p:nvSpPr>
          <p:cNvPr id="26" name="Text 22"/>
          <p:cNvSpPr/>
          <p:nvPr/>
        </p:nvSpPr>
        <p:spPr>
          <a:xfrm>
            <a:off x="8979408" y="5303520"/>
            <a:ext cx="2834640" cy="411480"/>
          </a:xfrm>
          <a:prstGeom prst="rect">
            <a:avLst/>
          </a:prstGeom>
          <a:noFill/>
          <a:ln/>
        </p:spPr>
        <p:txBody>
          <a:bodyPr wrap="square" lIns="50800" tIns="50800" rIns="50800" bIns="50800" rtlCol="0" anchor="ctr"/>
          <a:lstStyle/>
          <a:p>
            <a:pPr marL="0" indent="0" algn="l">
              <a:buNone/>
            </a:pPr>
            <a:r>
              <a:rPr lang="en-US" sz="1050" dirty="0">
                <a:solidFill>
                  <a:srgbClr val="B8C8D8"/>
                </a:solidFill>
                <a:latin typeface="Gill Sans MT" pitchFamily="34" charset="0"/>
                <a:ea typeface="Gill Sans MT" pitchFamily="34" charset="-122"/>
                <a:cs typeface="Gill Sans MT" pitchFamily="34" charset="-120"/>
              </a:rPr>
              <a:t>Fornell-Larcker fully satisfied</a:t>
            </a:r>
            <a:endParaRPr lang="en-US" sz="1050" dirty="0"/>
          </a:p>
        </p:txBody>
      </p:sp>
      <p:sp>
        <p:nvSpPr>
          <p:cNvPr id="27" name="Shape 23"/>
          <p:cNvSpPr/>
          <p:nvPr/>
        </p:nvSpPr>
        <p:spPr>
          <a:xfrm>
            <a:off x="292608" y="6106513"/>
            <a:ext cx="11521440" cy="475488"/>
          </a:xfrm>
          <a:prstGeom prst="roundRect">
            <a:avLst>
              <a:gd name="adj" fmla="val 26923"/>
            </a:avLst>
          </a:prstGeom>
          <a:solidFill>
            <a:srgbClr val="100520">
              <a:alpha val="58000"/>
            </a:srgbClr>
          </a:solidFill>
          <a:ln w="10160">
            <a:solidFill>
              <a:srgbClr val="C9A0E8">
                <a:alpha val="6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8" name="Text 24"/>
          <p:cNvSpPr/>
          <p:nvPr/>
        </p:nvSpPr>
        <p:spPr>
          <a:xfrm>
            <a:off x="320040" y="6093264"/>
            <a:ext cx="11247120" cy="457200"/>
          </a:xfrm>
          <a:prstGeom prst="rect">
            <a:avLst/>
          </a:prstGeom>
          <a:noFill/>
          <a:ln/>
        </p:spPr>
        <p:txBody>
          <a:bodyPr wrap="square" lIns="50800" tIns="50800" rIns="50800" bIns="50800" rtlCol="0" anchor="ctr"/>
          <a:lstStyle/>
          <a:p>
            <a:pPr marL="0" indent="0" algn="ctr">
              <a:buNone/>
            </a:pPr>
            <a:r>
              <a:rPr lang="en-US" sz="1300" b="1" dirty="0">
                <a:solidFill>
                  <a:srgbClr val="C9A0E8"/>
                </a:solidFill>
                <a:latin typeface="Gill Sans MT" pitchFamily="34" charset="0"/>
                <a:ea typeface="Gill Sans MT" pitchFamily="34" charset="-122"/>
                <a:cs typeface="Gill Sans MT" pitchFamily="34" charset="-120"/>
              </a:rPr>
              <a:t>Measurement validity confirmed across all four constructs — structural estimation proceeds.</a:t>
            </a:r>
            <a:endParaRPr lang="en-US" sz="1300" dirty="0"/>
          </a:p>
        </p:txBody>
      </p:sp>
      <p:sp>
        <p:nvSpPr>
          <p:cNvPr id="29" name="Text 25"/>
          <p:cNvSpPr/>
          <p:nvPr/>
        </p:nvSpPr>
        <p:spPr>
          <a:xfrm>
            <a:off x="11704320" y="6492240"/>
            <a:ext cx="365760" cy="274320"/>
          </a:xfrm>
          <a:prstGeom prst="rect">
            <a:avLst/>
          </a:prstGeom>
          <a:noFill/>
          <a:ln/>
        </p:spPr>
        <p:txBody>
          <a:bodyPr wrap="square" rtlCol="0" anchor="ctr"/>
          <a:lstStyle/>
          <a:p>
            <a:pPr marL="0" indent="0" algn="r">
              <a:buNone/>
            </a:pPr>
            <a:r>
              <a:rPr lang="en-US" sz="800" dirty="0">
                <a:solidFill>
                  <a:srgbClr val="B8C8D8"/>
                </a:solidFill>
                <a:latin typeface="Gill Sans MT" pitchFamily="34" charset="0"/>
                <a:ea typeface="Gill Sans MT" pitchFamily="34" charset="-122"/>
                <a:cs typeface="Gill Sans MT"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61520" cy="6858000"/>
          </a:xfrm>
          <a:prstGeom prst="rect">
            <a:avLst/>
          </a:prstGeom>
        </p:spPr>
      </p:pic>
      <p:sp>
        <p:nvSpPr>
          <p:cNvPr id="3" name="Shape 0"/>
          <p:cNvSpPr/>
          <p:nvPr/>
        </p:nvSpPr>
        <p:spPr>
          <a:xfrm>
            <a:off x="0" y="0"/>
            <a:ext cx="12161520" cy="1188720"/>
          </a:xfrm>
          <a:prstGeom prst="roundRect">
            <a:avLst>
              <a:gd name="adj" fmla="val 9231"/>
            </a:avLst>
          </a:prstGeom>
          <a:solidFill>
            <a:srgbClr val="050810">
              <a:alpha val="48000"/>
            </a:srgbClr>
          </a:solidFill>
          <a:ln w="3810">
            <a:solidFill>
              <a:srgbClr val="FFFFFF">
                <a:alpha val="12000"/>
              </a:srgbClr>
            </a:solidFill>
            <a:prstDash val="solid"/>
          </a:ln>
          <a:effectLst>
            <a:outerShdw blurRad="152400" dist="50800" dir="2700000" algn="bl" rotWithShape="0">
              <a:srgbClr val="000000">
                <a:alpha val="50000"/>
              </a:srgbClr>
            </a:outerShdw>
          </a:effectLst>
        </p:spPr>
        <p:txBody>
          <a:bodyPr/>
          <a:lstStyle/>
          <a:p>
            <a:endParaRPr lang="en-GB"/>
          </a:p>
        </p:txBody>
      </p:sp>
      <p:sp>
        <p:nvSpPr>
          <p:cNvPr id="4" name="Shape 1"/>
          <p:cNvSpPr/>
          <p:nvPr/>
        </p:nvSpPr>
        <p:spPr>
          <a:xfrm>
            <a:off x="365760" y="137160"/>
            <a:ext cx="2194560" cy="292608"/>
          </a:xfrm>
          <a:prstGeom prst="roundRect">
            <a:avLst>
              <a:gd name="adj" fmla="val 18750"/>
            </a:avLst>
          </a:prstGeom>
          <a:solidFill>
            <a:srgbClr val="000000">
              <a:alpha val="50000"/>
            </a:srgbClr>
          </a:solidFill>
          <a:ln w="19050">
            <a:solidFill>
              <a:srgbClr val="F0C040"/>
            </a:solidFill>
            <a:prstDash val="solid"/>
          </a:ln>
        </p:spPr>
        <p:txBody>
          <a:bodyPr/>
          <a:lstStyle/>
          <a:p>
            <a:endParaRPr lang="en-GB"/>
          </a:p>
        </p:txBody>
      </p:sp>
      <p:sp>
        <p:nvSpPr>
          <p:cNvPr id="5" name="Text 2"/>
          <p:cNvSpPr/>
          <p:nvPr/>
        </p:nvSpPr>
        <p:spPr>
          <a:xfrm>
            <a:off x="365760" y="137160"/>
            <a:ext cx="2194560" cy="292608"/>
          </a:xfrm>
          <a:prstGeom prst="rect">
            <a:avLst/>
          </a:prstGeom>
          <a:noFill/>
          <a:ln/>
        </p:spPr>
        <p:txBody>
          <a:bodyPr wrap="square" rtlCol="0" anchor="ctr"/>
          <a:lstStyle/>
          <a:p>
            <a:pPr marL="0" indent="0" algn="ctr">
              <a:buNone/>
            </a:pPr>
            <a:r>
              <a:rPr lang="en-US" sz="850" b="1" kern="0" spc="200" dirty="0">
                <a:solidFill>
                  <a:srgbClr val="F0C040"/>
                </a:solidFill>
                <a:latin typeface="Gill Sans MT" pitchFamily="34" charset="0"/>
                <a:ea typeface="Gill Sans MT" pitchFamily="34" charset="-122"/>
                <a:cs typeface="Gill Sans MT" pitchFamily="34" charset="-120"/>
              </a:rPr>
              <a:t>FINDINGS SUMMARY</a:t>
            </a:r>
            <a:endParaRPr lang="en-US" sz="850" dirty="0"/>
          </a:p>
        </p:txBody>
      </p:sp>
      <p:sp>
        <p:nvSpPr>
          <p:cNvPr id="6" name="Text 3"/>
          <p:cNvSpPr/>
          <p:nvPr/>
        </p:nvSpPr>
        <p:spPr>
          <a:xfrm>
            <a:off x="365760" y="347472"/>
            <a:ext cx="10972800" cy="685800"/>
          </a:xfrm>
          <a:prstGeom prst="rect">
            <a:avLst/>
          </a:prstGeom>
          <a:noFill/>
          <a:ln/>
        </p:spPr>
        <p:txBody>
          <a:bodyPr wrap="square" lIns="50800" tIns="50800" rIns="50800" bIns="50800" rtlCol="0" anchor="ctr"/>
          <a:lstStyle/>
          <a:p>
            <a:pPr marL="0" indent="0" algn="l">
              <a:buNone/>
            </a:pPr>
            <a:r>
              <a:rPr lang="en-US" sz="2700" b="1" dirty="0">
                <a:solidFill>
                  <a:srgbClr val="FFFFFF"/>
                </a:solidFill>
                <a:latin typeface="Gill Sans MT" pitchFamily="34" charset="0"/>
                <a:ea typeface="Gill Sans MT" pitchFamily="34" charset="-122"/>
                <a:cs typeface="Gill Sans MT" pitchFamily="34" charset="-120"/>
              </a:rPr>
              <a:t>Hypothesis Outcomes at a Glance</a:t>
            </a:r>
            <a:endParaRPr lang="en-US" sz="2700" dirty="0"/>
          </a:p>
        </p:txBody>
      </p:sp>
      <p:sp>
        <p:nvSpPr>
          <p:cNvPr id="7" name="Shape 4"/>
          <p:cNvSpPr/>
          <p:nvPr/>
        </p:nvSpPr>
        <p:spPr>
          <a:xfrm>
            <a:off x="365760" y="1115568"/>
            <a:ext cx="11430000" cy="0"/>
          </a:xfrm>
          <a:prstGeom prst="line">
            <a:avLst/>
          </a:prstGeom>
          <a:noFill/>
          <a:ln w="19050">
            <a:solidFill>
              <a:srgbClr val="F0C040"/>
            </a:solidFill>
            <a:prstDash val="solid"/>
          </a:ln>
        </p:spPr>
        <p:txBody>
          <a:bodyPr/>
          <a:lstStyle/>
          <a:p>
            <a:endParaRPr lang="en-GB"/>
          </a:p>
        </p:txBody>
      </p:sp>
      <p:pic>
        <p:nvPicPr>
          <p:cNvPr id="8" name="Image 1" descr="preencoded.png"/>
          <p:cNvPicPr>
            <a:picLocks noChangeAspect="1"/>
          </p:cNvPicPr>
          <p:nvPr/>
        </p:nvPicPr>
        <p:blipFill>
          <a:blip r:embed="rId4"/>
          <a:stretch>
            <a:fillRect/>
          </a:stretch>
        </p:blipFill>
        <p:spPr>
          <a:xfrm>
            <a:off x="320040" y="1261872"/>
            <a:ext cx="8046720" cy="4846320"/>
          </a:xfrm>
          <a:prstGeom prst="rect">
            <a:avLst/>
          </a:prstGeom>
        </p:spPr>
      </p:pic>
      <p:sp>
        <p:nvSpPr>
          <p:cNvPr id="9" name="Shape 5"/>
          <p:cNvSpPr/>
          <p:nvPr/>
        </p:nvSpPr>
        <p:spPr>
          <a:xfrm>
            <a:off x="8503920" y="1298448"/>
            <a:ext cx="3474720" cy="868680"/>
          </a:xfrm>
          <a:prstGeom prst="roundRect">
            <a:avLst>
              <a:gd name="adj" fmla="val 14737"/>
            </a:avLst>
          </a:prstGeom>
          <a:solidFill>
            <a:srgbClr val="040808">
              <a:alpha val="60000"/>
            </a:srgbClr>
          </a:solidFill>
          <a:ln w="8890">
            <a:solidFill>
              <a:srgbClr val="56D68A">
                <a:alpha val="6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0" name="Shape 6"/>
          <p:cNvSpPr/>
          <p:nvPr/>
        </p:nvSpPr>
        <p:spPr>
          <a:xfrm>
            <a:off x="8503920" y="1298448"/>
            <a:ext cx="0" cy="868680"/>
          </a:xfrm>
          <a:prstGeom prst="line">
            <a:avLst/>
          </a:prstGeom>
          <a:noFill/>
          <a:ln w="44450">
            <a:solidFill>
              <a:srgbClr val="56D68A"/>
            </a:solidFill>
            <a:prstDash val="solid"/>
          </a:ln>
        </p:spPr>
        <p:txBody>
          <a:bodyPr/>
          <a:lstStyle/>
          <a:p>
            <a:endParaRPr lang="en-GB"/>
          </a:p>
        </p:txBody>
      </p:sp>
      <p:sp>
        <p:nvSpPr>
          <p:cNvPr id="11" name="Text 7"/>
          <p:cNvSpPr/>
          <p:nvPr/>
        </p:nvSpPr>
        <p:spPr>
          <a:xfrm>
            <a:off x="8705088" y="1362456"/>
            <a:ext cx="777240" cy="347472"/>
          </a:xfrm>
          <a:prstGeom prst="rect">
            <a:avLst/>
          </a:prstGeom>
          <a:noFill/>
          <a:ln/>
        </p:spPr>
        <p:txBody>
          <a:bodyPr wrap="square" lIns="50800" tIns="50800" rIns="50800" bIns="50800" rtlCol="0" anchor="ctr"/>
          <a:lstStyle/>
          <a:p>
            <a:pPr marL="0" indent="0" algn="l">
              <a:buNone/>
            </a:pPr>
            <a:r>
              <a:rPr lang="en-US" sz="1300" b="1" dirty="0">
                <a:solidFill>
                  <a:srgbClr val="56D68A"/>
                </a:solidFill>
                <a:latin typeface="Gill Sans MT" pitchFamily="34" charset="0"/>
                <a:ea typeface="Gill Sans MT" pitchFamily="34" charset="-122"/>
                <a:cs typeface="Gill Sans MT" pitchFamily="34" charset="-120"/>
              </a:rPr>
              <a:t>H1a</a:t>
            </a:r>
            <a:endParaRPr lang="en-US" sz="1300" dirty="0"/>
          </a:p>
        </p:txBody>
      </p:sp>
      <p:sp>
        <p:nvSpPr>
          <p:cNvPr id="12" name="Text 8"/>
          <p:cNvSpPr/>
          <p:nvPr/>
        </p:nvSpPr>
        <p:spPr>
          <a:xfrm>
            <a:off x="9528048" y="1362456"/>
            <a:ext cx="2331720" cy="347472"/>
          </a:xfrm>
          <a:prstGeom prst="rect">
            <a:avLst/>
          </a:prstGeom>
          <a:noFill/>
          <a:ln/>
        </p:spPr>
        <p:txBody>
          <a:bodyPr wrap="square" lIns="50800" tIns="50800" rIns="50800" bIns="50800" rtlCol="0" anchor="ctr"/>
          <a:lstStyle/>
          <a:p>
            <a:pPr marL="0" indent="0" algn="l">
              <a:buNone/>
            </a:pPr>
            <a:r>
              <a:rPr lang="en-US" sz="1150" b="1" dirty="0">
                <a:solidFill>
                  <a:srgbClr val="56D68A"/>
                </a:solidFill>
                <a:latin typeface="Gill Sans MT" pitchFamily="34" charset="0"/>
                <a:ea typeface="Gill Sans MT" pitchFamily="34" charset="-122"/>
                <a:cs typeface="Gill Sans MT" pitchFamily="34" charset="-120"/>
              </a:rPr>
              <a:t>SUPPORTED</a:t>
            </a:r>
            <a:endParaRPr lang="en-US" sz="1150" dirty="0"/>
          </a:p>
        </p:txBody>
      </p:sp>
      <p:sp>
        <p:nvSpPr>
          <p:cNvPr id="13" name="Text 9"/>
          <p:cNvSpPr/>
          <p:nvPr/>
        </p:nvSpPr>
        <p:spPr>
          <a:xfrm>
            <a:off x="8705088" y="1773936"/>
            <a:ext cx="3127248" cy="320040"/>
          </a:xfrm>
          <a:prstGeom prst="rect">
            <a:avLst/>
          </a:prstGeom>
          <a:noFill/>
          <a:ln/>
        </p:spPr>
        <p:txBody>
          <a:bodyPr wrap="square" lIns="50800" tIns="50800" rIns="50800" bIns="50800" rtlCol="0" anchor="ctr"/>
          <a:lstStyle/>
          <a:p>
            <a:pPr marL="0" indent="0" algn="l">
              <a:buNone/>
            </a:pPr>
            <a:r>
              <a:rPr lang="en-US" sz="1000" dirty="0">
                <a:solidFill>
                  <a:srgbClr val="B8C8D8"/>
                </a:solidFill>
                <a:latin typeface="Gill Sans MT" pitchFamily="34" charset="0"/>
                <a:ea typeface="Gill Sans MT" pitchFamily="34" charset="-122"/>
                <a:cs typeface="Gill Sans MT" pitchFamily="34" charset="-120"/>
              </a:rPr>
              <a:t>β = 0.462  |  p &lt; .001</a:t>
            </a:r>
            <a:endParaRPr lang="en-US" sz="1000" dirty="0"/>
          </a:p>
        </p:txBody>
      </p:sp>
      <p:sp>
        <p:nvSpPr>
          <p:cNvPr id="14" name="Shape 10"/>
          <p:cNvSpPr/>
          <p:nvPr/>
        </p:nvSpPr>
        <p:spPr>
          <a:xfrm>
            <a:off x="8503920" y="2286000"/>
            <a:ext cx="3474720" cy="868680"/>
          </a:xfrm>
          <a:prstGeom prst="roundRect">
            <a:avLst>
              <a:gd name="adj" fmla="val 14737"/>
            </a:avLst>
          </a:prstGeom>
          <a:solidFill>
            <a:srgbClr val="040808">
              <a:alpha val="60000"/>
            </a:srgbClr>
          </a:solidFill>
          <a:ln w="8890">
            <a:solidFill>
              <a:srgbClr val="56D68A">
                <a:alpha val="6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5" name="Shape 11"/>
          <p:cNvSpPr/>
          <p:nvPr/>
        </p:nvSpPr>
        <p:spPr>
          <a:xfrm>
            <a:off x="8503920" y="2286000"/>
            <a:ext cx="0" cy="868680"/>
          </a:xfrm>
          <a:prstGeom prst="line">
            <a:avLst/>
          </a:prstGeom>
          <a:noFill/>
          <a:ln w="44450">
            <a:solidFill>
              <a:srgbClr val="56D68A"/>
            </a:solidFill>
            <a:prstDash val="solid"/>
          </a:ln>
        </p:spPr>
        <p:txBody>
          <a:bodyPr/>
          <a:lstStyle/>
          <a:p>
            <a:endParaRPr lang="en-GB"/>
          </a:p>
        </p:txBody>
      </p:sp>
      <p:sp>
        <p:nvSpPr>
          <p:cNvPr id="16" name="Text 12"/>
          <p:cNvSpPr/>
          <p:nvPr/>
        </p:nvSpPr>
        <p:spPr>
          <a:xfrm>
            <a:off x="8705088" y="2350008"/>
            <a:ext cx="777240" cy="347472"/>
          </a:xfrm>
          <a:prstGeom prst="rect">
            <a:avLst/>
          </a:prstGeom>
          <a:noFill/>
          <a:ln/>
        </p:spPr>
        <p:txBody>
          <a:bodyPr wrap="square" lIns="50800" tIns="50800" rIns="50800" bIns="50800" rtlCol="0" anchor="ctr"/>
          <a:lstStyle/>
          <a:p>
            <a:pPr marL="0" indent="0" algn="l">
              <a:buNone/>
            </a:pPr>
            <a:r>
              <a:rPr lang="en-US" sz="1300" b="1" dirty="0">
                <a:solidFill>
                  <a:srgbClr val="56D68A"/>
                </a:solidFill>
                <a:latin typeface="Gill Sans MT" pitchFamily="34" charset="0"/>
                <a:ea typeface="Gill Sans MT" pitchFamily="34" charset="-122"/>
                <a:cs typeface="Gill Sans MT" pitchFamily="34" charset="-120"/>
              </a:rPr>
              <a:t>H1b</a:t>
            </a:r>
            <a:endParaRPr lang="en-US" sz="1300" dirty="0"/>
          </a:p>
        </p:txBody>
      </p:sp>
      <p:sp>
        <p:nvSpPr>
          <p:cNvPr id="17" name="Text 13"/>
          <p:cNvSpPr/>
          <p:nvPr/>
        </p:nvSpPr>
        <p:spPr>
          <a:xfrm>
            <a:off x="9528048" y="2350008"/>
            <a:ext cx="2331720" cy="347472"/>
          </a:xfrm>
          <a:prstGeom prst="rect">
            <a:avLst/>
          </a:prstGeom>
          <a:noFill/>
          <a:ln/>
        </p:spPr>
        <p:txBody>
          <a:bodyPr wrap="square" lIns="50800" tIns="50800" rIns="50800" bIns="50800" rtlCol="0" anchor="ctr"/>
          <a:lstStyle/>
          <a:p>
            <a:pPr marL="0" indent="0" algn="l">
              <a:buNone/>
            </a:pPr>
            <a:r>
              <a:rPr lang="en-US" sz="1150" b="1" dirty="0">
                <a:solidFill>
                  <a:srgbClr val="56D68A"/>
                </a:solidFill>
                <a:latin typeface="Gill Sans MT" pitchFamily="34" charset="0"/>
                <a:ea typeface="Gill Sans MT" pitchFamily="34" charset="-122"/>
                <a:cs typeface="Gill Sans MT" pitchFamily="34" charset="-120"/>
              </a:rPr>
              <a:t>SUPPORTED</a:t>
            </a:r>
            <a:endParaRPr lang="en-US" sz="1150" dirty="0"/>
          </a:p>
        </p:txBody>
      </p:sp>
      <p:sp>
        <p:nvSpPr>
          <p:cNvPr id="18" name="Text 14"/>
          <p:cNvSpPr/>
          <p:nvPr/>
        </p:nvSpPr>
        <p:spPr>
          <a:xfrm>
            <a:off x="8705088" y="2761488"/>
            <a:ext cx="3127248" cy="320040"/>
          </a:xfrm>
          <a:prstGeom prst="rect">
            <a:avLst/>
          </a:prstGeom>
          <a:noFill/>
          <a:ln/>
        </p:spPr>
        <p:txBody>
          <a:bodyPr wrap="square" lIns="50800" tIns="50800" rIns="50800" bIns="50800" rtlCol="0" anchor="ctr"/>
          <a:lstStyle/>
          <a:p>
            <a:pPr marL="0" indent="0" algn="l">
              <a:buNone/>
            </a:pPr>
            <a:r>
              <a:rPr lang="en-US" sz="1000" dirty="0">
                <a:solidFill>
                  <a:srgbClr val="B8C8D8"/>
                </a:solidFill>
                <a:latin typeface="Gill Sans MT" pitchFamily="34" charset="0"/>
                <a:ea typeface="Gill Sans MT" pitchFamily="34" charset="-122"/>
                <a:cs typeface="Gill Sans MT" pitchFamily="34" charset="-120"/>
              </a:rPr>
              <a:t>β = 0.408  |  p &lt; .001</a:t>
            </a:r>
            <a:endParaRPr lang="en-US" sz="1000" dirty="0"/>
          </a:p>
        </p:txBody>
      </p:sp>
      <p:sp>
        <p:nvSpPr>
          <p:cNvPr id="19" name="Shape 15"/>
          <p:cNvSpPr/>
          <p:nvPr/>
        </p:nvSpPr>
        <p:spPr>
          <a:xfrm>
            <a:off x="8503920" y="3273552"/>
            <a:ext cx="3474720" cy="868680"/>
          </a:xfrm>
          <a:prstGeom prst="roundRect">
            <a:avLst>
              <a:gd name="adj" fmla="val 14737"/>
            </a:avLst>
          </a:prstGeom>
          <a:solidFill>
            <a:srgbClr val="040808">
              <a:alpha val="60000"/>
            </a:srgbClr>
          </a:solidFill>
          <a:ln w="8890">
            <a:solidFill>
              <a:srgbClr val="C9A0E8">
                <a:alpha val="6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0" name="Shape 16"/>
          <p:cNvSpPr/>
          <p:nvPr/>
        </p:nvSpPr>
        <p:spPr>
          <a:xfrm>
            <a:off x="8503920" y="3273552"/>
            <a:ext cx="0" cy="868680"/>
          </a:xfrm>
          <a:prstGeom prst="line">
            <a:avLst/>
          </a:prstGeom>
          <a:noFill/>
          <a:ln w="44450">
            <a:solidFill>
              <a:srgbClr val="C9A0E8"/>
            </a:solidFill>
            <a:prstDash val="solid"/>
          </a:ln>
        </p:spPr>
        <p:txBody>
          <a:bodyPr/>
          <a:lstStyle/>
          <a:p>
            <a:endParaRPr lang="en-GB"/>
          </a:p>
        </p:txBody>
      </p:sp>
      <p:sp>
        <p:nvSpPr>
          <p:cNvPr id="21" name="Text 17"/>
          <p:cNvSpPr/>
          <p:nvPr/>
        </p:nvSpPr>
        <p:spPr>
          <a:xfrm>
            <a:off x="8705088" y="3337560"/>
            <a:ext cx="777240" cy="347472"/>
          </a:xfrm>
          <a:prstGeom prst="rect">
            <a:avLst/>
          </a:prstGeom>
          <a:noFill/>
          <a:ln/>
        </p:spPr>
        <p:txBody>
          <a:bodyPr wrap="square" lIns="50800" tIns="50800" rIns="50800" bIns="50800" rtlCol="0" anchor="ctr"/>
          <a:lstStyle/>
          <a:p>
            <a:pPr marL="0" indent="0" algn="l">
              <a:buNone/>
            </a:pPr>
            <a:r>
              <a:rPr lang="en-US" sz="1300" b="1" dirty="0">
                <a:solidFill>
                  <a:srgbClr val="C9A0E8"/>
                </a:solidFill>
                <a:latin typeface="Gill Sans MT" pitchFamily="34" charset="0"/>
                <a:ea typeface="Gill Sans MT" pitchFamily="34" charset="-122"/>
                <a:cs typeface="Gill Sans MT" pitchFamily="34" charset="-120"/>
              </a:rPr>
              <a:t>H1c</a:t>
            </a:r>
            <a:endParaRPr lang="en-US" sz="1300" dirty="0"/>
          </a:p>
        </p:txBody>
      </p:sp>
      <p:sp>
        <p:nvSpPr>
          <p:cNvPr id="22" name="Text 18"/>
          <p:cNvSpPr/>
          <p:nvPr/>
        </p:nvSpPr>
        <p:spPr>
          <a:xfrm>
            <a:off x="9528048" y="3337560"/>
            <a:ext cx="2331720" cy="347472"/>
          </a:xfrm>
          <a:prstGeom prst="rect">
            <a:avLst/>
          </a:prstGeom>
          <a:noFill/>
          <a:ln/>
        </p:spPr>
        <p:txBody>
          <a:bodyPr wrap="square" lIns="50800" tIns="50800" rIns="50800" bIns="50800" rtlCol="0" anchor="ctr"/>
          <a:lstStyle/>
          <a:p>
            <a:pPr marL="0" indent="0" algn="l">
              <a:buNone/>
            </a:pPr>
            <a:r>
              <a:rPr lang="en-US" sz="1150" b="1" dirty="0">
                <a:solidFill>
                  <a:srgbClr val="C9A0E8"/>
                </a:solidFill>
                <a:latin typeface="Gill Sans MT" pitchFamily="34" charset="0"/>
                <a:ea typeface="Gill Sans MT" pitchFamily="34" charset="-122"/>
                <a:cs typeface="Gill Sans MT" pitchFamily="34" charset="-120"/>
              </a:rPr>
              <a:t>SUPPORTED (−)</a:t>
            </a:r>
            <a:endParaRPr lang="en-US" sz="1150" dirty="0"/>
          </a:p>
        </p:txBody>
      </p:sp>
      <p:sp>
        <p:nvSpPr>
          <p:cNvPr id="23" name="Text 19"/>
          <p:cNvSpPr/>
          <p:nvPr/>
        </p:nvSpPr>
        <p:spPr>
          <a:xfrm>
            <a:off x="8705088" y="3749040"/>
            <a:ext cx="3127248" cy="320040"/>
          </a:xfrm>
          <a:prstGeom prst="rect">
            <a:avLst/>
          </a:prstGeom>
          <a:noFill/>
          <a:ln/>
        </p:spPr>
        <p:txBody>
          <a:bodyPr wrap="square" lIns="50800" tIns="50800" rIns="50800" bIns="50800" rtlCol="0" anchor="ctr"/>
          <a:lstStyle/>
          <a:p>
            <a:pPr marL="0" indent="0" algn="l">
              <a:buNone/>
            </a:pPr>
            <a:r>
              <a:rPr lang="en-US" sz="1000" dirty="0">
                <a:solidFill>
                  <a:srgbClr val="B8C8D8"/>
                </a:solidFill>
                <a:latin typeface="Gill Sans MT" pitchFamily="34" charset="0"/>
                <a:ea typeface="Gill Sans MT" pitchFamily="34" charset="-122"/>
                <a:cs typeface="Gill Sans MT" pitchFamily="34" charset="-120"/>
              </a:rPr>
              <a:t>β = −0.102  |  p = .029  |  substitutive</a:t>
            </a:r>
            <a:endParaRPr lang="en-US" sz="1000" dirty="0"/>
          </a:p>
        </p:txBody>
      </p:sp>
      <p:sp>
        <p:nvSpPr>
          <p:cNvPr id="24" name="Shape 20"/>
          <p:cNvSpPr/>
          <p:nvPr/>
        </p:nvSpPr>
        <p:spPr>
          <a:xfrm>
            <a:off x="8503920" y="4261104"/>
            <a:ext cx="3474720" cy="868680"/>
          </a:xfrm>
          <a:prstGeom prst="roundRect">
            <a:avLst>
              <a:gd name="adj" fmla="val 14737"/>
            </a:avLst>
          </a:prstGeom>
          <a:solidFill>
            <a:srgbClr val="040808">
              <a:alpha val="60000"/>
            </a:srgbClr>
          </a:solidFill>
          <a:ln w="8890">
            <a:solidFill>
              <a:srgbClr val="F47A7A">
                <a:alpha val="6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5" name="Shape 21"/>
          <p:cNvSpPr/>
          <p:nvPr/>
        </p:nvSpPr>
        <p:spPr>
          <a:xfrm>
            <a:off x="8503920" y="4261104"/>
            <a:ext cx="0" cy="868680"/>
          </a:xfrm>
          <a:prstGeom prst="line">
            <a:avLst/>
          </a:prstGeom>
          <a:noFill/>
          <a:ln w="44450">
            <a:solidFill>
              <a:srgbClr val="F47A7A"/>
            </a:solidFill>
            <a:prstDash val="solid"/>
          </a:ln>
        </p:spPr>
        <p:txBody>
          <a:bodyPr/>
          <a:lstStyle/>
          <a:p>
            <a:endParaRPr lang="en-GB"/>
          </a:p>
        </p:txBody>
      </p:sp>
      <p:sp>
        <p:nvSpPr>
          <p:cNvPr id="26" name="Text 22"/>
          <p:cNvSpPr/>
          <p:nvPr/>
        </p:nvSpPr>
        <p:spPr>
          <a:xfrm>
            <a:off x="8705088" y="4325112"/>
            <a:ext cx="777240" cy="347472"/>
          </a:xfrm>
          <a:prstGeom prst="rect">
            <a:avLst/>
          </a:prstGeom>
          <a:noFill/>
          <a:ln/>
        </p:spPr>
        <p:txBody>
          <a:bodyPr wrap="square" lIns="50800" tIns="50800" rIns="50800" bIns="50800" rtlCol="0" anchor="ctr"/>
          <a:lstStyle/>
          <a:p>
            <a:pPr marL="0" indent="0" algn="l">
              <a:buNone/>
            </a:pPr>
            <a:r>
              <a:rPr lang="en-US" sz="1300" b="1" dirty="0">
                <a:solidFill>
                  <a:srgbClr val="F47A7A"/>
                </a:solidFill>
                <a:latin typeface="Gill Sans MT" pitchFamily="34" charset="0"/>
                <a:ea typeface="Gill Sans MT" pitchFamily="34" charset="-122"/>
                <a:cs typeface="Gill Sans MT" pitchFamily="34" charset="-120"/>
              </a:rPr>
              <a:t>H2a</a:t>
            </a:r>
            <a:endParaRPr lang="en-US" sz="1300" dirty="0"/>
          </a:p>
        </p:txBody>
      </p:sp>
      <p:sp>
        <p:nvSpPr>
          <p:cNvPr id="27" name="Text 23"/>
          <p:cNvSpPr/>
          <p:nvPr/>
        </p:nvSpPr>
        <p:spPr>
          <a:xfrm>
            <a:off x="9528048" y="4325112"/>
            <a:ext cx="2331720" cy="347472"/>
          </a:xfrm>
          <a:prstGeom prst="rect">
            <a:avLst/>
          </a:prstGeom>
          <a:noFill/>
          <a:ln/>
        </p:spPr>
        <p:txBody>
          <a:bodyPr wrap="square" lIns="50800" tIns="50800" rIns="50800" bIns="50800" rtlCol="0" anchor="ctr"/>
          <a:lstStyle/>
          <a:p>
            <a:pPr marL="0" indent="0" algn="l">
              <a:buNone/>
            </a:pPr>
            <a:r>
              <a:rPr lang="en-US" sz="1150" b="1" dirty="0">
                <a:solidFill>
                  <a:srgbClr val="F47A7A"/>
                </a:solidFill>
                <a:latin typeface="Gill Sans MT" pitchFamily="34" charset="0"/>
                <a:ea typeface="Gill Sans MT" pitchFamily="34" charset="-122"/>
                <a:cs typeface="Gill Sans MT" pitchFamily="34" charset="-120"/>
              </a:rPr>
              <a:t>NOT SUPPORTED</a:t>
            </a:r>
            <a:endParaRPr lang="en-US" sz="1150" dirty="0"/>
          </a:p>
        </p:txBody>
      </p:sp>
      <p:sp>
        <p:nvSpPr>
          <p:cNvPr id="28" name="Text 24"/>
          <p:cNvSpPr/>
          <p:nvPr/>
        </p:nvSpPr>
        <p:spPr>
          <a:xfrm>
            <a:off x="8705088" y="4736592"/>
            <a:ext cx="3127248" cy="320040"/>
          </a:xfrm>
          <a:prstGeom prst="rect">
            <a:avLst/>
          </a:prstGeom>
          <a:noFill/>
          <a:ln/>
        </p:spPr>
        <p:txBody>
          <a:bodyPr wrap="square" lIns="50800" tIns="50800" rIns="50800" bIns="50800" rtlCol="0" anchor="ctr"/>
          <a:lstStyle/>
          <a:p>
            <a:pPr marL="0" indent="0" algn="l">
              <a:buNone/>
            </a:pPr>
            <a:r>
              <a:rPr lang="en-US" sz="1000" dirty="0">
                <a:solidFill>
                  <a:srgbClr val="B8C8D8"/>
                </a:solidFill>
                <a:latin typeface="Gill Sans MT" pitchFamily="34" charset="0"/>
                <a:ea typeface="Gill Sans MT" pitchFamily="34" charset="-122"/>
                <a:cs typeface="Gill Sans MT" pitchFamily="34" charset="-120"/>
              </a:rPr>
              <a:t>b-path collapsed  |  p = .743</a:t>
            </a:r>
            <a:endParaRPr lang="en-US" sz="1000" dirty="0"/>
          </a:p>
        </p:txBody>
      </p:sp>
      <p:sp>
        <p:nvSpPr>
          <p:cNvPr id="29" name="Shape 25"/>
          <p:cNvSpPr/>
          <p:nvPr/>
        </p:nvSpPr>
        <p:spPr>
          <a:xfrm>
            <a:off x="8503920" y="5248656"/>
            <a:ext cx="3474720" cy="868680"/>
          </a:xfrm>
          <a:prstGeom prst="roundRect">
            <a:avLst>
              <a:gd name="adj" fmla="val 14737"/>
            </a:avLst>
          </a:prstGeom>
          <a:solidFill>
            <a:srgbClr val="040808">
              <a:alpha val="60000"/>
            </a:srgbClr>
          </a:solidFill>
          <a:ln w="8890">
            <a:solidFill>
              <a:srgbClr val="4ECDC4">
                <a:alpha val="60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30" name="Shape 26"/>
          <p:cNvSpPr/>
          <p:nvPr/>
        </p:nvSpPr>
        <p:spPr>
          <a:xfrm>
            <a:off x="8503920" y="5248656"/>
            <a:ext cx="0" cy="868680"/>
          </a:xfrm>
          <a:prstGeom prst="line">
            <a:avLst/>
          </a:prstGeom>
          <a:noFill/>
          <a:ln w="44450">
            <a:solidFill>
              <a:srgbClr val="4ECDC4"/>
            </a:solidFill>
            <a:prstDash val="solid"/>
          </a:ln>
        </p:spPr>
        <p:txBody>
          <a:bodyPr/>
          <a:lstStyle/>
          <a:p>
            <a:endParaRPr lang="en-GB"/>
          </a:p>
        </p:txBody>
      </p:sp>
      <p:sp>
        <p:nvSpPr>
          <p:cNvPr id="31" name="Text 27"/>
          <p:cNvSpPr/>
          <p:nvPr/>
        </p:nvSpPr>
        <p:spPr>
          <a:xfrm>
            <a:off x="8705088" y="5312664"/>
            <a:ext cx="777240" cy="347472"/>
          </a:xfrm>
          <a:prstGeom prst="rect">
            <a:avLst/>
          </a:prstGeom>
          <a:noFill/>
          <a:ln/>
        </p:spPr>
        <p:txBody>
          <a:bodyPr wrap="square" lIns="50800" tIns="50800" rIns="50800" bIns="50800" rtlCol="0" anchor="ctr"/>
          <a:lstStyle/>
          <a:p>
            <a:pPr marL="0" indent="0" algn="l">
              <a:buNone/>
            </a:pPr>
            <a:r>
              <a:rPr lang="en-US" sz="1300" b="1" dirty="0">
                <a:solidFill>
                  <a:srgbClr val="4ECDC4"/>
                </a:solidFill>
                <a:latin typeface="Gill Sans MT" pitchFamily="34" charset="0"/>
                <a:ea typeface="Gill Sans MT" pitchFamily="34" charset="-122"/>
                <a:cs typeface="Gill Sans MT" pitchFamily="34" charset="-120"/>
              </a:rPr>
              <a:t>Direct</a:t>
            </a:r>
            <a:endParaRPr lang="en-US" sz="1300" dirty="0"/>
          </a:p>
        </p:txBody>
      </p:sp>
      <p:sp>
        <p:nvSpPr>
          <p:cNvPr id="32" name="Text 28"/>
          <p:cNvSpPr/>
          <p:nvPr/>
        </p:nvSpPr>
        <p:spPr>
          <a:xfrm>
            <a:off x="9528048" y="5312664"/>
            <a:ext cx="2331720" cy="347472"/>
          </a:xfrm>
          <a:prstGeom prst="rect">
            <a:avLst/>
          </a:prstGeom>
          <a:noFill/>
          <a:ln/>
        </p:spPr>
        <p:txBody>
          <a:bodyPr wrap="square" lIns="50800" tIns="50800" rIns="50800" bIns="50800" rtlCol="0" anchor="ctr"/>
          <a:lstStyle/>
          <a:p>
            <a:pPr marL="0" indent="0" algn="l">
              <a:buNone/>
            </a:pPr>
            <a:r>
              <a:rPr lang="en-US" sz="1150" b="1" dirty="0">
                <a:solidFill>
                  <a:srgbClr val="4ECDC4"/>
                </a:solidFill>
                <a:latin typeface="Gill Sans MT" pitchFamily="34" charset="0"/>
                <a:ea typeface="Gill Sans MT" pitchFamily="34" charset="-122"/>
                <a:cs typeface="Gill Sans MT" pitchFamily="34" charset="-120"/>
              </a:rPr>
              <a:t>SIGNIFICANT</a:t>
            </a:r>
            <a:endParaRPr lang="en-US" sz="1150" dirty="0"/>
          </a:p>
        </p:txBody>
      </p:sp>
      <p:sp>
        <p:nvSpPr>
          <p:cNvPr id="33" name="Text 29"/>
          <p:cNvSpPr/>
          <p:nvPr/>
        </p:nvSpPr>
        <p:spPr>
          <a:xfrm>
            <a:off x="8705088" y="5724144"/>
            <a:ext cx="3127248" cy="320040"/>
          </a:xfrm>
          <a:prstGeom prst="rect">
            <a:avLst/>
          </a:prstGeom>
          <a:noFill/>
          <a:ln/>
        </p:spPr>
        <p:txBody>
          <a:bodyPr wrap="square" lIns="50800" tIns="50800" rIns="50800" bIns="50800" rtlCol="0" anchor="ctr"/>
          <a:lstStyle/>
          <a:p>
            <a:pPr marL="0" indent="0" algn="l">
              <a:buNone/>
            </a:pPr>
            <a:r>
              <a:rPr lang="en-US" sz="1000" dirty="0">
                <a:solidFill>
                  <a:srgbClr val="B8C8D8"/>
                </a:solidFill>
                <a:latin typeface="Gill Sans MT" pitchFamily="34" charset="0"/>
                <a:ea typeface="Gill Sans MT" pitchFamily="34" charset="-122"/>
                <a:cs typeface="Gill Sans MT" pitchFamily="34" charset="-120"/>
              </a:rPr>
              <a:t>ξ₁→η₂  β = 0.340  |  p = .001</a:t>
            </a:r>
            <a:endParaRPr lang="en-US" sz="1000" dirty="0"/>
          </a:p>
        </p:txBody>
      </p:sp>
      <p:sp>
        <p:nvSpPr>
          <p:cNvPr id="34" name="Text 30"/>
          <p:cNvSpPr/>
          <p:nvPr/>
        </p:nvSpPr>
        <p:spPr>
          <a:xfrm>
            <a:off x="11704320" y="6492240"/>
            <a:ext cx="365760" cy="274320"/>
          </a:xfrm>
          <a:prstGeom prst="rect">
            <a:avLst/>
          </a:prstGeom>
          <a:noFill/>
          <a:ln/>
        </p:spPr>
        <p:txBody>
          <a:bodyPr wrap="square" rtlCol="0" anchor="ctr"/>
          <a:lstStyle/>
          <a:p>
            <a:pPr marL="0" indent="0" algn="r">
              <a:buNone/>
            </a:pPr>
            <a:r>
              <a:rPr lang="en-US" sz="800" dirty="0">
                <a:solidFill>
                  <a:srgbClr val="B8C8D8"/>
                </a:solidFill>
                <a:latin typeface="Gill Sans MT" pitchFamily="34" charset="0"/>
                <a:ea typeface="Gill Sans MT" pitchFamily="34" charset="-122"/>
                <a:cs typeface="Gill Sans MT"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61520" cy="6858000"/>
          </a:xfrm>
          <a:prstGeom prst="rect">
            <a:avLst/>
          </a:prstGeom>
        </p:spPr>
      </p:pic>
      <p:sp>
        <p:nvSpPr>
          <p:cNvPr id="3" name="Shape 0"/>
          <p:cNvSpPr/>
          <p:nvPr/>
        </p:nvSpPr>
        <p:spPr>
          <a:xfrm>
            <a:off x="0" y="0"/>
            <a:ext cx="12161520" cy="1188720"/>
          </a:xfrm>
          <a:prstGeom prst="roundRect">
            <a:avLst>
              <a:gd name="adj" fmla="val 9231"/>
            </a:avLst>
          </a:prstGeom>
          <a:solidFill>
            <a:srgbClr val="050810">
              <a:alpha val="48000"/>
            </a:srgbClr>
          </a:solidFill>
          <a:ln w="3810">
            <a:solidFill>
              <a:srgbClr val="FFFFFF">
                <a:alpha val="12000"/>
              </a:srgbClr>
            </a:solidFill>
            <a:prstDash val="solid"/>
          </a:ln>
          <a:effectLst>
            <a:outerShdw blurRad="152400" dist="50800" dir="2700000" algn="bl" rotWithShape="0">
              <a:srgbClr val="000000">
                <a:alpha val="50000"/>
              </a:srgbClr>
            </a:outerShdw>
          </a:effectLst>
        </p:spPr>
        <p:txBody>
          <a:bodyPr/>
          <a:lstStyle/>
          <a:p>
            <a:endParaRPr lang="en-GB"/>
          </a:p>
        </p:txBody>
      </p:sp>
      <p:sp>
        <p:nvSpPr>
          <p:cNvPr id="4" name="Shape 1"/>
          <p:cNvSpPr/>
          <p:nvPr/>
        </p:nvSpPr>
        <p:spPr>
          <a:xfrm>
            <a:off x="365760" y="137160"/>
            <a:ext cx="2194560" cy="292608"/>
          </a:xfrm>
          <a:prstGeom prst="roundRect">
            <a:avLst>
              <a:gd name="adj" fmla="val 18750"/>
            </a:avLst>
          </a:prstGeom>
          <a:solidFill>
            <a:srgbClr val="000000">
              <a:alpha val="50000"/>
            </a:srgbClr>
          </a:solidFill>
          <a:ln w="19050">
            <a:solidFill>
              <a:srgbClr val="6DAEDB"/>
            </a:solidFill>
            <a:prstDash val="solid"/>
          </a:ln>
        </p:spPr>
        <p:txBody>
          <a:bodyPr/>
          <a:lstStyle/>
          <a:p>
            <a:endParaRPr lang="en-GB"/>
          </a:p>
        </p:txBody>
      </p:sp>
      <p:sp>
        <p:nvSpPr>
          <p:cNvPr id="5" name="Text 2"/>
          <p:cNvSpPr/>
          <p:nvPr/>
        </p:nvSpPr>
        <p:spPr>
          <a:xfrm>
            <a:off x="365760" y="137160"/>
            <a:ext cx="2194560" cy="292608"/>
          </a:xfrm>
          <a:prstGeom prst="rect">
            <a:avLst/>
          </a:prstGeom>
          <a:noFill/>
          <a:ln/>
        </p:spPr>
        <p:txBody>
          <a:bodyPr wrap="square" rtlCol="0" anchor="ctr"/>
          <a:lstStyle/>
          <a:p>
            <a:pPr marL="0" indent="0" algn="ctr">
              <a:buNone/>
            </a:pPr>
            <a:r>
              <a:rPr lang="en-US" sz="850" b="1" kern="0" spc="200" dirty="0">
                <a:solidFill>
                  <a:srgbClr val="6DAEDB"/>
                </a:solidFill>
                <a:latin typeface="Gill Sans MT" pitchFamily="34" charset="0"/>
                <a:ea typeface="Gill Sans MT" pitchFamily="34" charset="-122"/>
                <a:cs typeface="Gill Sans MT" pitchFamily="34" charset="-120"/>
              </a:rPr>
              <a:t>DISCUSSION</a:t>
            </a:r>
            <a:endParaRPr lang="en-US" sz="850" dirty="0"/>
          </a:p>
        </p:txBody>
      </p:sp>
      <p:sp>
        <p:nvSpPr>
          <p:cNvPr id="6" name="Text 3"/>
          <p:cNvSpPr/>
          <p:nvPr/>
        </p:nvSpPr>
        <p:spPr>
          <a:xfrm>
            <a:off x="365760" y="347472"/>
            <a:ext cx="10972800" cy="685800"/>
          </a:xfrm>
          <a:prstGeom prst="rect">
            <a:avLst/>
          </a:prstGeom>
          <a:noFill/>
          <a:ln/>
        </p:spPr>
        <p:txBody>
          <a:bodyPr wrap="square" lIns="50800" tIns="50800" rIns="50800" bIns="50800" rtlCol="0" anchor="ctr"/>
          <a:lstStyle/>
          <a:p>
            <a:pPr marL="0" indent="0" algn="l">
              <a:buNone/>
            </a:pPr>
            <a:r>
              <a:rPr lang="en-US" sz="2600" b="1" dirty="0">
                <a:solidFill>
                  <a:srgbClr val="FFFFFF"/>
                </a:solidFill>
                <a:latin typeface="Gill Sans MT" pitchFamily="34" charset="0"/>
                <a:ea typeface="Gill Sans MT" pitchFamily="34" charset="-122"/>
                <a:cs typeface="Gill Sans MT" pitchFamily="34" charset="-120"/>
              </a:rPr>
              <a:t>What Do the Results Really Tell Us?</a:t>
            </a:r>
            <a:endParaRPr lang="en-US" sz="2600" dirty="0"/>
          </a:p>
        </p:txBody>
      </p:sp>
      <p:sp>
        <p:nvSpPr>
          <p:cNvPr id="7" name="Shape 4"/>
          <p:cNvSpPr/>
          <p:nvPr/>
        </p:nvSpPr>
        <p:spPr>
          <a:xfrm>
            <a:off x="365760" y="1115568"/>
            <a:ext cx="11430000" cy="0"/>
          </a:xfrm>
          <a:prstGeom prst="line">
            <a:avLst/>
          </a:prstGeom>
          <a:noFill/>
          <a:ln w="19050">
            <a:solidFill>
              <a:srgbClr val="6DAEDB"/>
            </a:solidFill>
            <a:prstDash val="solid"/>
          </a:ln>
        </p:spPr>
        <p:txBody>
          <a:bodyPr/>
          <a:lstStyle/>
          <a:p>
            <a:endParaRPr lang="en-GB"/>
          </a:p>
        </p:txBody>
      </p:sp>
      <p:sp>
        <p:nvSpPr>
          <p:cNvPr id="8" name="Shape 5"/>
          <p:cNvSpPr/>
          <p:nvPr/>
        </p:nvSpPr>
        <p:spPr>
          <a:xfrm>
            <a:off x="365760" y="1261872"/>
            <a:ext cx="5669280" cy="2487168"/>
          </a:xfrm>
          <a:prstGeom prst="roundRect">
            <a:avLst>
              <a:gd name="adj" fmla="val 5147"/>
            </a:avLst>
          </a:prstGeom>
          <a:solidFill>
            <a:srgbClr val="040810">
              <a:alpha val="58000"/>
            </a:srgbClr>
          </a:solidFill>
          <a:ln w="10160">
            <a:solidFill>
              <a:srgbClr val="6DAEDB">
                <a:alpha val="6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9" name="Shape 6"/>
          <p:cNvSpPr/>
          <p:nvPr/>
        </p:nvSpPr>
        <p:spPr>
          <a:xfrm>
            <a:off x="530352" y="1353312"/>
            <a:ext cx="0" cy="2331720"/>
          </a:xfrm>
          <a:prstGeom prst="line">
            <a:avLst/>
          </a:prstGeom>
          <a:noFill/>
          <a:ln w="38100">
            <a:solidFill>
              <a:srgbClr val="6DAEDB"/>
            </a:solidFill>
            <a:prstDash val="solid"/>
          </a:ln>
        </p:spPr>
        <p:txBody>
          <a:bodyPr/>
          <a:lstStyle/>
          <a:p>
            <a:endParaRPr lang="en-GB"/>
          </a:p>
        </p:txBody>
      </p:sp>
      <p:sp>
        <p:nvSpPr>
          <p:cNvPr id="10" name="Text 7"/>
          <p:cNvSpPr/>
          <p:nvPr/>
        </p:nvSpPr>
        <p:spPr>
          <a:xfrm>
            <a:off x="749808" y="1371600"/>
            <a:ext cx="5138928" cy="438912"/>
          </a:xfrm>
          <a:prstGeom prst="rect">
            <a:avLst/>
          </a:prstGeom>
          <a:noFill/>
          <a:ln/>
        </p:spPr>
        <p:txBody>
          <a:bodyPr wrap="square" lIns="50800" tIns="50800" rIns="50800" bIns="50800" rtlCol="0" anchor="ctr"/>
          <a:lstStyle/>
          <a:p>
            <a:pPr marL="0" indent="0" algn="l">
              <a:buNone/>
            </a:pPr>
            <a:r>
              <a:rPr lang="en-US" sz="1300" b="1" dirty="0">
                <a:solidFill>
                  <a:srgbClr val="6DAEDB"/>
                </a:solidFill>
                <a:latin typeface="Gill Sans MT" pitchFamily="34" charset="0"/>
                <a:ea typeface="Gill Sans MT" pitchFamily="34" charset="-122"/>
                <a:cs typeface="Gill Sans MT" pitchFamily="34" charset="-120"/>
              </a:rPr>
              <a:t>AI is a Macro-Level SC Driver  (RQ1)</a:t>
            </a:r>
            <a:endParaRPr lang="en-US" sz="1300" dirty="0"/>
          </a:p>
        </p:txBody>
      </p:sp>
      <p:sp>
        <p:nvSpPr>
          <p:cNvPr id="11" name="Shape 8"/>
          <p:cNvSpPr/>
          <p:nvPr/>
        </p:nvSpPr>
        <p:spPr>
          <a:xfrm>
            <a:off x="749808" y="1828800"/>
            <a:ext cx="5102352" cy="0"/>
          </a:xfrm>
          <a:prstGeom prst="line">
            <a:avLst/>
          </a:prstGeom>
          <a:noFill/>
          <a:ln w="19050">
            <a:solidFill>
              <a:srgbClr val="6DAEDB"/>
            </a:solidFill>
            <a:prstDash val="solid"/>
          </a:ln>
        </p:spPr>
        <p:txBody>
          <a:bodyPr/>
          <a:lstStyle/>
          <a:p>
            <a:endParaRPr lang="en-GB"/>
          </a:p>
        </p:txBody>
      </p:sp>
      <p:sp>
        <p:nvSpPr>
          <p:cNvPr id="12" name="Text 9"/>
          <p:cNvSpPr/>
          <p:nvPr/>
        </p:nvSpPr>
        <p:spPr>
          <a:xfrm>
            <a:off x="749808" y="1947672"/>
            <a:ext cx="5138928" cy="1645920"/>
          </a:xfrm>
          <a:prstGeom prst="rect">
            <a:avLst/>
          </a:prstGeom>
          <a:noFill/>
          <a:ln/>
        </p:spPr>
        <p:txBody>
          <a:bodyPr wrap="square" lIns="50800" tIns="50800" rIns="50800" bIns="50800" rtlCol="0" anchor="t"/>
          <a:lstStyle/>
          <a:p>
            <a:pPr marL="0" indent="0" algn="l">
              <a:buNone/>
            </a:pPr>
            <a:r>
              <a:rPr lang="en-US" sz="1150" dirty="0">
                <a:solidFill>
                  <a:srgbClr val="F5F5F0"/>
                </a:solidFill>
                <a:latin typeface="Gill Sans MT" pitchFamily="34" charset="0"/>
                <a:ea typeface="Gill Sans MT" pitchFamily="34" charset="-122"/>
                <a:cs typeface="Gill Sans MT" pitchFamily="34" charset="-120"/>
              </a:rPr>
              <a:t>β = 0.462 confirms TOE framework at national scale. AI readiness shapes entire logistics ecosystems, not just firm-level processes.</a:t>
            </a:r>
            <a:endParaRPr lang="en-US" sz="1150" dirty="0"/>
          </a:p>
        </p:txBody>
      </p:sp>
      <p:sp>
        <p:nvSpPr>
          <p:cNvPr id="13" name="Shape 10"/>
          <p:cNvSpPr/>
          <p:nvPr/>
        </p:nvSpPr>
        <p:spPr>
          <a:xfrm>
            <a:off x="6309360" y="1261872"/>
            <a:ext cx="5669280" cy="2487168"/>
          </a:xfrm>
          <a:prstGeom prst="roundRect">
            <a:avLst>
              <a:gd name="adj" fmla="val 5147"/>
            </a:avLst>
          </a:prstGeom>
          <a:solidFill>
            <a:srgbClr val="040810">
              <a:alpha val="58000"/>
            </a:srgbClr>
          </a:solidFill>
          <a:ln w="10160">
            <a:solidFill>
              <a:srgbClr val="C9A0E8">
                <a:alpha val="6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4" name="Shape 11"/>
          <p:cNvSpPr/>
          <p:nvPr/>
        </p:nvSpPr>
        <p:spPr>
          <a:xfrm>
            <a:off x="6473952" y="1353312"/>
            <a:ext cx="0" cy="2331720"/>
          </a:xfrm>
          <a:prstGeom prst="line">
            <a:avLst/>
          </a:prstGeom>
          <a:noFill/>
          <a:ln w="38100">
            <a:solidFill>
              <a:srgbClr val="C9A0E8"/>
            </a:solidFill>
            <a:prstDash val="solid"/>
          </a:ln>
        </p:spPr>
        <p:txBody>
          <a:bodyPr/>
          <a:lstStyle/>
          <a:p>
            <a:endParaRPr lang="en-GB"/>
          </a:p>
        </p:txBody>
      </p:sp>
      <p:sp>
        <p:nvSpPr>
          <p:cNvPr id="15" name="Text 12"/>
          <p:cNvSpPr/>
          <p:nvPr/>
        </p:nvSpPr>
        <p:spPr>
          <a:xfrm>
            <a:off x="6693408" y="1371600"/>
            <a:ext cx="5138928" cy="438912"/>
          </a:xfrm>
          <a:prstGeom prst="rect">
            <a:avLst/>
          </a:prstGeom>
          <a:noFill/>
          <a:ln/>
        </p:spPr>
        <p:txBody>
          <a:bodyPr wrap="square" lIns="50800" tIns="50800" rIns="50800" bIns="50800" rtlCol="0" anchor="ctr"/>
          <a:lstStyle/>
          <a:p>
            <a:pPr marL="0" indent="0" algn="l">
              <a:buNone/>
            </a:pPr>
            <a:r>
              <a:rPr lang="en-US" sz="1300" b="1" dirty="0">
                <a:solidFill>
                  <a:srgbClr val="C9A0E8"/>
                </a:solidFill>
                <a:latin typeface="Gill Sans MT" pitchFamily="34" charset="0"/>
                <a:ea typeface="Gill Sans MT" pitchFamily="34" charset="-122"/>
                <a:cs typeface="Gill Sans MT" pitchFamily="34" charset="-120"/>
              </a:rPr>
              <a:t>Institutions Substitute, Not Amplify  (RQ3)</a:t>
            </a:r>
            <a:endParaRPr lang="en-US" sz="1300" dirty="0"/>
          </a:p>
        </p:txBody>
      </p:sp>
      <p:sp>
        <p:nvSpPr>
          <p:cNvPr id="16" name="Shape 13"/>
          <p:cNvSpPr/>
          <p:nvPr/>
        </p:nvSpPr>
        <p:spPr>
          <a:xfrm>
            <a:off x="6693408" y="1828800"/>
            <a:ext cx="5102352" cy="0"/>
          </a:xfrm>
          <a:prstGeom prst="line">
            <a:avLst/>
          </a:prstGeom>
          <a:noFill/>
          <a:ln w="19050">
            <a:solidFill>
              <a:srgbClr val="C9A0E8"/>
            </a:solidFill>
            <a:prstDash val="solid"/>
          </a:ln>
        </p:spPr>
        <p:txBody>
          <a:bodyPr/>
          <a:lstStyle/>
          <a:p>
            <a:endParaRPr lang="en-GB"/>
          </a:p>
        </p:txBody>
      </p:sp>
      <p:sp>
        <p:nvSpPr>
          <p:cNvPr id="17" name="Text 14"/>
          <p:cNvSpPr/>
          <p:nvPr/>
        </p:nvSpPr>
        <p:spPr>
          <a:xfrm>
            <a:off x="6693408" y="1947672"/>
            <a:ext cx="5138928" cy="1645920"/>
          </a:xfrm>
          <a:prstGeom prst="rect">
            <a:avLst/>
          </a:prstGeom>
          <a:noFill/>
          <a:ln/>
        </p:spPr>
        <p:txBody>
          <a:bodyPr wrap="square" lIns="50800" tIns="50800" rIns="50800" bIns="50800" rtlCol="0" anchor="t"/>
          <a:lstStyle/>
          <a:p>
            <a:pPr marL="0" indent="0" algn="l">
              <a:buNone/>
            </a:pPr>
            <a:r>
              <a:rPr lang="en-US" sz="1150" dirty="0">
                <a:solidFill>
                  <a:srgbClr val="F5F5F0"/>
                </a:solidFill>
                <a:latin typeface="Gill Sans MT" pitchFamily="34" charset="0"/>
                <a:ea typeface="Gill Sans MT" pitchFamily="34" charset="-122"/>
                <a:cs typeface="Gill Sans MT" pitchFamily="34" charset="-120"/>
              </a:rPr>
              <a:t>Negative moderation (β = −0.102) contradicts complementarity assumptions. Strong governance reduces urgency of AI investment in SC — a novel finding challenging dominant narratives.</a:t>
            </a:r>
            <a:endParaRPr lang="en-US" sz="1150" dirty="0"/>
          </a:p>
        </p:txBody>
      </p:sp>
      <p:sp>
        <p:nvSpPr>
          <p:cNvPr id="18" name="Shape 15"/>
          <p:cNvSpPr/>
          <p:nvPr/>
        </p:nvSpPr>
        <p:spPr>
          <a:xfrm>
            <a:off x="365760" y="3931920"/>
            <a:ext cx="5669280" cy="2487168"/>
          </a:xfrm>
          <a:prstGeom prst="roundRect">
            <a:avLst>
              <a:gd name="adj" fmla="val 5147"/>
            </a:avLst>
          </a:prstGeom>
          <a:solidFill>
            <a:srgbClr val="040810">
              <a:alpha val="58000"/>
            </a:srgbClr>
          </a:solidFill>
          <a:ln w="10160">
            <a:solidFill>
              <a:srgbClr val="56D68A">
                <a:alpha val="6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9" name="Shape 16"/>
          <p:cNvSpPr/>
          <p:nvPr/>
        </p:nvSpPr>
        <p:spPr>
          <a:xfrm>
            <a:off x="530352" y="4023360"/>
            <a:ext cx="0" cy="2331720"/>
          </a:xfrm>
          <a:prstGeom prst="line">
            <a:avLst/>
          </a:prstGeom>
          <a:noFill/>
          <a:ln w="38100">
            <a:solidFill>
              <a:srgbClr val="56D68A"/>
            </a:solidFill>
            <a:prstDash val="solid"/>
          </a:ln>
        </p:spPr>
        <p:txBody>
          <a:bodyPr/>
          <a:lstStyle/>
          <a:p>
            <a:endParaRPr lang="en-GB"/>
          </a:p>
        </p:txBody>
      </p:sp>
      <p:sp>
        <p:nvSpPr>
          <p:cNvPr id="20" name="Text 17"/>
          <p:cNvSpPr/>
          <p:nvPr/>
        </p:nvSpPr>
        <p:spPr>
          <a:xfrm>
            <a:off x="749808" y="4041648"/>
            <a:ext cx="5138928" cy="438912"/>
          </a:xfrm>
          <a:prstGeom prst="rect">
            <a:avLst/>
          </a:prstGeom>
          <a:noFill/>
          <a:ln/>
        </p:spPr>
        <p:txBody>
          <a:bodyPr wrap="square" lIns="50800" tIns="50800" rIns="50800" bIns="50800" rtlCol="0" anchor="ctr"/>
          <a:lstStyle/>
          <a:p>
            <a:pPr marL="0" indent="0" algn="l">
              <a:buNone/>
            </a:pPr>
            <a:r>
              <a:rPr lang="en-US" sz="1300" b="1" dirty="0">
                <a:solidFill>
                  <a:srgbClr val="56D68A"/>
                </a:solidFill>
                <a:latin typeface="Gill Sans MT" pitchFamily="34" charset="0"/>
                <a:ea typeface="Gill Sans MT" pitchFamily="34" charset="-122"/>
                <a:cs typeface="Gill Sans MT" pitchFamily="34" charset="-120"/>
              </a:rPr>
              <a:t>Mediation Fails — Direct AI Effect Dominates  (RQ2)</a:t>
            </a:r>
            <a:endParaRPr lang="en-US" sz="1300" dirty="0"/>
          </a:p>
        </p:txBody>
      </p:sp>
      <p:sp>
        <p:nvSpPr>
          <p:cNvPr id="21" name="Shape 18"/>
          <p:cNvSpPr/>
          <p:nvPr/>
        </p:nvSpPr>
        <p:spPr>
          <a:xfrm>
            <a:off x="749808" y="4498848"/>
            <a:ext cx="5102352" cy="0"/>
          </a:xfrm>
          <a:prstGeom prst="line">
            <a:avLst/>
          </a:prstGeom>
          <a:noFill/>
          <a:ln w="19050">
            <a:solidFill>
              <a:srgbClr val="56D68A"/>
            </a:solidFill>
            <a:prstDash val="solid"/>
          </a:ln>
        </p:spPr>
        <p:txBody>
          <a:bodyPr/>
          <a:lstStyle/>
          <a:p>
            <a:endParaRPr lang="en-GB"/>
          </a:p>
        </p:txBody>
      </p:sp>
      <p:sp>
        <p:nvSpPr>
          <p:cNvPr id="22" name="Text 19"/>
          <p:cNvSpPr/>
          <p:nvPr/>
        </p:nvSpPr>
        <p:spPr>
          <a:xfrm>
            <a:off x="749808" y="4617720"/>
            <a:ext cx="5138928" cy="1645920"/>
          </a:xfrm>
          <a:prstGeom prst="rect">
            <a:avLst/>
          </a:prstGeom>
          <a:noFill/>
          <a:ln/>
        </p:spPr>
        <p:txBody>
          <a:bodyPr wrap="square" lIns="50800" tIns="50800" rIns="50800" bIns="50800" rtlCol="0" anchor="t"/>
          <a:lstStyle/>
          <a:p>
            <a:pPr marL="0" indent="0" algn="l">
              <a:buNone/>
            </a:pPr>
            <a:r>
              <a:rPr lang="en-US" sz="1150" dirty="0">
                <a:solidFill>
                  <a:srgbClr val="F5F5F0"/>
                </a:solidFill>
                <a:latin typeface="Gill Sans MT" pitchFamily="34" charset="0"/>
                <a:ea typeface="Gill Sans MT" pitchFamily="34" charset="-122"/>
                <a:cs typeface="Gill Sans MT" pitchFamily="34" charset="-120"/>
              </a:rPr>
              <a:t>H2a not supported. AI readiness drives economic performance directly (β = 0.340), bypassing SC. AI's economic value is broader than the logistics channel alone.</a:t>
            </a:r>
            <a:endParaRPr lang="en-US" sz="1150" dirty="0"/>
          </a:p>
        </p:txBody>
      </p:sp>
      <p:sp>
        <p:nvSpPr>
          <p:cNvPr id="23" name="Shape 20"/>
          <p:cNvSpPr/>
          <p:nvPr/>
        </p:nvSpPr>
        <p:spPr>
          <a:xfrm>
            <a:off x="6309360" y="3931920"/>
            <a:ext cx="5669280" cy="2487168"/>
          </a:xfrm>
          <a:prstGeom prst="roundRect">
            <a:avLst>
              <a:gd name="adj" fmla="val 5147"/>
            </a:avLst>
          </a:prstGeom>
          <a:solidFill>
            <a:srgbClr val="040810">
              <a:alpha val="58000"/>
            </a:srgbClr>
          </a:solidFill>
          <a:ln w="10160">
            <a:solidFill>
              <a:srgbClr val="F0C040">
                <a:alpha val="6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4" name="Shape 21"/>
          <p:cNvSpPr/>
          <p:nvPr/>
        </p:nvSpPr>
        <p:spPr>
          <a:xfrm>
            <a:off x="6473952" y="4023360"/>
            <a:ext cx="0" cy="2331720"/>
          </a:xfrm>
          <a:prstGeom prst="line">
            <a:avLst/>
          </a:prstGeom>
          <a:noFill/>
          <a:ln w="38100">
            <a:solidFill>
              <a:srgbClr val="F0C040"/>
            </a:solidFill>
            <a:prstDash val="solid"/>
          </a:ln>
        </p:spPr>
        <p:txBody>
          <a:bodyPr/>
          <a:lstStyle/>
          <a:p>
            <a:endParaRPr lang="en-GB"/>
          </a:p>
        </p:txBody>
      </p:sp>
      <p:sp>
        <p:nvSpPr>
          <p:cNvPr id="25" name="Text 22"/>
          <p:cNvSpPr/>
          <p:nvPr/>
        </p:nvSpPr>
        <p:spPr>
          <a:xfrm>
            <a:off x="6693408" y="4041648"/>
            <a:ext cx="5138928" cy="438912"/>
          </a:xfrm>
          <a:prstGeom prst="rect">
            <a:avLst/>
          </a:prstGeom>
          <a:noFill/>
          <a:ln/>
        </p:spPr>
        <p:txBody>
          <a:bodyPr wrap="square" lIns="50800" tIns="50800" rIns="50800" bIns="50800" rtlCol="0" anchor="ctr"/>
          <a:lstStyle/>
          <a:p>
            <a:pPr marL="0" indent="0" algn="l">
              <a:buNone/>
            </a:pPr>
            <a:r>
              <a:rPr lang="en-US" sz="1300" b="1" dirty="0">
                <a:solidFill>
                  <a:srgbClr val="F0C040"/>
                </a:solidFill>
                <a:latin typeface="Gill Sans MT" pitchFamily="34" charset="0"/>
                <a:ea typeface="Gill Sans MT" pitchFamily="34" charset="-122"/>
                <a:cs typeface="Gill Sans MT" pitchFamily="34" charset="-120"/>
              </a:rPr>
              <a:t>Theoretical Refinement Needed</a:t>
            </a:r>
            <a:endParaRPr lang="en-US" sz="1300" dirty="0"/>
          </a:p>
        </p:txBody>
      </p:sp>
      <p:sp>
        <p:nvSpPr>
          <p:cNvPr id="26" name="Shape 23"/>
          <p:cNvSpPr/>
          <p:nvPr/>
        </p:nvSpPr>
        <p:spPr>
          <a:xfrm>
            <a:off x="6693408" y="4498848"/>
            <a:ext cx="5102352" cy="0"/>
          </a:xfrm>
          <a:prstGeom prst="line">
            <a:avLst/>
          </a:prstGeom>
          <a:noFill/>
          <a:ln w="19050">
            <a:solidFill>
              <a:srgbClr val="F0C040"/>
            </a:solidFill>
            <a:prstDash val="solid"/>
          </a:ln>
        </p:spPr>
        <p:txBody>
          <a:bodyPr/>
          <a:lstStyle/>
          <a:p>
            <a:endParaRPr lang="en-GB"/>
          </a:p>
        </p:txBody>
      </p:sp>
      <p:sp>
        <p:nvSpPr>
          <p:cNvPr id="27" name="Text 24"/>
          <p:cNvSpPr/>
          <p:nvPr/>
        </p:nvSpPr>
        <p:spPr>
          <a:xfrm>
            <a:off x="6693408" y="4617720"/>
            <a:ext cx="5138928" cy="1645920"/>
          </a:xfrm>
          <a:prstGeom prst="rect">
            <a:avLst/>
          </a:prstGeom>
          <a:noFill/>
          <a:ln/>
        </p:spPr>
        <p:txBody>
          <a:bodyPr wrap="square" lIns="50800" tIns="50800" rIns="50800" bIns="50800" rtlCol="0" anchor="t"/>
          <a:lstStyle/>
          <a:p>
            <a:pPr marL="0" indent="0" algn="l">
              <a:buNone/>
            </a:pPr>
            <a:r>
              <a:rPr lang="en-US" sz="1150" dirty="0">
                <a:solidFill>
                  <a:srgbClr val="F5F5F0"/>
                </a:solidFill>
                <a:latin typeface="Gill Sans MT" pitchFamily="34" charset="0"/>
                <a:ea typeface="Gill Sans MT" pitchFamily="34" charset="-122"/>
                <a:cs typeface="Gill Sans MT" pitchFamily="34" charset="-120"/>
              </a:rPr>
              <a:t>The substitutive pattern calls for boundary conditions theory. When does governance complement vs. substitute AI? Full-panel longitudinal analysis is the necessary next step.</a:t>
            </a:r>
            <a:endParaRPr lang="en-US" sz="1150" dirty="0"/>
          </a:p>
        </p:txBody>
      </p:sp>
      <p:sp>
        <p:nvSpPr>
          <p:cNvPr id="28" name="Text 25"/>
          <p:cNvSpPr/>
          <p:nvPr/>
        </p:nvSpPr>
        <p:spPr>
          <a:xfrm>
            <a:off x="11704320" y="6492240"/>
            <a:ext cx="365760" cy="274320"/>
          </a:xfrm>
          <a:prstGeom prst="rect">
            <a:avLst/>
          </a:prstGeom>
          <a:noFill/>
          <a:ln/>
        </p:spPr>
        <p:txBody>
          <a:bodyPr wrap="square" rtlCol="0" anchor="ctr"/>
          <a:lstStyle/>
          <a:p>
            <a:pPr marL="0" indent="0" algn="r">
              <a:buNone/>
            </a:pPr>
            <a:r>
              <a:rPr lang="en-US" sz="800" dirty="0">
                <a:solidFill>
                  <a:srgbClr val="B8C8D8"/>
                </a:solidFill>
                <a:latin typeface="Gill Sans MT" pitchFamily="34" charset="0"/>
                <a:ea typeface="Gill Sans MT" pitchFamily="34" charset="-122"/>
                <a:cs typeface="Gill Sans MT"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eg"/>
          <p:cNvPicPr>
            <a:picLocks noChangeAspect="1"/>
          </p:cNvPicPr>
          <p:nvPr/>
        </p:nvPicPr>
        <p:blipFill>
          <a:blip r:embed="rId2"/>
          <a:stretch>
            <a:fillRect/>
          </a:stretch>
        </p:blipFill>
        <p:spPr>
          <a:xfrm>
            <a:off x="0" y="0"/>
            <a:ext cx="12161520" cy="6858000"/>
          </a:xfrm>
          <a:prstGeom prst="rect">
            <a:avLst/>
          </a:prstGeom>
        </p:spPr>
      </p:pic>
      <p:sp>
        <p:nvSpPr>
          <p:cNvPr id="3" name="Rectangle 2"/>
          <p:cNvSpPr/>
          <p:nvPr/>
        </p:nvSpPr>
        <p:spPr>
          <a:xfrm>
            <a:off x="0" y="0"/>
            <a:ext cx="12161520" cy="1188720"/>
          </a:xfrm>
          <a:prstGeom prst="rect">
            <a:avLst/>
          </a:prstGeom>
          <a:solidFill>
            <a:srgbClr val="050810">
              <a:alpha val="4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365760" y="137160"/>
            <a:ext cx="2743200" cy="292608"/>
          </a:xfrm>
          <a:prstGeom prst="roundRect">
            <a:avLst/>
          </a:prstGeom>
          <a:solidFill>
            <a:srgbClr val="050810">
              <a:alpha val="50000"/>
            </a:srgbClr>
          </a:solidFill>
          <a:ln w="19050">
            <a:solidFill>
              <a:srgbClr val="F0C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37160"/>
            <a:ext cx="2743200" cy="292608"/>
          </a:xfrm>
          <a:prstGeom prst="rect">
            <a:avLst/>
          </a:prstGeom>
          <a:noFill/>
        </p:spPr>
        <p:txBody>
          <a:bodyPr wrap="square">
            <a:spAutoFit/>
          </a:bodyPr>
          <a:lstStyle/>
          <a:p>
            <a:pPr algn="ctr"/>
            <a:r>
              <a:rPr sz="850" b="1" i="0">
                <a:solidFill>
                  <a:srgbClr val="F0C040"/>
                </a:solidFill>
                <a:latin typeface="Gill Sans MT"/>
              </a:rPr>
              <a:t>RESEARCH CONTRIBUTIONS</a:t>
            </a:r>
          </a:p>
        </p:txBody>
      </p:sp>
      <p:sp>
        <p:nvSpPr>
          <p:cNvPr id="6" name="TextBox 5"/>
          <p:cNvSpPr txBox="1"/>
          <p:nvPr/>
        </p:nvSpPr>
        <p:spPr>
          <a:xfrm>
            <a:off x="365760" y="347472"/>
            <a:ext cx="11430000" cy="685800"/>
          </a:xfrm>
          <a:prstGeom prst="rect">
            <a:avLst/>
          </a:prstGeom>
          <a:noFill/>
        </p:spPr>
        <p:txBody>
          <a:bodyPr wrap="square">
            <a:spAutoFit/>
          </a:bodyPr>
          <a:lstStyle/>
          <a:p>
            <a:pPr algn="l"/>
            <a:r>
              <a:rPr sz="2800" b="1" i="0">
                <a:solidFill>
                  <a:srgbClr val="FFFFFF"/>
                </a:solidFill>
                <a:latin typeface="Gill Sans MT"/>
              </a:rPr>
              <a:t>What This Research Contributes</a:t>
            </a:r>
          </a:p>
        </p:txBody>
      </p:sp>
      <p:cxnSp>
        <p:nvCxnSpPr>
          <p:cNvPr id="7" name="Connector 6"/>
          <p:cNvCxnSpPr/>
          <p:nvPr/>
        </p:nvCxnSpPr>
        <p:spPr>
          <a:xfrm>
            <a:off x="365760" y="1115568"/>
            <a:ext cx="11430000" cy="0"/>
          </a:xfrm>
          <a:prstGeom prst="line">
            <a:avLst/>
          </a:prstGeom>
          <a:ln w="19050">
            <a:solidFill>
              <a:srgbClr val="F0C040"/>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74320" y="1207008"/>
            <a:ext cx="5742432" cy="1664208"/>
          </a:xfrm>
          <a:prstGeom prst="roundRect">
            <a:avLst/>
          </a:prstGeom>
          <a:solidFill>
            <a:srgbClr val="050810">
              <a:alpha val="60000"/>
            </a:srgbClr>
          </a:solidFill>
          <a:ln w="11430">
            <a:solidFill>
              <a:srgbClr val="6DA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1207008"/>
            <a:ext cx="64008" cy="1664208"/>
          </a:xfrm>
          <a:prstGeom prst="rect">
            <a:avLst/>
          </a:prstGeom>
          <a:solidFill>
            <a:srgbClr val="6DAE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57200" y="1335024"/>
            <a:ext cx="475488" cy="402336"/>
          </a:xfrm>
          <a:prstGeom prst="roundRect">
            <a:avLst/>
          </a:prstGeom>
          <a:solidFill>
            <a:srgbClr val="6DAE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1335024"/>
            <a:ext cx="475488" cy="402336"/>
          </a:xfrm>
          <a:prstGeom prst="rect">
            <a:avLst/>
          </a:prstGeom>
          <a:noFill/>
        </p:spPr>
        <p:txBody>
          <a:bodyPr wrap="square">
            <a:spAutoFit/>
          </a:bodyPr>
          <a:lstStyle/>
          <a:p>
            <a:pPr algn="ctr"/>
            <a:r>
              <a:rPr sz="1300" b="1" i="0">
                <a:solidFill>
                  <a:srgbClr val="050810"/>
                </a:solidFill>
                <a:latin typeface="Gill Sans MT"/>
              </a:rPr>
              <a:t>01</a:t>
            </a:r>
          </a:p>
        </p:txBody>
      </p:sp>
      <p:sp>
        <p:nvSpPr>
          <p:cNvPr id="12" name="Rounded Rectangle 11"/>
          <p:cNvSpPr/>
          <p:nvPr/>
        </p:nvSpPr>
        <p:spPr>
          <a:xfrm>
            <a:off x="4690872" y="1371600"/>
            <a:ext cx="1188720" cy="274320"/>
          </a:xfrm>
          <a:prstGeom prst="roundRect">
            <a:avLst/>
          </a:prstGeom>
          <a:solidFill>
            <a:srgbClr val="050810">
              <a:alpha val="70000"/>
            </a:srgbClr>
          </a:solidFill>
          <a:ln w="10160">
            <a:solidFill>
              <a:srgbClr val="6DA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90872" y="1371600"/>
            <a:ext cx="1188720" cy="274320"/>
          </a:xfrm>
          <a:prstGeom prst="rect">
            <a:avLst/>
          </a:prstGeom>
          <a:noFill/>
        </p:spPr>
        <p:txBody>
          <a:bodyPr wrap="square">
            <a:spAutoFit/>
          </a:bodyPr>
          <a:lstStyle/>
          <a:p>
            <a:pPr algn="ctr"/>
            <a:r>
              <a:rPr sz="850" b="1" i="0">
                <a:solidFill>
                  <a:srgbClr val="6DAEDB"/>
                </a:solidFill>
                <a:latin typeface="Gill Sans MT"/>
              </a:rPr>
              <a:t>Empirical</a:t>
            </a:r>
          </a:p>
        </p:txBody>
      </p:sp>
      <p:sp>
        <p:nvSpPr>
          <p:cNvPr id="14" name="TextBox 13"/>
          <p:cNvSpPr txBox="1"/>
          <p:nvPr/>
        </p:nvSpPr>
        <p:spPr>
          <a:xfrm>
            <a:off x="1024127" y="1335024"/>
            <a:ext cx="3602736" cy="402336"/>
          </a:xfrm>
          <a:prstGeom prst="rect">
            <a:avLst/>
          </a:prstGeom>
          <a:noFill/>
        </p:spPr>
        <p:txBody>
          <a:bodyPr wrap="square">
            <a:spAutoFit/>
          </a:bodyPr>
          <a:lstStyle/>
          <a:p>
            <a:pPr algn="l"/>
            <a:r>
              <a:rPr sz="1250" b="1" i="0">
                <a:solidFill>
                  <a:srgbClr val="6DAEDB"/>
                </a:solidFill>
                <a:latin typeface="Gill Sans MT"/>
              </a:rPr>
              <a:t>First Cross-National Macro-Level Study</a:t>
            </a:r>
          </a:p>
        </p:txBody>
      </p:sp>
      <p:cxnSp>
        <p:nvCxnSpPr>
          <p:cNvPr id="15" name="Connector 14"/>
          <p:cNvCxnSpPr/>
          <p:nvPr/>
        </p:nvCxnSpPr>
        <p:spPr>
          <a:xfrm>
            <a:off x="457200" y="1792224"/>
            <a:ext cx="5486400" cy="0"/>
          </a:xfrm>
          <a:prstGeom prst="line">
            <a:avLst/>
          </a:prstGeom>
          <a:ln w="7620">
            <a:solidFill>
              <a:srgbClr val="6DAED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57200" y="1865376"/>
            <a:ext cx="5486400" cy="914400"/>
          </a:xfrm>
          <a:prstGeom prst="rect">
            <a:avLst/>
          </a:prstGeom>
          <a:noFill/>
        </p:spPr>
        <p:txBody>
          <a:bodyPr wrap="square">
            <a:spAutoFit/>
          </a:bodyPr>
          <a:lstStyle/>
          <a:p>
            <a:pPr algn="l"/>
            <a:r>
              <a:rPr sz="1080" b="0" i="0">
                <a:solidFill>
                  <a:srgbClr val="F5F1EB"/>
                </a:solidFill>
                <a:latin typeface="Gill Sans MT"/>
              </a:rPr>
              <a:t>Tests the AI readiness → supply chain performance link across 164 countries simultaneously — moving beyond firm-level studies to a truly global scale.</a:t>
            </a:r>
          </a:p>
        </p:txBody>
      </p:sp>
      <p:sp>
        <p:nvSpPr>
          <p:cNvPr id="17" name="Rounded Rectangle 16"/>
          <p:cNvSpPr/>
          <p:nvPr/>
        </p:nvSpPr>
        <p:spPr>
          <a:xfrm>
            <a:off x="6236208" y="1207008"/>
            <a:ext cx="5742432" cy="1664208"/>
          </a:xfrm>
          <a:prstGeom prst="roundRect">
            <a:avLst/>
          </a:prstGeom>
          <a:solidFill>
            <a:srgbClr val="050810">
              <a:alpha val="60000"/>
            </a:srgbClr>
          </a:solidFill>
          <a:ln w="11430">
            <a:solidFill>
              <a:srgbClr val="C9A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36208" y="1207008"/>
            <a:ext cx="64008" cy="1664208"/>
          </a:xfrm>
          <a:prstGeom prst="rect">
            <a:avLst/>
          </a:prstGeom>
          <a:solidFill>
            <a:srgbClr val="C9A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419088" y="1335024"/>
            <a:ext cx="475488" cy="402336"/>
          </a:xfrm>
          <a:prstGeom prst="roundRect">
            <a:avLst/>
          </a:prstGeom>
          <a:solidFill>
            <a:srgbClr val="C9A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19088" y="1335024"/>
            <a:ext cx="475488" cy="402336"/>
          </a:xfrm>
          <a:prstGeom prst="rect">
            <a:avLst/>
          </a:prstGeom>
          <a:noFill/>
        </p:spPr>
        <p:txBody>
          <a:bodyPr wrap="square">
            <a:spAutoFit/>
          </a:bodyPr>
          <a:lstStyle/>
          <a:p>
            <a:pPr algn="ctr"/>
            <a:r>
              <a:rPr sz="1300" b="1" i="0">
                <a:solidFill>
                  <a:srgbClr val="050810"/>
                </a:solidFill>
                <a:latin typeface="Gill Sans MT"/>
              </a:rPr>
              <a:t>02</a:t>
            </a:r>
          </a:p>
        </p:txBody>
      </p:sp>
      <p:sp>
        <p:nvSpPr>
          <p:cNvPr id="21" name="Rounded Rectangle 20"/>
          <p:cNvSpPr/>
          <p:nvPr/>
        </p:nvSpPr>
        <p:spPr>
          <a:xfrm>
            <a:off x="10652760" y="1371600"/>
            <a:ext cx="1188720" cy="274320"/>
          </a:xfrm>
          <a:prstGeom prst="roundRect">
            <a:avLst/>
          </a:prstGeom>
          <a:solidFill>
            <a:srgbClr val="050810">
              <a:alpha val="70000"/>
            </a:srgbClr>
          </a:solidFill>
          <a:ln w="10160">
            <a:solidFill>
              <a:srgbClr val="C9A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652760" y="1371600"/>
            <a:ext cx="1188720" cy="274320"/>
          </a:xfrm>
          <a:prstGeom prst="rect">
            <a:avLst/>
          </a:prstGeom>
          <a:noFill/>
        </p:spPr>
        <p:txBody>
          <a:bodyPr wrap="square">
            <a:spAutoFit/>
          </a:bodyPr>
          <a:lstStyle/>
          <a:p>
            <a:pPr algn="ctr"/>
            <a:r>
              <a:rPr sz="850" b="1" i="0">
                <a:solidFill>
                  <a:srgbClr val="C9A0E8"/>
                </a:solidFill>
                <a:latin typeface="Gill Sans MT"/>
              </a:rPr>
              <a:t>Theoretical</a:t>
            </a:r>
          </a:p>
        </p:txBody>
      </p:sp>
      <p:sp>
        <p:nvSpPr>
          <p:cNvPr id="23" name="TextBox 22"/>
          <p:cNvSpPr txBox="1"/>
          <p:nvPr/>
        </p:nvSpPr>
        <p:spPr>
          <a:xfrm>
            <a:off x="6986016" y="1335024"/>
            <a:ext cx="3602736" cy="402336"/>
          </a:xfrm>
          <a:prstGeom prst="rect">
            <a:avLst/>
          </a:prstGeom>
          <a:noFill/>
        </p:spPr>
        <p:txBody>
          <a:bodyPr wrap="square">
            <a:spAutoFit/>
          </a:bodyPr>
          <a:lstStyle/>
          <a:p>
            <a:pPr algn="l"/>
            <a:r>
              <a:rPr sz="1250" b="1" i="0">
                <a:solidFill>
                  <a:srgbClr val="C9A0E8"/>
                </a:solidFill>
                <a:latin typeface="Gill Sans MT"/>
              </a:rPr>
              <a:t>Institutions Substitute AI, Not Amplify It</a:t>
            </a:r>
          </a:p>
        </p:txBody>
      </p:sp>
      <p:cxnSp>
        <p:nvCxnSpPr>
          <p:cNvPr id="24" name="Connector 23"/>
          <p:cNvCxnSpPr/>
          <p:nvPr/>
        </p:nvCxnSpPr>
        <p:spPr>
          <a:xfrm>
            <a:off x="6419088" y="1792224"/>
            <a:ext cx="5486400" cy="0"/>
          </a:xfrm>
          <a:prstGeom prst="line">
            <a:avLst/>
          </a:prstGeom>
          <a:ln w="7620">
            <a:solidFill>
              <a:srgbClr val="C9A0E8"/>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419088" y="1865376"/>
            <a:ext cx="5486400" cy="914400"/>
          </a:xfrm>
          <a:prstGeom prst="rect">
            <a:avLst/>
          </a:prstGeom>
          <a:noFill/>
        </p:spPr>
        <p:txBody>
          <a:bodyPr wrap="square">
            <a:spAutoFit/>
          </a:bodyPr>
          <a:lstStyle/>
          <a:p>
            <a:pPr algn="l"/>
            <a:r>
              <a:rPr sz="1080" b="0" i="0">
                <a:solidFill>
                  <a:srgbClr val="F5F1EB"/>
                </a:solidFill>
                <a:latin typeface="Gill Sans MT"/>
              </a:rPr>
              <a:t>Demonstrates that institutional quality and AI readiness substitute for each other in driving SC performance — a finding that directly challenges the complementarity assumption dominant in the literature.</a:t>
            </a:r>
          </a:p>
        </p:txBody>
      </p:sp>
      <p:sp>
        <p:nvSpPr>
          <p:cNvPr id="26" name="Rounded Rectangle 25"/>
          <p:cNvSpPr/>
          <p:nvPr/>
        </p:nvSpPr>
        <p:spPr>
          <a:xfrm>
            <a:off x="274320" y="2962656"/>
            <a:ext cx="5742432" cy="1664208"/>
          </a:xfrm>
          <a:prstGeom prst="roundRect">
            <a:avLst/>
          </a:prstGeom>
          <a:solidFill>
            <a:srgbClr val="050810">
              <a:alpha val="60000"/>
            </a:srgbClr>
          </a:solidFill>
          <a:ln w="11430">
            <a:solidFill>
              <a:srgbClr val="56D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274320" y="2962656"/>
            <a:ext cx="64008" cy="1664208"/>
          </a:xfrm>
          <a:prstGeom prst="rect">
            <a:avLst/>
          </a:prstGeom>
          <a:solidFill>
            <a:srgbClr val="56D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457200" y="3090672"/>
            <a:ext cx="475488" cy="402336"/>
          </a:xfrm>
          <a:prstGeom prst="roundRect">
            <a:avLst/>
          </a:prstGeom>
          <a:solidFill>
            <a:srgbClr val="56D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57200" y="3090672"/>
            <a:ext cx="475488" cy="402336"/>
          </a:xfrm>
          <a:prstGeom prst="rect">
            <a:avLst/>
          </a:prstGeom>
          <a:noFill/>
        </p:spPr>
        <p:txBody>
          <a:bodyPr wrap="square">
            <a:spAutoFit/>
          </a:bodyPr>
          <a:lstStyle/>
          <a:p>
            <a:pPr algn="ctr"/>
            <a:r>
              <a:rPr sz="1300" b="1" i="0">
                <a:solidFill>
                  <a:srgbClr val="050810"/>
                </a:solidFill>
                <a:latin typeface="Gill Sans MT"/>
              </a:rPr>
              <a:t>03</a:t>
            </a:r>
          </a:p>
        </p:txBody>
      </p:sp>
      <p:sp>
        <p:nvSpPr>
          <p:cNvPr id="30" name="Rounded Rectangle 29"/>
          <p:cNvSpPr/>
          <p:nvPr/>
        </p:nvSpPr>
        <p:spPr>
          <a:xfrm>
            <a:off x="4690872" y="3127248"/>
            <a:ext cx="1188720" cy="274320"/>
          </a:xfrm>
          <a:prstGeom prst="roundRect">
            <a:avLst/>
          </a:prstGeom>
          <a:solidFill>
            <a:srgbClr val="050810">
              <a:alpha val="70000"/>
            </a:srgbClr>
          </a:solidFill>
          <a:ln w="10160">
            <a:solidFill>
              <a:srgbClr val="56D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690872" y="3127248"/>
            <a:ext cx="1188720" cy="274320"/>
          </a:xfrm>
          <a:prstGeom prst="rect">
            <a:avLst/>
          </a:prstGeom>
          <a:noFill/>
        </p:spPr>
        <p:txBody>
          <a:bodyPr wrap="square">
            <a:spAutoFit/>
          </a:bodyPr>
          <a:lstStyle/>
          <a:p>
            <a:pPr algn="ctr"/>
            <a:r>
              <a:rPr sz="850" b="1" i="0">
                <a:solidFill>
                  <a:srgbClr val="56D68A"/>
                </a:solidFill>
                <a:latin typeface="Gill Sans MT"/>
              </a:rPr>
              <a:t>Empirical</a:t>
            </a:r>
          </a:p>
        </p:txBody>
      </p:sp>
      <p:sp>
        <p:nvSpPr>
          <p:cNvPr id="32" name="TextBox 31"/>
          <p:cNvSpPr txBox="1"/>
          <p:nvPr/>
        </p:nvSpPr>
        <p:spPr>
          <a:xfrm>
            <a:off x="1024127" y="3090672"/>
            <a:ext cx="3602736" cy="402336"/>
          </a:xfrm>
          <a:prstGeom prst="rect">
            <a:avLst/>
          </a:prstGeom>
          <a:noFill/>
        </p:spPr>
        <p:txBody>
          <a:bodyPr wrap="square">
            <a:spAutoFit/>
          </a:bodyPr>
          <a:lstStyle/>
          <a:p>
            <a:pPr algn="l"/>
            <a:r>
              <a:rPr sz="1250" b="1" i="0">
                <a:solidFill>
                  <a:srgbClr val="56D68A"/>
                </a:solidFill>
                <a:latin typeface="Gill Sans MT"/>
              </a:rPr>
              <a:t>AI Drives Economies Directly</a:t>
            </a:r>
          </a:p>
        </p:txBody>
      </p:sp>
      <p:cxnSp>
        <p:nvCxnSpPr>
          <p:cNvPr id="33" name="Connector 32"/>
          <p:cNvCxnSpPr/>
          <p:nvPr/>
        </p:nvCxnSpPr>
        <p:spPr>
          <a:xfrm>
            <a:off x="457200" y="3547872"/>
            <a:ext cx="5486400" cy="0"/>
          </a:xfrm>
          <a:prstGeom prst="line">
            <a:avLst/>
          </a:prstGeom>
          <a:ln w="7620">
            <a:solidFill>
              <a:srgbClr val="56D68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457200" y="3621024"/>
            <a:ext cx="5486400" cy="914400"/>
          </a:xfrm>
          <a:prstGeom prst="rect">
            <a:avLst/>
          </a:prstGeom>
          <a:noFill/>
        </p:spPr>
        <p:txBody>
          <a:bodyPr wrap="square">
            <a:spAutoFit/>
          </a:bodyPr>
          <a:lstStyle/>
          <a:p>
            <a:pPr algn="l"/>
            <a:r>
              <a:rPr sz="1080" b="0" i="0">
                <a:solidFill>
                  <a:srgbClr val="F5F1EB"/>
                </a:solidFill>
                <a:latin typeface="Gill Sans MT"/>
              </a:rPr>
              <a:t>Shows that AI readiness boosts economic performance through channels beyond supply chains — suggesting that the economic value of AI is broader than the logistics pathway alone.</a:t>
            </a:r>
          </a:p>
        </p:txBody>
      </p:sp>
      <p:sp>
        <p:nvSpPr>
          <p:cNvPr id="35" name="Rounded Rectangle 34"/>
          <p:cNvSpPr/>
          <p:nvPr/>
        </p:nvSpPr>
        <p:spPr>
          <a:xfrm>
            <a:off x="6236208" y="2962656"/>
            <a:ext cx="5742432" cy="1664208"/>
          </a:xfrm>
          <a:prstGeom prst="roundRect">
            <a:avLst/>
          </a:prstGeom>
          <a:solidFill>
            <a:srgbClr val="050810">
              <a:alpha val="60000"/>
            </a:srgbClr>
          </a:solidFill>
          <a:ln w="11430">
            <a:solidFill>
              <a:srgbClr val="4ECD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6236208" y="2962656"/>
            <a:ext cx="64008" cy="1664208"/>
          </a:xfrm>
          <a:prstGeom prst="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6419088" y="3090672"/>
            <a:ext cx="475488" cy="402336"/>
          </a:xfrm>
          <a:prstGeom prst="round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19088" y="3090672"/>
            <a:ext cx="475488" cy="402336"/>
          </a:xfrm>
          <a:prstGeom prst="rect">
            <a:avLst/>
          </a:prstGeom>
          <a:noFill/>
        </p:spPr>
        <p:txBody>
          <a:bodyPr wrap="square">
            <a:spAutoFit/>
          </a:bodyPr>
          <a:lstStyle/>
          <a:p>
            <a:pPr algn="ctr"/>
            <a:r>
              <a:rPr sz="1300" b="1" i="0">
                <a:solidFill>
                  <a:srgbClr val="050810"/>
                </a:solidFill>
                <a:latin typeface="Gill Sans MT"/>
              </a:rPr>
              <a:t>04</a:t>
            </a:r>
          </a:p>
        </p:txBody>
      </p:sp>
      <p:sp>
        <p:nvSpPr>
          <p:cNvPr id="39" name="Rounded Rectangle 38"/>
          <p:cNvSpPr/>
          <p:nvPr/>
        </p:nvSpPr>
        <p:spPr>
          <a:xfrm>
            <a:off x="10652760" y="3127248"/>
            <a:ext cx="1188720" cy="274320"/>
          </a:xfrm>
          <a:prstGeom prst="roundRect">
            <a:avLst/>
          </a:prstGeom>
          <a:solidFill>
            <a:srgbClr val="050810">
              <a:alpha val="70000"/>
            </a:srgbClr>
          </a:solidFill>
          <a:ln w="10160">
            <a:solidFill>
              <a:srgbClr val="4ECD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0652760" y="3127248"/>
            <a:ext cx="1188720" cy="274320"/>
          </a:xfrm>
          <a:prstGeom prst="rect">
            <a:avLst/>
          </a:prstGeom>
          <a:noFill/>
        </p:spPr>
        <p:txBody>
          <a:bodyPr wrap="square">
            <a:spAutoFit/>
          </a:bodyPr>
          <a:lstStyle/>
          <a:p>
            <a:pPr algn="ctr"/>
            <a:r>
              <a:rPr sz="850" b="1" i="0">
                <a:solidFill>
                  <a:srgbClr val="4ECDC4"/>
                </a:solidFill>
                <a:latin typeface="Gill Sans MT"/>
              </a:rPr>
              <a:t>Methodological</a:t>
            </a:r>
          </a:p>
        </p:txBody>
      </p:sp>
      <p:sp>
        <p:nvSpPr>
          <p:cNvPr id="41" name="TextBox 40"/>
          <p:cNvSpPr txBox="1"/>
          <p:nvPr/>
        </p:nvSpPr>
        <p:spPr>
          <a:xfrm>
            <a:off x="6986016" y="3090672"/>
            <a:ext cx="3602736" cy="402336"/>
          </a:xfrm>
          <a:prstGeom prst="rect">
            <a:avLst/>
          </a:prstGeom>
          <a:noFill/>
        </p:spPr>
        <p:txBody>
          <a:bodyPr wrap="square">
            <a:spAutoFit/>
          </a:bodyPr>
          <a:lstStyle/>
          <a:p>
            <a:pPr algn="l"/>
            <a:r>
              <a:rPr sz="1250" b="1" i="0">
                <a:solidFill>
                  <a:srgbClr val="4ECDC4"/>
                </a:solidFill>
                <a:latin typeface="Gill Sans MT"/>
              </a:rPr>
              <a:t>Cross-Database Composite Methodology</a:t>
            </a:r>
          </a:p>
        </p:txBody>
      </p:sp>
      <p:cxnSp>
        <p:nvCxnSpPr>
          <p:cNvPr id="42" name="Connector 41"/>
          <p:cNvCxnSpPr/>
          <p:nvPr/>
        </p:nvCxnSpPr>
        <p:spPr>
          <a:xfrm>
            <a:off x="6419088" y="3547872"/>
            <a:ext cx="5486400" cy="0"/>
          </a:xfrm>
          <a:prstGeom prst="line">
            <a:avLst/>
          </a:prstGeom>
          <a:ln w="7620">
            <a:solidFill>
              <a:srgbClr val="4ECDC4"/>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419088" y="3621024"/>
            <a:ext cx="5486400" cy="914400"/>
          </a:xfrm>
          <a:prstGeom prst="rect">
            <a:avLst/>
          </a:prstGeom>
          <a:noFill/>
        </p:spPr>
        <p:txBody>
          <a:bodyPr wrap="square">
            <a:spAutoFit/>
          </a:bodyPr>
          <a:lstStyle/>
          <a:p>
            <a:pPr algn="l"/>
            <a:r>
              <a:rPr sz="1080" b="0" i="0">
                <a:solidFill>
                  <a:srgbClr val="F5F1EB"/>
                </a:solidFill>
                <a:latin typeface="Gill Sans MT"/>
              </a:rPr>
              <a:t>Develops and validates a harmonised 164-country, 48-variable dataset drawn from five open-access databases — a reusable infrastructure for future macro-level AI-logistics research.</a:t>
            </a:r>
          </a:p>
        </p:txBody>
      </p:sp>
      <p:sp>
        <p:nvSpPr>
          <p:cNvPr id="44" name="Rounded Rectangle 43"/>
          <p:cNvSpPr/>
          <p:nvPr/>
        </p:nvSpPr>
        <p:spPr>
          <a:xfrm>
            <a:off x="274320" y="4718304"/>
            <a:ext cx="5742432" cy="1664208"/>
          </a:xfrm>
          <a:prstGeom prst="roundRect">
            <a:avLst/>
          </a:prstGeom>
          <a:solidFill>
            <a:srgbClr val="050810">
              <a:alpha val="60000"/>
            </a:srgbClr>
          </a:solidFill>
          <a:ln w="11430">
            <a:solidFill>
              <a:srgbClr val="FFB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274320" y="4718304"/>
            <a:ext cx="64008" cy="1664208"/>
          </a:xfrm>
          <a:prstGeom prst="rect">
            <a:avLst/>
          </a:prstGeom>
          <a:solidFill>
            <a:srgbClr val="FFB3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ounded Rectangle 45"/>
          <p:cNvSpPr/>
          <p:nvPr/>
        </p:nvSpPr>
        <p:spPr>
          <a:xfrm>
            <a:off x="457200" y="4846320"/>
            <a:ext cx="475488" cy="402336"/>
          </a:xfrm>
          <a:prstGeom prst="roundRect">
            <a:avLst/>
          </a:prstGeom>
          <a:solidFill>
            <a:srgbClr val="FFB3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57200" y="4846320"/>
            <a:ext cx="475488" cy="402336"/>
          </a:xfrm>
          <a:prstGeom prst="rect">
            <a:avLst/>
          </a:prstGeom>
          <a:noFill/>
        </p:spPr>
        <p:txBody>
          <a:bodyPr wrap="square">
            <a:spAutoFit/>
          </a:bodyPr>
          <a:lstStyle/>
          <a:p>
            <a:pPr algn="ctr"/>
            <a:r>
              <a:rPr sz="1300" b="1" i="0">
                <a:solidFill>
                  <a:srgbClr val="050810"/>
                </a:solidFill>
                <a:latin typeface="Gill Sans MT"/>
              </a:rPr>
              <a:t>05</a:t>
            </a:r>
          </a:p>
        </p:txBody>
      </p:sp>
      <p:sp>
        <p:nvSpPr>
          <p:cNvPr id="48" name="Rounded Rectangle 47"/>
          <p:cNvSpPr/>
          <p:nvPr/>
        </p:nvSpPr>
        <p:spPr>
          <a:xfrm>
            <a:off x="4690872" y="4882896"/>
            <a:ext cx="1188720" cy="274320"/>
          </a:xfrm>
          <a:prstGeom prst="roundRect">
            <a:avLst/>
          </a:prstGeom>
          <a:solidFill>
            <a:srgbClr val="050810">
              <a:alpha val="70000"/>
            </a:srgbClr>
          </a:solidFill>
          <a:ln w="10160">
            <a:solidFill>
              <a:srgbClr val="FFB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690872" y="4882896"/>
            <a:ext cx="1188720" cy="274320"/>
          </a:xfrm>
          <a:prstGeom prst="rect">
            <a:avLst/>
          </a:prstGeom>
          <a:noFill/>
        </p:spPr>
        <p:txBody>
          <a:bodyPr wrap="square">
            <a:spAutoFit/>
          </a:bodyPr>
          <a:lstStyle/>
          <a:p>
            <a:pPr algn="ctr"/>
            <a:r>
              <a:rPr sz="850" b="1" i="0">
                <a:solidFill>
                  <a:srgbClr val="FFB347"/>
                </a:solidFill>
                <a:latin typeface="Gill Sans MT"/>
              </a:rPr>
              <a:t>Methodological</a:t>
            </a:r>
          </a:p>
        </p:txBody>
      </p:sp>
      <p:sp>
        <p:nvSpPr>
          <p:cNvPr id="50" name="TextBox 49"/>
          <p:cNvSpPr txBox="1"/>
          <p:nvPr/>
        </p:nvSpPr>
        <p:spPr>
          <a:xfrm>
            <a:off x="1024127" y="4846320"/>
            <a:ext cx="3602736" cy="402336"/>
          </a:xfrm>
          <a:prstGeom prst="rect">
            <a:avLst/>
          </a:prstGeom>
          <a:noFill/>
        </p:spPr>
        <p:txBody>
          <a:bodyPr wrap="square">
            <a:spAutoFit/>
          </a:bodyPr>
          <a:lstStyle/>
          <a:p>
            <a:pPr algn="l"/>
            <a:r>
              <a:rPr sz="1250" b="1" i="0">
                <a:solidFill>
                  <a:srgbClr val="FFB347"/>
                </a:solidFill>
                <a:latin typeface="Gill Sans MT"/>
              </a:rPr>
              <a:t>Pilot SEM Measurement Framework</a:t>
            </a:r>
          </a:p>
        </p:txBody>
      </p:sp>
      <p:cxnSp>
        <p:nvCxnSpPr>
          <p:cNvPr id="51" name="Connector 50"/>
          <p:cNvCxnSpPr/>
          <p:nvPr/>
        </p:nvCxnSpPr>
        <p:spPr>
          <a:xfrm>
            <a:off x="457200" y="5303520"/>
            <a:ext cx="5486400" cy="0"/>
          </a:xfrm>
          <a:prstGeom prst="line">
            <a:avLst/>
          </a:prstGeom>
          <a:ln w="7620">
            <a:solidFill>
              <a:srgbClr val="FFB347"/>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457200" y="5376672"/>
            <a:ext cx="5486400" cy="914400"/>
          </a:xfrm>
          <a:prstGeom prst="rect">
            <a:avLst/>
          </a:prstGeom>
          <a:noFill/>
        </p:spPr>
        <p:txBody>
          <a:bodyPr wrap="square">
            <a:spAutoFit/>
          </a:bodyPr>
          <a:lstStyle/>
          <a:p>
            <a:pPr algn="l"/>
            <a:r>
              <a:rPr sz="1080" b="0" i="0">
                <a:solidFill>
                  <a:srgbClr val="F5F1EB"/>
                </a:solidFill>
                <a:latin typeface="Gill Sans MT"/>
              </a:rPr>
              <a:t>Establishes validated construct reliability (α ≥ 0.819), convergent validity (AVE ≥ 0.501), and discriminant validity across all four latent constructs — ready for full Amos CFA-SEM extension.</a:t>
            </a:r>
          </a:p>
        </p:txBody>
      </p:sp>
      <p:sp>
        <p:nvSpPr>
          <p:cNvPr id="53" name="Rounded Rectangle 52"/>
          <p:cNvSpPr/>
          <p:nvPr/>
        </p:nvSpPr>
        <p:spPr>
          <a:xfrm>
            <a:off x="6236208" y="4718304"/>
            <a:ext cx="5742432" cy="1664208"/>
          </a:xfrm>
          <a:prstGeom prst="roundRect">
            <a:avLst/>
          </a:prstGeom>
          <a:solidFill>
            <a:srgbClr val="050810">
              <a:alpha val="60000"/>
            </a:srgbClr>
          </a:solidFill>
          <a:ln w="11430">
            <a:solidFill>
              <a:srgbClr val="F0C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6236208" y="4718304"/>
            <a:ext cx="64008" cy="1664208"/>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ounded Rectangle 54"/>
          <p:cNvSpPr/>
          <p:nvPr/>
        </p:nvSpPr>
        <p:spPr>
          <a:xfrm>
            <a:off x="6419088" y="4846320"/>
            <a:ext cx="475488" cy="402336"/>
          </a:xfrm>
          <a:prstGeom prst="round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419088" y="4846320"/>
            <a:ext cx="475488" cy="402336"/>
          </a:xfrm>
          <a:prstGeom prst="rect">
            <a:avLst/>
          </a:prstGeom>
          <a:noFill/>
        </p:spPr>
        <p:txBody>
          <a:bodyPr wrap="square">
            <a:spAutoFit/>
          </a:bodyPr>
          <a:lstStyle/>
          <a:p>
            <a:pPr algn="ctr"/>
            <a:r>
              <a:rPr sz="1300" b="1" i="0">
                <a:solidFill>
                  <a:srgbClr val="050810"/>
                </a:solidFill>
                <a:latin typeface="Gill Sans MT"/>
              </a:rPr>
              <a:t>06</a:t>
            </a:r>
          </a:p>
        </p:txBody>
      </p:sp>
      <p:sp>
        <p:nvSpPr>
          <p:cNvPr id="57" name="Rounded Rectangle 56"/>
          <p:cNvSpPr/>
          <p:nvPr/>
        </p:nvSpPr>
        <p:spPr>
          <a:xfrm>
            <a:off x="10652760" y="4882896"/>
            <a:ext cx="1188720" cy="274320"/>
          </a:xfrm>
          <a:prstGeom prst="roundRect">
            <a:avLst/>
          </a:prstGeom>
          <a:solidFill>
            <a:srgbClr val="050810">
              <a:alpha val="70000"/>
            </a:srgbClr>
          </a:solidFill>
          <a:ln w="10160">
            <a:solidFill>
              <a:srgbClr val="F0C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10652760" y="4882896"/>
            <a:ext cx="1188720" cy="274320"/>
          </a:xfrm>
          <a:prstGeom prst="rect">
            <a:avLst/>
          </a:prstGeom>
          <a:noFill/>
        </p:spPr>
        <p:txBody>
          <a:bodyPr wrap="square">
            <a:spAutoFit/>
          </a:bodyPr>
          <a:lstStyle/>
          <a:p>
            <a:pPr algn="ctr"/>
            <a:r>
              <a:rPr sz="850" b="1" i="0">
                <a:solidFill>
                  <a:srgbClr val="F0C040"/>
                </a:solidFill>
                <a:latin typeface="Gill Sans MT"/>
              </a:rPr>
              <a:t>Policy</a:t>
            </a:r>
          </a:p>
        </p:txBody>
      </p:sp>
      <p:sp>
        <p:nvSpPr>
          <p:cNvPr id="59" name="TextBox 58"/>
          <p:cNvSpPr txBox="1"/>
          <p:nvPr/>
        </p:nvSpPr>
        <p:spPr>
          <a:xfrm>
            <a:off x="6986016" y="4846320"/>
            <a:ext cx="3602736" cy="402336"/>
          </a:xfrm>
          <a:prstGeom prst="rect">
            <a:avLst/>
          </a:prstGeom>
          <a:noFill/>
        </p:spPr>
        <p:txBody>
          <a:bodyPr wrap="square">
            <a:spAutoFit/>
          </a:bodyPr>
          <a:lstStyle/>
          <a:p>
            <a:pPr algn="l"/>
            <a:r>
              <a:rPr sz="1250" b="1" i="0">
                <a:solidFill>
                  <a:srgbClr val="F0C040"/>
                </a:solidFill>
                <a:latin typeface="Gill Sans MT"/>
              </a:rPr>
              <a:t>Context-Sensitive Policy Evidence</a:t>
            </a:r>
          </a:p>
        </p:txBody>
      </p:sp>
      <p:cxnSp>
        <p:nvCxnSpPr>
          <p:cNvPr id="60" name="Connector 59"/>
          <p:cNvCxnSpPr/>
          <p:nvPr/>
        </p:nvCxnSpPr>
        <p:spPr>
          <a:xfrm>
            <a:off x="6419088" y="5303520"/>
            <a:ext cx="5486400" cy="0"/>
          </a:xfrm>
          <a:prstGeom prst="line">
            <a:avLst/>
          </a:prstGeom>
          <a:ln w="7620">
            <a:solidFill>
              <a:srgbClr val="F0C040"/>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6419088" y="5376672"/>
            <a:ext cx="5486400" cy="914400"/>
          </a:xfrm>
          <a:prstGeom prst="rect">
            <a:avLst/>
          </a:prstGeom>
          <a:noFill/>
        </p:spPr>
        <p:txBody>
          <a:bodyPr wrap="square">
            <a:spAutoFit/>
          </a:bodyPr>
          <a:lstStyle/>
          <a:p>
            <a:pPr algn="l"/>
            <a:r>
              <a:rPr sz="1080" b="0" i="0">
                <a:solidFill>
                  <a:srgbClr val="F5F1EB"/>
                </a:solidFill>
                <a:latin typeface="Gill Sans MT"/>
              </a:rPr>
              <a:t>Provides evidence that AI investment in logistics yields higher marginal returns where governance is weaker — informing differentiated, context-specific national AI and supply chain strategies.</a:t>
            </a:r>
          </a:p>
        </p:txBody>
      </p:sp>
      <p:sp>
        <p:nvSpPr>
          <p:cNvPr id="62" name="Rounded Rectangle 61"/>
          <p:cNvSpPr/>
          <p:nvPr/>
        </p:nvSpPr>
        <p:spPr>
          <a:xfrm>
            <a:off x="274320" y="6492240"/>
            <a:ext cx="11612880" cy="329184"/>
          </a:xfrm>
          <a:prstGeom prst="roundRect">
            <a:avLst/>
          </a:prstGeom>
          <a:solidFill>
            <a:srgbClr val="050810">
              <a:alpha val="55000"/>
            </a:srgbClr>
          </a:solidFill>
          <a:ln w="3810">
            <a:solidFill>
              <a:srgbClr val="B8C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365760" y="6501384"/>
            <a:ext cx="11430000" cy="310896"/>
          </a:xfrm>
          <a:prstGeom prst="rect">
            <a:avLst/>
          </a:prstGeom>
          <a:noFill/>
        </p:spPr>
        <p:txBody>
          <a:bodyPr wrap="square">
            <a:spAutoFit/>
          </a:bodyPr>
          <a:lstStyle/>
          <a:p>
            <a:pPr algn="ctr"/>
            <a:r>
              <a:rPr sz="900" b="0" i="0">
                <a:solidFill>
                  <a:srgbClr val="B8C8D8"/>
                </a:solidFill>
                <a:latin typeface="Gill Sans MT"/>
              </a:rPr>
              <a:t>Tewogbade Shakir Adeyemi  |  DBA Researcher  |  2573172317</a:t>
            </a:r>
          </a:p>
        </p:txBody>
      </p:sp>
      <p:sp>
        <p:nvSpPr>
          <p:cNvPr id="64" name="TextBox 63"/>
          <p:cNvSpPr txBox="1"/>
          <p:nvPr/>
        </p:nvSpPr>
        <p:spPr>
          <a:xfrm>
            <a:off x="11521440" y="6501384"/>
            <a:ext cx="457200" cy="310896"/>
          </a:xfrm>
          <a:prstGeom prst="rect">
            <a:avLst/>
          </a:prstGeom>
          <a:noFill/>
        </p:spPr>
        <p:txBody>
          <a:bodyPr wrap="square">
            <a:spAutoFit/>
          </a:bodyPr>
          <a:lstStyle/>
          <a:p>
            <a:pPr algn="r"/>
            <a:r>
              <a:rPr sz="800" b="0" i="0">
                <a:solidFill>
                  <a:srgbClr val="B8C8D8"/>
                </a:solidFill>
                <a:latin typeface="Gill Sans MT"/>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0" y="0"/>
            <a:ext cx="12161520" cy="6858000"/>
          </a:xfrm>
          <a:prstGeom prst="rect">
            <a:avLst/>
          </a:prstGeom>
        </p:spPr>
      </p:pic>
      <p:sp>
        <p:nvSpPr>
          <p:cNvPr id="3" name="Rectangle 2"/>
          <p:cNvSpPr/>
          <p:nvPr/>
        </p:nvSpPr>
        <p:spPr>
          <a:xfrm>
            <a:off x="0" y="0"/>
            <a:ext cx="12161520" cy="1188720"/>
          </a:xfrm>
          <a:prstGeom prst="rect">
            <a:avLst/>
          </a:prstGeom>
          <a:solidFill>
            <a:srgbClr val="050810">
              <a:alpha val="4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365760" y="137160"/>
            <a:ext cx="2560320" cy="292608"/>
          </a:xfrm>
          <a:prstGeom prst="roundRect">
            <a:avLst/>
          </a:prstGeom>
          <a:solidFill>
            <a:srgbClr val="050810">
              <a:alpha val="50000"/>
            </a:srgbClr>
          </a:solidFill>
          <a:ln w="19050">
            <a:solidFill>
              <a:srgbClr val="56D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37160"/>
            <a:ext cx="2560320" cy="292608"/>
          </a:xfrm>
          <a:prstGeom prst="rect">
            <a:avLst/>
          </a:prstGeom>
          <a:noFill/>
        </p:spPr>
        <p:txBody>
          <a:bodyPr wrap="square">
            <a:spAutoFit/>
          </a:bodyPr>
          <a:lstStyle/>
          <a:p>
            <a:pPr algn="ctr"/>
            <a:r>
              <a:rPr sz="900" b="1" i="0">
                <a:solidFill>
                  <a:srgbClr val="56D68A"/>
                </a:solidFill>
                <a:latin typeface="Gill Sans MT"/>
              </a:rPr>
              <a:t>SDG ALIGNMENT</a:t>
            </a:r>
          </a:p>
        </p:txBody>
      </p:sp>
      <p:sp>
        <p:nvSpPr>
          <p:cNvPr id="6" name="TextBox 5"/>
          <p:cNvSpPr txBox="1"/>
          <p:nvPr/>
        </p:nvSpPr>
        <p:spPr>
          <a:xfrm>
            <a:off x="365760" y="347472"/>
            <a:ext cx="11430000" cy="685800"/>
          </a:xfrm>
          <a:prstGeom prst="rect">
            <a:avLst/>
          </a:prstGeom>
          <a:noFill/>
        </p:spPr>
        <p:txBody>
          <a:bodyPr wrap="square">
            <a:spAutoFit/>
          </a:bodyPr>
          <a:lstStyle/>
          <a:p>
            <a:pPr algn="l"/>
            <a:r>
              <a:rPr sz="2600" b="1" i="0">
                <a:solidFill>
                  <a:srgbClr val="FFFFFF"/>
                </a:solidFill>
                <a:latin typeface="Gill Sans MT"/>
              </a:rPr>
              <a:t>Sustainable Development Goals — Research Alignment</a:t>
            </a:r>
          </a:p>
        </p:txBody>
      </p:sp>
      <p:cxnSp>
        <p:nvCxnSpPr>
          <p:cNvPr id="7" name="Connector 6"/>
          <p:cNvCxnSpPr/>
          <p:nvPr/>
        </p:nvCxnSpPr>
        <p:spPr>
          <a:xfrm>
            <a:off x="365760" y="1115568"/>
            <a:ext cx="11430000" cy="0"/>
          </a:xfrm>
          <a:prstGeom prst="line">
            <a:avLst/>
          </a:prstGeom>
          <a:ln w="19050">
            <a:solidFill>
              <a:srgbClr val="56D68A"/>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74320" y="1188720"/>
            <a:ext cx="11612880" cy="347472"/>
          </a:xfrm>
          <a:prstGeom prst="roundRect">
            <a:avLst/>
          </a:prstGeom>
          <a:solidFill>
            <a:srgbClr val="050810">
              <a:alpha val="48000"/>
            </a:srgbClr>
          </a:solidFill>
          <a:ln w="5080">
            <a:solidFill>
              <a:srgbClr val="B8C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47472" y="1197864"/>
            <a:ext cx="1234440" cy="329184"/>
          </a:xfrm>
          <a:prstGeom prst="rect">
            <a:avLst/>
          </a:prstGeom>
          <a:noFill/>
        </p:spPr>
        <p:txBody>
          <a:bodyPr wrap="square">
            <a:spAutoFit/>
          </a:bodyPr>
          <a:lstStyle/>
          <a:p>
            <a:pPr algn="l"/>
            <a:r>
              <a:rPr sz="950" b="1" i="0">
                <a:solidFill>
                  <a:srgbClr val="B8C8D8"/>
                </a:solidFill>
                <a:latin typeface="Gill Sans MT"/>
              </a:rPr>
              <a:t>RANK</a:t>
            </a:r>
          </a:p>
        </p:txBody>
      </p:sp>
      <p:sp>
        <p:nvSpPr>
          <p:cNvPr id="10" name="TextBox 9"/>
          <p:cNvSpPr txBox="1"/>
          <p:nvPr/>
        </p:nvSpPr>
        <p:spPr>
          <a:xfrm>
            <a:off x="1664208" y="1197864"/>
            <a:ext cx="3657600" cy="329184"/>
          </a:xfrm>
          <a:prstGeom prst="rect">
            <a:avLst/>
          </a:prstGeom>
          <a:noFill/>
        </p:spPr>
        <p:txBody>
          <a:bodyPr wrap="square">
            <a:spAutoFit/>
          </a:bodyPr>
          <a:lstStyle/>
          <a:p>
            <a:pPr algn="ctr"/>
            <a:r>
              <a:rPr sz="950" b="1" i="0">
                <a:solidFill>
                  <a:srgbClr val="B8C8D8"/>
                </a:solidFill>
                <a:latin typeface="Gill Sans MT"/>
              </a:rPr>
              <a:t>SDG</a:t>
            </a:r>
          </a:p>
        </p:txBody>
      </p:sp>
      <p:sp>
        <p:nvSpPr>
          <p:cNvPr id="11" name="TextBox 10"/>
          <p:cNvSpPr txBox="1"/>
          <p:nvPr/>
        </p:nvSpPr>
        <p:spPr>
          <a:xfrm>
            <a:off x="5413248" y="1197864"/>
            <a:ext cx="1627632" cy="329184"/>
          </a:xfrm>
          <a:prstGeom prst="rect">
            <a:avLst/>
          </a:prstGeom>
          <a:noFill/>
        </p:spPr>
        <p:txBody>
          <a:bodyPr wrap="square">
            <a:spAutoFit/>
          </a:bodyPr>
          <a:lstStyle/>
          <a:p>
            <a:pPr algn="ctr"/>
            <a:r>
              <a:rPr sz="950" b="1" i="0">
                <a:solidFill>
                  <a:srgbClr val="B8C8D8"/>
                </a:solidFill>
                <a:latin typeface="Gill Sans MT"/>
              </a:rPr>
              <a:t>STRENGTH</a:t>
            </a:r>
          </a:p>
        </p:txBody>
      </p:sp>
      <p:sp>
        <p:nvSpPr>
          <p:cNvPr id="12" name="TextBox 11"/>
          <p:cNvSpPr txBox="1"/>
          <p:nvPr/>
        </p:nvSpPr>
        <p:spPr>
          <a:xfrm>
            <a:off x="7150608" y="1197864"/>
            <a:ext cx="4663440" cy="329184"/>
          </a:xfrm>
          <a:prstGeom prst="rect">
            <a:avLst/>
          </a:prstGeom>
          <a:noFill/>
        </p:spPr>
        <p:txBody>
          <a:bodyPr wrap="square">
            <a:spAutoFit/>
          </a:bodyPr>
          <a:lstStyle/>
          <a:p>
            <a:pPr algn="ctr"/>
            <a:r>
              <a:rPr sz="950" b="1" i="0">
                <a:solidFill>
                  <a:srgbClr val="B8C8D8"/>
                </a:solidFill>
                <a:latin typeface="Gill Sans MT"/>
              </a:rPr>
              <a:t>WHY IT MATTERS</a:t>
            </a:r>
          </a:p>
        </p:txBody>
      </p:sp>
      <p:cxnSp>
        <p:nvCxnSpPr>
          <p:cNvPr id="13" name="Connector 12"/>
          <p:cNvCxnSpPr/>
          <p:nvPr/>
        </p:nvCxnSpPr>
        <p:spPr>
          <a:xfrm>
            <a:off x="274320" y="1536192"/>
            <a:ext cx="11612880" cy="0"/>
          </a:xfrm>
          <a:prstGeom prst="line">
            <a:avLst/>
          </a:prstGeom>
          <a:ln w="11430">
            <a:solidFill>
              <a:srgbClr val="F0C040"/>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74320" y="1609344"/>
            <a:ext cx="11612880" cy="923544"/>
          </a:xfrm>
          <a:prstGeom prst="roundRect">
            <a:avLst/>
          </a:prstGeom>
          <a:solidFill>
            <a:srgbClr val="050810">
              <a:alpha val="60000"/>
            </a:srgbClr>
          </a:solidFill>
          <a:ln w="7620">
            <a:solidFill>
              <a:srgbClr val="6DA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74320" y="1609344"/>
            <a:ext cx="54864" cy="923544"/>
          </a:xfrm>
          <a:prstGeom prst="rect">
            <a:avLst/>
          </a:prstGeom>
          <a:solidFill>
            <a:srgbClr val="6DAE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02336" y="1883664"/>
            <a:ext cx="914400" cy="384048"/>
          </a:xfrm>
          <a:prstGeom prst="rect">
            <a:avLst/>
          </a:prstGeom>
          <a:noFill/>
        </p:spPr>
        <p:txBody>
          <a:bodyPr wrap="square">
            <a:spAutoFit/>
          </a:bodyPr>
          <a:lstStyle/>
          <a:p>
            <a:pPr algn="l"/>
            <a:r>
              <a:rPr sz="1500" b="0" i="0">
                <a:solidFill>
                  <a:srgbClr val="F0C040"/>
                </a:solidFill>
                <a:latin typeface="Gill Sans MT"/>
              </a:rPr>
              <a:t>★★★★★</a:t>
            </a:r>
          </a:p>
        </p:txBody>
      </p:sp>
      <p:sp>
        <p:nvSpPr>
          <p:cNvPr id="17" name="TextBox 16"/>
          <p:cNvSpPr txBox="1"/>
          <p:nvPr/>
        </p:nvSpPr>
        <p:spPr>
          <a:xfrm>
            <a:off x="1664208" y="1682496"/>
            <a:ext cx="3566160" cy="274320"/>
          </a:xfrm>
          <a:prstGeom prst="rect">
            <a:avLst/>
          </a:prstGeom>
          <a:noFill/>
        </p:spPr>
        <p:txBody>
          <a:bodyPr wrap="square">
            <a:spAutoFit/>
          </a:bodyPr>
          <a:lstStyle/>
          <a:p>
            <a:pPr algn="l"/>
            <a:r>
              <a:rPr sz="950" b="1" i="0">
                <a:solidFill>
                  <a:srgbClr val="6DAEDB"/>
                </a:solidFill>
                <a:latin typeface="Gill Sans MT"/>
              </a:rPr>
              <a:t>SDG 9</a:t>
            </a:r>
          </a:p>
        </p:txBody>
      </p:sp>
      <p:sp>
        <p:nvSpPr>
          <p:cNvPr id="18" name="TextBox 17"/>
          <p:cNvSpPr txBox="1"/>
          <p:nvPr/>
        </p:nvSpPr>
        <p:spPr>
          <a:xfrm>
            <a:off x="1664208" y="1956816"/>
            <a:ext cx="3566160" cy="530352"/>
          </a:xfrm>
          <a:prstGeom prst="rect">
            <a:avLst/>
          </a:prstGeom>
          <a:noFill/>
        </p:spPr>
        <p:txBody>
          <a:bodyPr wrap="square">
            <a:spAutoFit/>
          </a:bodyPr>
          <a:lstStyle/>
          <a:p>
            <a:pPr algn="l"/>
            <a:r>
              <a:rPr sz="1200" b="1" i="0">
                <a:solidFill>
                  <a:srgbClr val="FFFFFF"/>
                </a:solidFill>
                <a:latin typeface="Gill Sans MT"/>
              </a:rPr>
              <a:t>Industry, Innovation &amp; Infrastructure</a:t>
            </a:r>
          </a:p>
        </p:txBody>
      </p:sp>
      <p:sp>
        <p:nvSpPr>
          <p:cNvPr id="19" name="Rounded Rectangle 18"/>
          <p:cNvSpPr/>
          <p:nvPr/>
        </p:nvSpPr>
        <p:spPr>
          <a:xfrm>
            <a:off x="5413248" y="1883664"/>
            <a:ext cx="1572768" cy="347472"/>
          </a:xfrm>
          <a:prstGeom prst="roundRect">
            <a:avLst/>
          </a:prstGeom>
          <a:solidFill>
            <a:srgbClr val="050810">
              <a:alpha val="65000"/>
            </a:srgbClr>
          </a:solidFill>
          <a:ln w="15240">
            <a:solidFill>
              <a:srgbClr val="F0C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13248" y="1883664"/>
            <a:ext cx="1572768" cy="347472"/>
          </a:xfrm>
          <a:prstGeom prst="rect">
            <a:avLst/>
          </a:prstGeom>
          <a:noFill/>
        </p:spPr>
        <p:txBody>
          <a:bodyPr wrap="square">
            <a:spAutoFit/>
          </a:bodyPr>
          <a:lstStyle/>
          <a:p>
            <a:pPr algn="ctr"/>
            <a:r>
              <a:rPr sz="1050" b="1" i="0">
                <a:solidFill>
                  <a:srgbClr val="F0C040"/>
                </a:solidFill>
                <a:latin typeface="Gill Sans MT"/>
              </a:rPr>
              <a:t>Primary</a:t>
            </a:r>
          </a:p>
        </p:txBody>
      </p:sp>
      <p:sp>
        <p:nvSpPr>
          <p:cNvPr id="21" name="TextBox 20"/>
          <p:cNvSpPr txBox="1"/>
          <p:nvPr/>
        </p:nvSpPr>
        <p:spPr>
          <a:xfrm>
            <a:off x="7150608" y="1719072"/>
            <a:ext cx="4663440" cy="713232"/>
          </a:xfrm>
          <a:prstGeom prst="rect">
            <a:avLst/>
          </a:prstGeom>
          <a:noFill/>
        </p:spPr>
        <p:txBody>
          <a:bodyPr wrap="square">
            <a:spAutoFit/>
          </a:bodyPr>
          <a:lstStyle/>
          <a:p>
            <a:pPr algn="l"/>
            <a:r>
              <a:rPr sz="1100" b="0" i="0">
                <a:solidFill>
                  <a:srgbClr val="F5F1EB"/>
                </a:solidFill>
                <a:latin typeface="Gill Sans MT"/>
              </a:rPr>
              <a:t>AI readiness, innovation ecosystems, logistics infrastructure and supply chain performance.</a:t>
            </a:r>
          </a:p>
        </p:txBody>
      </p:sp>
      <p:cxnSp>
        <p:nvCxnSpPr>
          <p:cNvPr id="22" name="Connector 21"/>
          <p:cNvCxnSpPr/>
          <p:nvPr/>
        </p:nvCxnSpPr>
        <p:spPr>
          <a:xfrm>
            <a:off x="329184" y="2567178"/>
            <a:ext cx="11503152" cy="0"/>
          </a:xfrm>
          <a:prstGeom prst="line">
            <a:avLst/>
          </a:prstGeom>
          <a:ln w="5080">
            <a:solidFill>
              <a:srgbClr val="283848"/>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274320" y="2601468"/>
            <a:ext cx="11612880" cy="923544"/>
          </a:xfrm>
          <a:prstGeom prst="roundRect">
            <a:avLst/>
          </a:prstGeom>
          <a:solidFill>
            <a:srgbClr val="050810">
              <a:alpha val="52000"/>
            </a:srgbClr>
          </a:solidFill>
          <a:ln w="7620">
            <a:solidFill>
              <a:srgbClr val="56D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74320" y="2601468"/>
            <a:ext cx="54864" cy="923544"/>
          </a:xfrm>
          <a:prstGeom prst="rect">
            <a:avLst/>
          </a:prstGeom>
          <a:solidFill>
            <a:srgbClr val="56D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02336" y="2875787"/>
            <a:ext cx="740664" cy="384048"/>
          </a:xfrm>
          <a:prstGeom prst="rect">
            <a:avLst/>
          </a:prstGeom>
          <a:noFill/>
        </p:spPr>
        <p:txBody>
          <a:bodyPr wrap="square">
            <a:spAutoFit/>
          </a:bodyPr>
          <a:lstStyle/>
          <a:p>
            <a:pPr algn="l"/>
            <a:r>
              <a:rPr sz="1500" b="0" i="0">
                <a:solidFill>
                  <a:srgbClr val="F0C040"/>
                </a:solidFill>
                <a:latin typeface="Gill Sans MT"/>
              </a:rPr>
              <a:t>★★★★</a:t>
            </a:r>
          </a:p>
        </p:txBody>
      </p:sp>
      <p:sp>
        <p:nvSpPr>
          <p:cNvPr id="26" name="TextBox 25"/>
          <p:cNvSpPr txBox="1"/>
          <p:nvPr/>
        </p:nvSpPr>
        <p:spPr>
          <a:xfrm>
            <a:off x="1097280" y="2875787"/>
            <a:ext cx="640080" cy="384048"/>
          </a:xfrm>
          <a:prstGeom prst="rect">
            <a:avLst/>
          </a:prstGeom>
          <a:noFill/>
        </p:spPr>
        <p:txBody>
          <a:bodyPr wrap="square">
            <a:spAutoFit/>
          </a:bodyPr>
          <a:lstStyle/>
          <a:p>
            <a:pPr algn="l"/>
            <a:r>
              <a:rPr sz="1500" b="0" i="0">
                <a:solidFill>
                  <a:srgbClr val="555555"/>
                </a:solidFill>
                <a:latin typeface="Gill Sans MT"/>
              </a:rPr>
              <a:t>☆</a:t>
            </a:r>
          </a:p>
        </p:txBody>
      </p:sp>
      <p:sp>
        <p:nvSpPr>
          <p:cNvPr id="27" name="TextBox 26"/>
          <p:cNvSpPr txBox="1"/>
          <p:nvPr/>
        </p:nvSpPr>
        <p:spPr>
          <a:xfrm>
            <a:off x="1664208" y="2674620"/>
            <a:ext cx="3566160" cy="274320"/>
          </a:xfrm>
          <a:prstGeom prst="rect">
            <a:avLst/>
          </a:prstGeom>
          <a:noFill/>
        </p:spPr>
        <p:txBody>
          <a:bodyPr wrap="square">
            <a:spAutoFit/>
          </a:bodyPr>
          <a:lstStyle/>
          <a:p>
            <a:pPr algn="l"/>
            <a:r>
              <a:rPr sz="950" b="1" i="0">
                <a:solidFill>
                  <a:srgbClr val="56D68A"/>
                </a:solidFill>
                <a:latin typeface="Gill Sans MT"/>
              </a:rPr>
              <a:t>SDG 8</a:t>
            </a:r>
          </a:p>
        </p:txBody>
      </p:sp>
      <p:sp>
        <p:nvSpPr>
          <p:cNvPr id="28" name="TextBox 27"/>
          <p:cNvSpPr txBox="1"/>
          <p:nvPr/>
        </p:nvSpPr>
        <p:spPr>
          <a:xfrm>
            <a:off x="1664208" y="2948939"/>
            <a:ext cx="3566160" cy="530352"/>
          </a:xfrm>
          <a:prstGeom prst="rect">
            <a:avLst/>
          </a:prstGeom>
          <a:noFill/>
        </p:spPr>
        <p:txBody>
          <a:bodyPr wrap="square">
            <a:spAutoFit/>
          </a:bodyPr>
          <a:lstStyle/>
          <a:p>
            <a:pPr algn="l"/>
            <a:r>
              <a:rPr sz="1200" b="1" i="0">
                <a:solidFill>
                  <a:srgbClr val="FFFFFF"/>
                </a:solidFill>
                <a:latin typeface="Gill Sans MT"/>
              </a:rPr>
              <a:t>Decent Work &amp; Economic Growth</a:t>
            </a:r>
          </a:p>
        </p:txBody>
      </p:sp>
      <p:sp>
        <p:nvSpPr>
          <p:cNvPr id="29" name="Rounded Rectangle 28"/>
          <p:cNvSpPr/>
          <p:nvPr/>
        </p:nvSpPr>
        <p:spPr>
          <a:xfrm>
            <a:off x="5413248" y="2875787"/>
            <a:ext cx="1572768" cy="347472"/>
          </a:xfrm>
          <a:prstGeom prst="roundRect">
            <a:avLst/>
          </a:prstGeom>
          <a:solidFill>
            <a:srgbClr val="050810">
              <a:alpha val="65000"/>
            </a:srgbClr>
          </a:solidFill>
          <a:ln w="15240">
            <a:solidFill>
              <a:srgbClr val="56D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413248" y="2875787"/>
            <a:ext cx="1572768" cy="347472"/>
          </a:xfrm>
          <a:prstGeom prst="rect">
            <a:avLst/>
          </a:prstGeom>
          <a:noFill/>
        </p:spPr>
        <p:txBody>
          <a:bodyPr wrap="square">
            <a:spAutoFit/>
          </a:bodyPr>
          <a:lstStyle/>
          <a:p>
            <a:pPr algn="ctr"/>
            <a:r>
              <a:rPr sz="1050" b="1" i="0">
                <a:solidFill>
                  <a:srgbClr val="56D68A"/>
                </a:solidFill>
                <a:latin typeface="Gill Sans MT"/>
              </a:rPr>
              <a:t>Strong</a:t>
            </a:r>
          </a:p>
        </p:txBody>
      </p:sp>
      <p:sp>
        <p:nvSpPr>
          <p:cNvPr id="31" name="TextBox 30"/>
          <p:cNvSpPr txBox="1"/>
          <p:nvPr/>
        </p:nvSpPr>
        <p:spPr>
          <a:xfrm>
            <a:off x="7150608" y="2711196"/>
            <a:ext cx="4663440" cy="713232"/>
          </a:xfrm>
          <a:prstGeom prst="rect">
            <a:avLst/>
          </a:prstGeom>
          <a:noFill/>
        </p:spPr>
        <p:txBody>
          <a:bodyPr wrap="square">
            <a:spAutoFit/>
          </a:bodyPr>
          <a:lstStyle/>
          <a:p>
            <a:pPr algn="l"/>
            <a:r>
              <a:rPr sz="1100" b="0" i="0">
                <a:solidFill>
                  <a:srgbClr val="F5F1EB"/>
                </a:solidFill>
                <a:latin typeface="Gill Sans MT"/>
              </a:rPr>
              <a:t>Economic performance, productivity, trade competitiveness and GDP growth.</a:t>
            </a:r>
          </a:p>
        </p:txBody>
      </p:sp>
      <p:cxnSp>
        <p:nvCxnSpPr>
          <p:cNvPr id="32" name="Connector 31"/>
          <p:cNvCxnSpPr/>
          <p:nvPr/>
        </p:nvCxnSpPr>
        <p:spPr>
          <a:xfrm>
            <a:off x="329184" y="3559301"/>
            <a:ext cx="11503152" cy="0"/>
          </a:xfrm>
          <a:prstGeom prst="line">
            <a:avLst/>
          </a:prstGeom>
          <a:ln w="5080">
            <a:solidFill>
              <a:srgbClr val="283848"/>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274320" y="3593591"/>
            <a:ext cx="11612880" cy="923544"/>
          </a:xfrm>
          <a:prstGeom prst="roundRect">
            <a:avLst/>
          </a:prstGeom>
          <a:solidFill>
            <a:srgbClr val="050810">
              <a:alpha val="60000"/>
            </a:srgbClr>
          </a:solidFill>
          <a:ln w="7620">
            <a:solidFill>
              <a:srgbClr val="C9A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274320" y="3593591"/>
            <a:ext cx="54864" cy="923544"/>
          </a:xfrm>
          <a:prstGeom prst="rect">
            <a:avLst/>
          </a:prstGeom>
          <a:solidFill>
            <a:srgbClr val="C9A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02336" y="3867911"/>
            <a:ext cx="740664" cy="384048"/>
          </a:xfrm>
          <a:prstGeom prst="rect">
            <a:avLst/>
          </a:prstGeom>
          <a:noFill/>
        </p:spPr>
        <p:txBody>
          <a:bodyPr wrap="square">
            <a:spAutoFit/>
          </a:bodyPr>
          <a:lstStyle/>
          <a:p>
            <a:pPr algn="l"/>
            <a:r>
              <a:rPr sz="1500" b="0" i="0">
                <a:solidFill>
                  <a:srgbClr val="F0C040"/>
                </a:solidFill>
                <a:latin typeface="Gill Sans MT"/>
              </a:rPr>
              <a:t>★★★★</a:t>
            </a:r>
          </a:p>
        </p:txBody>
      </p:sp>
      <p:sp>
        <p:nvSpPr>
          <p:cNvPr id="36" name="TextBox 35"/>
          <p:cNvSpPr txBox="1"/>
          <p:nvPr/>
        </p:nvSpPr>
        <p:spPr>
          <a:xfrm>
            <a:off x="1097280" y="3867911"/>
            <a:ext cx="640080" cy="384048"/>
          </a:xfrm>
          <a:prstGeom prst="rect">
            <a:avLst/>
          </a:prstGeom>
          <a:noFill/>
        </p:spPr>
        <p:txBody>
          <a:bodyPr wrap="square">
            <a:spAutoFit/>
          </a:bodyPr>
          <a:lstStyle/>
          <a:p>
            <a:pPr algn="l"/>
            <a:r>
              <a:rPr sz="1500" b="0" i="0">
                <a:solidFill>
                  <a:srgbClr val="555555"/>
                </a:solidFill>
                <a:latin typeface="Gill Sans MT"/>
              </a:rPr>
              <a:t>☆</a:t>
            </a:r>
          </a:p>
        </p:txBody>
      </p:sp>
      <p:sp>
        <p:nvSpPr>
          <p:cNvPr id="37" name="TextBox 36"/>
          <p:cNvSpPr txBox="1"/>
          <p:nvPr/>
        </p:nvSpPr>
        <p:spPr>
          <a:xfrm>
            <a:off x="1664208" y="3666744"/>
            <a:ext cx="3566160" cy="274320"/>
          </a:xfrm>
          <a:prstGeom prst="rect">
            <a:avLst/>
          </a:prstGeom>
          <a:noFill/>
        </p:spPr>
        <p:txBody>
          <a:bodyPr wrap="square">
            <a:spAutoFit/>
          </a:bodyPr>
          <a:lstStyle/>
          <a:p>
            <a:pPr algn="l"/>
            <a:r>
              <a:rPr sz="950" b="1" i="0">
                <a:solidFill>
                  <a:srgbClr val="C9A0E8"/>
                </a:solidFill>
                <a:latin typeface="Gill Sans MT"/>
              </a:rPr>
              <a:t>SDG 16</a:t>
            </a:r>
          </a:p>
        </p:txBody>
      </p:sp>
      <p:sp>
        <p:nvSpPr>
          <p:cNvPr id="38" name="TextBox 37"/>
          <p:cNvSpPr txBox="1"/>
          <p:nvPr/>
        </p:nvSpPr>
        <p:spPr>
          <a:xfrm>
            <a:off x="1664208" y="3941063"/>
            <a:ext cx="3566160" cy="530352"/>
          </a:xfrm>
          <a:prstGeom prst="rect">
            <a:avLst/>
          </a:prstGeom>
          <a:noFill/>
        </p:spPr>
        <p:txBody>
          <a:bodyPr wrap="square">
            <a:spAutoFit/>
          </a:bodyPr>
          <a:lstStyle/>
          <a:p>
            <a:pPr algn="l"/>
            <a:r>
              <a:rPr sz="1200" b="1" i="0">
                <a:solidFill>
                  <a:srgbClr val="FFFFFF"/>
                </a:solidFill>
                <a:latin typeface="Gill Sans MT"/>
              </a:rPr>
              <a:t>Peace, Justice &amp; Strong Institutions</a:t>
            </a:r>
          </a:p>
        </p:txBody>
      </p:sp>
      <p:sp>
        <p:nvSpPr>
          <p:cNvPr id="39" name="Rounded Rectangle 38"/>
          <p:cNvSpPr/>
          <p:nvPr/>
        </p:nvSpPr>
        <p:spPr>
          <a:xfrm>
            <a:off x="5413248" y="3867911"/>
            <a:ext cx="1572768" cy="347472"/>
          </a:xfrm>
          <a:prstGeom prst="roundRect">
            <a:avLst/>
          </a:prstGeom>
          <a:solidFill>
            <a:srgbClr val="050810">
              <a:alpha val="65000"/>
            </a:srgbClr>
          </a:solidFill>
          <a:ln w="15240">
            <a:solidFill>
              <a:srgbClr val="56D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413248" y="3867911"/>
            <a:ext cx="1572768" cy="347472"/>
          </a:xfrm>
          <a:prstGeom prst="rect">
            <a:avLst/>
          </a:prstGeom>
          <a:noFill/>
        </p:spPr>
        <p:txBody>
          <a:bodyPr wrap="square">
            <a:spAutoFit/>
          </a:bodyPr>
          <a:lstStyle/>
          <a:p>
            <a:pPr algn="ctr"/>
            <a:r>
              <a:rPr sz="1050" b="1" i="0">
                <a:solidFill>
                  <a:srgbClr val="56D68A"/>
                </a:solidFill>
                <a:latin typeface="Gill Sans MT"/>
              </a:rPr>
              <a:t>Strong</a:t>
            </a:r>
          </a:p>
        </p:txBody>
      </p:sp>
      <p:sp>
        <p:nvSpPr>
          <p:cNvPr id="41" name="TextBox 40"/>
          <p:cNvSpPr txBox="1"/>
          <p:nvPr/>
        </p:nvSpPr>
        <p:spPr>
          <a:xfrm>
            <a:off x="7150608" y="3703320"/>
            <a:ext cx="4663440" cy="713232"/>
          </a:xfrm>
          <a:prstGeom prst="rect">
            <a:avLst/>
          </a:prstGeom>
          <a:noFill/>
        </p:spPr>
        <p:txBody>
          <a:bodyPr wrap="square">
            <a:spAutoFit/>
          </a:bodyPr>
          <a:lstStyle/>
          <a:p>
            <a:pPr algn="l"/>
            <a:r>
              <a:rPr sz="1100" b="0" i="0">
                <a:solidFill>
                  <a:srgbClr val="F5F1EB"/>
                </a:solidFill>
                <a:latin typeface="Gill Sans MT"/>
              </a:rPr>
              <a:t>Institutional quality, governance effectiveness, regulatory quality and rule of law.</a:t>
            </a:r>
          </a:p>
        </p:txBody>
      </p:sp>
      <p:cxnSp>
        <p:nvCxnSpPr>
          <p:cNvPr id="42" name="Connector 41"/>
          <p:cNvCxnSpPr/>
          <p:nvPr/>
        </p:nvCxnSpPr>
        <p:spPr>
          <a:xfrm>
            <a:off x="329184" y="4551425"/>
            <a:ext cx="11503152" cy="0"/>
          </a:xfrm>
          <a:prstGeom prst="line">
            <a:avLst/>
          </a:prstGeom>
          <a:ln w="5080">
            <a:solidFill>
              <a:srgbClr val="283848"/>
            </a:solidFill>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274320" y="4585716"/>
            <a:ext cx="11612880" cy="923544"/>
          </a:xfrm>
          <a:prstGeom prst="roundRect">
            <a:avLst/>
          </a:prstGeom>
          <a:solidFill>
            <a:srgbClr val="050810">
              <a:alpha val="52000"/>
            </a:srgbClr>
          </a:solidFill>
          <a:ln w="7620">
            <a:solidFill>
              <a:srgbClr val="4ECD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274320" y="4585716"/>
            <a:ext cx="54864" cy="923544"/>
          </a:xfrm>
          <a:prstGeom prst="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02336" y="4860036"/>
            <a:ext cx="566928" cy="384048"/>
          </a:xfrm>
          <a:prstGeom prst="rect">
            <a:avLst/>
          </a:prstGeom>
          <a:noFill/>
        </p:spPr>
        <p:txBody>
          <a:bodyPr wrap="square">
            <a:spAutoFit/>
          </a:bodyPr>
          <a:lstStyle/>
          <a:p>
            <a:pPr algn="l"/>
            <a:r>
              <a:rPr sz="1500" b="0" i="0">
                <a:solidFill>
                  <a:srgbClr val="F0C040"/>
                </a:solidFill>
                <a:latin typeface="Gill Sans MT"/>
              </a:rPr>
              <a:t>★★★</a:t>
            </a:r>
          </a:p>
        </p:txBody>
      </p:sp>
      <p:sp>
        <p:nvSpPr>
          <p:cNvPr id="46" name="TextBox 45"/>
          <p:cNvSpPr txBox="1"/>
          <p:nvPr/>
        </p:nvSpPr>
        <p:spPr>
          <a:xfrm>
            <a:off x="923544" y="4860036"/>
            <a:ext cx="640080" cy="384048"/>
          </a:xfrm>
          <a:prstGeom prst="rect">
            <a:avLst/>
          </a:prstGeom>
          <a:noFill/>
        </p:spPr>
        <p:txBody>
          <a:bodyPr wrap="square">
            <a:spAutoFit/>
          </a:bodyPr>
          <a:lstStyle/>
          <a:p>
            <a:pPr algn="l"/>
            <a:r>
              <a:rPr sz="1500" b="0" i="0">
                <a:solidFill>
                  <a:srgbClr val="555555"/>
                </a:solidFill>
                <a:latin typeface="Gill Sans MT"/>
              </a:rPr>
              <a:t>☆☆</a:t>
            </a:r>
          </a:p>
        </p:txBody>
      </p:sp>
      <p:sp>
        <p:nvSpPr>
          <p:cNvPr id="47" name="TextBox 46"/>
          <p:cNvSpPr txBox="1"/>
          <p:nvPr/>
        </p:nvSpPr>
        <p:spPr>
          <a:xfrm>
            <a:off x="1664208" y="4658868"/>
            <a:ext cx="3566160" cy="274320"/>
          </a:xfrm>
          <a:prstGeom prst="rect">
            <a:avLst/>
          </a:prstGeom>
          <a:noFill/>
        </p:spPr>
        <p:txBody>
          <a:bodyPr wrap="square">
            <a:spAutoFit/>
          </a:bodyPr>
          <a:lstStyle/>
          <a:p>
            <a:pPr algn="l"/>
            <a:r>
              <a:rPr sz="950" b="1" i="0">
                <a:solidFill>
                  <a:srgbClr val="4ECDC4"/>
                </a:solidFill>
                <a:latin typeface="Gill Sans MT"/>
              </a:rPr>
              <a:t>SDG 17</a:t>
            </a:r>
          </a:p>
        </p:txBody>
      </p:sp>
      <p:sp>
        <p:nvSpPr>
          <p:cNvPr id="48" name="TextBox 47"/>
          <p:cNvSpPr txBox="1"/>
          <p:nvPr/>
        </p:nvSpPr>
        <p:spPr>
          <a:xfrm>
            <a:off x="1664208" y="4933188"/>
            <a:ext cx="3566160" cy="530352"/>
          </a:xfrm>
          <a:prstGeom prst="rect">
            <a:avLst/>
          </a:prstGeom>
          <a:noFill/>
        </p:spPr>
        <p:txBody>
          <a:bodyPr wrap="square">
            <a:spAutoFit/>
          </a:bodyPr>
          <a:lstStyle/>
          <a:p>
            <a:pPr algn="l"/>
            <a:r>
              <a:rPr sz="1200" b="1" i="0">
                <a:solidFill>
                  <a:srgbClr val="FFFFFF"/>
                </a:solidFill>
                <a:latin typeface="Gill Sans MT"/>
              </a:rPr>
              <a:t>Partnerships for the Goals</a:t>
            </a:r>
          </a:p>
        </p:txBody>
      </p:sp>
      <p:sp>
        <p:nvSpPr>
          <p:cNvPr id="49" name="Rounded Rectangle 48"/>
          <p:cNvSpPr/>
          <p:nvPr/>
        </p:nvSpPr>
        <p:spPr>
          <a:xfrm>
            <a:off x="5413248" y="4860036"/>
            <a:ext cx="1572768" cy="347472"/>
          </a:xfrm>
          <a:prstGeom prst="roundRect">
            <a:avLst/>
          </a:prstGeom>
          <a:solidFill>
            <a:srgbClr val="050810">
              <a:alpha val="65000"/>
            </a:srgbClr>
          </a:solidFill>
          <a:ln w="15240">
            <a:solidFill>
              <a:srgbClr val="FFB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5413248" y="4860036"/>
            <a:ext cx="1572768" cy="347472"/>
          </a:xfrm>
          <a:prstGeom prst="rect">
            <a:avLst/>
          </a:prstGeom>
          <a:noFill/>
        </p:spPr>
        <p:txBody>
          <a:bodyPr wrap="square">
            <a:spAutoFit/>
          </a:bodyPr>
          <a:lstStyle/>
          <a:p>
            <a:pPr algn="ctr"/>
            <a:r>
              <a:rPr sz="1050" b="1" i="0">
                <a:solidFill>
                  <a:srgbClr val="FFB347"/>
                </a:solidFill>
                <a:latin typeface="Gill Sans MT"/>
              </a:rPr>
              <a:t>Moderate</a:t>
            </a:r>
          </a:p>
        </p:txBody>
      </p:sp>
      <p:sp>
        <p:nvSpPr>
          <p:cNvPr id="51" name="TextBox 50"/>
          <p:cNvSpPr txBox="1"/>
          <p:nvPr/>
        </p:nvSpPr>
        <p:spPr>
          <a:xfrm>
            <a:off x="7150608" y="4695444"/>
            <a:ext cx="4663440" cy="713232"/>
          </a:xfrm>
          <a:prstGeom prst="rect">
            <a:avLst/>
          </a:prstGeom>
          <a:noFill/>
        </p:spPr>
        <p:txBody>
          <a:bodyPr wrap="square">
            <a:spAutoFit/>
          </a:bodyPr>
          <a:lstStyle/>
          <a:p>
            <a:pPr algn="l"/>
            <a:r>
              <a:rPr sz="1100" b="0" i="0">
                <a:solidFill>
                  <a:srgbClr val="F5F1EB"/>
                </a:solidFill>
                <a:latin typeface="Gill Sans MT"/>
              </a:rPr>
              <a:t>Integration of international open datasets and evidence-based cross-country policy.</a:t>
            </a:r>
          </a:p>
        </p:txBody>
      </p:sp>
      <p:cxnSp>
        <p:nvCxnSpPr>
          <p:cNvPr id="52" name="Connector 51"/>
          <p:cNvCxnSpPr/>
          <p:nvPr/>
        </p:nvCxnSpPr>
        <p:spPr>
          <a:xfrm>
            <a:off x="329184" y="5543549"/>
            <a:ext cx="11503152" cy="0"/>
          </a:xfrm>
          <a:prstGeom prst="line">
            <a:avLst/>
          </a:prstGeom>
          <a:ln w="5080">
            <a:solidFill>
              <a:srgbClr val="283848"/>
            </a:solidFill>
          </a:ln>
        </p:spPr>
        <p:style>
          <a:lnRef idx="2">
            <a:schemeClr val="accent1"/>
          </a:lnRef>
          <a:fillRef idx="0">
            <a:schemeClr val="accent1"/>
          </a:fillRef>
          <a:effectRef idx="1">
            <a:schemeClr val="accent1"/>
          </a:effectRef>
          <a:fontRef idx="minor">
            <a:schemeClr val="tx1"/>
          </a:fontRef>
        </p:style>
      </p:cxnSp>
      <p:sp>
        <p:nvSpPr>
          <p:cNvPr id="53" name="Rounded Rectangle 52"/>
          <p:cNvSpPr/>
          <p:nvPr/>
        </p:nvSpPr>
        <p:spPr>
          <a:xfrm>
            <a:off x="274320" y="5577840"/>
            <a:ext cx="11612880" cy="923544"/>
          </a:xfrm>
          <a:prstGeom prst="roundRect">
            <a:avLst/>
          </a:prstGeom>
          <a:solidFill>
            <a:srgbClr val="050810">
              <a:alpha val="60000"/>
            </a:srgbClr>
          </a:solidFill>
          <a:ln w="7620">
            <a:solidFill>
              <a:srgbClr val="FFB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274320" y="5577840"/>
            <a:ext cx="54864" cy="923544"/>
          </a:xfrm>
          <a:prstGeom prst="rect">
            <a:avLst/>
          </a:prstGeom>
          <a:solidFill>
            <a:srgbClr val="FFB3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402336" y="5852159"/>
            <a:ext cx="393192" cy="384048"/>
          </a:xfrm>
          <a:prstGeom prst="rect">
            <a:avLst/>
          </a:prstGeom>
          <a:noFill/>
        </p:spPr>
        <p:txBody>
          <a:bodyPr wrap="square">
            <a:spAutoFit/>
          </a:bodyPr>
          <a:lstStyle/>
          <a:p>
            <a:pPr algn="l"/>
            <a:r>
              <a:rPr sz="1500" b="0" i="0">
                <a:solidFill>
                  <a:srgbClr val="F0C040"/>
                </a:solidFill>
                <a:latin typeface="Gill Sans MT"/>
              </a:rPr>
              <a:t>★★</a:t>
            </a:r>
          </a:p>
        </p:txBody>
      </p:sp>
      <p:sp>
        <p:nvSpPr>
          <p:cNvPr id="56" name="TextBox 55"/>
          <p:cNvSpPr txBox="1"/>
          <p:nvPr/>
        </p:nvSpPr>
        <p:spPr>
          <a:xfrm>
            <a:off x="749808" y="5852159"/>
            <a:ext cx="640080" cy="384048"/>
          </a:xfrm>
          <a:prstGeom prst="rect">
            <a:avLst/>
          </a:prstGeom>
          <a:noFill/>
        </p:spPr>
        <p:txBody>
          <a:bodyPr wrap="square">
            <a:spAutoFit/>
          </a:bodyPr>
          <a:lstStyle/>
          <a:p>
            <a:pPr algn="l"/>
            <a:r>
              <a:rPr sz="1500" b="0" i="0">
                <a:solidFill>
                  <a:srgbClr val="555555"/>
                </a:solidFill>
                <a:latin typeface="Gill Sans MT"/>
              </a:rPr>
              <a:t>☆☆☆</a:t>
            </a:r>
          </a:p>
        </p:txBody>
      </p:sp>
      <p:sp>
        <p:nvSpPr>
          <p:cNvPr id="57" name="TextBox 56"/>
          <p:cNvSpPr txBox="1"/>
          <p:nvPr/>
        </p:nvSpPr>
        <p:spPr>
          <a:xfrm>
            <a:off x="1664208" y="5650992"/>
            <a:ext cx="3566160" cy="274320"/>
          </a:xfrm>
          <a:prstGeom prst="rect">
            <a:avLst/>
          </a:prstGeom>
          <a:noFill/>
        </p:spPr>
        <p:txBody>
          <a:bodyPr wrap="square">
            <a:spAutoFit/>
          </a:bodyPr>
          <a:lstStyle/>
          <a:p>
            <a:pPr algn="l"/>
            <a:r>
              <a:rPr sz="950" b="1" i="0">
                <a:solidFill>
                  <a:srgbClr val="FFB347"/>
                </a:solidFill>
                <a:latin typeface="Gill Sans MT"/>
              </a:rPr>
              <a:t>SDG 11</a:t>
            </a:r>
          </a:p>
        </p:txBody>
      </p:sp>
      <p:sp>
        <p:nvSpPr>
          <p:cNvPr id="58" name="TextBox 57"/>
          <p:cNvSpPr txBox="1"/>
          <p:nvPr/>
        </p:nvSpPr>
        <p:spPr>
          <a:xfrm>
            <a:off x="1664208" y="5925312"/>
            <a:ext cx="3566160" cy="530352"/>
          </a:xfrm>
          <a:prstGeom prst="rect">
            <a:avLst/>
          </a:prstGeom>
          <a:noFill/>
        </p:spPr>
        <p:txBody>
          <a:bodyPr wrap="square">
            <a:spAutoFit/>
          </a:bodyPr>
          <a:lstStyle/>
          <a:p>
            <a:pPr algn="l"/>
            <a:r>
              <a:rPr sz="1200" b="1" i="0">
                <a:solidFill>
                  <a:srgbClr val="FFFFFF"/>
                </a:solidFill>
                <a:latin typeface="Gill Sans MT"/>
              </a:rPr>
              <a:t>Sustainable Cities &amp; Communities</a:t>
            </a:r>
          </a:p>
        </p:txBody>
      </p:sp>
      <p:sp>
        <p:nvSpPr>
          <p:cNvPr id="59" name="Rounded Rectangle 58"/>
          <p:cNvSpPr/>
          <p:nvPr/>
        </p:nvSpPr>
        <p:spPr>
          <a:xfrm>
            <a:off x="5413248" y="5852159"/>
            <a:ext cx="1572768" cy="347472"/>
          </a:xfrm>
          <a:prstGeom prst="roundRect">
            <a:avLst/>
          </a:prstGeom>
          <a:solidFill>
            <a:srgbClr val="050810">
              <a:alpha val="65000"/>
            </a:srgbClr>
          </a:solidFill>
          <a:ln w="15240">
            <a:solidFill>
              <a:srgbClr val="B8C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5413248" y="5852159"/>
            <a:ext cx="1572768" cy="347472"/>
          </a:xfrm>
          <a:prstGeom prst="rect">
            <a:avLst/>
          </a:prstGeom>
          <a:noFill/>
        </p:spPr>
        <p:txBody>
          <a:bodyPr wrap="square">
            <a:spAutoFit/>
          </a:bodyPr>
          <a:lstStyle/>
          <a:p>
            <a:pPr algn="ctr"/>
            <a:r>
              <a:rPr sz="1050" b="1" i="0">
                <a:solidFill>
                  <a:srgbClr val="B8C8D8"/>
                </a:solidFill>
                <a:latin typeface="Gill Sans MT"/>
              </a:rPr>
              <a:t>Indirect</a:t>
            </a:r>
          </a:p>
        </p:txBody>
      </p:sp>
      <p:sp>
        <p:nvSpPr>
          <p:cNvPr id="61" name="TextBox 60"/>
          <p:cNvSpPr txBox="1"/>
          <p:nvPr/>
        </p:nvSpPr>
        <p:spPr>
          <a:xfrm>
            <a:off x="7150608" y="5687568"/>
            <a:ext cx="4663440" cy="713232"/>
          </a:xfrm>
          <a:prstGeom prst="rect">
            <a:avLst/>
          </a:prstGeom>
          <a:noFill/>
        </p:spPr>
        <p:txBody>
          <a:bodyPr wrap="square">
            <a:spAutoFit/>
          </a:bodyPr>
          <a:lstStyle/>
          <a:p>
            <a:pPr algn="l"/>
            <a:r>
              <a:rPr sz="1100" b="0" i="0">
                <a:solidFill>
                  <a:srgbClr val="F5F1EB"/>
                </a:solidFill>
                <a:latin typeface="Gill Sans MT"/>
              </a:rPr>
              <a:t>More efficient logistics networks and infrastructure serving urban supply chains.</a:t>
            </a:r>
          </a:p>
        </p:txBody>
      </p:sp>
      <p:sp>
        <p:nvSpPr>
          <p:cNvPr id="62" name="Rounded Rectangle 61"/>
          <p:cNvSpPr/>
          <p:nvPr/>
        </p:nvSpPr>
        <p:spPr>
          <a:xfrm>
            <a:off x="274320" y="6492240"/>
            <a:ext cx="11612880" cy="329184"/>
          </a:xfrm>
          <a:prstGeom prst="roundRect">
            <a:avLst/>
          </a:prstGeom>
          <a:solidFill>
            <a:srgbClr val="050810">
              <a:alpha val="55000"/>
            </a:srgbClr>
          </a:solidFill>
          <a:ln w="3810">
            <a:solidFill>
              <a:srgbClr val="B8C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365760" y="6501384"/>
            <a:ext cx="11430000" cy="310896"/>
          </a:xfrm>
          <a:prstGeom prst="rect">
            <a:avLst/>
          </a:prstGeom>
          <a:noFill/>
        </p:spPr>
        <p:txBody>
          <a:bodyPr wrap="square">
            <a:spAutoFit/>
          </a:bodyPr>
          <a:lstStyle/>
          <a:p>
            <a:pPr algn="ctr"/>
            <a:r>
              <a:rPr sz="900" b="0" i="0">
                <a:solidFill>
                  <a:srgbClr val="B8C8D8"/>
                </a:solidFill>
                <a:latin typeface="Gill Sans MT"/>
              </a:rPr>
              <a:t>Tewogbade Shakir Adeyemi  |  DBA Researcher  |  2573172317</a:t>
            </a:r>
          </a:p>
        </p:txBody>
      </p:sp>
      <p:sp>
        <p:nvSpPr>
          <p:cNvPr id="64" name="TextBox 63"/>
          <p:cNvSpPr txBox="1"/>
          <p:nvPr/>
        </p:nvSpPr>
        <p:spPr>
          <a:xfrm>
            <a:off x="11521440" y="6501384"/>
            <a:ext cx="457200" cy="310896"/>
          </a:xfrm>
          <a:prstGeom prst="rect">
            <a:avLst/>
          </a:prstGeom>
          <a:noFill/>
        </p:spPr>
        <p:txBody>
          <a:bodyPr wrap="square">
            <a:spAutoFit/>
          </a:bodyPr>
          <a:lstStyle/>
          <a:p>
            <a:pPr algn="r"/>
            <a:r>
              <a:rPr sz="800" b="0" i="0">
                <a:solidFill>
                  <a:srgbClr val="B8C8D8"/>
                </a:solidFill>
                <a:latin typeface="Gill Sans MT"/>
              </a:rPr>
              <a:t>13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Picture 1" descr="image.jpeg"/>
          <p:cNvPicPr>
            <a:picLocks noChangeAspect="1"/>
          </p:cNvPicPr>
          <p:nvPr/>
        </p:nvPicPr>
        <p:blipFill>
          <a:blip r:embed="rId3"/>
          <a:stretch>
            <a:fillRect/>
          </a:stretch>
        </p:blipFill>
        <p:spPr>
          <a:xfrm>
            <a:off x="0" y="0"/>
            <a:ext cx="12161520" cy="6858000"/>
          </a:xfrm>
          <a:prstGeom prst="rect">
            <a:avLst/>
          </a:prstGeom>
        </p:spPr>
      </p:pic>
      <p:sp>
        <p:nvSpPr>
          <p:cNvPr id="3" name="Rectangle 2"/>
          <p:cNvSpPr/>
          <p:nvPr/>
        </p:nvSpPr>
        <p:spPr>
          <a:xfrm>
            <a:off x="0" y="0"/>
            <a:ext cx="12161520" cy="1188720"/>
          </a:xfrm>
          <a:prstGeom prst="rect">
            <a:avLst/>
          </a:prstGeom>
          <a:solidFill>
            <a:srgbClr val="050810">
              <a:alpha val="4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365760" y="137160"/>
            <a:ext cx="3200400" cy="292608"/>
          </a:xfrm>
          <a:prstGeom prst="roundRect">
            <a:avLst/>
          </a:prstGeom>
          <a:solidFill>
            <a:srgbClr val="050810">
              <a:alpha val="50000"/>
            </a:srgbClr>
          </a:solidFill>
          <a:ln w="19050">
            <a:solidFill>
              <a:srgbClr val="FFB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37160"/>
            <a:ext cx="3200400" cy="292608"/>
          </a:xfrm>
          <a:prstGeom prst="rect">
            <a:avLst/>
          </a:prstGeom>
          <a:noFill/>
        </p:spPr>
        <p:txBody>
          <a:bodyPr wrap="square">
            <a:spAutoFit/>
          </a:bodyPr>
          <a:lstStyle/>
          <a:p>
            <a:pPr algn="ctr"/>
            <a:r>
              <a:rPr sz="850" b="1" i="0">
                <a:solidFill>
                  <a:srgbClr val="FFB347"/>
                </a:solidFill>
                <a:latin typeface="Gill Sans MT"/>
              </a:rPr>
              <a:t>LIMITATIONS &amp; FUTURE RESEARCH</a:t>
            </a:r>
          </a:p>
        </p:txBody>
      </p:sp>
      <p:sp>
        <p:nvSpPr>
          <p:cNvPr id="6" name="TextBox 5"/>
          <p:cNvSpPr txBox="1"/>
          <p:nvPr/>
        </p:nvSpPr>
        <p:spPr>
          <a:xfrm>
            <a:off x="365760" y="347472"/>
            <a:ext cx="11430000" cy="685800"/>
          </a:xfrm>
          <a:prstGeom prst="rect">
            <a:avLst/>
          </a:prstGeom>
          <a:noFill/>
        </p:spPr>
        <p:txBody>
          <a:bodyPr wrap="square">
            <a:spAutoFit/>
          </a:bodyPr>
          <a:lstStyle/>
          <a:p>
            <a:pPr algn="l"/>
            <a:r>
              <a:rPr sz="2800" b="1" i="0">
                <a:solidFill>
                  <a:srgbClr val="FFFFFF"/>
                </a:solidFill>
                <a:latin typeface="Gill Sans MT"/>
              </a:rPr>
              <a:t>Limitations &amp; Future Research</a:t>
            </a:r>
          </a:p>
        </p:txBody>
      </p:sp>
      <p:cxnSp>
        <p:nvCxnSpPr>
          <p:cNvPr id="7" name="Connector 6"/>
          <p:cNvCxnSpPr/>
          <p:nvPr/>
        </p:nvCxnSpPr>
        <p:spPr>
          <a:xfrm>
            <a:off x="365760" y="1115568"/>
            <a:ext cx="11430000" cy="0"/>
          </a:xfrm>
          <a:prstGeom prst="line">
            <a:avLst/>
          </a:prstGeom>
          <a:ln w="19050">
            <a:solidFill>
              <a:srgbClr val="FFB34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74320" y="1207008"/>
            <a:ext cx="5760720" cy="347472"/>
          </a:xfrm>
          <a:prstGeom prst="roundRect">
            <a:avLst/>
          </a:prstGeom>
          <a:solidFill>
            <a:srgbClr val="050810">
              <a:alpha val="60000"/>
            </a:srgbClr>
          </a:solidFill>
          <a:ln w="10160">
            <a:solidFill>
              <a:srgbClr val="F47A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1207008"/>
            <a:ext cx="5760720" cy="347472"/>
          </a:xfrm>
          <a:prstGeom prst="rect">
            <a:avLst/>
          </a:prstGeom>
          <a:noFill/>
        </p:spPr>
        <p:txBody>
          <a:bodyPr wrap="square">
            <a:spAutoFit/>
          </a:bodyPr>
          <a:lstStyle/>
          <a:p>
            <a:pPr algn="ctr"/>
            <a:r>
              <a:rPr sz="1050" b="1" i="0">
                <a:solidFill>
                  <a:srgbClr val="F47A7A"/>
                </a:solidFill>
                <a:latin typeface="Gill Sans MT"/>
              </a:rPr>
              <a:t>LIMITATIONS</a:t>
            </a:r>
          </a:p>
        </p:txBody>
      </p:sp>
      <p:sp>
        <p:nvSpPr>
          <p:cNvPr id="10" name="Rounded Rectangle 9"/>
          <p:cNvSpPr/>
          <p:nvPr/>
        </p:nvSpPr>
        <p:spPr>
          <a:xfrm>
            <a:off x="6236208" y="1207008"/>
            <a:ext cx="5669280" cy="347472"/>
          </a:xfrm>
          <a:prstGeom prst="roundRect">
            <a:avLst/>
          </a:prstGeom>
          <a:solidFill>
            <a:srgbClr val="050810">
              <a:alpha val="60000"/>
            </a:srgbClr>
          </a:solidFill>
          <a:ln w="10160">
            <a:solidFill>
              <a:srgbClr val="56D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36208" y="1207008"/>
            <a:ext cx="5669280" cy="347472"/>
          </a:xfrm>
          <a:prstGeom prst="rect">
            <a:avLst/>
          </a:prstGeom>
          <a:noFill/>
        </p:spPr>
        <p:txBody>
          <a:bodyPr wrap="square">
            <a:spAutoFit/>
          </a:bodyPr>
          <a:lstStyle/>
          <a:p>
            <a:pPr algn="ctr"/>
            <a:r>
              <a:rPr sz="1050" b="1" i="0">
                <a:solidFill>
                  <a:srgbClr val="56D68A"/>
                </a:solidFill>
                <a:latin typeface="Gill Sans MT"/>
              </a:rPr>
              <a:t>FUTURE RESEARCH</a:t>
            </a:r>
          </a:p>
        </p:txBody>
      </p:sp>
      <p:sp>
        <p:nvSpPr>
          <p:cNvPr id="12" name="Rounded Rectangle 11"/>
          <p:cNvSpPr/>
          <p:nvPr/>
        </p:nvSpPr>
        <p:spPr>
          <a:xfrm>
            <a:off x="274320" y="1664208"/>
            <a:ext cx="5760720" cy="1536192"/>
          </a:xfrm>
          <a:prstGeom prst="roundRect">
            <a:avLst/>
          </a:prstGeom>
          <a:solidFill>
            <a:srgbClr val="050810">
              <a:alpha val="58000"/>
            </a:srgbClr>
          </a:solidFill>
          <a:ln w="11430">
            <a:solidFill>
              <a:srgbClr val="4ECD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274320" y="1664208"/>
            <a:ext cx="73152" cy="1536192"/>
          </a:xfrm>
          <a:prstGeom prst="round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57200" y="1810512"/>
            <a:ext cx="365760" cy="365760"/>
          </a:xfrm>
          <a:prstGeom prst="round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1810512"/>
            <a:ext cx="365760" cy="365760"/>
          </a:xfrm>
          <a:prstGeom prst="rect">
            <a:avLst/>
          </a:prstGeom>
          <a:noFill/>
        </p:spPr>
        <p:txBody>
          <a:bodyPr wrap="square">
            <a:spAutoFit/>
          </a:bodyPr>
          <a:lstStyle/>
          <a:p>
            <a:pPr algn="ctr"/>
            <a:r>
              <a:rPr sz="1400" b="1" i="0">
                <a:solidFill>
                  <a:srgbClr val="FFFFFF"/>
                </a:solidFill>
                <a:latin typeface="Gill Sans MT"/>
              </a:rPr>
              <a:t>1</a:t>
            </a:r>
          </a:p>
        </p:txBody>
      </p:sp>
      <p:sp>
        <p:nvSpPr>
          <p:cNvPr id="16" name="TextBox 15"/>
          <p:cNvSpPr txBox="1"/>
          <p:nvPr/>
        </p:nvSpPr>
        <p:spPr>
          <a:xfrm>
            <a:off x="914400" y="1792224"/>
            <a:ext cx="5010912" cy="384048"/>
          </a:xfrm>
          <a:prstGeom prst="rect">
            <a:avLst/>
          </a:prstGeom>
          <a:noFill/>
        </p:spPr>
        <p:txBody>
          <a:bodyPr wrap="square">
            <a:spAutoFit/>
          </a:bodyPr>
          <a:lstStyle/>
          <a:p>
            <a:pPr algn="l"/>
            <a:r>
              <a:rPr sz="1350" b="1" i="0">
                <a:solidFill>
                  <a:srgbClr val="4ECDC4"/>
                </a:solidFill>
                <a:latin typeface="Gill Sans MT"/>
              </a:rPr>
              <a:t>Secondary Data Only</a:t>
            </a:r>
          </a:p>
        </p:txBody>
      </p:sp>
      <p:cxnSp>
        <p:nvCxnSpPr>
          <p:cNvPr id="17" name="Connector 16"/>
          <p:cNvCxnSpPr/>
          <p:nvPr/>
        </p:nvCxnSpPr>
        <p:spPr>
          <a:xfrm>
            <a:off x="457200" y="2231136"/>
            <a:ext cx="5486400" cy="0"/>
          </a:xfrm>
          <a:prstGeom prst="line">
            <a:avLst/>
          </a:prstGeom>
          <a:ln w="8890">
            <a:solidFill>
              <a:srgbClr val="4ECDC4"/>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57200" y="2304288"/>
            <a:ext cx="5504688" cy="502920"/>
          </a:xfrm>
          <a:prstGeom prst="rect">
            <a:avLst/>
          </a:prstGeom>
          <a:noFill/>
        </p:spPr>
        <p:txBody>
          <a:bodyPr wrap="square">
            <a:spAutoFit/>
          </a:bodyPr>
          <a:lstStyle/>
          <a:p>
            <a:pPr algn="l"/>
            <a:r>
              <a:rPr sz="1050" b="0" i="0">
                <a:solidFill>
                  <a:srgbClr val="B8C8D8"/>
                </a:solidFill>
                <a:latin typeface="Gill Sans MT"/>
              </a:rPr>
              <a:t>Entirely reliant on publicly available databases — limited to pre-existing variables.</a:t>
            </a:r>
          </a:p>
        </p:txBody>
      </p:sp>
      <p:sp>
        <p:nvSpPr>
          <p:cNvPr id="19" name="Rounded Rectangle 18"/>
          <p:cNvSpPr/>
          <p:nvPr/>
        </p:nvSpPr>
        <p:spPr>
          <a:xfrm>
            <a:off x="457200" y="2834640"/>
            <a:ext cx="5504688" cy="301752"/>
          </a:xfrm>
          <a:prstGeom prst="roundRect">
            <a:avLst/>
          </a:prstGeom>
          <a:solidFill>
            <a:srgbClr val="050810">
              <a:alpha val="55000"/>
            </a:srgbClr>
          </a:solidFill>
          <a:ln w="7620">
            <a:solidFill>
              <a:srgbClr val="4ECD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93776" y="2843784"/>
            <a:ext cx="5431536" cy="292608"/>
          </a:xfrm>
          <a:prstGeom prst="rect">
            <a:avLst/>
          </a:prstGeom>
          <a:noFill/>
        </p:spPr>
        <p:txBody>
          <a:bodyPr wrap="square">
            <a:spAutoFit/>
          </a:bodyPr>
          <a:lstStyle/>
          <a:p>
            <a:r>
              <a:rPr sz="950" b="1">
                <a:solidFill>
                  <a:srgbClr val="4ECDC4"/>
                </a:solidFill>
                <a:latin typeface="Gill Sans MT"/>
              </a:rPr>
              <a:t>Plain terms:  </a:t>
            </a:r>
            <a:r>
              <a:rPr sz="1000">
                <a:solidFill>
                  <a:srgbClr val="F5F1EB"/>
                </a:solidFill>
                <a:latin typeface="Gill Sans MT"/>
              </a:rPr>
              <a:t>We could only analyse information already available; no bespoke data collection was possible.</a:t>
            </a:r>
          </a:p>
        </p:txBody>
      </p:sp>
      <p:sp>
        <p:nvSpPr>
          <p:cNvPr id="21" name="Rounded Rectangle 20"/>
          <p:cNvSpPr/>
          <p:nvPr/>
        </p:nvSpPr>
        <p:spPr>
          <a:xfrm>
            <a:off x="274320" y="3282696"/>
            <a:ext cx="5760720" cy="1536192"/>
          </a:xfrm>
          <a:prstGeom prst="roundRect">
            <a:avLst/>
          </a:prstGeom>
          <a:solidFill>
            <a:srgbClr val="050810">
              <a:alpha val="58000"/>
            </a:srgbClr>
          </a:solidFill>
          <a:ln w="11430">
            <a:solidFill>
              <a:srgbClr val="FFB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274320" y="3282696"/>
            <a:ext cx="73152" cy="1536192"/>
          </a:xfrm>
          <a:prstGeom prst="roundRect">
            <a:avLst/>
          </a:prstGeom>
          <a:solidFill>
            <a:srgbClr val="FFB3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457200" y="3429000"/>
            <a:ext cx="365760" cy="365760"/>
          </a:xfrm>
          <a:prstGeom prst="roundRect">
            <a:avLst/>
          </a:prstGeom>
          <a:solidFill>
            <a:srgbClr val="FFB3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7200" y="3429000"/>
            <a:ext cx="365760" cy="365760"/>
          </a:xfrm>
          <a:prstGeom prst="rect">
            <a:avLst/>
          </a:prstGeom>
          <a:noFill/>
        </p:spPr>
        <p:txBody>
          <a:bodyPr wrap="square">
            <a:spAutoFit/>
          </a:bodyPr>
          <a:lstStyle/>
          <a:p>
            <a:pPr algn="ctr"/>
            <a:r>
              <a:rPr sz="1400" b="1" i="0">
                <a:solidFill>
                  <a:srgbClr val="FFFFFF"/>
                </a:solidFill>
                <a:latin typeface="Gill Sans MT"/>
              </a:rPr>
              <a:t>2</a:t>
            </a:r>
          </a:p>
        </p:txBody>
      </p:sp>
      <p:sp>
        <p:nvSpPr>
          <p:cNvPr id="25" name="TextBox 24"/>
          <p:cNvSpPr txBox="1"/>
          <p:nvPr/>
        </p:nvSpPr>
        <p:spPr>
          <a:xfrm>
            <a:off x="914400" y="3410712"/>
            <a:ext cx="5010912" cy="384048"/>
          </a:xfrm>
          <a:prstGeom prst="rect">
            <a:avLst/>
          </a:prstGeom>
          <a:noFill/>
        </p:spPr>
        <p:txBody>
          <a:bodyPr wrap="square">
            <a:spAutoFit/>
          </a:bodyPr>
          <a:lstStyle/>
          <a:p>
            <a:pPr algn="l"/>
            <a:r>
              <a:rPr sz="1350" b="1" i="0">
                <a:solidFill>
                  <a:srgbClr val="FFB347"/>
                </a:solidFill>
                <a:latin typeface="Gill Sans MT"/>
              </a:rPr>
              <a:t>AI Readiness Measurement</a:t>
            </a:r>
          </a:p>
        </p:txBody>
      </p:sp>
      <p:cxnSp>
        <p:nvCxnSpPr>
          <p:cNvPr id="26" name="Connector 25"/>
          <p:cNvCxnSpPr/>
          <p:nvPr/>
        </p:nvCxnSpPr>
        <p:spPr>
          <a:xfrm>
            <a:off x="457200" y="3849624"/>
            <a:ext cx="5486400" cy="0"/>
          </a:xfrm>
          <a:prstGeom prst="line">
            <a:avLst/>
          </a:prstGeom>
          <a:ln w="8890">
            <a:solidFill>
              <a:srgbClr val="FFB347"/>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57200" y="3922776"/>
            <a:ext cx="5504688" cy="502920"/>
          </a:xfrm>
          <a:prstGeom prst="rect">
            <a:avLst/>
          </a:prstGeom>
          <a:noFill/>
        </p:spPr>
        <p:txBody>
          <a:bodyPr wrap="square">
            <a:spAutoFit/>
          </a:bodyPr>
          <a:lstStyle/>
          <a:p>
            <a:pPr algn="l"/>
            <a:r>
              <a:rPr sz="1050" b="0" i="0">
                <a:solidFill>
                  <a:srgbClr val="B8C8D8"/>
                </a:solidFill>
                <a:latin typeface="Gill Sans MT"/>
              </a:rPr>
              <a:t>Composite national indices may not capture every dimension of a country's AI capability.</a:t>
            </a:r>
          </a:p>
        </p:txBody>
      </p:sp>
      <p:sp>
        <p:nvSpPr>
          <p:cNvPr id="28" name="Rounded Rectangle 27"/>
          <p:cNvSpPr/>
          <p:nvPr/>
        </p:nvSpPr>
        <p:spPr>
          <a:xfrm>
            <a:off x="457200" y="4453128"/>
            <a:ext cx="5504688" cy="301752"/>
          </a:xfrm>
          <a:prstGeom prst="roundRect">
            <a:avLst/>
          </a:prstGeom>
          <a:solidFill>
            <a:srgbClr val="050810">
              <a:alpha val="55000"/>
            </a:srgbClr>
          </a:solidFill>
          <a:ln w="7620">
            <a:solidFill>
              <a:srgbClr val="FFB3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93776" y="4462272"/>
            <a:ext cx="5431536" cy="292608"/>
          </a:xfrm>
          <a:prstGeom prst="rect">
            <a:avLst/>
          </a:prstGeom>
          <a:noFill/>
        </p:spPr>
        <p:txBody>
          <a:bodyPr wrap="square">
            <a:spAutoFit/>
          </a:bodyPr>
          <a:lstStyle/>
          <a:p>
            <a:r>
              <a:rPr sz="950" b="1">
                <a:solidFill>
                  <a:srgbClr val="FFB347"/>
                </a:solidFill>
                <a:latin typeface="Gill Sans MT"/>
              </a:rPr>
              <a:t>Plain terms:  </a:t>
            </a:r>
            <a:r>
              <a:rPr sz="1000">
                <a:solidFill>
                  <a:srgbClr val="F5F1EB"/>
                </a:solidFill>
                <a:latin typeface="Gill Sans MT"/>
              </a:rPr>
              <a:t>AI readiness is broad — no single index measures everything about it.</a:t>
            </a:r>
          </a:p>
        </p:txBody>
      </p:sp>
      <p:sp>
        <p:nvSpPr>
          <p:cNvPr id="30" name="Rounded Rectangle 29"/>
          <p:cNvSpPr/>
          <p:nvPr/>
        </p:nvSpPr>
        <p:spPr>
          <a:xfrm>
            <a:off x="274320" y="4901184"/>
            <a:ext cx="5760720" cy="1536192"/>
          </a:xfrm>
          <a:prstGeom prst="roundRect">
            <a:avLst/>
          </a:prstGeom>
          <a:solidFill>
            <a:srgbClr val="050810">
              <a:alpha val="58000"/>
            </a:srgbClr>
          </a:solidFill>
          <a:ln w="11430">
            <a:solidFill>
              <a:srgbClr val="C9A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274320" y="4901184"/>
            <a:ext cx="73152" cy="1536192"/>
          </a:xfrm>
          <a:prstGeom prst="roundRect">
            <a:avLst/>
          </a:prstGeom>
          <a:solidFill>
            <a:srgbClr val="C9A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457200" y="5047488"/>
            <a:ext cx="365760" cy="365760"/>
          </a:xfrm>
          <a:prstGeom prst="roundRect">
            <a:avLst/>
          </a:prstGeom>
          <a:solidFill>
            <a:srgbClr val="C9A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57200" y="5047488"/>
            <a:ext cx="365760" cy="365760"/>
          </a:xfrm>
          <a:prstGeom prst="rect">
            <a:avLst/>
          </a:prstGeom>
          <a:noFill/>
        </p:spPr>
        <p:txBody>
          <a:bodyPr wrap="square">
            <a:spAutoFit/>
          </a:bodyPr>
          <a:lstStyle/>
          <a:p>
            <a:pPr algn="ctr"/>
            <a:r>
              <a:rPr sz="1400" b="1" i="0">
                <a:solidFill>
                  <a:srgbClr val="FFFFFF"/>
                </a:solidFill>
                <a:latin typeface="Gill Sans MT"/>
              </a:rPr>
              <a:t>3</a:t>
            </a:r>
          </a:p>
        </p:txBody>
      </p:sp>
      <p:sp>
        <p:nvSpPr>
          <p:cNvPr id="34" name="TextBox 33"/>
          <p:cNvSpPr txBox="1"/>
          <p:nvPr/>
        </p:nvSpPr>
        <p:spPr>
          <a:xfrm>
            <a:off x="914400" y="5029200"/>
            <a:ext cx="5010912" cy="384048"/>
          </a:xfrm>
          <a:prstGeom prst="rect">
            <a:avLst/>
          </a:prstGeom>
          <a:noFill/>
        </p:spPr>
        <p:txBody>
          <a:bodyPr wrap="square">
            <a:spAutoFit/>
          </a:bodyPr>
          <a:lstStyle/>
          <a:p>
            <a:pPr algn="l"/>
            <a:r>
              <a:rPr sz="1350" b="1" i="0">
                <a:solidFill>
                  <a:srgbClr val="C9A0E8"/>
                </a:solidFill>
                <a:latin typeface="Gill Sans MT"/>
              </a:rPr>
              <a:t>Pilot OLS-SEM Approach</a:t>
            </a:r>
          </a:p>
        </p:txBody>
      </p:sp>
      <p:cxnSp>
        <p:nvCxnSpPr>
          <p:cNvPr id="35" name="Connector 34"/>
          <p:cNvCxnSpPr/>
          <p:nvPr/>
        </p:nvCxnSpPr>
        <p:spPr>
          <a:xfrm>
            <a:off x="457200" y="5468112"/>
            <a:ext cx="5486400" cy="0"/>
          </a:xfrm>
          <a:prstGeom prst="line">
            <a:avLst/>
          </a:prstGeom>
          <a:ln w="8890">
            <a:solidFill>
              <a:srgbClr val="C9A0E8"/>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457200" y="5541264"/>
            <a:ext cx="5504688" cy="502920"/>
          </a:xfrm>
          <a:prstGeom prst="rect">
            <a:avLst/>
          </a:prstGeom>
          <a:noFill/>
        </p:spPr>
        <p:txBody>
          <a:bodyPr wrap="square">
            <a:spAutoFit/>
          </a:bodyPr>
          <a:lstStyle/>
          <a:p>
            <a:pPr algn="l"/>
            <a:r>
              <a:rPr sz="1050" b="0" i="0">
                <a:solidFill>
                  <a:srgbClr val="B8C8D8"/>
                </a:solidFill>
                <a:latin typeface="Gill Sans MT"/>
              </a:rPr>
              <a:t>Hierarchical OLS regression approximates SEM; global fit indices (CFI, RMSEA, SRMR) were not assessed.</a:t>
            </a:r>
          </a:p>
        </p:txBody>
      </p:sp>
      <p:sp>
        <p:nvSpPr>
          <p:cNvPr id="37" name="Rounded Rectangle 36"/>
          <p:cNvSpPr/>
          <p:nvPr/>
        </p:nvSpPr>
        <p:spPr>
          <a:xfrm>
            <a:off x="457200" y="6071616"/>
            <a:ext cx="5504688" cy="301752"/>
          </a:xfrm>
          <a:prstGeom prst="roundRect">
            <a:avLst/>
          </a:prstGeom>
          <a:solidFill>
            <a:srgbClr val="050810">
              <a:alpha val="55000"/>
            </a:srgbClr>
          </a:solidFill>
          <a:ln w="7620">
            <a:solidFill>
              <a:srgbClr val="C9A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93776" y="6080760"/>
            <a:ext cx="5431536" cy="292608"/>
          </a:xfrm>
          <a:prstGeom prst="rect">
            <a:avLst/>
          </a:prstGeom>
          <a:noFill/>
        </p:spPr>
        <p:txBody>
          <a:bodyPr wrap="square">
            <a:spAutoFit/>
          </a:bodyPr>
          <a:lstStyle/>
          <a:p>
            <a:r>
              <a:rPr sz="950" b="1">
                <a:solidFill>
                  <a:srgbClr val="C9A0E8"/>
                </a:solidFill>
                <a:latin typeface="Gill Sans MT"/>
              </a:rPr>
              <a:t>Plain terms:  </a:t>
            </a:r>
            <a:r>
              <a:rPr sz="1000">
                <a:solidFill>
                  <a:srgbClr val="F5F1EB"/>
                </a:solidFill>
                <a:latin typeface="Gill Sans MT"/>
              </a:rPr>
              <a:t>This was a first-pass test. A full SEM analysis would give a more rigorous model evaluation.</a:t>
            </a:r>
          </a:p>
        </p:txBody>
      </p:sp>
      <p:sp>
        <p:nvSpPr>
          <p:cNvPr id="39" name="Rounded Rectangle 38"/>
          <p:cNvSpPr/>
          <p:nvPr/>
        </p:nvSpPr>
        <p:spPr>
          <a:xfrm>
            <a:off x="6236208" y="1664208"/>
            <a:ext cx="5669280" cy="1536192"/>
          </a:xfrm>
          <a:prstGeom prst="roundRect">
            <a:avLst/>
          </a:prstGeom>
          <a:solidFill>
            <a:srgbClr val="050810">
              <a:alpha val="58000"/>
            </a:srgbClr>
          </a:solidFill>
          <a:ln w="11430">
            <a:solidFill>
              <a:srgbClr val="6DA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6236208" y="1664208"/>
            <a:ext cx="73152" cy="1536192"/>
          </a:xfrm>
          <a:prstGeom prst="roundRect">
            <a:avLst/>
          </a:prstGeom>
          <a:solidFill>
            <a:srgbClr val="6DAE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6419088" y="1810512"/>
            <a:ext cx="365760" cy="365760"/>
          </a:xfrm>
          <a:prstGeom prst="roundRect">
            <a:avLst/>
          </a:prstGeom>
          <a:solidFill>
            <a:srgbClr val="6DAE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419088" y="1810512"/>
            <a:ext cx="365760" cy="365760"/>
          </a:xfrm>
          <a:prstGeom prst="rect">
            <a:avLst/>
          </a:prstGeom>
          <a:noFill/>
        </p:spPr>
        <p:txBody>
          <a:bodyPr wrap="square">
            <a:spAutoFit/>
          </a:bodyPr>
          <a:lstStyle/>
          <a:p>
            <a:pPr algn="ctr"/>
            <a:r>
              <a:rPr sz="1400" b="1" i="0">
                <a:solidFill>
                  <a:srgbClr val="FFFFFF"/>
                </a:solidFill>
                <a:latin typeface="Gill Sans MT"/>
              </a:rPr>
              <a:t>1</a:t>
            </a:r>
          </a:p>
        </p:txBody>
      </p:sp>
      <p:sp>
        <p:nvSpPr>
          <p:cNvPr id="43" name="TextBox 42"/>
          <p:cNvSpPr txBox="1"/>
          <p:nvPr/>
        </p:nvSpPr>
        <p:spPr>
          <a:xfrm>
            <a:off x="6876288" y="1792224"/>
            <a:ext cx="4919472" cy="384048"/>
          </a:xfrm>
          <a:prstGeom prst="rect">
            <a:avLst/>
          </a:prstGeom>
          <a:noFill/>
        </p:spPr>
        <p:txBody>
          <a:bodyPr wrap="square">
            <a:spAutoFit/>
          </a:bodyPr>
          <a:lstStyle/>
          <a:p>
            <a:pPr algn="l"/>
            <a:r>
              <a:rPr sz="1350" b="1" i="0">
                <a:solidFill>
                  <a:srgbClr val="6DAEDB"/>
                </a:solidFill>
                <a:latin typeface="Gill Sans MT"/>
              </a:rPr>
              <a:t>Full Covariance-Based SEM</a:t>
            </a:r>
          </a:p>
        </p:txBody>
      </p:sp>
      <p:cxnSp>
        <p:nvCxnSpPr>
          <p:cNvPr id="44" name="Connector 43"/>
          <p:cNvCxnSpPr/>
          <p:nvPr/>
        </p:nvCxnSpPr>
        <p:spPr>
          <a:xfrm>
            <a:off x="6419088" y="2231136"/>
            <a:ext cx="5394960" cy="0"/>
          </a:xfrm>
          <a:prstGeom prst="line">
            <a:avLst/>
          </a:prstGeom>
          <a:ln w="8890">
            <a:solidFill>
              <a:srgbClr val="6DAEDB"/>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6419088" y="2304288"/>
            <a:ext cx="5413248" cy="502920"/>
          </a:xfrm>
          <a:prstGeom prst="rect">
            <a:avLst/>
          </a:prstGeom>
          <a:noFill/>
        </p:spPr>
        <p:txBody>
          <a:bodyPr wrap="square">
            <a:spAutoFit/>
          </a:bodyPr>
          <a:lstStyle/>
          <a:p>
            <a:pPr algn="l"/>
            <a:r>
              <a:rPr sz="1050" b="0" i="0">
                <a:solidFill>
                  <a:srgbClr val="B8C8D8"/>
                </a:solidFill>
                <a:latin typeface="Gill Sans MT"/>
              </a:rPr>
              <a:t>Estimate the model using AMOS or LISREL and report global fit indices (CFI, RMSEA, SRMR).</a:t>
            </a:r>
          </a:p>
        </p:txBody>
      </p:sp>
      <p:sp>
        <p:nvSpPr>
          <p:cNvPr id="46" name="Rounded Rectangle 45"/>
          <p:cNvSpPr/>
          <p:nvPr/>
        </p:nvSpPr>
        <p:spPr>
          <a:xfrm>
            <a:off x="6419088" y="2834640"/>
            <a:ext cx="5413248" cy="301752"/>
          </a:xfrm>
          <a:prstGeom prst="roundRect">
            <a:avLst/>
          </a:prstGeom>
          <a:solidFill>
            <a:srgbClr val="050810">
              <a:alpha val="55000"/>
            </a:srgbClr>
          </a:solidFill>
          <a:ln w="7620">
            <a:solidFill>
              <a:srgbClr val="6DAE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455664" y="2843784"/>
            <a:ext cx="5340096" cy="292608"/>
          </a:xfrm>
          <a:prstGeom prst="rect">
            <a:avLst/>
          </a:prstGeom>
          <a:noFill/>
        </p:spPr>
        <p:txBody>
          <a:bodyPr wrap="square">
            <a:spAutoFit/>
          </a:bodyPr>
          <a:lstStyle/>
          <a:p>
            <a:r>
              <a:rPr sz="950" b="1">
                <a:solidFill>
                  <a:srgbClr val="6DAEDB"/>
                </a:solidFill>
                <a:latin typeface="Gill Sans MT"/>
              </a:rPr>
              <a:t>Plain terms:  </a:t>
            </a:r>
            <a:r>
              <a:rPr sz="1000">
                <a:solidFill>
                  <a:srgbClr val="F5F1EB"/>
                </a:solidFill>
                <a:latin typeface="Gill Sans MT"/>
              </a:rPr>
              <a:t>The next step is a complete SEM model to evaluate how well the full structure fits the data.</a:t>
            </a:r>
          </a:p>
        </p:txBody>
      </p:sp>
      <p:sp>
        <p:nvSpPr>
          <p:cNvPr id="48" name="Rounded Rectangle 47"/>
          <p:cNvSpPr/>
          <p:nvPr/>
        </p:nvSpPr>
        <p:spPr>
          <a:xfrm>
            <a:off x="6236208" y="3282696"/>
            <a:ext cx="5669280" cy="1536192"/>
          </a:xfrm>
          <a:prstGeom prst="roundRect">
            <a:avLst/>
          </a:prstGeom>
          <a:solidFill>
            <a:srgbClr val="050810">
              <a:alpha val="58000"/>
            </a:srgbClr>
          </a:solidFill>
          <a:ln w="11430">
            <a:solidFill>
              <a:srgbClr val="56D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p:cNvSpPr/>
          <p:nvPr/>
        </p:nvSpPr>
        <p:spPr>
          <a:xfrm>
            <a:off x="6236208" y="3282696"/>
            <a:ext cx="73152" cy="1536192"/>
          </a:xfrm>
          <a:prstGeom prst="roundRect">
            <a:avLst/>
          </a:prstGeom>
          <a:solidFill>
            <a:srgbClr val="56D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ounded Rectangle 49"/>
          <p:cNvSpPr/>
          <p:nvPr/>
        </p:nvSpPr>
        <p:spPr>
          <a:xfrm>
            <a:off x="6419088" y="3429000"/>
            <a:ext cx="365760" cy="365760"/>
          </a:xfrm>
          <a:prstGeom prst="roundRect">
            <a:avLst/>
          </a:prstGeom>
          <a:solidFill>
            <a:srgbClr val="56D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419088" y="3429000"/>
            <a:ext cx="365760" cy="365760"/>
          </a:xfrm>
          <a:prstGeom prst="rect">
            <a:avLst/>
          </a:prstGeom>
          <a:noFill/>
        </p:spPr>
        <p:txBody>
          <a:bodyPr wrap="square">
            <a:spAutoFit/>
          </a:bodyPr>
          <a:lstStyle/>
          <a:p>
            <a:pPr algn="ctr"/>
            <a:r>
              <a:rPr sz="1400" b="1" i="0">
                <a:solidFill>
                  <a:srgbClr val="FFFFFF"/>
                </a:solidFill>
                <a:latin typeface="Gill Sans MT"/>
              </a:rPr>
              <a:t>2</a:t>
            </a:r>
          </a:p>
        </p:txBody>
      </p:sp>
      <p:sp>
        <p:nvSpPr>
          <p:cNvPr id="52" name="TextBox 51"/>
          <p:cNvSpPr txBox="1"/>
          <p:nvPr/>
        </p:nvSpPr>
        <p:spPr>
          <a:xfrm>
            <a:off x="6876288" y="3410712"/>
            <a:ext cx="4919472" cy="384048"/>
          </a:xfrm>
          <a:prstGeom prst="rect">
            <a:avLst/>
          </a:prstGeom>
          <a:noFill/>
        </p:spPr>
        <p:txBody>
          <a:bodyPr wrap="square">
            <a:spAutoFit/>
          </a:bodyPr>
          <a:lstStyle/>
          <a:p>
            <a:pPr algn="l"/>
            <a:r>
              <a:rPr sz="1350" b="1" i="0">
                <a:solidFill>
                  <a:srgbClr val="56D68A"/>
                </a:solidFill>
                <a:latin typeface="Gill Sans MT"/>
              </a:rPr>
              <a:t>Include Additional Variables</a:t>
            </a:r>
          </a:p>
        </p:txBody>
      </p:sp>
      <p:cxnSp>
        <p:nvCxnSpPr>
          <p:cNvPr id="53" name="Connector 52"/>
          <p:cNvCxnSpPr/>
          <p:nvPr/>
        </p:nvCxnSpPr>
        <p:spPr>
          <a:xfrm>
            <a:off x="6419088" y="3849624"/>
            <a:ext cx="5394960" cy="0"/>
          </a:xfrm>
          <a:prstGeom prst="line">
            <a:avLst/>
          </a:prstGeom>
          <a:ln w="8890">
            <a:solidFill>
              <a:srgbClr val="56D68A"/>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6419088" y="3922776"/>
            <a:ext cx="5413248" cy="502920"/>
          </a:xfrm>
          <a:prstGeom prst="rect">
            <a:avLst/>
          </a:prstGeom>
          <a:noFill/>
        </p:spPr>
        <p:txBody>
          <a:bodyPr wrap="square">
            <a:spAutoFit/>
          </a:bodyPr>
          <a:lstStyle/>
          <a:p>
            <a:pPr algn="l"/>
            <a:r>
              <a:rPr sz="1050" b="0" i="0">
                <a:solidFill>
                  <a:srgbClr val="B8C8D8"/>
                </a:solidFill>
                <a:latin typeface="Gill Sans MT"/>
              </a:rPr>
              <a:t>Future studies could incorporate digital skills, innovation capacity, cybersecurity, or AI investment.</a:t>
            </a:r>
          </a:p>
        </p:txBody>
      </p:sp>
      <p:sp>
        <p:nvSpPr>
          <p:cNvPr id="55" name="Rounded Rectangle 54"/>
          <p:cNvSpPr/>
          <p:nvPr/>
        </p:nvSpPr>
        <p:spPr>
          <a:xfrm>
            <a:off x="6419088" y="4453128"/>
            <a:ext cx="5413248" cy="301752"/>
          </a:xfrm>
          <a:prstGeom prst="roundRect">
            <a:avLst/>
          </a:prstGeom>
          <a:solidFill>
            <a:srgbClr val="050810">
              <a:alpha val="55000"/>
            </a:srgbClr>
          </a:solidFill>
          <a:ln w="7620">
            <a:solidFill>
              <a:srgbClr val="56D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455664" y="4462272"/>
            <a:ext cx="5340096" cy="292608"/>
          </a:xfrm>
          <a:prstGeom prst="rect">
            <a:avLst/>
          </a:prstGeom>
          <a:noFill/>
        </p:spPr>
        <p:txBody>
          <a:bodyPr wrap="square">
            <a:spAutoFit/>
          </a:bodyPr>
          <a:lstStyle/>
          <a:p>
            <a:r>
              <a:rPr sz="950" b="1">
                <a:solidFill>
                  <a:srgbClr val="56D68A"/>
                </a:solidFill>
                <a:latin typeface="Gill Sans MT"/>
              </a:rPr>
              <a:t>Plain terms:  </a:t>
            </a:r>
            <a:r>
              <a:rPr sz="1000">
                <a:solidFill>
                  <a:srgbClr val="F5F1EB"/>
                </a:solidFill>
                <a:latin typeface="Gill Sans MT"/>
              </a:rPr>
              <a:t>Other factors influence how AI improves supply chains — future models should capture them.</a:t>
            </a:r>
          </a:p>
        </p:txBody>
      </p:sp>
      <p:sp>
        <p:nvSpPr>
          <p:cNvPr id="57" name="Rounded Rectangle 56"/>
          <p:cNvSpPr/>
          <p:nvPr/>
        </p:nvSpPr>
        <p:spPr>
          <a:xfrm>
            <a:off x="6236208" y="4901184"/>
            <a:ext cx="5669280" cy="1536192"/>
          </a:xfrm>
          <a:prstGeom prst="roundRect">
            <a:avLst/>
          </a:prstGeom>
          <a:solidFill>
            <a:srgbClr val="050810">
              <a:alpha val="58000"/>
            </a:srgbClr>
          </a:solidFill>
          <a:ln w="11430">
            <a:solidFill>
              <a:srgbClr val="F0C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ounded Rectangle 57"/>
          <p:cNvSpPr/>
          <p:nvPr/>
        </p:nvSpPr>
        <p:spPr>
          <a:xfrm>
            <a:off x="6236208" y="4901184"/>
            <a:ext cx="73152" cy="1536192"/>
          </a:xfrm>
          <a:prstGeom prst="round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ounded Rectangle 58"/>
          <p:cNvSpPr/>
          <p:nvPr/>
        </p:nvSpPr>
        <p:spPr>
          <a:xfrm>
            <a:off x="6419088" y="5047488"/>
            <a:ext cx="365760" cy="365760"/>
          </a:xfrm>
          <a:prstGeom prst="round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419088" y="5047488"/>
            <a:ext cx="365760" cy="365760"/>
          </a:xfrm>
          <a:prstGeom prst="rect">
            <a:avLst/>
          </a:prstGeom>
          <a:noFill/>
        </p:spPr>
        <p:txBody>
          <a:bodyPr wrap="square">
            <a:spAutoFit/>
          </a:bodyPr>
          <a:lstStyle/>
          <a:p>
            <a:pPr algn="ctr"/>
            <a:r>
              <a:rPr sz="1400" b="1" i="0">
                <a:solidFill>
                  <a:srgbClr val="FFFFFF"/>
                </a:solidFill>
                <a:latin typeface="Gill Sans MT"/>
              </a:rPr>
              <a:t>3</a:t>
            </a:r>
          </a:p>
        </p:txBody>
      </p:sp>
      <p:sp>
        <p:nvSpPr>
          <p:cNvPr id="61" name="TextBox 60"/>
          <p:cNvSpPr txBox="1"/>
          <p:nvPr/>
        </p:nvSpPr>
        <p:spPr>
          <a:xfrm>
            <a:off x="6876288" y="5029200"/>
            <a:ext cx="4919472" cy="384048"/>
          </a:xfrm>
          <a:prstGeom prst="rect">
            <a:avLst/>
          </a:prstGeom>
          <a:noFill/>
        </p:spPr>
        <p:txBody>
          <a:bodyPr wrap="square">
            <a:spAutoFit/>
          </a:bodyPr>
          <a:lstStyle/>
          <a:p>
            <a:pPr algn="l"/>
            <a:r>
              <a:rPr sz="1350" b="1" i="0">
                <a:solidFill>
                  <a:srgbClr val="F0C040"/>
                </a:solidFill>
                <a:latin typeface="Gill Sans MT"/>
              </a:rPr>
              <a:t>Extend to Industries &amp; Regions</a:t>
            </a:r>
          </a:p>
        </p:txBody>
      </p:sp>
      <p:cxnSp>
        <p:nvCxnSpPr>
          <p:cNvPr id="62" name="Connector 61"/>
          <p:cNvCxnSpPr/>
          <p:nvPr/>
        </p:nvCxnSpPr>
        <p:spPr>
          <a:xfrm>
            <a:off x="6419088" y="5468112"/>
            <a:ext cx="5394960" cy="0"/>
          </a:xfrm>
          <a:prstGeom prst="line">
            <a:avLst/>
          </a:prstGeom>
          <a:ln w="8890">
            <a:solidFill>
              <a:srgbClr val="F0C040"/>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6419088" y="5541264"/>
            <a:ext cx="5413248" cy="502920"/>
          </a:xfrm>
          <a:prstGeom prst="rect">
            <a:avLst/>
          </a:prstGeom>
          <a:noFill/>
        </p:spPr>
        <p:txBody>
          <a:bodyPr wrap="square">
            <a:spAutoFit/>
          </a:bodyPr>
          <a:lstStyle/>
          <a:p>
            <a:pPr algn="l"/>
            <a:r>
              <a:rPr sz="1050" b="0" i="0">
                <a:solidFill>
                  <a:srgbClr val="B8C8D8"/>
                </a:solidFill>
                <a:latin typeface="Gill Sans MT"/>
              </a:rPr>
              <a:t>Examine whether findings differ across industries, regions, or income groups.</a:t>
            </a:r>
          </a:p>
        </p:txBody>
      </p:sp>
      <p:sp>
        <p:nvSpPr>
          <p:cNvPr id="64" name="Rounded Rectangle 63"/>
          <p:cNvSpPr/>
          <p:nvPr/>
        </p:nvSpPr>
        <p:spPr>
          <a:xfrm>
            <a:off x="6419088" y="6071616"/>
            <a:ext cx="5413248" cy="301752"/>
          </a:xfrm>
          <a:prstGeom prst="roundRect">
            <a:avLst/>
          </a:prstGeom>
          <a:solidFill>
            <a:srgbClr val="050810">
              <a:alpha val="55000"/>
            </a:srgbClr>
          </a:solidFill>
          <a:ln w="7620">
            <a:solidFill>
              <a:srgbClr val="F0C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6455664" y="6080760"/>
            <a:ext cx="5340096" cy="292608"/>
          </a:xfrm>
          <a:prstGeom prst="rect">
            <a:avLst/>
          </a:prstGeom>
          <a:noFill/>
        </p:spPr>
        <p:txBody>
          <a:bodyPr wrap="square">
            <a:spAutoFit/>
          </a:bodyPr>
          <a:lstStyle/>
          <a:p>
            <a:r>
              <a:rPr sz="950" b="1">
                <a:solidFill>
                  <a:srgbClr val="F0C040"/>
                </a:solidFill>
                <a:latin typeface="Gill Sans MT"/>
              </a:rPr>
              <a:t>Plain terms:  </a:t>
            </a:r>
            <a:r>
              <a:rPr sz="1000">
                <a:solidFill>
                  <a:srgbClr val="F5F1EB"/>
                </a:solidFill>
                <a:latin typeface="Gill Sans MT"/>
              </a:rPr>
              <a:t>AI may work differently in manufacturing vs. healthcare, or high-income vs. low-income countries.</a:t>
            </a:r>
          </a:p>
        </p:txBody>
      </p:sp>
      <p:sp>
        <p:nvSpPr>
          <p:cNvPr id="66" name="Rounded Rectangle 65"/>
          <p:cNvSpPr/>
          <p:nvPr/>
        </p:nvSpPr>
        <p:spPr>
          <a:xfrm>
            <a:off x="274320" y="6492240"/>
            <a:ext cx="11612880" cy="329184"/>
          </a:xfrm>
          <a:prstGeom prst="roundRect">
            <a:avLst/>
          </a:prstGeom>
          <a:solidFill>
            <a:srgbClr val="050810">
              <a:alpha val="55000"/>
            </a:srgbClr>
          </a:solidFill>
          <a:ln w="3810">
            <a:solidFill>
              <a:srgbClr val="B8C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365760" y="6501384"/>
            <a:ext cx="11430000" cy="310896"/>
          </a:xfrm>
          <a:prstGeom prst="rect">
            <a:avLst/>
          </a:prstGeom>
          <a:noFill/>
        </p:spPr>
        <p:txBody>
          <a:bodyPr wrap="square">
            <a:spAutoFit/>
          </a:bodyPr>
          <a:lstStyle/>
          <a:p>
            <a:pPr algn="ctr"/>
            <a:r>
              <a:rPr sz="900" b="0" i="0">
                <a:solidFill>
                  <a:srgbClr val="B8C8D8"/>
                </a:solidFill>
                <a:latin typeface="Gill Sans MT"/>
              </a:rPr>
              <a:t>Tewogbade Shakir Adeyemi  |  DBA Researcher  |  2573172317</a:t>
            </a:r>
          </a:p>
        </p:txBody>
      </p:sp>
      <p:sp>
        <p:nvSpPr>
          <p:cNvPr id="68" name="TextBox 67"/>
          <p:cNvSpPr txBox="1"/>
          <p:nvPr/>
        </p:nvSpPr>
        <p:spPr>
          <a:xfrm>
            <a:off x="11521440" y="6501384"/>
            <a:ext cx="457200" cy="310896"/>
          </a:xfrm>
          <a:prstGeom prst="rect">
            <a:avLst/>
          </a:prstGeom>
          <a:noFill/>
        </p:spPr>
        <p:txBody>
          <a:bodyPr wrap="square">
            <a:spAutoFit/>
          </a:bodyPr>
          <a:lstStyle/>
          <a:p>
            <a:pPr algn="r"/>
            <a:r>
              <a:rPr sz="800" b="0" i="0">
                <a:solidFill>
                  <a:srgbClr val="B8C8D8"/>
                </a:solidFill>
                <a:latin typeface="Gill Sans MT"/>
              </a:rPr>
              <a:t>13</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61520" cy="6858000"/>
          </a:xfrm>
          <a:prstGeom prst="rect">
            <a:avLst/>
          </a:prstGeom>
        </p:spPr>
      </p:pic>
      <p:sp>
        <p:nvSpPr>
          <p:cNvPr id="3" name="Shape 0"/>
          <p:cNvSpPr/>
          <p:nvPr/>
        </p:nvSpPr>
        <p:spPr>
          <a:xfrm>
            <a:off x="0" y="0"/>
            <a:ext cx="12161520" cy="1005840"/>
          </a:xfrm>
          <a:prstGeom prst="roundRect">
            <a:avLst>
              <a:gd name="adj" fmla="val 12727"/>
            </a:avLst>
          </a:prstGeom>
          <a:solidFill>
            <a:srgbClr val="020306">
              <a:alpha val="65000"/>
            </a:srgbClr>
          </a:solidFill>
          <a:ln w="6350">
            <a:solidFill>
              <a:srgbClr val="FFFFFF">
                <a:alpha val="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4" name="Shape 1"/>
          <p:cNvSpPr/>
          <p:nvPr/>
        </p:nvSpPr>
        <p:spPr>
          <a:xfrm>
            <a:off x="0" y="987552"/>
            <a:ext cx="12161520" cy="0"/>
          </a:xfrm>
          <a:prstGeom prst="line">
            <a:avLst/>
          </a:prstGeom>
          <a:noFill/>
          <a:ln w="19050">
            <a:solidFill>
              <a:srgbClr val="F0C040"/>
            </a:solidFill>
            <a:prstDash val="solid"/>
          </a:ln>
        </p:spPr>
        <p:txBody>
          <a:bodyPr/>
          <a:lstStyle/>
          <a:p>
            <a:endParaRPr lang="en-GB"/>
          </a:p>
        </p:txBody>
      </p:sp>
      <p:sp>
        <p:nvSpPr>
          <p:cNvPr id="5" name="Text 2"/>
          <p:cNvSpPr/>
          <p:nvPr/>
        </p:nvSpPr>
        <p:spPr>
          <a:xfrm>
            <a:off x="365760" y="201168"/>
            <a:ext cx="11430000" cy="566928"/>
          </a:xfrm>
          <a:prstGeom prst="rect">
            <a:avLst/>
          </a:prstGeom>
          <a:noFill/>
          <a:ln/>
        </p:spPr>
        <p:txBody>
          <a:bodyPr wrap="square" lIns="50800" tIns="50800" rIns="50800" bIns="50800" rtlCol="0" anchor="ctr"/>
          <a:lstStyle/>
          <a:p>
            <a:pPr marL="0" indent="0" algn="ctr">
              <a:buNone/>
            </a:pPr>
            <a:r>
              <a:rPr lang="en-US" sz="1200" b="1" kern="0" spc="350" dirty="0">
                <a:solidFill>
                  <a:srgbClr val="B8C8D8"/>
                </a:solidFill>
                <a:latin typeface="Gill Sans MT" pitchFamily="34" charset="0"/>
                <a:ea typeface="Gill Sans MT" pitchFamily="34" charset="-122"/>
                <a:cs typeface="Gill Sans MT" pitchFamily="34" charset="-120"/>
              </a:rPr>
              <a:t>CONCLUSION</a:t>
            </a:r>
            <a:endParaRPr lang="en-US" sz="1200" dirty="0"/>
          </a:p>
        </p:txBody>
      </p:sp>
      <p:sp>
        <p:nvSpPr>
          <p:cNvPr id="6" name="Text 3"/>
          <p:cNvSpPr/>
          <p:nvPr/>
        </p:nvSpPr>
        <p:spPr>
          <a:xfrm>
            <a:off x="365760" y="1078992"/>
            <a:ext cx="11430000" cy="658368"/>
          </a:xfrm>
          <a:prstGeom prst="rect">
            <a:avLst/>
          </a:prstGeom>
          <a:noFill/>
          <a:ln/>
        </p:spPr>
        <p:txBody>
          <a:bodyPr wrap="square" lIns="50800" tIns="50800" rIns="50800" bIns="50800" rtlCol="0" anchor="ctr"/>
          <a:lstStyle/>
          <a:p>
            <a:pPr marL="0" indent="0" algn="ctr">
              <a:buNone/>
            </a:pPr>
            <a:r>
              <a:rPr lang="en-US" sz="3000" b="1" dirty="0">
                <a:solidFill>
                  <a:srgbClr val="FFFFFF"/>
                </a:solidFill>
                <a:latin typeface="Gill Sans MT" pitchFamily="34" charset="0"/>
                <a:ea typeface="Gill Sans MT" pitchFamily="34" charset="-122"/>
                <a:cs typeface="Gill Sans MT" pitchFamily="34" charset="-120"/>
              </a:rPr>
              <a:t>Three Takeaways for the Room</a:t>
            </a:r>
            <a:endParaRPr lang="en-US" sz="3000" dirty="0"/>
          </a:p>
        </p:txBody>
      </p:sp>
      <p:sp>
        <p:nvSpPr>
          <p:cNvPr id="7" name="Shape 4"/>
          <p:cNvSpPr/>
          <p:nvPr/>
        </p:nvSpPr>
        <p:spPr>
          <a:xfrm>
            <a:off x="2286000" y="1783080"/>
            <a:ext cx="7589520" cy="0"/>
          </a:xfrm>
          <a:prstGeom prst="line">
            <a:avLst/>
          </a:prstGeom>
          <a:noFill/>
          <a:ln w="19050">
            <a:solidFill>
              <a:srgbClr val="F0C040"/>
            </a:solidFill>
            <a:prstDash val="solid"/>
          </a:ln>
        </p:spPr>
        <p:txBody>
          <a:bodyPr/>
          <a:lstStyle/>
          <a:p>
            <a:endParaRPr lang="en-GB"/>
          </a:p>
        </p:txBody>
      </p:sp>
      <p:sp>
        <p:nvSpPr>
          <p:cNvPr id="8" name="Shape 5"/>
          <p:cNvSpPr/>
          <p:nvPr/>
        </p:nvSpPr>
        <p:spPr>
          <a:xfrm>
            <a:off x="365760" y="1965960"/>
            <a:ext cx="3749040" cy="4434840"/>
          </a:xfrm>
          <a:prstGeom prst="roundRect">
            <a:avLst>
              <a:gd name="adj" fmla="val 3415"/>
            </a:avLst>
          </a:prstGeom>
          <a:solidFill>
            <a:srgbClr val="04060E">
              <a:alpha val="65000"/>
            </a:srgbClr>
          </a:solidFill>
          <a:ln w="15240">
            <a:solidFill>
              <a:srgbClr val="6DAEDB">
                <a:alpha val="72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9" name="Shape 6"/>
          <p:cNvSpPr/>
          <p:nvPr/>
        </p:nvSpPr>
        <p:spPr>
          <a:xfrm>
            <a:off x="530352" y="2084832"/>
            <a:ext cx="749808" cy="640080"/>
          </a:xfrm>
          <a:prstGeom prst="roundRect">
            <a:avLst>
              <a:gd name="adj" fmla="val 11429"/>
            </a:avLst>
          </a:prstGeom>
          <a:solidFill>
            <a:srgbClr val="6DAEDB">
              <a:alpha val="55000"/>
            </a:srgbClr>
          </a:solidFill>
          <a:ln w="12700">
            <a:solidFill>
              <a:srgbClr val="6DAEDB"/>
            </a:solidFill>
            <a:prstDash val="solid"/>
          </a:ln>
        </p:spPr>
        <p:txBody>
          <a:bodyPr/>
          <a:lstStyle/>
          <a:p>
            <a:endParaRPr lang="en-GB"/>
          </a:p>
        </p:txBody>
      </p:sp>
      <p:sp>
        <p:nvSpPr>
          <p:cNvPr id="10" name="Text 7"/>
          <p:cNvSpPr/>
          <p:nvPr/>
        </p:nvSpPr>
        <p:spPr>
          <a:xfrm>
            <a:off x="530352" y="2084832"/>
            <a:ext cx="749808" cy="640080"/>
          </a:xfrm>
          <a:prstGeom prst="rect">
            <a:avLst/>
          </a:prstGeom>
          <a:noFill/>
          <a:ln/>
        </p:spPr>
        <p:txBody>
          <a:bodyPr wrap="square" lIns="50800" tIns="50800" rIns="50800" bIns="50800" rtlCol="0" anchor="ctr"/>
          <a:lstStyle/>
          <a:p>
            <a:pPr marL="0" indent="0" algn="ctr">
              <a:buNone/>
            </a:pPr>
            <a:r>
              <a:rPr lang="en-US" sz="2000" b="1" dirty="0">
                <a:solidFill>
                  <a:srgbClr val="FFFFFF"/>
                </a:solidFill>
                <a:latin typeface="Gill Sans MT" pitchFamily="34" charset="0"/>
                <a:ea typeface="Gill Sans MT" pitchFamily="34" charset="-122"/>
                <a:cs typeface="Gill Sans MT" pitchFamily="34" charset="-120"/>
              </a:rPr>
              <a:t>01</a:t>
            </a:r>
            <a:endParaRPr lang="en-US" sz="2000" dirty="0"/>
          </a:p>
        </p:txBody>
      </p:sp>
      <p:sp>
        <p:nvSpPr>
          <p:cNvPr id="11" name="Text 8"/>
          <p:cNvSpPr/>
          <p:nvPr/>
        </p:nvSpPr>
        <p:spPr>
          <a:xfrm>
            <a:off x="566928" y="2834640"/>
            <a:ext cx="3364992" cy="594360"/>
          </a:xfrm>
          <a:prstGeom prst="rect">
            <a:avLst/>
          </a:prstGeom>
          <a:noFill/>
          <a:ln/>
        </p:spPr>
        <p:txBody>
          <a:bodyPr wrap="square" lIns="50800" tIns="50800" rIns="50800" bIns="50800" rtlCol="0" anchor="ctr"/>
          <a:lstStyle/>
          <a:p>
            <a:pPr marL="0" indent="0" algn="l">
              <a:buNone/>
            </a:pPr>
            <a:r>
              <a:rPr lang="en-US" sz="1300" b="1" dirty="0">
                <a:solidFill>
                  <a:srgbClr val="6DAEDB"/>
                </a:solidFill>
                <a:latin typeface="Gill Sans MT" pitchFamily="34" charset="0"/>
                <a:ea typeface="Gill Sans MT" pitchFamily="34" charset="-122"/>
                <a:cs typeface="Gill Sans MT" pitchFamily="34" charset="-120"/>
              </a:rPr>
              <a:t>AI readiness is a genuine macro-level SC driver</a:t>
            </a:r>
            <a:endParaRPr lang="en-US" sz="1300" dirty="0"/>
          </a:p>
        </p:txBody>
      </p:sp>
      <p:sp>
        <p:nvSpPr>
          <p:cNvPr id="12" name="Shape 9"/>
          <p:cNvSpPr/>
          <p:nvPr/>
        </p:nvSpPr>
        <p:spPr>
          <a:xfrm>
            <a:off x="566928" y="3456432"/>
            <a:ext cx="3337560" cy="0"/>
          </a:xfrm>
          <a:prstGeom prst="line">
            <a:avLst/>
          </a:prstGeom>
          <a:noFill/>
          <a:ln w="19050">
            <a:solidFill>
              <a:srgbClr val="6DAEDB"/>
            </a:solidFill>
            <a:prstDash val="solid"/>
          </a:ln>
        </p:spPr>
        <p:txBody>
          <a:bodyPr/>
          <a:lstStyle/>
          <a:p>
            <a:endParaRPr lang="en-GB"/>
          </a:p>
        </p:txBody>
      </p:sp>
      <p:sp>
        <p:nvSpPr>
          <p:cNvPr id="13" name="Text 10"/>
          <p:cNvSpPr/>
          <p:nvPr/>
        </p:nvSpPr>
        <p:spPr>
          <a:xfrm>
            <a:off x="566928" y="3584448"/>
            <a:ext cx="3364992" cy="2697480"/>
          </a:xfrm>
          <a:prstGeom prst="rect">
            <a:avLst/>
          </a:prstGeom>
          <a:noFill/>
          <a:ln/>
        </p:spPr>
        <p:txBody>
          <a:bodyPr wrap="square" lIns="50800" tIns="50800" rIns="50800" bIns="50800" rtlCol="0" anchor="t"/>
          <a:lstStyle/>
          <a:p>
            <a:pPr marL="0" indent="0" algn="l">
              <a:buNone/>
            </a:pPr>
            <a:r>
              <a:rPr lang="en-US" sz="1150" dirty="0">
                <a:solidFill>
                  <a:srgbClr val="F5F5F0"/>
                </a:solidFill>
                <a:latin typeface="Gill Sans MT" pitchFamily="34" charset="0"/>
                <a:ea typeface="Gill Sans MT" pitchFamily="34" charset="-122"/>
                <a:cs typeface="Gill Sans MT" pitchFamily="34" charset="-120"/>
              </a:rPr>
              <a:t>H1a (β = 0.462) and H1b (β = 0.408) both strongly confirmed. AI capability and governance quality jointly explain 78% of cross-national SC performance variation — robust and policy-relevant.</a:t>
            </a:r>
            <a:endParaRPr lang="en-US" sz="1150" dirty="0"/>
          </a:p>
        </p:txBody>
      </p:sp>
      <p:sp>
        <p:nvSpPr>
          <p:cNvPr id="14" name="Shape 11"/>
          <p:cNvSpPr/>
          <p:nvPr/>
        </p:nvSpPr>
        <p:spPr>
          <a:xfrm>
            <a:off x="4297680" y="1965960"/>
            <a:ext cx="3749040" cy="4434840"/>
          </a:xfrm>
          <a:prstGeom prst="roundRect">
            <a:avLst>
              <a:gd name="adj" fmla="val 3415"/>
            </a:avLst>
          </a:prstGeom>
          <a:solidFill>
            <a:srgbClr val="04060E">
              <a:alpha val="65000"/>
            </a:srgbClr>
          </a:solidFill>
          <a:ln w="15240">
            <a:solidFill>
              <a:srgbClr val="C9A0E8">
                <a:alpha val="72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5" name="Shape 12"/>
          <p:cNvSpPr/>
          <p:nvPr/>
        </p:nvSpPr>
        <p:spPr>
          <a:xfrm>
            <a:off x="4462272" y="2084832"/>
            <a:ext cx="749808" cy="640080"/>
          </a:xfrm>
          <a:prstGeom prst="roundRect">
            <a:avLst>
              <a:gd name="adj" fmla="val 11429"/>
            </a:avLst>
          </a:prstGeom>
          <a:solidFill>
            <a:srgbClr val="C9A0E8">
              <a:alpha val="55000"/>
            </a:srgbClr>
          </a:solidFill>
          <a:ln w="12700">
            <a:solidFill>
              <a:srgbClr val="C9A0E8"/>
            </a:solidFill>
            <a:prstDash val="solid"/>
          </a:ln>
        </p:spPr>
        <p:txBody>
          <a:bodyPr/>
          <a:lstStyle/>
          <a:p>
            <a:endParaRPr lang="en-GB"/>
          </a:p>
        </p:txBody>
      </p:sp>
      <p:sp>
        <p:nvSpPr>
          <p:cNvPr id="16" name="Text 13"/>
          <p:cNvSpPr/>
          <p:nvPr/>
        </p:nvSpPr>
        <p:spPr>
          <a:xfrm>
            <a:off x="4462272" y="2084832"/>
            <a:ext cx="749808" cy="640080"/>
          </a:xfrm>
          <a:prstGeom prst="rect">
            <a:avLst/>
          </a:prstGeom>
          <a:noFill/>
          <a:ln/>
        </p:spPr>
        <p:txBody>
          <a:bodyPr wrap="square" lIns="50800" tIns="50800" rIns="50800" bIns="50800" rtlCol="0" anchor="ctr"/>
          <a:lstStyle/>
          <a:p>
            <a:pPr marL="0" indent="0" algn="ctr">
              <a:buNone/>
            </a:pPr>
            <a:r>
              <a:rPr lang="en-US" sz="2000" b="1" dirty="0">
                <a:solidFill>
                  <a:srgbClr val="FFFFFF"/>
                </a:solidFill>
                <a:latin typeface="Gill Sans MT" pitchFamily="34" charset="0"/>
                <a:ea typeface="Gill Sans MT" pitchFamily="34" charset="-122"/>
                <a:cs typeface="Gill Sans MT" pitchFamily="34" charset="-120"/>
              </a:rPr>
              <a:t>02</a:t>
            </a:r>
            <a:endParaRPr lang="en-US" sz="2000" dirty="0"/>
          </a:p>
        </p:txBody>
      </p:sp>
      <p:sp>
        <p:nvSpPr>
          <p:cNvPr id="17" name="Text 14"/>
          <p:cNvSpPr/>
          <p:nvPr/>
        </p:nvSpPr>
        <p:spPr>
          <a:xfrm>
            <a:off x="4498848" y="2834640"/>
            <a:ext cx="3364992" cy="594360"/>
          </a:xfrm>
          <a:prstGeom prst="rect">
            <a:avLst/>
          </a:prstGeom>
          <a:noFill/>
          <a:ln/>
        </p:spPr>
        <p:txBody>
          <a:bodyPr wrap="square" lIns="50800" tIns="50800" rIns="50800" bIns="50800" rtlCol="0" anchor="ctr"/>
          <a:lstStyle/>
          <a:p>
            <a:pPr marL="0" indent="0" algn="l">
              <a:buNone/>
            </a:pPr>
            <a:r>
              <a:rPr lang="en-US" sz="1300" b="1" dirty="0">
                <a:solidFill>
                  <a:srgbClr val="C9A0E8"/>
                </a:solidFill>
                <a:latin typeface="Gill Sans MT" pitchFamily="34" charset="0"/>
                <a:ea typeface="Gill Sans MT" pitchFamily="34" charset="-122"/>
                <a:cs typeface="Gill Sans MT" pitchFamily="34" charset="-120"/>
              </a:rPr>
              <a:t>Institutions substitute, not amplify, AI effects</a:t>
            </a:r>
            <a:endParaRPr lang="en-US" sz="1300" dirty="0"/>
          </a:p>
        </p:txBody>
      </p:sp>
      <p:sp>
        <p:nvSpPr>
          <p:cNvPr id="18" name="Shape 15"/>
          <p:cNvSpPr/>
          <p:nvPr/>
        </p:nvSpPr>
        <p:spPr>
          <a:xfrm>
            <a:off x="4498848" y="3456432"/>
            <a:ext cx="3337560" cy="0"/>
          </a:xfrm>
          <a:prstGeom prst="line">
            <a:avLst/>
          </a:prstGeom>
          <a:noFill/>
          <a:ln w="19050">
            <a:solidFill>
              <a:srgbClr val="C9A0E8"/>
            </a:solidFill>
            <a:prstDash val="solid"/>
          </a:ln>
        </p:spPr>
        <p:txBody>
          <a:bodyPr/>
          <a:lstStyle/>
          <a:p>
            <a:endParaRPr lang="en-GB"/>
          </a:p>
        </p:txBody>
      </p:sp>
      <p:sp>
        <p:nvSpPr>
          <p:cNvPr id="19" name="Text 16"/>
          <p:cNvSpPr/>
          <p:nvPr/>
        </p:nvSpPr>
        <p:spPr>
          <a:xfrm>
            <a:off x="4498848" y="3584448"/>
            <a:ext cx="3364992" cy="2697480"/>
          </a:xfrm>
          <a:prstGeom prst="rect">
            <a:avLst/>
          </a:prstGeom>
          <a:noFill/>
          <a:ln/>
        </p:spPr>
        <p:txBody>
          <a:bodyPr wrap="square" lIns="50800" tIns="50800" rIns="50800" bIns="50800" rtlCol="0" anchor="t"/>
          <a:lstStyle/>
          <a:p>
            <a:pPr marL="0" indent="0" algn="l">
              <a:buNone/>
            </a:pPr>
            <a:r>
              <a:rPr lang="en-US" sz="1150" dirty="0">
                <a:solidFill>
                  <a:srgbClr val="F5F5F0"/>
                </a:solidFill>
                <a:latin typeface="Gill Sans MT" pitchFamily="34" charset="0"/>
                <a:ea typeface="Gill Sans MT" pitchFamily="34" charset="-122"/>
                <a:cs typeface="Gill Sans MT" pitchFamily="34" charset="-120"/>
              </a:rPr>
              <a:t>H1c reveals negative moderation. The complementarity assumption in most policy frameworks is not empirically warranted. This is a provocation for theory and AI investment strategy.</a:t>
            </a:r>
            <a:endParaRPr lang="en-US" sz="1150" dirty="0"/>
          </a:p>
        </p:txBody>
      </p:sp>
      <p:sp>
        <p:nvSpPr>
          <p:cNvPr id="20" name="Shape 17"/>
          <p:cNvSpPr/>
          <p:nvPr/>
        </p:nvSpPr>
        <p:spPr>
          <a:xfrm>
            <a:off x="8229600" y="1965960"/>
            <a:ext cx="3749040" cy="4434840"/>
          </a:xfrm>
          <a:prstGeom prst="roundRect">
            <a:avLst>
              <a:gd name="adj" fmla="val 3415"/>
            </a:avLst>
          </a:prstGeom>
          <a:solidFill>
            <a:srgbClr val="04060E">
              <a:alpha val="65000"/>
            </a:srgbClr>
          </a:solidFill>
          <a:ln w="15240">
            <a:solidFill>
              <a:srgbClr val="56D68A">
                <a:alpha val="72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1" name="Shape 18"/>
          <p:cNvSpPr/>
          <p:nvPr/>
        </p:nvSpPr>
        <p:spPr>
          <a:xfrm>
            <a:off x="8394192" y="2084832"/>
            <a:ext cx="749808" cy="640080"/>
          </a:xfrm>
          <a:prstGeom prst="roundRect">
            <a:avLst>
              <a:gd name="adj" fmla="val 11429"/>
            </a:avLst>
          </a:prstGeom>
          <a:solidFill>
            <a:srgbClr val="56D68A">
              <a:alpha val="55000"/>
            </a:srgbClr>
          </a:solidFill>
          <a:ln w="12700">
            <a:solidFill>
              <a:srgbClr val="56D68A"/>
            </a:solidFill>
            <a:prstDash val="solid"/>
          </a:ln>
        </p:spPr>
        <p:txBody>
          <a:bodyPr/>
          <a:lstStyle/>
          <a:p>
            <a:endParaRPr lang="en-GB"/>
          </a:p>
        </p:txBody>
      </p:sp>
      <p:sp>
        <p:nvSpPr>
          <p:cNvPr id="22" name="Text 19"/>
          <p:cNvSpPr/>
          <p:nvPr/>
        </p:nvSpPr>
        <p:spPr>
          <a:xfrm>
            <a:off x="8394192" y="2084832"/>
            <a:ext cx="749808" cy="640080"/>
          </a:xfrm>
          <a:prstGeom prst="rect">
            <a:avLst/>
          </a:prstGeom>
          <a:noFill/>
          <a:ln/>
        </p:spPr>
        <p:txBody>
          <a:bodyPr wrap="square" lIns="50800" tIns="50800" rIns="50800" bIns="50800" rtlCol="0" anchor="ctr"/>
          <a:lstStyle/>
          <a:p>
            <a:pPr marL="0" indent="0" algn="ctr">
              <a:buNone/>
            </a:pPr>
            <a:r>
              <a:rPr lang="en-US" sz="2000" b="1" dirty="0">
                <a:solidFill>
                  <a:srgbClr val="FFFFFF"/>
                </a:solidFill>
                <a:latin typeface="Gill Sans MT" pitchFamily="34" charset="0"/>
                <a:ea typeface="Gill Sans MT" pitchFamily="34" charset="-122"/>
                <a:cs typeface="Gill Sans MT" pitchFamily="34" charset="-120"/>
              </a:rPr>
              <a:t>03</a:t>
            </a:r>
            <a:endParaRPr lang="en-US" sz="2000" dirty="0"/>
          </a:p>
        </p:txBody>
      </p:sp>
      <p:sp>
        <p:nvSpPr>
          <p:cNvPr id="23" name="Text 20"/>
          <p:cNvSpPr/>
          <p:nvPr/>
        </p:nvSpPr>
        <p:spPr>
          <a:xfrm>
            <a:off x="8430768" y="2834640"/>
            <a:ext cx="3364992" cy="594360"/>
          </a:xfrm>
          <a:prstGeom prst="rect">
            <a:avLst/>
          </a:prstGeom>
          <a:noFill/>
          <a:ln/>
        </p:spPr>
        <p:txBody>
          <a:bodyPr wrap="square" lIns="50800" tIns="50800" rIns="50800" bIns="50800" rtlCol="0" anchor="ctr"/>
          <a:lstStyle/>
          <a:p>
            <a:pPr marL="0" indent="0" algn="l">
              <a:buNone/>
            </a:pPr>
            <a:r>
              <a:rPr lang="en-US" sz="1300" b="1" dirty="0">
                <a:solidFill>
                  <a:srgbClr val="56D68A"/>
                </a:solidFill>
                <a:latin typeface="Gill Sans MT" pitchFamily="34" charset="0"/>
                <a:ea typeface="Gill Sans MT" pitchFamily="34" charset="-122"/>
                <a:cs typeface="Gill Sans MT" pitchFamily="34" charset="-120"/>
              </a:rPr>
              <a:t>AI drives economies directly — not through supply chains</a:t>
            </a:r>
            <a:endParaRPr lang="en-US" sz="1300" dirty="0"/>
          </a:p>
        </p:txBody>
      </p:sp>
      <p:sp>
        <p:nvSpPr>
          <p:cNvPr id="24" name="Shape 21"/>
          <p:cNvSpPr/>
          <p:nvPr/>
        </p:nvSpPr>
        <p:spPr>
          <a:xfrm>
            <a:off x="8430768" y="3456432"/>
            <a:ext cx="3337560" cy="0"/>
          </a:xfrm>
          <a:prstGeom prst="line">
            <a:avLst/>
          </a:prstGeom>
          <a:noFill/>
          <a:ln w="19050">
            <a:solidFill>
              <a:srgbClr val="56D68A"/>
            </a:solidFill>
            <a:prstDash val="solid"/>
          </a:ln>
        </p:spPr>
        <p:txBody>
          <a:bodyPr/>
          <a:lstStyle/>
          <a:p>
            <a:endParaRPr lang="en-GB"/>
          </a:p>
        </p:txBody>
      </p:sp>
      <p:sp>
        <p:nvSpPr>
          <p:cNvPr id="25" name="Text 22"/>
          <p:cNvSpPr/>
          <p:nvPr/>
        </p:nvSpPr>
        <p:spPr>
          <a:xfrm>
            <a:off x="8430768" y="3584448"/>
            <a:ext cx="3364992" cy="2697480"/>
          </a:xfrm>
          <a:prstGeom prst="rect">
            <a:avLst/>
          </a:prstGeom>
          <a:noFill/>
          <a:ln/>
        </p:spPr>
        <p:txBody>
          <a:bodyPr wrap="square" lIns="50800" tIns="50800" rIns="50800" bIns="50800" rtlCol="0" anchor="t"/>
          <a:lstStyle/>
          <a:p>
            <a:pPr marL="0" indent="0" algn="l">
              <a:buNone/>
            </a:pPr>
            <a:r>
              <a:rPr lang="en-US" sz="1150" dirty="0">
                <a:solidFill>
                  <a:srgbClr val="F5F5F0"/>
                </a:solidFill>
                <a:latin typeface="Gill Sans MT" pitchFamily="34" charset="0"/>
                <a:ea typeface="Gill Sans MT" pitchFamily="34" charset="-122"/>
                <a:cs typeface="Gill Sans MT" pitchFamily="34" charset="-120"/>
              </a:rPr>
              <a:t>H2a fails but the direct ξ₁→η₂ path (β = 0.340) is robust. AI readiness has broader economic value bypassing logistics. Full-scale panel study needed to confirm causal mechanism.</a:t>
            </a:r>
            <a:endParaRPr lang="en-US" sz="1150" dirty="0"/>
          </a:p>
        </p:txBody>
      </p:sp>
      <p:sp>
        <p:nvSpPr>
          <p:cNvPr id="26" name="Shape 23"/>
          <p:cNvSpPr/>
          <p:nvPr/>
        </p:nvSpPr>
        <p:spPr>
          <a:xfrm>
            <a:off x="365760" y="6473952"/>
            <a:ext cx="11430000" cy="365760"/>
          </a:xfrm>
          <a:prstGeom prst="roundRect">
            <a:avLst>
              <a:gd name="adj" fmla="val 35000"/>
            </a:avLst>
          </a:prstGeom>
          <a:solidFill>
            <a:srgbClr val="020408">
              <a:alpha val="60000"/>
            </a:srgbClr>
          </a:solidFill>
          <a:ln w="3810">
            <a:solidFill>
              <a:srgbClr val="B8C8D8">
                <a:alpha val="1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27" name="Text 24"/>
          <p:cNvSpPr/>
          <p:nvPr/>
        </p:nvSpPr>
        <p:spPr>
          <a:xfrm>
            <a:off x="457200" y="6492240"/>
            <a:ext cx="11247120" cy="347472"/>
          </a:xfrm>
          <a:prstGeom prst="rect">
            <a:avLst/>
          </a:prstGeom>
          <a:noFill/>
          <a:ln/>
        </p:spPr>
        <p:txBody>
          <a:bodyPr wrap="square" lIns="50800" tIns="50800" rIns="50800" bIns="50800" rtlCol="0" anchor="ctr"/>
          <a:lstStyle/>
          <a:p>
            <a:pPr marL="0" indent="0" algn="ctr">
              <a:buNone/>
            </a:pPr>
            <a:r>
              <a:rPr lang="en-US" sz="1000" dirty="0">
                <a:solidFill>
                  <a:srgbClr val="B8C8D8"/>
                </a:solidFill>
                <a:latin typeface="Gill Sans MT" pitchFamily="34" charset="0"/>
                <a:ea typeface="Gill Sans MT" pitchFamily="34" charset="-122"/>
                <a:cs typeface="Gill Sans MT" pitchFamily="34" charset="-120"/>
              </a:rPr>
              <a:t>Tewogbade Shakir Adeyemi  |  DBA Researcher  |  2573172317  |  Thank you — Questions welcome</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2161520" cy="6858000"/>
          </a:xfrm>
          <a:prstGeom prst="rect">
            <a:avLst/>
          </a:prstGeom>
        </p:spPr>
      </p:pic>
      <p:sp>
        <p:nvSpPr>
          <p:cNvPr id="3" name="Shape 0"/>
          <p:cNvSpPr/>
          <p:nvPr/>
        </p:nvSpPr>
        <p:spPr>
          <a:xfrm>
            <a:off x="0" y="0"/>
            <a:ext cx="12161520" cy="6858000"/>
          </a:xfrm>
          <a:prstGeom prst="roundRect">
            <a:avLst>
              <a:gd name="adj" fmla="val 1600"/>
            </a:avLst>
          </a:prstGeom>
          <a:solidFill>
            <a:srgbClr val="050810">
              <a:alpha val="72000"/>
            </a:srgbClr>
          </a:solidFill>
          <a:ln w="3810">
            <a:solidFill>
              <a:srgbClr val="FFFFFF">
                <a:alpha val="12000"/>
              </a:srgbClr>
            </a:solidFill>
            <a:prstDash val="solid"/>
          </a:ln>
          <a:effectLst>
            <a:outerShdw blurRad="152400" dist="50800" dir="2700000" algn="bl" rotWithShape="0">
              <a:srgbClr val="000000">
                <a:alpha val="50000"/>
              </a:srgbClr>
            </a:outerShdw>
          </a:effectLst>
        </p:spPr>
        <p:txBody>
          <a:bodyPr/>
          <a:lstStyle/>
          <a:p>
            <a:endParaRPr lang="en-GB"/>
          </a:p>
        </p:txBody>
      </p:sp>
      <p:sp>
        <p:nvSpPr>
          <p:cNvPr id="4" name="Shape 1"/>
          <p:cNvSpPr/>
          <p:nvPr/>
        </p:nvSpPr>
        <p:spPr>
          <a:xfrm>
            <a:off x="0" y="0"/>
            <a:ext cx="12161520" cy="1078992"/>
          </a:xfrm>
          <a:prstGeom prst="roundRect">
            <a:avLst>
              <a:gd name="adj" fmla="val 11864"/>
            </a:avLst>
          </a:prstGeom>
          <a:solidFill>
            <a:srgbClr val="020610">
              <a:alpha val="72000"/>
            </a:srgbClr>
          </a:solidFill>
          <a:ln w="6350">
            <a:solidFill>
              <a:srgbClr val="FFFFFF">
                <a:alpha val="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5" name="Shape 2"/>
          <p:cNvSpPr/>
          <p:nvPr/>
        </p:nvSpPr>
        <p:spPr>
          <a:xfrm>
            <a:off x="0" y="1051560"/>
            <a:ext cx="12161520" cy="0"/>
          </a:xfrm>
          <a:prstGeom prst="line">
            <a:avLst/>
          </a:prstGeom>
          <a:noFill/>
          <a:ln w="19050">
            <a:solidFill>
              <a:srgbClr val="F0C040"/>
            </a:solidFill>
            <a:prstDash val="solid"/>
          </a:ln>
        </p:spPr>
        <p:txBody>
          <a:bodyPr/>
          <a:lstStyle/>
          <a:p>
            <a:endParaRPr lang="en-GB"/>
          </a:p>
        </p:txBody>
      </p:sp>
      <p:sp>
        <p:nvSpPr>
          <p:cNvPr id="6" name="Text 3"/>
          <p:cNvSpPr/>
          <p:nvPr/>
        </p:nvSpPr>
        <p:spPr>
          <a:xfrm>
            <a:off x="365760" y="109728"/>
            <a:ext cx="11430000" cy="438912"/>
          </a:xfrm>
          <a:prstGeom prst="rect">
            <a:avLst/>
          </a:prstGeom>
          <a:noFill/>
          <a:ln/>
        </p:spPr>
        <p:txBody>
          <a:bodyPr wrap="square" lIns="50800" tIns="50800" rIns="50800" bIns="50800" rtlCol="0" anchor="ctr"/>
          <a:lstStyle/>
          <a:p>
            <a:pPr marL="0" indent="0" algn="ctr">
              <a:buNone/>
            </a:pPr>
            <a:r>
              <a:rPr lang="en-US" sz="1100" b="1" kern="0" spc="350" dirty="0">
                <a:solidFill>
                  <a:srgbClr val="B8C8D8"/>
                </a:solidFill>
                <a:latin typeface="Gill Sans MT" pitchFamily="34" charset="0"/>
                <a:ea typeface="Gill Sans MT" pitchFamily="34" charset="-122"/>
                <a:cs typeface="Gill Sans MT" pitchFamily="34" charset="-120"/>
              </a:rPr>
              <a:t>REFERENCES</a:t>
            </a:r>
            <a:endParaRPr lang="en-US" sz="1100" dirty="0"/>
          </a:p>
        </p:txBody>
      </p:sp>
      <p:sp>
        <p:nvSpPr>
          <p:cNvPr id="7" name="Text 4"/>
          <p:cNvSpPr/>
          <p:nvPr/>
        </p:nvSpPr>
        <p:spPr>
          <a:xfrm>
            <a:off x="365760" y="502920"/>
            <a:ext cx="11430000" cy="475488"/>
          </a:xfrm>
          <a:prstGeom prst="rect">
            <a:avLst/>
          </a:prstGeom>
          <a:noFill/>
          <a:ln/>
        </p:spPr>
        <p:txBody>
          <a:bodyPr wrap="square" lIns="50800" tIns="50800" rIns="50800" bIns="50800" rtlCol="0" anchor="ctr"/>
          <a:lstStyle/>
          <a:p>
            <a:pPr marL="0" indent="0" algn="ctr">
              <a:buNone/>
            </a:pPr>
            <a:r>
              <a:rPr lang="en-US" sz="2600" b="1" dirty="0">
                <a:solidFill>
                  <a:srgbClr val="FFFFFF"/>
                </a:solidFill>
                <a:latin typeface="Gill Sans MT" pitchFamily="34" charset="0"/>
                <a:ea typeface="Gill Sans MT" pitchFamily="34" charset="-122"/>
                <a:cs typeface="Gill Sans MT" pitchFamily="34" charset="-120"/>
              </a:rPr>
              <a:t>Key Sources</a:t>
            </a:r>
            <a:endParaRPr lang="en-US" sz="2600" dirty="0"/>
          </a:p>
        </p:txBody>
      </p:sp>
      <p:sp>
        <p:nvSpPr>
          <p:cNvPr id="8" name="Shape 5"/>
          <p:cNvSpPr/>
          <p:nvPr/>
        </p:nvSpPr>
        <p:spPr>
          <a:xfrm>
            <a:off x="347472" y="1188720"/>
            <a:ext cx="5715000" cy="5440680"/>
          </a:xfrm>
          <a:prstGeom prst="roundRect">
            <a:avLst>
              <a:gd name="adj" fmla="val 2017"/>
            </a:avLst>
          </a:prstGeom>
          <a:solidFill>
            <a:srgbClr val="020810">
              <a:alpha val="58000"/>
            </a:srgbClr>
          </a:solidFill>
          <a:ln w="7620">
            <a:solidFill>
              <a:srgbClr val="F0C040">
                <a:alpha val="4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9" name="Shape 6"/>
          <p:cNvSpPr/>
          <p:nvPr/>
        </p:nvSpPr>
        <p:spPr>
          <a:xfrm>
            <a:off x="512064" y="1335024"/>
            <a:ext cx="0" cy="822960"/>
          </a:xfrm>
          <a:prstGeom prst="line">
            <a:avLst/>
          </a:prstGeom>
          <a:noFill/>
          <a:ln w="31750">
            <a:solidFill>
              <a:srgbClr val="F0C040"/>
            </a:solidFill>
            <a:prstDash val="solid"/>
          </a:ln>
        </p:spPr>
        <p:txBody>
          <a:bodyPr/>
          <a:lstStyle/>
          <a:p>
            <a:endParaRPr lang="en-GB"/>
          </a:p>
        </p:txBody>
      </p:sp>
      <p:sp>
        <p:nvSpPr>
          <p:cNvPr id="10" name="Text 7"/>
          <p:cNvSpPr/>
          <p:nvPr/>
        </p:nvSpPr>
        <p:spPr>
          <a:xfrm>
            <a:off x="694944" y="1371600"/>
            <a:ext cx="5212080" cy="960120"/>
          </a:xfrm>
          <a:prstGeom prst="rect">
            <a:avLst/>
          </a:prstGeom>
          <a:noFill/>
          <a:ln/>
        </p:spPr>
        <p:txBody>
          <a:bodyPr wrap="square" lIns="50800" tIns="50800" rIns="50800" bIns="50800" rtlCol="0" anchor="t"/>
          <a:lstStyle/>
          <a:p>
            <a:pPr marL="0" indent="0" algn="l">
              <a:buNone/>
            </a:pPr>
            <a:r>
              <a:rPr lang="en-US" sz="980" dirty="0">
                <a:solidFill>
                  <a:srgbClr val="F5F5F0"/>
                </a:solidFill>
                <a:latin typeface="Gill Sans MT" pitchFamily="34" charset="0"/>
                <a:ea typeface="Gill Sans MT" pitchFamily="34" charset="-122"/>
                <a:cs typeface="Gill Sans MT" pitchFamily="34" charset="-120"/>
              </a:rPr>
              <a:t>Baker, J. (2012). The technology–organization–environment framework. In Dwivedi et al. (Eds.), Information systems theory (Vol. 1, pp. 231–245). Springer. https://doi.org/10.1007/978-1-4419-6108-2_12</a:t>
            </a:r>
            <a:endParaRPr lang="en-US" sz="980" dirty="0"/>
          </a:p>
        </p:txBody>
      </p:sp>
      <p:sp>
        <p:nvSpPr>
          <p:cNvPr id="11" name="Shape 8"/>
          <p:cNvSpPr/>
          <p:nvPr/>
        </p:nvSpPr>
        <p:spPr>
          <a:xfrm>
            <a:off x="512064" y="2414016"/>
            <a:ext cx="0" cy="822960"/>
          </a:xfrm>
          <a:prstGeom prst="line">
            <a:avLst/>
          </a:prstGeom>
          <a:noFill/>
          <a:ln w="31750">
            <a:solidFill>
              <a:srgbClr val="F0C040"/>
            </a:solidFill>
            <a:prstDash val="solid"/>
          </a:ln>
        </p:spPr>
        <p:txBody>
          <a:bodyPr/>
          <a:lstStyle/>
          <a:p>
            <a:endParaRPr lang="en-GB"/>
          </a:p>
        </p:txBody>
      </p:sp>
      <p:sp>
        <p:nvSpPr>
          <p:cNvPr id="12" name="Text 9"/>
          <p:cNvSpPr/>
          <p:nvPr/>
        </p:nvSpPr>
        <p:spPr>
          <a:xfrm>
            <a:off x="694944" y="2450592"/>
            <a:ext cx="5212080" cy="960120"/>
          </a:xfrm>
          <a:prstGeom prst="rect">
            <a:avLst/>
          </a:prstGeom>
          <a:noFill/>
          <a:ln/>
        </p:spPr>
        <p:txBody>
          <a:bodyPr wrap="square" lIns="50800" tIns="50800" rIns="50800" bIns="50800" rtlCol="0" anchor="t"/>
          <a:lstStyle/>
          <a:p>
            <a:pPr marL="0" indent="0" algn="l">
              <a:buNone/>
            </a:pPr>
            <a:r>
              <a:rPr lang="en-US" sz="980" dirty="0">
                <a:solidFill>
                  <a:srgbClr val="F5F5F0"/>
                </a:solidFill>
                <a:latin typeface="Gill Sans MT" pitchFamily="34" charset="0"/>
                <a:ea typeface="Gill Sans MT" pitchFamily="34" charset="-122"/>
                <a:cs typeface="Gill Sans MT" pitchFamily="34" charset="-120"/>
              </a:rPr>
              <a:t>Beamon, B. M. (1999). Measuring supply chain performance. International Journal of Operations &amp; Production Management, 19(3), 275–292. https://doi.org/10.1108/01443579910249714</a:t>
            </a:r>
            <a:endParaRPr lang="en-US" sz="980" dirty="0"/>
          </a:p>
        </p:txBody>
      </p:sp>
      <p:sp>
        <p:nvSpPr>
          <p:cNvPr id="13" name="Shape 10"/>
          <p:cNvSpPr/>
          <p:nvPr/>
        </p:nvSpPr>
        <p:spPr>
          <a:xfrm>
            <a:off x="512064" y="3493008"/>
            <a:ext cx="0" cy="822960"/>
          </a:xfrm>
          <a:prstGeom prst="line">
            <a:avLst/>
          </a:prstGeom>
          <a:noFill/>
          <a:ln w="31750">
            <a:solidFill>
              <a:srgbClr val="F0C040"/>
            </a:solidFill>
            <a:prstDash val="solid"/>
          </a:ln>
        </p:spPr>
        <p:txBody>
          <a:bodyPr/>
          <a:lstStyle/>
          <a:p>
            <a:endParaRPr lang="en-GB"/>
          </a:p>
        </p:txBody>
      </p:sp>
      <p:sp>
        <p:nvSpPr>
          <p:cNvPr id="14" name="Text 11"/>
          <p:cNvSpPr/>
          <p:nvPr/>
        </p:nvSpPr>
        <p:spPr>
          <a:xfrm>
            <a:off x="694944" y="3529584"/>
            <a:ext cx="5212080" cy="960120"/>
          </a:xfrm>
          <a:prstGeom prst="rect">
            <a:avLst/>
          </a:prstGeom>
          <a:noFill/>
          <a:ln/>
        </p:spPr>
        <p:txBody>
          <a:bodyPr wrap="square" lIns="50800" tIns="50800" rIns="50800" bIns="50800" rtlCol="0" anchor="t"/>
          <a:lstStyle/>
          <a:p>
            <a:pPr marL="0" indent="0" algn="l">
              <a:buNone/>
            </a:pPr>
            <a:r>
              <a:rPr lang="en-US" sz="980" dirty="0">
                <a:solidFill>
                  <a:srgbClr val="F5F5F0"/>
                </a:solidFill>
                <a:latin typeface="Gill Sans MT" pitchFamily="34" charset="0"/>
                <a:ea typeface="Gill Sans MT" pitchFamily="34" charset="-122"/>
                <a:cs typeface="Gill Sans MT" pitchFamily="34" charset="-120"/>
              </a:rPr>
              <a:t>Chan, F. T. S., &amp; Qi, H. J. (2003). An innovative performance measurement method for supply chain management. Supply Chain Management: An International Journal, 8(3), 209–223. https://doi.org/10.1108/13598540310484618</a:t>
            </a:r>
            <a:endParaRPr lang="en-US" sz="980" dirty="0"/>
          </a:p>
        </p:txBody>
      </p:sp>
      <p:sp>
        <p:nvSpPr>
          <p:cNvPr id="15" name="Shape 12"/>
          <p:cNvSpPr/>
          <p:nvPr/>
        </p:nvSpPr>
        <p:spPr>
          <a:xfrm>
            <a:off x="512064" y="4572000"/>
            <a:ext cx="0" cy="822960"/>
          </a:xfrm>
          <a:prstGeom prst="line">
            <a:avLst/>
          </a:prstGeom>
          <a:noFill/>
          <a:ln w="31750">
            <a:solidFill>
              <a:srgbClr val="F0C040"/>
            </a:solidFill>
            <a:prstDash val="solid"/>
          </a:ln>
        </p:spPr>
        <p:txBody>
          <a:bodyPr/>
          <a:lstStyle/>
          <a:p>
            <a:endParaRPr lang="en-GB"/>
          </a:p>
        </p:txBody>
      </p:sp>
      <p:sp>
        <p:nvSpPr>
          <p:cNvPr id="16" name="Text 13"/>
          <p:cNvSpPr/>
          <p:nvPr/>
        </p:nvSpPr>
        <p:spPr>
          <a:xfrm>
            <a:off x="694944" y="4608576"/>
            <a:ext cx="5212080" cy="960120"/>
          </a:xfrm>
          <a:prstGeom prst="rect">
            <a:avLst/>
          </a:prstGeom>
          <a:noFill/>
          <a:ln/>
        </p:spPr>
        <p:txBody>
          <a:bodyPr wrap="square" lIns="50800" tIns="50800" rIns="50800" bIns="50800" rtlCol="0" anchor="t"/>
          <a:lstStyle/>
          <a:p>
            <a:pPr marL="0" indent="0" algn="l">
              <a:buNone/>
            </a:pPr>
            <a:r>
              <a:rPr lang="en-US" sz="980" dirty="0">
                <a:solidFill>
                  <a:srgbClr val="F5F5F0"/>
                </a:solidFill>
                <a:latin typeface="Gill Sans MT" pitchFamily="34" charset="0"/>
                <a:ea typeface="Gill Sans MT" pitchFamily="34" charset="-122"/>
                <a:cs typeface="Gill Sans MT" pitchFamily="34" charset="-120"/>
              </a:rPr>
              <a:t>Gunasekaran, A., Patel, C., &amp; McGaughey, R. E. (2004). A framework for supply chain performance measurement. International Journal of Production Economics, 87(3), 333–347. https://doi.org/10.1016/j.ijpe.2003.08.003</a:t>
            </a:r>
            <a:endParaRPr lang="en-US" sz="980" dirty="0"/>
          </a:p>
        </p:txBody>
      </p:sp>
      <p:sp>
        <p:nvSpPr>
          <p:cNvPr id="17" name="Shape 14"/>
          <p:cNvSpPr/>
          <p:nvPr/>
        </p:nvSpPr>
        <p:spPr>
          <a:xfrm>
            <a:off x="6291072" y="1188720"/>
            <a:ext cx="5715000" cy="5440680"/>
          </a:xfrm>
          <a:prstGeom prst="roundRect">
            <a:avLst>
              <a:gd name="adj" fmla="val 2017"/>
            </a:avLst>
          </a:prstGeom>
          <a:solidFill>
            <a:srgbClr val="020810">
              <a:alpha val="58000"/>
            </a:srgbClr>
          </a:solidFill>
          <a:ln w="7620">
            <a:solidFill>
              <a:srgbClr val="F0C040">
                <a:alpha val="45000"/>
              </a:srgbClr>
            </a:solidFill>
            <a:prstDash val="solid"/>
          </a:ln>
          <a:effectLst>
            <a:outerShdw blurRad="190500" dist="63500" dir="2700000" algn="bl" rotWithShape="0">
              <a:srgbClr val="000000">
                <a:alpha val="45000"/>
              </a:srgbClr>
            </a:outerShdw>
          </a:effectLst>
        </p:spPr>
        <p:txBody>
          <a:bodyPr/>
          <a:lstStyle/>
          <a:p>
            <a:endParaRPr lang="en-GB"/>
          </a:p>
        </p:txBody>
      </p:sp>
      <p:sp>
        <p:nvSpPr>
          <p:cNvPr id="18" name="Shape 15"/>
          <p:cNvSpPr/>
          <p:nvPr/>
        </p:nvSpPr>
        <p:spPr>
          <a:xfrm>
            <a:off x="6455664" y="1335024"/>
            <a:ext cx="0" cy="822960"/>
          </a:xfrm>
          <a:prstGeom prst="line">
            <a:avLst/>
          </a:prstGeom>
          <a:noFill/>
          <a:ln w="31750">
            <a:solidFill>
              <a:srgbClr val="F0C040"/>
            </a:solidFill>
            <a:prstDash val="solid"/>
          </a:ln>
        </p:spPr>
        <p:txBody>
          <a:bodyPr/>
          <a:lstStyle/>
          <a:p>
            <a:endParaRPr lang="en-GB"/>
          </a:p>
        </p:txBody>
      </p:sp>
      <p:sp>
        <p:nvSpPr>
          <p:cNvPr id="19" name="Text 16"/>
          <p:cNvSpPr/>
          <p:nvPr/>
        </p:nvSpPr>
        <p:spPr>
          <a:xfrm>
            <a:off x="6638544" y="1371600"/>
            <a:ext cx="5212080" cy="960120"/>
          </a:xfrm>
          <a:prstGeom prst="rect">
            <a:avLst/>
          </a:prstGeom>
          <a:noFill/>
          <a:ln/>
        </p:spPr>
        <p:txBody>
          <a:bodyPr wrap="square" lIns="50800" tIns="50800" rIns="50800" bIns="50800" rtlCol="0" anchor="t"/>
          <a:lstStyle/>
          <a:p>
            <a:pPr marL="0" indent="0" algn="l">
              <a:buNone/>
            </a:pPr>
            <a:r>
              <a:rPr lang="en-US" sz="980" dirty="0">
                <a:solidFill>
                  <a:srgbClr val="F5F5F0"/>
                </a:solidFill>
                <a:latin typeface="Gill Sans MT" pitchFamily="34" charset="0"/>
                <a:ea typeface="Gill Sans MT" pitchFamily="34" charset="-122"/>
                <a:cs typeface="Gill Sans MT" pitchFamily="34" charset="-120"/>
              </a:rPr>
              <a:t>Martí, L., Puertas, R., &amp; García, L. (2014). The importance of the Logistics Performance Index in international trade. Applied Economics, 46(24), 2982–2992. https://doi.org/10.1080/00036846.2014.916394</a:t>
            </a:r>
            <a:endParaRPr lang="en-US" sz="980" dirty="0"/>
          </a:p>
        </p:txBody>
      </p:sp>
      <p:sp>
        <p:nvSpPr>
          <p:cNvPr id="20" name="Shape 17"/>
          <p:cNvSpPr/>
          <p:nvPr/>
        </p:nvSpPr>
        <p:spPr>
          <a:xfrm>
            <a:off x="6455664" y="2414016"/>
            <a:ext cx="0" cy="822960"/>
          </a:xfrm>
          <a:prstGeom prst="line">
            <a:avLst/>
          </a:prstGeom>
          <a:noFill/>
          <a:ln w="31750">
            <a:solidFill>
              <a:srgbClr val="F0C040"/>
            </a:solidFill>
            <a:prstDash val="solid"/>
          </a:ln>
        </p:spPr>
        <p:txBody>
          <a:bodyPr/>
          <a:lstStyle/>
          <a:p>
            <a:endParaRPr lang="en-GB"/>
          </a:p>
        </p:txBody>
      </p:sp>
      <p:sp>
        <p:nvSpPr>
          <p:cNvPr id="21" name="Text 18"/>
          <p:cNvSpPr/>
          <p:nvPr/>
        </p:nvSpPr>
        <p:spPr>
          <a:xfrm>
            <a:off x="6638544" y="2450592"/>
            <a:ext cx="5212080" cy="960120"/>
          </a:xfrm>
          <a:prstGeom prst="rect">
            <a:avLst/>
          </a:prstGeom>
          <a:noFill/>
          <a:ln/>
        </p:spPr>
        <p:txBody>
          <a:bodyPr wrap="square" lIns="50800" tIns="50800" rIns="50800" bIns="50800" rtlCol="0" anchor="t"/>
          <a:lstStyle/>
          <a:p>
            <a:pPr marL="0" indent="0" algn="l">
              <a:buNone/>
            </a:pPr>
            <a:r>
              <a:rPr lang="en-US" sz="980" dirty="0">
                <a:solidFill>
                  <a:srgbClr val="F5F5F0"/>
                </a:solidFill>
                <a:latin typeface="Gill Sans MT" pitchFamily="34" charset="0"/>
                <a:ea typeface="Gill Sans MT" pitchFamily="34" charset="-122"/>
                <a:cs typeface="Gill Sans MT" pitchFamily="34" charset="-120"/>
              </a:rPr>
              <a:t>North, D. C. (1990). Institutions, institutional change and economic performance. Cambridge University Press.</a:t>
            </a:r>
            <a:endParaRPr lang="en-US" sz="980" dirty="0"/>
          </a:p>
        </p:txBody>
      </p:sp>
      <p:sp>
        <p:nvSpPr>
          <p:cNvPr id="22" name="Shape 19"/>
          <p:cNvSpPr/>
          <p:nvPr/>
        </p:nvSpPr>
        <p:spPr>
          <a:xfrm>
            <a:off x="6455664" y="3493008"/>
            <a:ext cx="0" cy="822960"/>
          </a:xfrm>
          <a:prstGeom prst="line">
            <a:avLst/>
          </a:prstGeom>
          <a:noFill/>
          <a:ln w="31750">
            <a:solidFill>
              <a:srgbClr val="F0C040"/>
            </a:solidFill>
            <a:prstDash val="solid"/>
          </a:ln>
        </p:spPr>
        <p:txBody>
          <a:bodyPr/>
          <a:lstStyle/>
          <a:p>
            <a:endParaRPr lang="en-GB"/>
          </a:p>
        </p:txBody>
      </p:sp>
      <p:sp>
        <p:nvSpPr>
          <p:cNvPr id="23" name="Text 20"/>
          <p:cNvSpPr/>
          <p:nvPr/>
        </p:nvSpPr>
        <p:spPr>
          <a:xfrm>
            <a:off x="6638544" y="3529584"/>
            <a:ext cx="5212080" cy="960120"/>
          </a:xfrm>
          <a:prstGeom prst="rect">
            <a:avLst/>
          </a:prstGeom>
          <a:noFill/>
          <a:ln/>
        </p:spPr>
        <p:txBody>
          <a:bodyPr wrap="square" lIns="50800" tIns="50800" rIns="50800" bIns="50800" rtlCol="0" anchor="t"/>
          <a:lstStyle/>
          <a:p>
            <a:pPr marL="0" indent="0" algn="l">
              <a:buNone/>
            </a:pPr>
            <a:r>
              <a:rPr lang="en-US" sz="980" dirty="0">
                <a:solidFill>
                  <a:srgbClr val="F5F5F0"/>
                </a:solidFill>
                <a:latin typeface="Gill Sans MT" pitchFamily="34" charset="0"/>
                <a:ea typeface="Gill Sans MT" pitchFamily="34" charset="-122"/>
                <a:cs typeface="Gill Sans MT" pitchFamily="34" charset="-120"/>
              </a:rPr>
              <a:t>Scott, W. R. (2014). Institutions and organizations: Ideas, interests, and identities (4th ed.). SAGE Publications.</a:t>
            </a:r>
            <a:endParaRPr lang="en-US" sz="980" dirty="0"/>
          </a:p>
        </p:txBody>
      </p:sp>
      <p:sp>
        <p:nvSpPr>
          <p:cNvPr id="24" name="Shape 21"/>
          <p:cNvSpPr/>
          <p:nvPr/>
        </p:nvSpPr>
        <p:spPr>
          <a:xfrm>
            <a:off x="6455664" y="4572000"/>
            <a:ext cx="0" cy="822960"/>
          </a:xfrm>
          <a:prstGeom prst="line">
            <a:avLst/>
          </a:prstGeom>
          <a:noFill/>
          <a:ln w="31750">
            <a:solidFill>
              <a:srgbClr val="F0C040"/>
            </a:solidFill>
            <a:prstDash val="solid"/>
          </a:ln>
        </p:spPr>
        <p:txBody>
          <a:bodyPr/>
          <a:lstStyle/>
          <a:p>
            <a:endParaRPr lang="en-GB"/>
          </a:p>
        </p:txBody>
      </p:sp>
      <p:sp>
        <p:nvSpPr>
          <p:cNvPr id="25" name="Text 22"/>
          <p:cNvSpPr/>
          <p:nvPr/>
        </p:nvSpPr>
        <p:spPr>
          <a:xfrm>
            <a:off x="6638544" y="4608576"/>
            <a:ext cx="5212080" cy="960120"/>
          </a:xfrm>
          <a:prstGeom prst="rect">
            <a:avLst/>
          </a:prstGeom>
          <a:noFill/>
          <a:ln/>
        </p:spPr>
        <p:txBody>
          <a:bodyPr wrap="square" lIns="50800" tIns="50800" rIns="50800" bIns="50800" rtlCol="0" anchor="t"/>
          <a:lstStyle/>
          <a:p>
            <a:pPr marL="0" indent="0" algn="l">
              <a:buNone/>
            </a:pPr>
            <a:r>
              <a:rPr lang="en-US" sz="980" dirty="0">
                <a:solidFill>
                  <a:srgbClr val="F5F5F0"/>
                </a:solidFill>
                <a:latin typeface="Gill Sans MT" pitchFamily="34" charset="0"/>
                <a:ea typeface="Gill Sans MT" pitchFamily="34" charset="-122"/>
                <a:cs typeface="Gill Sans MT" pitchFamily="34" charset="-120"/>
              </a:rPr>
              <a:t>Tornatzky, L. G., &amp; Fleischer, M. (1990). The processes of technological innovation. Lexington Books.</a:t>
            </a:r>
            <a:endParaRPr lang="en-US" sz="980" dirty="0"/>
          </a:p>
        </p:txBody>
      </p:sp>
      <p:sp>
        <p:nvSpPr>
          <p:cNvPr id="26" name="Text 23"/>
          <p:cNvSpPr/>
          <p:nvPr/>
        </p:nvSpPr>
        <p:spPr>
          <a:xfrm>
            <a:off x="365760" y="6565392"/>
            <a:ext cx="11430000" cy="292608"/>
          </a:xfrm>
          <a:prstGeom prst="rect">
            <a:avLst/>
          </a:prstGeom>
          <a:noFill/>
          <a:ln/>
        </p:spPr>
        <p:txBody>
          <a:bodyPr wrap="square" lIns="50800" tIns="50800" rIns="50800" bIns="50800" rtlCol="0" anchor="ctr"/>
          <a:lstStyle/>
          <a:p>
            <a:pPr marL="0" indent="0" algn="ctr">
              <a:buNone/>
            </a:pPr>
            <a:r>
              <a:rPr lang="en-US" sz="950" dirty="0">
                <a:solidFill>
                  <a:srgbClr val="B8C8D8"/>
                </a:solidFill>
                <a:latin typeface="Gill Sans MT" pitchFamily="34" charset="0"/>
                <a:ea typeface="Gill Sans MT" pitchFamily="34" charset="-122"/>
                <a:cs typeface="Gill Sans MT" pitchFamily="34" charset="-120"/>
              </a:rPr>
              <a:t>Tewogbade Shakir Adeyemi  |  DBA Researcher  |  2573172317</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100</TotalTime>
  <Words>2455</Words>
  <Application>Microsoft Office PowerPoint</Application>
  <PresentationFormat>Widescreen</PresentationFormat>
  <Paragraphs>407</Paragraphs>
  <Slides>17</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Gill Sans MT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Readiness &amp; Supply Chain Performance</dc:title>
  <dc:subject>PptxGenJS Presentation</dc:subject>
  <dc:creator>Tewogbade Shakir Adeyemi</dc:creator>
  <cp:lastModifiedBy>shakir tewogbade</cp:lastModifiedBy>
  <cp:revision>4</cp:revision>
  <dcterms:created xsi:type="dcterms:W3CDTF">2026-06-27T21:14:52Z</dcterms:created>
  <dcterms:modified xsi:type="dcterms:W3CDTF">2026-06-29T11:17:39Z</dcterms:modified>
</cp:coreProperties>
</file>